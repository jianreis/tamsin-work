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takes you through how we built a defensible North Star for prescription ('scripting') at Dis-Chem — from the problem, through a rigorous evidence-backed method, to the future-state experience itself. Frame it up front: this is an experience definition we want leadership to agree on, NOT yet a service blueprint — that is the next step. Everything here is cited to our ground-truth research vault.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argument on one page. Where we are taking scripting: a self-running, household-level medicine service that turns a transactional errand into a managed care relationship — built for both the insured 16% and the cash 84% on one spine. Why it matters: pharmacy sentiment runs 65% negative even as the retail brand wins on price, and customers are defecting to local pharmacies. Price is regulated, so experience is the only durable differentiator. Ask of this deck: agree the experience, then we blueprint and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problem, in the customers' own words. Social listening on 1,270 coded comments shows pharmacy sentiment at 65% negative — the mirror image of the retail brand, which is 65% positive on price and promotions. So this is not a price or availability problem; it is a trust and fulfilment problem. The Patient Trust Journey shows how trust degrades: Calm -&gt; Trigger -&gt; Acceleration -&gt; Agitation -&gt; Defection. The Jan-2025 complaints (n=360) cluster into five themes, with chronic re-order dominant. The endgame is defection: customers move scripts to local pharmacies and pay more for relationship care. Note the honest caveat: these are directional signals, not satisfaction rates.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 the method' slide — the spine of a consulting narrative. We did not start with a concept; we built a ground-truth knowledge vault and ran a disciplined pipeline: research across 8 domains, distil global best practice, derive strategic principles (S1-S5) and UX principles (U1-U7), ground in the two-economy segmentation and 8 personas, and only THEN design the journey. Every downstream choice is traceable to evidence. Walk left to right — each of the next sections is one chevron in this 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Credibility. The North Star sits on roughly 150+ cited sources spanning 8 research domains, each rated on an A-D reliability scale so the weight of every claim is explicit — regulatory and clinical claims rest on A/B sources, and consumer sentiment is labelled as a signal. Crucially, this is not just desk research: it is anchored by Dis-Chem's own first-party primary research — the complaints data, social listening, two interview studies, and the internal omnichannel tech roadmap. That mix of external rigour and internal voice is what makes the North Star defensible to this 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invent from scratch — we studied the world's leading pharmacy models and asked what actually transfers to South Africa. The headline: emerging-market and Australian models fit SA far better than US/UK/EU, because they assume mixed funding, cash-paying patients and dense store estates as fulfilment nodes — exactly SA's reality. Borrow the mechanisms on the left (token e-scripts, nominated pharmacy, auto-refill, teleconsult loops, adherence packaging, price transparency); reject the funding architectures on the right (especially the US PBM layer and Germany's single online-only rail, which drove 99% of patients to the paper fallback).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strategic layer answers: why build this, and what business is it? Five bets. S1: design for the two South Africas at once. S2: treat the pharmacy as a health front door, not a counter. S3 is the keystone — because SEP and the capped dispensing fee fix the medicine price, you literally cannot compete on price; the only durable differentiator is the experience. S4: the chronic flywheel is the retention engine the courier pharmacies currently win. S5: automate the toil so pharmacists work at the top of their licence. Every step of the journey is defensible from at least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strategic bets are the 'what business', the UX principles are the 'how it must behave' — the experience constitution, checkable at every touchpoint. U1 meets people on WhatsApp, the channel they already have. U2 — never leave them guessing — directly answers the silent backstage wait that drives the trust journey. U3 makes money legible before commitment. U4 designs for graceful failure with a human fallback. U5 protects dignity and treats caregivers as first-class. U6 removes steps rather than prettifying them. U7 designs for adherence, not just dispensing. A good design step satisfies at least one S and one 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load-bearing design variable is not age or device — it is funding. South Africa is a two-economy market: roughly 16% on a medical scheme, 84% paying cash or relying on the public sector. The design answer is one service spine with two first-class funded paths, diverging only where money works differently — pre-adjudicated co-pay on the insured side, transparent cash price on the cash side. The non-negotiable: the cash majority is never a degraded afterthought. We anchor the two paths on real personas — Nomvula (insured chronic) and Sipho (cash, low-data). Removing a trip or a surprise charge is a real financial benefit to the cash customer, not just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is grounded in eight research-backed personas — not invented archetypes; every SA-context claim cites a wiki page. They deliberately span the two-economy split, the digital-literacy and connectivity spread, and the customer-vs-staff tension. Three become the protagonists of the North Star: Nomvula, the insured chronic multimorbid patient; Sipho, the cash, low-data, WhatsApp-first customer who has no street address; and Lerato, the caregiver managing meds for three generations. The remaining five — including Naledi, the frontline pharmacist whose oversight we must protect — keep the design honest across the rest of the market.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bridge from problem to solution. The five complaint clusters map cleanly onto the journey spine: chronic re-order (dominant) at REFILL/SUBMIT; delivery failure at DELIVER; dispensing accuracy at DISPENSE; service and ownership cross-cutting; and billing transparency at FUND/PAY. The load-bearing insight: most root causes actually live in the digital and fulfilment seams, but they surface as pharmacy complaints because the pharmacy is the visible face. So designing only the counter won't fix them — we have to fix the seams. That is exactly what the North Star journey does, which is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climax — the North Star itself, and the actual built artefact, not a sketch. The complex use case is the household medicine manager: one person, simultaneously patient and caregiver, managing her own multimorbid chronic meds, her elderly mother's chronic meds, and her child's occasional acute needs — across one account. It exercises the whole spine. The moment arc on the left is written in the customer's first-person voice; each moment answers a real, quoted pain. This is an aspirational ~5-year, tech-led vision, deliberately unconstrained by today's technology landscape.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here. First, the experience is calm on the surface but deep on demand: a customer sees a confident, human, first-person story; a reviewer can open each moment to see the frontstage, line of visibility, backstage, tech callouts, pains and opportunities behind it. Predictability beats speed — that is the Store-of-the-Future finding. Second, the dual-economy toggle: the left is the insured path, the right is the same journey for the cash, low-data customer. The cash path is genuinely first-class — cash price legible up front, locker/collection options, no scheme to lean on — not a degraded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hero moment Jian and Tamsin called out specifically: a 'really beautiful end-to-end' view of every household member's medication, with a pill visual, tracking, and 'using my medication'. This is where the experience stops being a transaction and becomes a relationship. It directly delivers the chronic flywheel (S4) and adherence-as-design (U7): the cabinet predicts and pre-stages the repeat rather than waiting for the customer to remember. And it treats the caregiver as a first-class user with proper proxy consent — which is the lived reality for millions of South African households.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ground the vision so it does not read as science fiction. Every capability on the left is Dis-Chem's OWN roadmapped technology, captured from the internal omnichannel board — ROWA the picker robot, OCR and AI capture, BRIX auto-dispense, the end-to-end Dashboard, and PICCUP delivery. ROWA and OCR are already signed off. Important honesty: these are planned, not confirmed live. And on the right we name the reform-dependencies up front — fully automated dispensing, paperless AES e-scripts, locker dispensing of scheduled meds, after-hours authorisation, and remote supervision. Naming them protects credibility and sets the regulatory agenda.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closes the loop on the whole narrative. On the left, in red, are real customer words from the complaints and social-listening data. On the right, in green, is the specific future moment that answers each one. Pulling-my-hair re-orders become a predicted one-tap repeat. 'I did not receive it' becomes closed-loop tracking with proof-of-delivery. Missing tablets become ROWA-picked, pharmacist-checked, itemised handover. The gap is undeniable — and it shows the North Star is evidence-driven, not aspirational decoration.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be explicit about what this deck is and is not. This is the experience definition — the groundwork that earns buy-in. It is deliberately NOT yet a service blueprint. The road from here: (1) agree the North Star today; (2) develop the full service blueprint with frontstage/backstage lanes, ownership and SLAs; (3) adapt the base journey per channel — WhatsApp, app, in-store, USSD; (4) sequence the build against the roadmap, pilot, measure and scale. The ask of this room is step one: agree the experience, so we can blueprint and build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the curious. The vault follows the Karpathy 'LLM wiki' pattern in three layers: raw sources (append-only evidence), the synthesised wiki (where claims link back to their sources), and the schema (the rules). The golden rule is that synthesis lives in the wiki and every claim cites its evidence. We weight that evidence on an A-D scale: regulatory, clinical and pricing claims rest on A/B; consumer sentiment from social and app-store data is C/D and always labelled as a signal, never asserted as a rate.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appendix. On the left, the full cast of eight personas the design must satisfy — including Naledi, the frontline pharmacist, whose oversight and time the future-state must protect, not erode. On the right, the honesty register: the open questions and reform-dependencies we are tracking, from real-time scheme pre-adjudication to the legal boundary of automated dispensing and after-hours authorisation. The vault tracks 48 reform flags and 63 unverified items in total. Naming these openly is what makes the work trustworthy.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0"/>
            <a:ext cx="73152" cy="6858000"/>
          </a:xfrm>
          <a:prstGeom prst="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46920" y="822960"/>
            <a:ext cx="566928" cy="2651760"/>
          </a:xfrm>
          <a:prstGeom prst="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95360" y="1865376"/>
            <a:ext cx="2651760" cy="566928"/>
          </a:xfrm>
          <a:prstGeom prst="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8229600" cy="365760"/>
          </a:xfrm>
          <a:prstGeom prst="rect">
            <a:avLst/>
          </a:prstGeom>
          <a:noFill/>
        </p:spPr>
        <p:txBody>
          <a:bodyPr wrap="square" anchor="t" lIns="0" rIns="0" tIns="0" bIns="0">
            <a:noAutofit/>
          </a:bodyPr>
          <a:lstStyle/>
          <a:p>
            <a:pPr algn="l">
              <a:lnSpc>
                <a:spcPct val="100000"/>
              </a:lnSpc>
            </a:pPr>
            <a:r>
              <a:rPr sz="1300" b="1" i="0" u="none">
                <a:solidFill>
                  <a:srgbClr val="1A9B4A"/>
                </a:solidFill>
                <a:latin typeface="Calibri"/>
              </a:rPr>
              <a:t>BIGLY LABS  ×  DIS-CHEM</a:t>
            </a:r>
          </a:p>
        </p:txBody>
      </p:sp>
      <p:sp>
        <p:nvSpPr>
          <p:cNvPr id="8" name="TextBox 7"/>
          <p:cNvSpPr txBox="1"/>
          <p:nvPr/>
        </p:nvSpPr>
        <p:spPr>
          <a:xfrm>
            <a:off x="868680" y="2057400"/>
            <a:ext cx="9692640" cy="2011680"/>
          </a:xfrm>
          <a:prstGeom prst="rect">
            <a:avLst/>
          </a:prstGeom>
          <a:noFill/>
        </p:spPr>
        <p:txBody>
          <a:bodyPr wrap="square" anchor="t" lIns="0" rIns="0" tIns="0" bIns="0">
            <a:noAutofit/>
          </a:bodyPr>
          <a:lstStyle/>
          <a:p>
            <a:pPr algn="l">
              <a:lnSpc>
                <a:spcPct val="100000"/>
              </a:lnSpc>
            </a:pPr>
            <a:r>
              <a:rPr sz="5000" b="1" i="0" u="none">
                <a:solidFill>
                  <a:srgbClr val="1D1D1D"/>
                </a:solidFill>
                <a:latin typeface="Calibri"/>
              </a:rPr>
              <a:t>Future-State Scripting</a:t>
            </a:r>
          </a:p>
          <a:p>
            <a:pPr algn="l">
              <a:lnSpc>
                <a:spcPct val="100000"/>
              </a:lnSpc>
            </a:pPr>
            <a:r>
              <a:rPr sz="5000" b="1" i="0" u="none">
                <a:solidFill>
                  <a:srgbClr val="1A9B4A"/>
                </a:solidFill>
                <a:latin typeface="Calibri"/>
              </a:rPr>
              <a:t>A North Star for Dis-Chem</a:t>
            </a:r>
          </a:p>
        </p:txBody>
      </p:sp>
      <p:sp>
        <p:nvSpPr>
          <p:cNvPr id="9" name="TextBox 8"/>
          <p:cNvSpPr txBox="1"/>
          <p:nvPr/>
        </p:nvSpPr>
        <p:spPr>
          <a:xfrm>
            <a:off x="914400" y="4160520"/>
            <a:ext cx="9875520" cy="822960"/>
          </a:xfrm>
          <a:prstGeom prst="rect">
            <a:avLst/>
          </a:prstGeom>
          <a:noFill/>
        </p:spPr>
        <p:txBody>
          <a:bodyPr wrap="square" anchor="t" lIns="0" rIns="0" tIns="0" bIns="0">
            <a:noAutofit/>
          </a:bodyPr>
          <a:lstStyle/>
          <a:p>
            <a:pPr algn="l">
              <a:lnSpc>
                <a:spcPct val="115000"/>
              </a:lnSpc>
            </a:pPr>
            <a:r>
              <a:rPr sz="1600" b="0" i="0" u="none">
                <a:solidFill>
                  <a:srgbClr val="52525B"/>
                </a:solidFill>
                <a:latin typeface="Calibri"/>
              </a:rPr>
              <a:t>Defining the prescription experience we want to build — an </a:t>
            </a:r>
            <a:r>
              <a:rPr sz="1600" b="0" i="1" u="none">
                <a:solidFill>
                  <a:srgbClr val="1D1D1D"/>
                </a:solidFill>
                <a:latin typeface="Calibri"/>
              </a:rPr>
              <a:t>experience definition, not yet a blueprint.</a:t>
            </a:r>
          </a:p>
        </p:txBody>
      </p:sp>
      <p:sp>
        <p:nvSpPr>
          <p:cNvPr id="10" name="Rounded Rectangle 9"/>
          <p:cNvSpPr/>
          <p:nvPr/>
        </p:nvSpPr>
        <p:spPr>
          <a:xfrm>
            <a:off x="914400" y="5029200"/>
            <a:ext cx="7680960" cy="457200"/>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noAutofit/>
          </a:bodyPr>
          <a:lstStyle/>
          <a:p>
            <a:pPr algn="l">
              <a:lnSpc>
                <a:spcPct val="100000"/>
              </a:lnSpc>
            </a:pPr>
            <a:r>
              <a:rPr sz="1050" b="1" i="0">
                <a:solidFill>
                  <a:srgbClr val="126E35"/>
                </a:solidFill>
                <a:latin typeface="Calibri"/>
              </a:rPr>
              <a:t>⚠  Concept for review — not an official Dis-Chem artefact.  Generated 2026-06-14 from the Bigly ground-truth vault.</a:t>
            </a:r>
          </a:p>
        </p:txBody>
      </p:sp>
      <p:sp>
        <p:nvSpPr>
          <p:cNvPr id="11" name="TextBox 10"/>
          <p:cNvSpPr txBox="1"/>
          <p:nvPr/>
        </p:nvSpPr>
        <p:spPr>
          <a:xfrm>
            <a:off x="914400" y="6126480"/>
            <a:ext cx="9144000" cy="365760"/>
          </a:xfrm>
          <a:prstGeom prst="rect">
            <a:avLst/>
          </a:prstGeom>
          <a:noFill/>
        </p:spPr>
        <p:txBody>
          <a:bodyPr wrap="square" anchor="t" lIns="0" rIns="0" tIns="0" bIns="0">
            <a:noAutofit/>
          </a:bodyPr>
          <a:lstStyle/>
          <a:p>
            <a:pPr algn="l">
              <a:lnSpc>
                <a:spcPct val="100000"/>
              </a:lnSpc>
            </a:pPr>
            <a:r>
              <a:rPr sz="1100" b="0" i="0" u="none">
                <a:solidFill>
                  <a:srgbClr val="52525B"/>
                </a:solidFill>
                <a:latin typeface="Calibri"/>
              </a:rPr>
              <a:t>Executive deck for Dis-Chem &amp; Bigly leadership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EXECUTIVE SUMMARY</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The North Star in one slide</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Price is regulated and fixed — so the durable advantage is the experience around the medicine: a calm, trusted, self-running scripting service for both South Africas.</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deliverables/05-tobe-future-state-journey.html · pillars.md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2</a:t>
            </a:r>
          </a:p>
        </p:txBody>
      </p:sp>
      <p:sp>
        <p:nvSpPr>
          <p:cNvPr id="12" name="Rounded Rectangle 11"/>
          <p:cNvSpPr/>
          <p:nvPr/>
        </p:nvSpPr>
        <p:spPr>
          <a:xfrm>
            <a:off x="548640" y="2240280"/>
            <a:ext cx="5440680" cy="365760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41448"/>
            <a:ext cx="4892040" cy="365760"/>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WHERE WE'RE TAKING SCRIPTING</a:t>
            </a:r>
          </a:p>
        </p:txBody>
      </p:sp>
      <p:sp>
        <p:nvSpPr>
          <p:cNvPr id="14" name="TextBox 13"/>
          <p:cNvSpPr txBox="1"/>
          <p:nvPr/>
        </p:nvSpPr>
        <p:spPr>
          <a:xfrm>
            <a:off x="822960" y="2807208"/>
            <a:ext cx="4892040" cy="713232"/>
          </a:xfrm>
          <a:prstGeom prst="rect">
            <a:avLst/>
          </a:prstGeom>
          <a:noFill/>
        </p:spPr>
        <p:txBody>
          <a:bodyPr wrap="square" anchor="t" lIns="0" rIns="0" tIns="0" bIns="0">
            <a:noAutofit/>
          </a:bodyPr>
          <a:lstStyle/>
          <a:p>
            <a:pPr algn="l">
              <a:lnSpc>
                <a:spcPct val="105000"/>
              </a:lnSpc>
            </a:pPr>
            <a:r>
              <a:rPr sz="1250" b="1" i="0" u="none">
                <a:solidFill>
                  <a:srgbClr val="1A9B4A"/>
                </a:solidFill>
                <a:latin typeface="Calibri"/>
              </a:rPr>
              <a:t>▸ </a:t>
            </a:r>
            <a:r>
              <a:rPr sz="1250" b="0" i="0" u="none">
                <a:solidFill>
                  <a:srgbClr val="1D1D1D"/>
                </a:solidFill>
                <a:latin typeface="Calibri"/>
              </a:rPr>
              <a:t>The household medicine manager — one account, every family member, repeats that simply run.</a:t>
            </a:r>
          </a:p>
        </p:txBody>
      </p:sp>
      <p:sp>
        <p:nvSpPr>
          <p:cNvPr id="15" name="TextBox 14"/>
          <p:cNvSpPr txBox="1"/>
          <p:nvPr/>
        </p:nvSpPr>
        <p:spPr>
          <a:xfrm>
            <a:off x="822960" y="3557016"/>
            <a:ext cx="4892040" cy="713232"/>
          </a:xfrm>
          <a:prstGeom prst="rect">
            <a:avLst/>
          </a:prstGeom>
          <a:noFill/>
        </p:spPr>
        <p:txBody>
          <a:bodyPr wrap="square" anchor="t" lIns="0" rIns="0" tIns="0" bIns="0">
            <a:noAutofit/>
          </a:bodyPr>
          <a:lstStyle/>
          <a:p>
            <a:pPr algn="l">
              <a:lnSpc>
                <a:spcPct val="105000"/>
              </a:lnSpc>
            </a:pPr>
            <a:r>
              <a:rPr sz="1250" b="1" i="0" u="none">
                <a:solidFill>
                  <a:srgbClr val="1A9B4A"/>
                </a:solidFill>
                <a:latin typeface="Calibri"/>
              </a:rPr>
              <a:t>▸ </a:t>
            </a:r>
            <a:r>
              <a:rPr sz="1250" b="0" i="0" u="none">
                <a:solidFill>
                  <a:srgbClr val="1D1D1D"/>
                </a:solidFill>
                <a:latin typeface="Calibri"/>
              </a:rPr>
              <a:t>From a transactional, paper-and-queue errand to a managed care relationship.</a:t>
            </a:r>
          </a:p>
        </p:txBody>
      </p:sp>
      <p:sp>
        <p:nvSpPr>
          <p:cNvPr id="16" name="TextBox 15"/>
          <p:cNvSpPr txBox="1"/>
          <p:nvPr/>
        </p:nvSpPr>
        <p:spPr>
          <a:xfrm>
            <a:off x="822960" y="4306824"/>
            <a:ext cx="4892040" cy="713232"/>
          </a:xfrm>
          <a:prstGeom prst="rect">
            <a:avLst/>
          </a:prstGeom>
          <a:noFill/>
        </p:spPr>
        <p:txBody>
          <a:bodyPr wrap="square" anchor="t" lIns="0" rIns="0" tIns="0" bIns="0">
            <a:noAutofit/>
          </a:bodyPr>
          <a:lstStyle/>
          <a:p>
            <a:pPr algn="l">
              <a:lnSpc>
                <a:spcPct val="105000"/>
              </a:lnSpc>
            </a:pPr>
            <a:r>
              <a:rPr sz="1250" b="1" i="0" u="none">
                <a:solidFill>
                  <a:srgbClr val="1A9B4A"/>
                </a:solidFill>
                <a:latin typeface="Calibri"/>
              </a:rPr>
              <a:t>▸ </a:t>
            </a:r>
            <a:r>
              <a:rPr sz="1250" b="0" i="0" u="none">
                <a:solidFill>
                  <a:srgbClr val="1D1D1D"/>
                </a:solidFill>
                <a:latin typeface="Calibri"/>
              </a:rPr>
              <a:t>One service spine, two first-class funded paths — insured and cash.</a:t>
            </a:r>
          </a:p>
        </p:txBody>
      </p:sp>
      <p:sp>
        <p:nvSpPr>
          <p:cNvPr id="17" name="TextBox 16"/>
          <p:cNvSpPr txBox="1"/>
          <p:nvPr/>
        </p:nvSpPr>
        <p:spPr>
          <a:xfrm>
            <a:off x="822960" y="5056632"/>
            <a:ext cx="4892040" cy="713232"/>
          </a:xfrm>
          <a:prstGeom prst="rect">
            <a:avLst/>
          </a:prstGeom>
          <a:noFill/>
        </p:spPr>
        <p:txBody>
          <a:bodyPr wrap="square" anchor="t" lIns="0" rIns="0" tIns="0" bIns="0">
            <a:noAutofit/>
          </a:bodyPr>
          <a:lstStyle/>
          <a:p>
            <a:pPr algn="l">
              <a:lnSpc>
                <a:spcPct val="105000"/>
              </a:lnSpc>
            </a:pPr>
            <a:r>
              <a:rPr sz="1250" b="1" i="0" u="none">
                <a:solidFill>
                  <a:srgbClr val="1A9B4A"/>
                </a:solidFill>
                <a:latin typeface="Calibri"/>
              </a:rPr>
              <a:t>▸ </a:t>
            </a:r>
            <a:r>
              <a:rPr sz="1250" b="0" i="0" u="none">
                <a:solidFill>
                  <a:srgbClr val="1D1D1D"/>
                </a:solidFill>
                <a:latin typeface="Calibri"/>
              </a:rPr>
              <a:t>Automation does the toil; a named pharmacist stays visible and in control.</a:t>
            </a:r>
          </a:p>
        </p:txBody>
      </p:sp>
      <p:sp>
        <p:nvSpPr>
          <p:cNvPr id="18" name="Rounded Rectangle 17"/>
          <p:cNvSpPr/>
          <p:nvPr/>
        </p:nvSpPr>
        <p:spPr>
          <a:xfrm>
            <a:off x="6217920" y="2240280"/>
            <a:ext cx="5440680" cy="3657600"/>
          </a:xfrm>
          <a:prstGeom prst="roundRect">
            <a:avLst/>
          </a:prstGeom>
          <a:solidFill>
            <a:srgbClr val="1A9B4A"/>
          </a:solidFill>
          <a:ln>
            <a:no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441448"/>
            <a:ext cx="4892040" cy="365760"/>
          </a:xfrm>
          <a:prstGeom prst="rect">
            <a:avLst/>
          </a:prstGeom>
          <a:noFill/>
        </p:spPr>
        <p:txBody>
          <a:bodyPr wrap="square" anchor="t" lIns="0" rIns="0" tIns="0" bIns="0">
            <a:noAutofit/>
          </a:bodyPr>
          <a:lstStyle/>
          <a:p>
            <a:pPr algn="l">
              <a:lnSpc>
                <a:spcPct val="100000"/>
              </a:lnSpc>
            </a:pPr>
            <a:r>
              <a:rPr sz="1150" b="1" i="0" u="none">
                <a:solidFill>
                  <a:srgbClr val="B5D334"/>
                </a:solidFill>
                <a:latin typeface="Calibri"/>
              </a:rPr>
              <a:t>WHY IT MATTERS</a:t>
            </a:r>
          </a:p>
        </p:txBody>
      </p:sp>
      <p:sp>
        <p:nvSpPr>
          <p:cNvPr id="20" name="TextBox 19"/>
          <p:cNvSpPr txBox="1"/>
          <p:nvPr/>
        </p:nvSpPr>
        <p:spPr>
          <a:xfrm>
            <a:off x="6492240" y="2880360"/>
            <a:ext cx="4892040" cy="731520"/>
          </a:xfrm>
          <a:prstGeom prst="rect">
            <a:avLst/>
          </a:prstGeom>
          <a:noFill/>
        </p:spPr>
        <p:txBody>
          <a:bodyPr wrap="square" anchor="t" lIns="0" rIns="0" tIns="0" bIns="0">
            <a:noAutofit/>
          </a:bodyPr>
          <a:lstStyle/>
          <a:p>
            <a:pPr algn="l">
              <a:lnSpc>
                <a:spcPct val="105000"/>
              </a:lnSpc>
            </a:pPr>
            <a:r>
              <a:rPr sz="1250" b="1" i="0" u="none">
                <a:solidFill>
                  <a:srgbClr val="B5D334"/>
                </a:solidFill>
                <a:latin typeface="Calibri"/>
              </a:rPr>
              <a:t>▸ </a:t>
            </a:r>
            <a:r>
              <a:rPr sz="1250" b="1" i="0" u="none">
                <a:solidFill>
                  <a:srgbClr val="FFFFFF"/>
                </a:solidFill>
                <a:latin typeface="Calibri"/>
              </a:rPr>
              <a:t>65% negative</a:t>
            </a:r>
            <a:r>
              <a:rPr sz="1250" b="0" i="0" u="none">
                <a:solidFill>
                  <a:srgbClr val="BFE3CF"/>
                </a:solidFill>
                <a:latin typeface="Calibri"/>
              </a:rPr>
              <a:t> pharmacy sentiment — Dis-Chem wins on retail price but is losing on pharmacy trust.</a:t>
            </a:r>
          </a:p>
        </p:txBody>
      </p:sp>
      <p:sp>
        <p:nvSpPr>
          <p:cNvPr id="21" name="TextBox 20"/>
          <p:cNvSpPr txBox="1"/>
          <p:nvPr/>
        </p:nvSpPr>
        <p:spPr>
          <a:xfrm>
            <a:off x="6492240" y="3666744"/>
            <a:ext cx="4892040" cy="731520"/>
          </a:xfrm>
          <a:prstGeom prst="rect">
            <a:avLst/>
          </a:prstGeom>
          <a:noFill/>
        </p:spPr>
        <p:txBody>
          <a:bodyPr wrap="square" anchor="t" lIns="0" rIns="0" tIns="0" bIns="0">
            <a:noAutofit/>
          </a:bodyPr>
          <a:lstStyle/>
          <a:p>
            <a:pPr algn="l">
              <a:lnSpc>
                <a:spcPct val="105000"/>
              </a:lnSpc>
            </a:pPr>
            <a:r>
              <a:rPr sz="1250" b="1" i="0" u="none">
                <a:solidFill>
                  <a:srgbClr val="B5D334"/>
                </a:solidFill>
                <a:latin typeface="Calibri"/>
              </a:rPr>
              <a:t>▸ </a:t>
            </a:r>
            <a:r>
              <a:rPr sz="1250" b="1" i="0" u="none">
                <a:solidFill>
                  <a:srgbClr val="FFFFFF"/>
                </a:solidFill>
                <a:latin typeface="Calibri"/>
              </a:rPr>
              <a:t>Customers defect</a:t>
            </a:r>
            <a:r>
              <a:rPr sz="1250" b="0" i="0" u="none">
                <a:solidFill>
                  <a:srgbClr val="BFE3CF"/>
                </a:solidFill>
                <a:latin typeface="Calibri"/>
              </a:rPr>
              <a:t> to local pharmacies, willing to pay more for relationship care.</a:t>
            </a:r>
          </a:p>
        </p:txBody>
      </p:sp>
      <p:sp>
        <p:nvSpPr>
          <p:cNvPr id="22" name="TextBox 21"/>
          <p:cNvSpPr txBox="1"/>
          <p:nvPr/>
        </p:nvSpPr>
        <p:spPr>
          <a:xfrm>
            <a:off x="6492240" y="4453128"/>
            <a:ext cx="4892040" cy="731520"/>
          </a:xfrm>
          <a:prstGeom prst="rect">
            <a:avLst/>
          </a:prstGeom>
          <a:noFill/>
        </p:spPr>
        <p:txBody>
          <a:bodyPr wrap="square" anchor="t" lIns="0" rIns="0" tIns="0" bIns="0">
            <a:noAutofit/>
          </a:bodyPr>
          <a:lstStyle/>
          <a:p>
            <a:pPr algn="l">
              <a:lnSpc>
                <a:spcPct val="105000"/>
              </a:lnSpc>
            </a:pPr>
            <a:r>
              <a:rPr sz="1250" b="1" i="0" u="none">
                <a:solidFill>
                  <a:srgbClr val="B5D334"/>
                </a:solidFill>
                <a:latin typeface="Calibri"/>
              </a:rPr>
              <a:t>▸ </a:t>
            </a:r>
            <a:r>
              <a:rPr sz="1250" b="1" i="0" u="none">
                <a:solidFill>
                  <a:srgbClr val="FFFFFF"/>
                </a:solidFill>
                <a:latin typeface="Calibri"/>
              </a:rPr>
              <a:t>Chronic repeats</a:t>
            </a:r>
            <a:r>
              <a:rPr sz="1250" b="0" i="0" u="none">
                <a:solidFill>
                  <a:srgbClr val="BFE3CF"/>
                </a:solidFill>
                <a:latin typeface="Calibri"/>
              </a:rPr>
              <a:t> are the recurring relationship that compounds loyalty — the engine to own.</a:t>
            </a:r>
          </a:p>
        </p:txBody>
      </p:sp>
      <p:sp>
        <p:nvSpPr>
          <p:cNvPr id="23" name="TextBox 22"/>
          <p:cNvSpPr txBox="1"/>
          <p:nvPr/>
        </p:nvSpPr>
        <p:spPr>
          <a:xfrm>
            <a:off x="6492240" y="5239512"/>
            <a:ext cx="4892040" cy="731520"/>
          </a:xfrm>
          <a:prstGeom prst="rect">
            <a:avLst/>
          </a:prstGeom>
          <a:noFill/>
        </p:spPr>
        <p:txBody>
          <a:bodyPr wrap="square" anchor="t" lIns="0" rIns="0" tIns="0" bIns="0">
            <a:noAutofit/>
          </a:bodyPr>
          <a:lstStyle/>
          <a:p>
            <a:pPr algn="l">
              <a:lnSpc>
                <a:spcPct val="105000"/>
              </a:lnSpc>
            </a:pPr>
            <a:r>
              <a:rPr sz="1250" b="1" i="0" u="none">
                <a:solidFill>
                  <a:srgbClr val="B5D334"/>
                </a:solidFill>
                <a:latin typeface="Calibri"/>
              </a:rPr>
              <a:t>▸ </a:t>
            </a:r>
            <a:r>
              <a:rPr sz="1250" b="1" i="0" u="none">
                <a:solidFill>
                  <a:srgbClr val="FFFFFF"/>
                </a:solidFill>
                <a:latin typeface="Calibri"/>
              </a:rPr>
              <a:t>Buy-in first</a:t>
            </a:r>
            <a:r>
              <a:rPr sz="1250" b="0" i="0" u="none">
                <a:solidFill>
                  <a:srgbClr val="BFE3CF"/>
                </a:solidFill>
                <a:latin typeface="Calibri"/>
              </a:rPr>
              <a:t> — agree the experience here, then blueprint and build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WHY NOW — THE PROBLEM</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Pharmacy pain is a trust problem, not an availability problem</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The medicine is usually there; what fails is the experience around it — and in healthcare, trust failures don't get a second chance.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wiki/dischem/dischem-social-sentiment-trust-journey · wiki/dischem/pharmacy-complaints-pain-points</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3</a:t>
            </a:r>
          </a:p>
        </p:txBody>
      </p:sp>
      <p:sp>
        <p:nvSpPr>
          <p:cNvPr id="12" name="TextBox 11"/>
          <p:cNvSpPr txBox="1"/>
          <p:nvPr/>
        </p:nvSpPr>
        <p:spPr>
          <a:xfrm>
            <a:off x="548640" y="2194560"/>
            <a:ext cx="667512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PATIENT TRUST JOURNEY</a:t>
            </a:r>
            <a:r>
              <a:rPr sz="1000" b="0" i="1" u="none">
                <a:solidFill>
                  <a:srgbClr val="52525B"/>
                </a:solidFill>
                <a:latin typeface="Calibri"/>
              </a:rPr>
              <a:t>   (social listening, 1,270 coded comments)</a:t>
            </a:r>
          </a:p>
        </p:txBody>
      </p:sp>
      <p:sp>
        <p:nvSpPr>
          <p:cNvPr id="13" name="Chevron 12"/>
          <p:cNvSpPr/>
          <p:nvPr/>
        </p:nvSpPr>
        <p:spPr>
          <a:xfrm>
            <a:off x="548640" y="2578608"/>
            <a:ext cx="1298448" cy="841248"/>
          </a:xfrm>
          <a:prstGeom prst="chevron">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1D1D1D"/>
                </a:solidFill>
                <a:latin typeface="Calibri"/>
              </a:rPr>
              <a:t>Calm</a:t>
            </a:r>
          </a:p>
        </p:txBody>
      </p:sp>
      <p:sp>
        <p:nvSpPr>
          <p:cNvPr id="14" name="TextBox 13"/>
          <p:cNvSpPr txBox="1"/>
          <p:nvPr/>
        </p:nvSpPr>
        <p:spPr>
          <a:xfrm>
            <a:off x="548640" y="3493008"/>
            <a:ext cx="120700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Assumes it will work</a:t>
            </a:r>
          </a:p>
        </p:txBody>
      </p:sp>
      <p:sp>
        <p:nvSpPr>
          <p:cNvPr id="15" name="Chevron 14"/>
          <p:cNvSpPr/>
          <p:nvPr/>
        </p:nvSpPr>
        <p:spPr>
          <a:xfrm>
            <a:off x="1792224" y="2578608"/>
            <a:ext cx="1298448" cy="841248"/>
          </a:xfrm>
          <a:prstGeom prst="chevron">
            <a:avLst/>
          </a:prstGeom>
          <a:solidFill>
            <a:srgbClr val="CBD8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1D1D1D"/>
                </a:solidFill>
                <a:latin typeface="Calibri"/>
              </a:rPr>
              <a:t>Trigger</a:t>
            </a:r>
          </a:p>
        </p:txBody>
      </p:sp>
      <p:sp>
        <p:nvSpPr>
          <p:cNvPr id="16" name="TextBox 15"/>
          <p:cNvSpPr txBox="1"/>
          <p:nvPr/>
        </p:nvSpPr>
        <p:spPr>
          <a:xfrm>
            <a:off x="1792224" y="3493008"/>
            <a:ext cx="120700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Re-keying, missed windows</a:t>
            </a:r>
          </a:p>
        </p:txBody>
      </p:sp>
      <p:sp>
        <p:nvSpPr>
          <p:cNvPr id="17" name="Chevron 16"/>
          <p:cNvSpPr/>
          <p:nvPr/>
        </p:nvSpPr>
        <p:spPr>
          <a:xfrm>
            <a:off x="3035808" y="2578608"/>
            <a:ext cx="1298448" cy="841248"/>
          </a:xfrm>
          <a:prstGeom prst="chevron">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1D1D1D"/>
                </a:solidFill>
                <a:latin typeface="Calibri"/>
              </a:rPr>
              <a:t>Acceleration</a:t>
            </a:r>
          </a:p>
        </p:txBody>
      </p:sp>
      <p:sp>
        <p:nvSpPr>
          <p:cNvPr id="18" name="TextBox 17"/>
          <p:cNvSpPr txBox="1"/>
          <p:nvPr/>
        </p:nvSpPr>
        <p:spPr>
          <a:xfrm>
            <a:off x="3035808" y="3493008"/>
            <a:ext cx="120700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Errors feel life-threatening</a:t>
            </a:r>
          </a:p>
        </p:txBody>
      </p:sp>
      <p:sp>
        <p:nvSpPr>
          <p:cNvPr id="19" name="Chevron 18"/>
          <p:cNvSpPr/>
          <p:nvPr/>
        </p:nvSpPr>
        <p:spPr>
          <a:xfrm>
            <a:off x="4279392" y="2578608"/>
            <a:ext cx="1298448" cy="841248"/>
          </a:xfrm>
          <a:prstGeom prst="chevron">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Agitation</a:t>
            </a:r>
          </a:p>
        </p:txBody>
      </p:sp>
      <p:sp>
        <p:nvSpPr>
          <p:cNvPr id="20" name="TextBox 19"/>
          <p:cNvSpPr txBox="1"/>
          <p:nvPr/>
        </p:nvSpPr>
        <p:spPr>
          <a:xfrm>
            <a:off x="4279392" y="3493008"/>
            <a:ext cx="120700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Can't reach anyone</a:t>
            </a:r>
          </a:p>
        </p:txBody>
      </p:sp>
      <p:sp>
        <p:nvSpPr>
          <p:cNvPr id="21" name="Chevron 20"/>
          <p:cNvSpPr/>
          <p:nvPr/>
        </p:nvSpPr>
        <p:spPr>
          <a:xfrm>
            <a:off x="5522976" y="2578608"/>
            <a:ext cx="1298448" cy="841248"/>
          </a:xfrm>
          <a:prstGeom prst="chevron">
            <a:avLst/>
          </a:prstGeom>
          <a:solidFill>
            <a:srgbClr val="C96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Defection</a:t>
            </a:r>
          </a:p>
        </p:txBody>
      </p:sp>
      <p:sp>
        <p:nvSpPr>
          <p:cNvPr id="22" name="TextBox 21"/>
          <p:cNvSpPr txBox="1"/>
          <p:nvPr/>
        </p:nvSpPr>
        <p:spPr>
          <a:xfrm>
            <a:off x="5522976" y="3493008"/>
            <a:ext cx="120700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Moves scripts away</a:t>
            </a:r>
          </a:p>
        </p:txBody>
      </p:sp>
      <p:sp>
        <p:nvSpPr>
          <p:cNvPr id="23" name="Rounded Rectangle 22"/>
          <p:cNvSpPr/>
          <p:nvPr/>
        </p:nvSpPr>
        <p:spPr>
          <a:xfrm>
            <a:off x="548640" y="4498848"/>
            <a:ext cx="6675120" cy="141732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noAutofit/>
          </a:bodyPr>
          <a:lstStyle/>
          <a:p>
            <a:pPr algn="l">
              <a:lnSpc>
                <a:spcPct val="100000"/>
              </a:lnSpc>
            </a:pPr>
            <a:r>
              <a:rPr sz="1250" b="0" i="1">
                <a:solidFill>
                  <a:srgbClr val="1D1D1D"/>
                </a:solidFill>
                <a:latin typeface="Calibri"/>
              </a:rPr>
              <a:t>“I have been pulling at my hair trying to order my medication via the App or even using the WhatsApp service.”</a:t>
            </a:r>
          </a:p>
          <a:p>
            <a:pPr algn="l">
              <a:lnSpc>
                <a:spcPct val="100000"/>
              </a:lnSpc>
            </a:pPr>
            <a:r>
              <a:rPr sz="500" b="0" i="0">
                <a:solidFill>
                  <a:srgbClr val="1D1D1D"/>
                </a:solidFill>
                <a:latin typeface="Calibri"/>
              </a:rPr>
              <a:t/>
            </a:r>
          </a:p>
          <a:p>
            <a:pPr algn="l">
              <a:lnSpc>
                <a:spcPct val="100000"/>
              </a:lnSpc>
            </a:pPr>
            <a:r>
              <a:rPr sz="1150" b="0" i="1">
                <a:solidFill>
                  <a:srgbClr val="52525B"/>
                </a:solidFill>
                <a:latin typeface="Calibri"/>
              </a:rPr>
              <a:t>“Processed on my medical aid and out for delivery. I did not receive it.”   </a:t>
            </a:r>
            <a:r>
              <a:rPr sz="900" b="0" i="1">
                <a:solidFill>
                  <a:srgbClr val="126E35"/>
                </a:solidFill>
                <a:latin typeface="Calibri"/>
              </a:rPr>
              <a:t>— real Dis-Chem customers, Jan-2025 complaints (n=360)</a:t>
            </a:r>
          </a:p>
        </p:txBody>
      </p:sp>
      <p:sp>
        <p:nvSpPr>
          <p:cNvPr id="24" name="Rounded Rectangle 23"/>
          <p:cNvSpPr/>
          <p:nvPr/>
        </p:nvSpPr>
        <p:spPr>
          <a:xfrm>
            <a:off x="7498079" y="2194560"/>
            <a:ext cx="4160520" cy="1298448"/>
          </a:xfrm>
          <a:prstGeom prst="round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2194560"/>
            <a:ext cx="91440" cy="129844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54111" y="2340864"/>
            <a:ext cx="3703320" cy="457200"/>
          </a:xfrm>
          <a:prstGeom prst="rect">
            <a:avLst/>
          </a:prstGeom>
          <a:noFill/>
        </p:spPr>
        <p:txBody>
          <a:bodyPr wrap="square" anchor="t" lIns="0" rIns="0" tIns="0" bIns="0">
            <a:noAutofit/>
          </a:bodyPr>
          <a:lstStyle/>
          <a:p>
            <a:pPr algn="l">
              <a:lnSpc>
                <a:spcPct val="100000"/>
              </a:lnSpc>
            </a:pPr>
            <a:r>
              <a:rPr sz="2400" b="1" i="0" u="none">
                <a:solidFill>
                  <a:srgbClr val="1A9B4A"/>
                </a:solidFill>
                <a:latin typeface="Calibri"/>
              </a:rPr>
              <a:t>65%  </a:t>
            </a:r>
            <a:r>
              <a:rPr sz="1300" b="1" i="0" u="none">
                <a:solidFill>
                  <a:srgbClr val="1D1D1D"/>
                </a:solidFill>
                <a:latin typeface="Calibri"/>
              </a:rPr>
              <a:t>negative pharmacy sentiment</a:t>
            </a:r>
          </a:p>
        </p:txBody>
      </p:sp>
      <p:sp>
        <p:nvSpPr>
          <p:cNvPr id="27" name="TextBox 26"/>
          <p:cNvSpPr txBox="1"/>
          <p:nvPr/>
        </p:nvSpPr>
        <p:spPr>
          <a:xfrm>
            <a:off x="7754111" y="2907792"/>
            <a:ext cx="3703320" cy="502920"/>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vs 65% POSITIVE on retail price/promo — the trust gap is specific to pharmacy</a:t>
            </a:r>
          </a:p>
        </p:txBody>
      </p:sp>
      <p:sp>
        <p:nvSpPr>
          <p:cNvPr id="28" name="Rounded Rectangle 27"/>
          <p:cNvSpPr/>
          <p:nvPr/>
        </p:nvSpPr>
        <p:spPr>
          <a:xfrm>
            <a:off x="7498079" y="3621024"/>
            <a:ext cx="4160520" cy="1298448"/>
          </a:xfrm>
          <a:prstGeom prst="round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98079" y="3621024"/>
            <a:ext cx="91440" cy="129844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54111" y="3767328"/>
            <a:ext cx="3703320" cy="457200"/>
          </a:xfrm>
          <a:prstGeom prst="rect">
            <a:avLst/>
          </a:prstGeom>
          <a:noFill/>
        </p:spPr>
        <p:txBody>
          <a:bodyPr wrap="square" anchor="t" lIns="0" rIns="0" tIns="0" bIns="0">
            <a:noAutofit/>
          </a:bodyPr>
          <a:lstStyle/>
          <a:p>
            <a:pPr algn="l">
              <a:lnSpc>
                <a:spcPct val="100000"/>
              </a:lnSpc>
            </a:pPr>
            <a:r>
              <a:rPr sz="2400" b="1" i="0" u="none">
                <a:solidFill>
                  <a:srgbClr val="1A9B4A"/>
                </a:solidFill>
                <a:latin typeface="Calibri"/>
              </a:rPr>
              <a:t>5  </a:t>
            </a:r>
            <a:r>
              <a:rPr sz="1300" b="1" i="0" u="none">
                <a:solidFill>
                  <a:srgbClr val="1D1D1D"/>
                </a:solidFill>
                <a:latin typeface="Calibri"/>
              </a:rPr>
              <a:t>complaint clusters</a:t>
            </a:r>
          </a:p>
        </p:txBody>
      </p:sp>
      <p:sp>
        <p:nvSpPr>
          <p:cNvPr id="31" name="TextBox 30"/>
          <p:cNvSpPr txBox="1"/>
          <p:nvPr/>
        </p:nvSpPr>
        <p:spPr>
          <a:xfrm>
            <a:off x="7754111" y="4334256"/>
            <a:ext cx="3703320" cy="502920"/>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chronic re-order (dominant) · delivery fails · accuracy · service/ownership · billing</a:t>
            </a:r>
          </a:p>
        </p:txBody>
      </p:sp>
      <p:sp>
        <p:nvSpPr>
          <p:cNvPr id="32" name="Rounded Rectangle 31"/>
          <p:cNvSpPr/>
          <p:nvPr/>
        </p:nvSpPr>
        <p:spPr>
          <a:xfrm>
            <a:off x="7498079" y="5047488"/>
            <a:ext cx="4160520" cy="1298448"/>
          </a:xfrm>
          <a:prstGeom prst="round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98079" y="5047488"/>
            <a:ext cx="91440" cy="129844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54111" y="5193792"/>
            <a:ext cx="3703320" cy="457200"/>
          </a:xfrm>
          <a:prstGeom prst="rect">
            <a:avLst/>
          </a:prstGeom>
          <a:noFill/>
        </p:spPr>
        <p:txBody>
          <a:bodyPr wrap="square" anchor="t" lIns="0" rIns="0" tIns="0" bIns="0">
            <a:noAutofit/>
          </a:bodyPr>
          <a:lstStyle/>
          <a:p>
            <a:pPr algn="l">
              <a:lnSpc>
                <a:spcPct val="100000"/>
              </a:lnSpc>
            </a:pPr>
            <a:r>
              <a:rPr sz="2400" b="1" i="0" u="none">
                <a:solidFill>
                  <a:srgbClr val="1A9B4A"/>
                </a:solidFill>
                <a:latin typeface="Calibri"/>
              </a:rPr>
              <a:t>Defection  </a:t>
            </a:r>
            <a:r>
              <a:rPr sz="1300" b="1" i="0" u="none">
                <a:solidFill>
                  <a:srgbClr val="1D1D1D"/>
                </a:solidFill>
                <a:latin typeface="Calibri"/>
              </a:rPr>
              <a:t>to local pharmacies</a:t>
            </a:r>
          </a:p>
        </p:txBody>
      </p:sp>
      <p:sp>
        <p:nvSpPr>
          <p:cNvPr id="35" name="TextBox 34"/>
          <p:cNvSpPr txBox="1"/>
          <p:nvPr/>
        </p:nvSpPr>
        <p:spPr>
          <a:xfrm>
            <a:off x="7754111" y="5760720"/>
            <a:ext cx="3703320" cy="502920"/>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customers “willing to pay R460 more” for relationship-based care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98480" y="640080"/>
            <a:ext cx="457200" cy="219456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829800" y="1508760"/>
            <a:ext cx="2194560" cy="45720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828800" cy="548640"/>
          </a:xfrm>
          <a:prstGeom prst="rect">
            <a:avLst/>
          </a:prstGeom>
          <a:noFill/>
        </p:spPr>
        <p:txBody>
          <a:bodyPr wrap="square" anchor="t" lIns="0" rIns="0" tIns="0" bIns="0">
            <a:noAutofit/>
          </a:bodyPr>
          <a:lstStyle/>
          <a:p>
            <a:pPr algn="l">
              <a:lnSpc>
                <a:spcPct val="100000"/>
              </a:lnSpc>
            </a:pPr>
            <a:r>
              <a:rPr sz="4000" b="1" i="0" u="none">
                <a:solidFill>
                  <a:srgbClr val="B5D334"/>
                </a:solidFill>
                <a:latin typeface="Calibri Light"/>
              </a:rPr>
              <a:t>01</a:t>
            </a:r>
          </a:p>
        </p:txBody>
      </p:sp>
      <p:sp>
        <p:nvSpPr>
          <p:cNvPr id="6" name="Rectangle 5"/>
          <p:cNvSpPr/>
          <p:nvPr/>
        </p:nvSpPr>
        <p:spPr>
          <a:xfrm>
            <a:off x="868680" y="3246120"/>
            <a:ext cx="822960" cy="54864"/>
          </a:xfrm>
          <a:prstGeom prst="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058400" cy="1280160"/>
          </a:xfrm>
          <a:prstGeom prst="rect">
            <a:avLst/>
          </a:prstGeom>
          <a:noFill/>
        </p:spPr>
        <p:txBody>
          <a:bodyPr wrap="square" anchor="t" lIns="0" rIns="0" tIns="0" bIns="0">
            <a:noAutofit/>
          </a:bodyPr>
          <a:lstStyle/>
          <a:p>
            <a:pPr algn="l">
              <a:lnSpc>
                <a:spcPct val="100000"/>
              </a:lnSpc>
            </a:pPr>
            <a:r>
              <a:rPr sz="3400" b="1" i="0" u="none">
                <a:solidFill>
                  <a:srgbClr val="FFFFFF"/>
                </a:solidFill>
                <a:latin typeface="Calibri"/>
              </a:rPr>
              <a:t>The method</a:t>
            </a:r>
          </a:p>
        </p:txBody>
      </p:sp>
      <p:sp>
        <p:nvSpPr>
          <p:cNvPr id="8" name="TextBox 7"/>
          <p:cNvSpPr txBox="1"/>
          <p:nvPr/>
        </p:nvSpPr>
        <p:spPr>
          <a:xfrm>
            <a:off x="868680" y="4572000"/>
            <a:ext cx="9692640" cy="914400"/>
          </a:xfrm>
          <a:prstGeom prst="rect">
            <a:avLst/>
          </a:prstGeom>
          <a:noFill/>
        </p:spPr>
        <p:txBody>
          <a:bodyPr wrap="square" anchor="t" lIns="0" rIns="0" tIns="0" bIns="0">
            <a:noAutofit/>
          </a:bodyPr>
          <a:lstStyle/>
          <a:p>
            <a:pPr algn="l">
              <a:lnSpc>
                <a:spcPct val="115000"/>
              </a:lnSpc>
            </a:pPr>
            <a:r>
              <a:rPr sz="1400" b="0" i="0" u="none">
                <a:solidFill>
                  <a:srgbClr val="BFE3CF"/>
                </a:solidFill>
                <a:latin typeface="Calibri"/>
              </a:rPr>
              <a:t>How we built a defensible North Star — and the evidence it stands on.</a:t>
            </a:r>
          </a:p>
        </p:txBody>
      </p:sp>
      <p:sp>
        <p:nvSpPr>
          <p:cNvPr id="9" name="TextBox 8"/>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BFE3C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OUR APPROACH</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How we built a defensible North Star</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A ground-truth research vault feeds a disciplined pipeline — research → best practice → principles → people → journey — so every design choice is traceable to evidence.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CLAUDE.md (the vault schema) · meta/research-log.md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5</a:t>
            </a:r>
          </a:p>
        </p:txBody>
      </p:sp>
      <p:sp>
        <p:nvSpPr>
          <p:cNvPr id="12" name="Chevron 11"/>
          <p:cNvSpPr/>
          <p:nvPr/>
        </p:nvSpPr>
        <p:spPr>
          <a:xfrm>
            <a:off x="1084935" y="2606040"/>
            <a:ext cx="1572768" cy="1371600"/>
          </a:xfrm>
          <a:prstGeom prst="chevron">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Research</a:t>
            </a:r>
          </a:p>
        </p:txBody>
      </p:sp>
      <p:sp>
        <p:nvSpPr>
          <p:cNvPr id="13" name="TextBox 12"/>
          <p:cNvSpPr txBox="1"/>
          <p:nvPr/>
        </p:nvSpPr>
        <p:spPr>
          <a:xfrm>
            <a:off x="1176375"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8 domains,</a:t>
            </a:r>
          </a:p>
          <a:p>
            <a:pPr algn="ctr">
              <a:lnSpc>
                <a:spcPct val="95000"/>
              </a:lnSpc>
            </a:pPr>
            <a:r>
              <a:rPr sz="850" b="0" i="0" u="none">
                <a:solidFill>
                  <a:srgbClr val="52525B"/>
                </a:solidFill>
                <a:latin typeface="Calibri"/>
              </a:rPr>
              <a:t>150+ sources</a:t>
            </a:r>
          </a:p>
        </p:txBody>
      </p:sp>
      <p:sp>
        <p:nvSpPr>
          <p:cNvPr id="14" name="Chevron 13"/>
          <p:cNvSpPr/>
          <p:nvPr/>
        </p:nvSpPr>
        <p:spPr>
          <a:xfrm>
            <a:off x="2493111" y="2606040"/>
            <a:ext cx="1572768" cy="1371600"/>
          </a:xfrm>
          <a:prstGeom prst="chevron">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Best practice</a:t>
            </a:r>
          </a:p>
        </p:txBody>
      </p:sp>
      <p:sp>
        <p:nvSpPr>
          <p:cNvPr id="15" name="TextBox 14"/>
          <p:cNvSpPr txBox="1"/>
          <p:nvPr/>
        </p:nvSpPr>
        <p:spPr>
          <a:xfrm>
            <a:off x="2584551"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Global</a:t>
            </a:r>
          </a:p>
          <a:p>
            <a:pPr algn="ctr">
              <a:lnSpc>
                <a:spcPct val="95000"/>
              </a:lnSpc>
            </a:pPr>
            <a:r>
              <a:rPr sz="850" b="0" i="0" u="none">
                <a:solidFill>
                  <a:srgbClr val="52525B"/>
                </a:solidFill>
                <a:latin typeface="Calibri"/>
              </a:rPr>
              <a:t>benchmarks</a:t>
            </a:r>
          </a:p>
        </p:txBody>
      </p:sp>
      <p:sp>
        <p:nvSpPr>
          <p:cNvPr id="16" name="Chevron 15"/>
          <p:cNvSpPr/>
          <p:nvPr/>
        </p:nvSpPr>
        <p:spPr>
          <a:xfrm>
            <a:off x="3901287" y="2606040"/>
            <a:ext cx="1572768" cy="1371600"/>
          </a:xfrm>
          <a:prstGeom prst="chevron">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Strategic
principles</a:t>
            </a:r>
          </a:p>
        </p:txBody>
      </p:sp>
      <p:sp>
        <p:nvSpPr>
          <p:cNvPr id="17" name="TextBox 16"/>
          <p:cNvSpPr txBox="1"/>
          <p:nvPr/>
        </p:nvSpPr>
        <p:spPr>
          <a:xfrm>
            <a:off x="3992727"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S1–S5</a:t>
            </a:r>
          </a:p>
          <a:p>
            <a:pPr algn="ctr">
              <a:lnSpc>
                <a:spcPct val="95000"/>
              </a:lnSpc>
            </a:pPr>
            <a:r>
              <a:rPr sz="850" b="0" i="0" u="none">
                <a:solidFill>
                  <a:srgbClr val="52525B"/>
                </a:solidFill>
                <a:latin typeface="Calibri"/>
              </a:rPr>
              <a:t>business bets</a:t>
            </a:r>
          </a:p>
        </p:txBody>
      </p:sp>
      <p:sp>
        <p:nvSpPr>
          <p:cNvPr id="18" name="Chevron 17"/>
          <p:cNvSpPr/>
          <p:nvPr/>
        </p:nvSpPr>
        <p:spPr>
          <a:xfrm>
            <a:off x="5309463" y="2606040"/>
            <a:ext cx="1572768" cy="1371600"/>
          </a:xfrm>
          <a:prstGeom prst="chevron">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UX
principles</a:t>
            </a:r>
          </a:p>
        </p:txBody>
      </p:sp>
      <p:sp>
        <p:nvSpPr>
          <p:cNvPr id="19" name="TextBox 18"/>
          <p:cNvSpPr txBox="1"/>
          <p:nvPr/>
        </p:nvSpPr>
        <p:spPr>
          <a:xfrm>
            <a:off x="5400903"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U1–U7</a:t>
            </a:r>
          </a:p>
          <a:p>
            <a:pPr algn="ctr">
              <a:lnSpc>
                <a:spcPct val="95000"/>
              </a:lnSpc>
            </a:pPr>
            <a:r>
              <a:rPr sz="850" b="0" i="0" u="none">
                <a:solidFill>
                  <a:srgbClr val="52525B"/>
                </a:solidFill>
                <a:latin typeface="Calibri"/>
              </a:rPr>
              <a:t>experience rules</a:t>
            </a:r>
          </a:p>
        </p:txBody>
      </p:sp>
      <p:sp>
        <p:nvSpPr>
          <p:cNvPr id="20" name="Chevron 19"/>
          <p:cNvSpPr/>
          <p:nvPr/>
        </p:nvSpPr>
        <p:spPr>
          <a:xfrm>
            <a:off x="6717639" y="2606040"/>
            <a:ext cx="1572768" cy="1371600"/>
          </a:xfrm>
          <a:prstGeom prst="chevron">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Segments</a:t>
            </a:r>
          </a:p>
        </p:txBody>
      </p:sp>
      <p:sp>
        <p:nvSpPr>
          <p:cNvPr id="21" name="TextBox 20"/>
          <p:cNvSpPr txBox="1"/>
          <p:nvPr/>
        </p:nvSpPr>
        <p:spPr>
          <a:xfrm>
            <a:off x="6809079"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Two-economy</a:t>
            </a:r>
          </a:p>
          <a:p>
            <a:pPr algn="ctr">
              <a:lnSpc>
                <a:spcPct val="95000"/>
              </a:lnSpc>
            </a:pPr>
            <a:r>
              <a:rPr sz="850" b="0" i="0" u="none">
                <a:solidFill>
                  <a:srgbClr val="52525B"/>
                </a:solidFill>
                <a:latin typeface="Calibri"/>
              </a:rPr>
              <a:t>dual journey</a:t>
            </a:r>
          </a:p>
        </p:txBody>
      </p:sp>
      <p:sp>
        <p:nvSpPr>
          <p:cNvPr id="22" name="Chevron 21"/>
          <p:cNvSpPr/>
          <p:nvPr/>
        </p:nvSpPr>
        <p:spPr>
          <a:xfrm>
            <a:off x="8125815" y="2606040"/>
            <a:ext cx="1572768" cy="1371600"/>
          </a:xfrm>
          <a:prstGeom prst="chevron">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1D1D1D"/>
                </a:solidFill>
                <a:latin typeface="Calibri"/>
              </a:rPr>
              <a:t>Personas</a:t>
            </a:r>
          </a:p>
        </p:txBody>
      </p:sp>
      <p:sp>
        <p:nvSpPr>
          <p:cNvPr id="23" name="TextBox 22"/>
          <p:cNvSpPr txBox="1"/>
          <p:nvPr/>
        </p:nvSpPr>
        <p:spPr>
          <a:xfrm>
            <a:off x="8217255"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8 research-</a:t>
            </a:r>
          </a:p>
          <a:p>
            <a:pPr algn="ctr">
              <a:lnSpc>
                <a:spcPct val="95000"/>
              </a:lnSpc>
            </a:pPr>
            <a:r>
              <a:rPr sz="850" b="0" i="0" u="none">
                <a:solidFill>
                  <a:srgbClr val="52525B"/>
                </a:solidFill>
                <a:latin typeface="Calibri"/>
              </a:rPr>
              <a:t>backed people</a:t>
            </a:r>
          </a:p>
        </p:txBody>
      </p:sp>
      <p:sp>
        <p:nvSpPr>
          <p:cNvPr id="24" name="Chevron 23"/>
          <p:cNvSpPr/>
          <p:nvPr/>
        </p:nvSpPr>
        <p:spPr>
          <a:xfrm>
            <a:off x="9533991" y="2606040"/>
            <a:ext cx="1572768" cy="1371600"/>
          </a:xfrm>
          <a:prstGeom prst="chevron">
            <a:avLst/>
          </a:prstGeom>
          <a:solidFill>
            <a:srgbClr val="1A9B4A"/>
          </a:solidFill>
          <a:ln>
            <a:no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pPr>
            <a:r>
              <a:rPr sz="1250" b="1" i="0">
                <a:solidFill>
                  <a:srgbClr val="FFFFFF"/>
                </a:solidFill>
                <a:latin typeface="Calibri"/>
              </a:rPr>
              <a:t>Journey</a:t>
            </a:r>
          </a:p>
        </p:txBody>
      </p:sp>
      <p:sp>
        <p:nvSpPr>
          <p:cNvPr id="25" name="TextBox 24"/>
          <p:cNvSpPr txBox="1"/>
          <p:nvPr/>
        </p:nvSpPr>
        <p:spPr>
          <a:xfrm>
            <a:off x="9625431" y="4069080"/>
            <a:ext cx="1389888" cy="640080"/>
          </a:xfrm>
          <a:prstGeom prst="rect">
            <a:avLst/>
          </a:prstGeom>
          <a:noFill/>
        </p:spPr>
        <p:txBody>
          <a:bodyPr wrap="square" anchor="t" lIns="0" rIns="0" tIns="0" bIns="0">
            <a:noAutofit/>
          </a:bodyPr>
          <a:lstStyle/>
          <a:p>
            <a:pPr algn="ctr">
              <a:lnSpc>
                <a:spcPct val="95000"/>
              </a:lnSpc>
            </a:pPr>
            <a:r>
              <a:rPr sz="850" b="0" i="0" u="none">
                <a:solidFill>
                  <a:srgbClr val="52525B"/>
                </a:solidFill>
                <a:latin typeface="Calibri"/>
              </a:rPr>
              <a:t>The North</a:t>
            </a:r>
          </a:p>
          <a:p>
            <a:pPr algn="ctr">
              <a:lnSpc>
                <a:spcPct val="95000"/>
              </a:lnSpc>
            </a:pPr>
            <a:r>
              <a:rPr sz="850" b="0" i="0" u="none">
                <a:solidFill>
                  <a:srgbClr val="52525B"/>
                </a:solidFill>
                <a:latin typeface="Calibri"/>
              </a:rPr>
              <a:t>Star</a:t>
            </a:r>
          </a:p>
        </p:txBody>
      </p:sp>
      <p:sp>
        <p:nvSpPr>
          <p:cNvPr id="26" name="Rounded Rectangle 25"/>
          <p:cNvSpPr/>
          <p:nvPr/>
        </p:nvSpPr>
        <p:spPr>
          <a:xfrm>
            <a:off x="548640" y="4892040"/>
            <a:ext cx="11091672" cy="123444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noAutofit/>
          </a:bodyPr>
          <a:lstStyle/>
          <a:p>
            <a:pPr algn="l">
              <a:lnSpc>
                <a:spcPct val="100000"/>
              </a:lnSpc>
            </a:pPr>
            <a:r>
              <a:rPr sz="1300" b="1" i="0">
                <a:solidFill>
                  <a:srgbClr val="126E35"/>
                </a:solidFill>
                <a:latin typeface="Calibri"/>
              </a:rPr>
              <a:t>The ground-truth vault method.  </a:t>
            </a:r>
            <a:r>
              <a:rPr sz="1200" b="0" i="0">
                <a:solidFill>
                  <a:srgbClr val="1D1D1D"/>
                </a:solidFill>
                <a:latin typeface="Calibri"/>
              </a:rPr>
              <a:t>Every claim traces to a cited source; synthesis lives in a structured wiki; design outputs are defensible, not opinion. </a:t>
            </a:r>
          </a:p>
          <a:p>
            <a:pPr algn="l">
              <a:lnSpc>
                <a:spcPct val="100000"/>
              </a:lnSpc>
            </a:pPr>
            <a:r>
              <a:rPr sz="1200" b="0" i="1">
                <a:solidFill>
                  <a:srgbClr val="52525B"/>
                </a:solidFill>
                <a:latin typeface="Calibri"/>
              </a:rPr>
              <a:t>This is the consulting discipline behind the North Star: we earn the outcome by trusting the method.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EVIDENCE BASE</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Scale and credibility behind the work</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~150+ cited sources across 8 domains and A–D reliability tiers, anchored by Dis-Chem's own first-party primary research — this is grounded, not borrowed opinion.</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sources/_sources-index.md · meta/research-log.md · meta/source-reliability-guide.md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6</a:t>
            </a:r>
          </a:p>
        </p:txBody>
      </p:sp>
      <p:sp>
        <p:nvSpPr>
          <p:cNvPr id="12" name="Rounded Rectangle 11"/>
          <p:cNvSpPr/>
          <p:nvPr/>
        </p:nvSpPr>
        <p:spPr>
          <a:xfrm>
            <a:off x="548640" y="2194560"/>
            <a:ext cx="3246120" cy="1691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59152"/>
            <a:ext cx="2788920" cy="640080"/>
          </a:xfrm>
          <a:prstGeom prst="rect">
            <a:avLst/>
          </a:prstGeom>
          <a:noFill/>
        </p:spPr>
        <p:txBody>
          <a:bodyPr wrap="square" anchor="t" lIns="0" rIns="0" tIns="0" bIns="0">
            <a:noAutofit/>
          </a:bodyPr>
          <a:lstStyle/>
          <a:p>
            <a:pPr algn="l">
              <a:lnSpc>
                <a:spcPct val="100000"/>
              </a:lnSpc>
            </a:pPr>
            <a:r>
              <a:rPr sz="3400" b="1" i="0" u="none">
                <a:solidFill>
                  <a:srgbClr val="1A9B4A"/>
                </a:solidFill>
                <a:latin typeface="Calibri"/>
              </a:rPr>
              <a:t>8</a:t>
            </a:r>
          </a:p>
        </p:txBody>
      </p:sp>
      <p:sp>
        <p:nvSpPr>
          <p:cNvPr id="14" name="TextBox 13"/>
          <p:cNvSpPr txBox="1"/>
          <p:nvPr/>
        </p:nvSpPr>
        <p:spPr>
          <a:xfrm>
            <a:off x="795528" y="2999232"/>
            <a:ext cx="2788920" cy="274320"/>
          </a:xfrm>
          <a:prstGeom prst="rect">
            <a:avLst/>
          </a:prstGeom>
          <a:noFill/>
        </p:spPr>
        <p:txBody>
          <a:bodyPr wrap="square" anchor="t" lIns="0" rIns="0" tIns="0" bIns="0">
            <a:noAutofit/>
          </a:bodyPr>
          <a:lstStyle/>
          <a:p>
            <a:pPr algn="l">
              <a:lnSpc>
                <a:spcPct val="100000"/>
              </a:lnSpc>
            </a:pPr>
            <a:r>
              <a:rPr sz="1300" b="1" i="0" u="none">
                <a:solidFill>
                  <a:srgbClr val="1D1D1D"/>
                </a:solidFill>
                <a:latin typeface="Calibri"/>
              </a:rPr>
              <a:t>research domains</a:t>
            </a:r>
          </a:p>
        </p:txBody>
      </p:sp>
      <p:sp>
        <p:nvSpPr>
          <p:cNvPr id="15" name="TextBox 14"/>
          <p:cNvSpPr txBox="1"/>
          <p:nvPr/>
        </p:nvSpPr>
        <p:spPr>
          <a:xfrm>
            <a:off x="795528" y="3291840"/>
            <a:ext cx="2788920" cy="548640"/>
          </a:xfrm>
          <a:prstGeom prst="rect">
            <a:avLst/>
          </a:prstGeom>
          <a:noFill/>
        </p:spPr>
        <p:txBody>
          <a:bodyPr wrap="square" anchor="t" lIns="0" rIns="0" tIns="0" bIns="0">
            <a:noAutofit/>
          </a:bodyPr>
          <a:lstStyle/>
          <a:p>
            <a:pPr algn="l">
              <a:lnSpc>
                <a:spcPct val="98000"/>
              </a:lnSpc>
            </a:pPr>
            <a:r>
              <a:rPr sz="900" b="0" i="0" u="none">
                <a:solidFill>
                  <a:srgbClr val="52525B"/>
                </a:solidFill>
                <a:latin typeface="Calibri"/>
              </a:rPr>
              <a:t>regulatory, schemes, dispensing, digital, global, UX, consumer, Dis-Chem</a:t>
            </a:r>
          </a:p>
        </p:txBody>
      </p:sp>
      <p:sp>
        <p:nvSpPr>
          <p:cNvPr id="16" name="Rounded Rectangle 15"/>
          <p:cNvSpPr/>
          <p:nvPr/>
        </p:nvSpPr>
        <p:spPr>
          <a:xfrm>
            <a:off x="4023360" y="2194560"/>
            <a:ext cx="3246120" cy="1691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359152"/>
            <a:ext cx="2788920" cy="640080"/>
          </a:xfrm>
          <a:prstGeom prst="rect">
            <a:avLst/>
          </a:prstGeom>
          <a:noFill/>
        </p:spPr>
        <p:txBody>
          <a:bodyPr wrap="square" anchor="t" lIns="0" rIns="0" tIns="0" bIns="0">
            <a:noAutofit/>
          </a:bodyPr>
          <a:lstStyle/>
          <a:p>
            <a:pPr algn="l">
              <a:lnSpc>
                <a:spcPct val="100000"/>
              </a:lnSpc>
            </a:pPr>
            <a:r>
              <a:rPr sz="3400" b="1" i="0" u="none">
                <a:solidFill>
                  <a:srgbClr val="1A9B4A"/>
                </a:solidFill>
                <a:latin typeface="Calibri"/>
              </a:rPr>
              <a:t>150+</a:t>
            </a:r>
          </a:p>
        </p:txBody>
      </p:sp>
      <p:sp>
        <p:nvSpPr>
          <p:cNvPr id="18" name="TextBox 17"/>
          <p:cNvSpPr txBox="1"/>
          <p:nvPr/>
        </p:nvSpPr>
        <p:spPr>
          <a:xfrm>
            <a:off x="4270248" y="2999232"/>
            <a:ext cx="2788920" cy="274320"/>
          </a:xfrm>
          <a:prstGeom prst="rect">
            <a:avLst/>
          </a:prstGeom>
          <a:noFill/>
        </p:spPr>
        <p:txBody>
          <a:bodyPr wrap="square" anchor="t" lIns="0" rIns="0" tIns="0" bIns="0">
            <a:noAutofit/>
          </a:bodyPr>
          <a:lstStyle/>
          <a:p>
            <a:pPr algn="l">
              <a:lnSpc>
                <a:spcPct val="100000"/>
              </a:lnSpc>
            </a:pPr>
            <a:r>
              <a:rPr sz="1300" b="1" i="0" u="none">
                <a:solidFill>
                  <a:srgbClr val="1D1D1D"/>
                </a:solidFill>
                <a:latin typeface="Calibri"/>
              </a:rPr>
              <a:t>cited sources</a:t>
            </a:r>
          </a:p>
        </p:txBody>
      </p:sp>
      <p:sp>
        <p:nvSpPr>
          <p:cNvPr id="19" name="TextBox 18"/>
          <p:cNvSpPr txBox="1"/>
          <p:nvPr/>
        </p:nvSpPr>
        <p:spPr>
          <a:xfrm>
            <a:off x="4270248" y="3291840"/>
            <a:ext cx="2788920" cy="548640"/>
          </a:xfrm>
          <a:prstGeom prst="rect">
            <a:avLst/>
          </a:prstGeom>
          <a:noFill/>
        </p:spPr>
        <p:txBody>
          <a:bodyPr wrap="square" anchor="t" lIns="0" rIns="0" tIns="0" bIns="0">
            <a:noAutofit/>
          </a:bodyPr>
          <a:lstStyle/>
          <a:p>
            <a:pPr algn="l">
              <a:lnSpc>
                <a:spcPct val="98000"/>
              </a:lnSpc>
            </a:pPr>
            <a:r>
              <a:rPr sz="900" b="0" i="0" u="none">
                <a:solidFill>
                  <a:srgbClr val="52525B"/>
                </a:solidFill>
                <a:latin typeface="Calibri"/>
              </a:rPr>
              <a:t>one note per source: citation, claims, verbatim excerpts</a:t>
            </a:r>
          </a:p>
        </p:txBody>
      </p:sp>
      <p:sp>
        <p:nvSpPr>
          <p:cNvPr id="20" name="Rounded Rectangle 19"/>
          <p:cNvSpPr/>
          <p:nvPr/>
        </p:nvSpPr>
        <p:spPr>
          <a:xfrm>
            <a:off x="548640" y="4087368"/>
            <a:ext cx="3246120" cy="1691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251960"/>
            <a:ext cx="2788920" cy="640080"/>
          </a:xfrm>
          <a:prstGeom prst="rect">
            <a:avLst/>
          </a:prstGeom>
          <a:noFill/>
        </p:spPr>
        <p:txBody>
          <a:bodyPr wrap="square" anchor="t" lIns="0" rIns="0" tIns="0" bIns="0">
            <a:noAutofit/>
          </a:bodyPr>
          <a:lstStyle/>
          <a:p>
            <a:pPr algn="l">
              <a:lnSpc>
                <a:spcPct val="100000"/>
              </a:lnSpc>
            </a:pPr>
            <a:r>
              <a:rPr sz="3400" b="1" i="0" u="none">
                <a:solidFill>
                  <a:srgbClr val="1A9B4A"/>
                </a:solidFill>
                <a:latin typeface="Calibri"/>
              </a:rPr>
              <a:t>A–D</a:t>
            </a:r>
          </a:p>
        </p:txBody>
      </p:sp>
      <p:sp>
        <p:nvSpPr>
          <p:cNvPr id="22" name="TextBox 21"/>
          <p:cNvSpPr txBox="1"/>
          <p:nvPr/>
        </p:nvSpPr>
        <p:spPr>
          <a:xfrm>
            <a:off x="795528" y="4892040"/>
            <a:ext cx="2788920" cy="274320"/>
          </a:xfrm>
          <a:prstGeom prst="rect">
            <a:avLst/>
          </a:prstGeom>
          <a:noFill/>
        </p:spPr>
        <p:txBody>
          <a:bodyPr wrap="square" anchor="t" lIns="0" rIns="0" tIns="0" bIns="0">
            <a:noAutofit/>
          </a:bodyPr>
          <a:lstStyle/>
          <a:p>
            <a:pPr algn="l">
              <a:lnSpc>
                <a:spcPct val="100000"/>
              </a:lnSpc>
            </a:pPr>
            <a:r>
              <a:rPr sz="1300" b="1" i="0" u="none">
                <a:solidFill>
                  <a:srgbClr val="1D1D1D"/>
                </a:solidFill>
                <a:latin typeface="Calibri"/>
              </a:rPr>
              <a:t>reliability tiers</a:t>
            </a:r>
          </a:p>
        </p:txBody>
      </p:sp>
      <p:sp>
        <p:nvSpPr>
          <p:cNvPr id="23" name="TextBox 22"/>
          <p:cNvSpPr txBox="1"/>
          <p:nvPr/>
        </p:nvSpPr>
        <p:spPr>
          <a:xfrm>
            <a:off x="795528" y="5184648"/>
            <a:ext cx="2788920" cy="548640"/>
          </a:xfrm>
          <a:prstGeom prst="rect">
            <a:avLst/>
          </a:prstGeom>
          <a:noFill/>
        </p:spPr>
        <p:txBody>
          <a:bodyPr wrap="square" anchor="t" lIns="0" rIns="0" tIns="0" bIns="0">
            <a:noAutofit/>
          </a:bodyPr>
          <a:lstStyle/>
          <a:p>
            <a:pPr algn="l">
              <a:lnSpc>
                <a:spcPct val="98000"/>
              </a:lnSpc>
            </a:pPr>
            <a:r>
              <a:rPr sz="900" b="0" i="0" u="none">
                <a:solidFill>
                  <a:srgbClr val="52525B"/>
                </a:solidFill>
                <a:latin typeface="Calibri"/>
              </a:rPr>
              <a:t>regulatory &amp; clinical claims rest on A/B; signals labelled</a:t>
            </a:r>
          </a:p>
        </p:txBody>
      </p:sp>
      <p:sp>
        <p:nvSpPr>
          <p:cNvPr id="24" name="Rounded Rectangle 23"/>
          <p:cNvSpPr/>
          <p:nvPr/>
        </p:nvSpPr>
        <p:spPr>
          <a:xfrm>
            <a:off x="4023360" y="4087368"/>
            <a:ext cx="3246120" cy="1691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4251960"/>
            <a:ext cx="2788920" cy="640080"/>
          </a:xfrm>
          <a:prstGeom prst="rect">
            <a:avLst/>
          </a:prstGeom>
          <a:noFill/>
        </p:spPr>
        <p:txBody>
          <a:bodyPr wrap="square" anchor="t" lIns="0" rIns="0" tIns="0" bIns="0">
            <a:noAutofit/>
          </a:bodyPr>
          <a:lstStyle/>
          <a:p>
            <a:pPr algn="l">
              <a:lnSpc>
                <a:spcPct val="100000"/>
              </a:lnSpc>
            </a:pPr>
            <a:r>
              <a:rPr sz="3400" b="1" i="0" u="none">
                <a:solidFill>
                  <a:srgbClr val="1A9B4A"/>
                </a:solidFill>
                <a:latin typeface="Calibri"/>
              </a:rPr>
              <a:t>50+</a:t>
            </a:r>
          </a:p>
        </p:txBody>
      </p:sp>
      <p:sp>
        <p:nvSpPr>
          <p:cNvPr id="26" name="TextBox 25"/>
          <p:cNvSpPr txBox="1"/>
          <p:nvPr/>
        </p:nvSpPr>
        <p:spPr>
          <a:xfrm>
            <a:off x="4270248" y="4892040"/>
            <a:ext cx="2788920" cy="274320"/>
          </a:xfrm>
          <a:prstGeom prst="rect">
            <a:avLst/>
          </a:prstGeom>
          <a:noFill/>
        </p:spPr>
        <p:txBody>
          <a:bodyPr wrap="square" anchor="t" lIns="0" rIns="0" tIns="0" bIns="0">
            <a:noAutofit/>
          </a:bodyPr>
          <a:lstStyle/>
          <a:p>
            <a:pPr algn="l">
              <a:lnSpc>
                <a:spcPct val="100000"/>
              </a:lnSpc>
            </a:pPr>
            <a:r>
              <a:rPr sz="1300" b="1" i="0" u="none">
                <a:solidFill>
                  <a:srgbClr val="1D1D1D"/>
                </a:solidFill>
                <a:latin typeface="Calibri"/>
              </a:rPr>
              <a:t>synthesis pages</a:t>
            </a:r>
          </a:p>
        </p:txBody>
      </p:sp>
      <p:sp>
        <p:nvSpPr>
          <p:cNvPr id="27" name="TextBox 26"/>
          <p:cNvSpPr txBox="1"/>
          <p:nvPr/>
        </p:nvSpPr>
        <p:spPr>
          <a:xfrm>
            <a:off x="4270248" y="5184648"/>
            <a:ext cx="2788920" cy="548640"/>
          </a:xfrm>
          <a:prstGeom prst="rect">
            <a:avLst/>
          </a:prstGeom>
          <a:noFill/>
        </p:spPr>
        <p:txBody>
          <a:bodyPr wrap="square" anchor="t" lIns="0" rIns="0" tIns="0" bIns="0">
            <a:noAutofit/>
          </a:bodyPr>
          <a:lstStyle/>
          <a:p>
            <a:pPr algn="l">
              <a:lnSpc>
                <a:spcPct val="98000"/>
              </a:lnSpc>
            </a:pPr>
            <a:r>
              <a:rPr sz="900" b="0" i="0" u="none">
                <a:solidFill>
                  <a:srgbClr val="52525B"/>
                </a:solidFill>
                <a:latin typeface="Calibri"/>
              </a:rPr>
              <a:t>cross-linked wiki — claims link back to their evidence</a:t>
            </a:r>
          </a:p>
        </p:txBody>
      </p:sp>
      <p:sp>
        <p:nvSpPr>
          <p:cNvPr id="28" name="Rounded Rectangle 27"/>
          <p:cNvSpPr/>
          <p:nvPr/>
        </p:nvSpPr>
        <p:spPr>
          <a:xfrm>
            <a:off x="7543800" y="2194560"/>
            <a:ext cx="4096512" cy="3584448"/>
          </a:xfrm>
          <a:prstGeom prst="roundRect">
            <a:avLst/>
          </a:prstGeom>
          <a:solidFill>
            <a:srgbClr val="1A9B4A"/>
          </a:solidFill>
          <a:ln>
            <a:no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2395728"/>
            <a:ext cx="3547872" cy="548640"/>
          </a:xfrm>
          <a:prstGeom prst="rect">
            <a:avLst/>
          </a:prstGeom>
          <a:noFill/>
        </p:spPr>
        <p:txBody>
          <a:bodyPr wrap="square" anchor="t" lIns="0" rIns="0" tIns="0" bIns="0">
            <a:noAutofit/>
          </a:bodyPr>
          <a:lstStyle/>
          <a:p>
            <a:pPr algn="l">
              <a:lnSpc>
                <a:spcPct val="100000"/>
              </a:lnSpc>
            </a:pPr>
            <a:r>
              <a:rPr sz="1100" b="1" i="0" u="none">
                <a:solidFill>
                  <a:srgbClr val="B5D334"/>
                </a:solidFill>
                <a:latin typeface="Calibri"/>
              </a:rPr>
              <a:t>PLUS DIS-CHEM'S OWN</a:t>
            </a:r>
          </a:p>
          <a:p>
            <a:pPr algn="l">
              <a:lnSpc>
                <a:spcPct val="100000"/>
              </a:lnSpc>
            </a:pPr>
            <a:r>
              <a:rPr sz="1100" b="1" i="0" u="none">
                <a:solidFill>
                  <a:srgbClr val="B5D334"/>
                </a:solidFill>
                <a:latin typeface="Calibri"/>
              </a:rPr>
              <a:t>PRIMARY RESEARCH</a:t>
            </a:r>
          </a:p>
        </p:txBody>
      </p:sp>
      <p:sp>
        <p:nvSpPr>
          <p:cNvPr id="30" name="TextBox 29"/>
          <p:cNvSpPr txBox="1"/>
          <p:nvPr/>
        </p:nvSpPr>
        <p:spPr>
          <a:xfrm>
            <a:off x="7818120" y="3108960"/>
            <a:ext cx="3547872" cy="548640"/>
          </a:xfrm>
          <a:prstGeom prst="rect">
            <a:avLst/>
          </a:prstGeom>
          <a:noFill/>
        </p:spPr>
        <p:txBody>
          <a:bodyPr wrap="square" anchor="t" lIns="0" rIns="0" tIns="0" bIns="0">
            <a:noAutofit/>
          </a:bodyPr>
          <a:lstStyle/>
          <a:p>
            <a:pPr algn="l">
              <a:lnSpc>
                <a:spcPct val="100000"/>
              </a:lnSpc>
            </a:pPr>
            <a:r>
              <a:rPr sz="1200" b="1" i="0" u="none">
                <a:solidFill>
                  <a:srgbClr val="B5D334"/>
                </a:solidFill>
                <a:latin typeface="Calibri"/>
              </a:rPr>
              <a:t>▸ </a:t>
            </a:r>
            <a:r>
              <a:rPr sz="1250" b="1" i="0" u="none">
                <a:solidFill>
                  <a:srgbClr val="FFFFFF"/>
                </a:solidFill>
                <a:latin typeface="Calibri"/>
              </a:rPr>
              <a:t>Complaints analysis</a:t>
            </a:r>
            <a:r>
              <a:rPr sz="1000" b="0" i="0" u="none">
                <a:solidFill>
                  <a:srgbClr val="BFE3CF"/>
                </a:solidFill>
                <a:latin typeface="Calibri"/>
              </a:rPr>
              <a:t>   n=360 resolved (Jan 2025)</a:t>
            </a:r>
          </a:p>
        </p:txBody>
      </p:sp>
      <p:sp>
        <p:nvSpPr>
          <p:cNvPr id="31" name="TextBox 30"/>
          <p:cNvSpPr txBox="1"/>
          <p:nvPr/>
        </p:nvSpPr>
        <p:spPr>
          <a:xfrm>
            <a:off x="7818120" y="3630167"/>
            <a:ext cx="3547872" cy="548640"/>
          </a:xfrm>
          <a:prstGeom prst="rect">
            <a:avLst/>
          </a:prstGeom>
          <a:noFill/>
        </p:spPr>
        <p:txBody>
          <a:bodyPr wrap="square" anchor="t" lIns="0" rIns="0" tIns="0" bIns="0">
            <a:noAutofit/>
          </a:bodyPr>
          <a:lstStyle/>
          <a:p>
            <a:pPr algn="l">
              <a:lnSpc>
                <a:spcPct val="100000"/>
              </a:lnSpc>
            </a:pPr>
            <a:r>
              <a:rPr sz="1200" b="1" i="0" u="none">
                <a:solidFill>
                  <a:srgbClr val="B5D334"/>
                </a:solidFill>
                <a:latin typeface="Calibri"/>
              </a:rPr>
              <a:t>▸ </a:t>
            </a:r>
            <a:r>
              <a:rPr sz="1250" b="1" i="0" u="none">
                <a:solidFill>
                  <a:srgbClr val="FFFFFF"/>
                </a:solidFill>
                <a:latin typeface="Calibri"/>
              </a:rPr>
              <a:t>Social listening</a:t>
            </a:r>
            <a:r>
              <a:rPr sz="1000" b="0" i="0" u="none">
                <a:solidFill>
                  <a:srgbClr val="BFE3CF"/>
                </a:solidFill>
                <a:latin typeface="Calibri"/>
              </a:rPr>
              <a:t>   1,270 coded comments (Dec 2025)</a:t>
            </a:r>
          </a:p>
        </p:txBody>
      </p:sp>
      <p:sp>
        <p:nvSpPr>
          <p:cNvPr id="32" name="TextBox 31"/>
          <p:cNvSpPr txBox="1"/>
          <p:nvPr/>
        </p:nvSpPr>
        <p:spPr>
          <a:xfrm>
            <a:off x="7818120" y="4151374"/>
            <a:ext cx="3547872" cy="548640"/>
          </a:xfrm>
          <a:prstGeom prst="rect">
            <a:avLst/>
          </a:prstGeom>
          <a:noFill/>
        </p:spPr>
        <p:txBody>
          <a:bodyPr wrap="square" anchor="t" lIns="0" rIns="0" tIns="0" bIns="0">
            <a:noAutofit/>
          </a:bodyPr>
          <a:lstStyle/>
          <a:p>
            <a:pPr algn="l">
              <a:lnSpc>
                <a:spcPct val="100000"/>
              </a:lnSpc>
            </a:pPr>
            <a:r>
              <a:rPr sz="1200" b="1" i="0" u="none">
                <a:solidFill>
                  <a:srgbClr val="B5D334"/>
                </a:solidFill>
                <a:latin typeface="Calibri"/>
              </a:rPr>
              <a:t>▸ </a:t>
            </a:r>
            <a:r>
              <a:rPr sz="1250" b="1" i="0" u="none">
                <a:solidFill>
                  <a:srgbClr val="FFFFFF"/>
                </a:solidFill>
                <a:latin typeface="Calibri"/>
              </a:rPr>
              <a:t>Script-journey interviews</a:t>
            </a:r>
            <a:r>
              <a:rPr sz="1000" b="0" i="0" u="none">
                <a:solidFill>
                  <a:srgbClr val="BFE3CF"/>
                </a:solidFill>
                <a:latin typeface="Calibri"/>
              </a:rPr>
              <a:t>   n=10 IDIs (Oct 2025)</a:t>
            </a:r>
          </a:p>
        </p:txBody>
      </p:sp>
      <p:sp>
        <p:nvSpPr>
          <p:cNvPr id="33" name="TextBox 32"/>
          <p:cNvSpPr txBox="1"/>
          <p:nvPr/>
        </p:nvSpPr>
        <p:spPr>
          <a:xfrm>
            <a:off x="7818120" y="4672581"/>
            <a:ext cx="3547872" cy="548640"/>
          </a:xfrm>
          <a:prstGeom prst="rect">
            <a:avLst/>
          </a:prstGeom>
          <a:noFill/>
        </p:spPr>
        <p:txBody>
          <a:bodyPr wrap="square" anchor="t" lIns="0" rIns="0" tIns="0" bIns="0">
            <a:noAutofit/>
          </a:bodyPr>
          <a:lstStyle/>
          <a:p>
            <a:pPr algn="l">
              <a:lnSpc>
                <a:spcPct val="100000"/>
              </a:lnSpc>
            </a:pPr>
            <a:r>
              <a:rPr sz="1200" b="1" i="0" u="none">
                <a:solidFill>
                  <a:srgbClr val="B5D334"/>
                </a:solidFill>
                <a:latin typeface="Calibri"/>
              </a:rPr>
              <a:t>▸ </a:t>
            </a:r>
            <a:r>
              <a:rPr sz="1250" b="1" i="0" u="none">
                <a:solidFill>
                  <a:srgbClr val="FFFFFF"/>
                </a:solidFill>
                <a:latin typeface="Calibri"/>
              </a:rPr>
              <a:t>Store-of-the-Future interviews</a:t>
            </a:r>
            <a:r>
              <a:rPr sz="1000" b="0" i="0" u="none">
                <a:solidFill>
                  <a:srgbClr val="BFE3CF"/>
                </a:solidFill>
                <a:latin typeface="Calibri"/>
              </a:rPr>
              <a:t>   n=12 (Jan 2026)</a:t>
            </a:r>
          </a:p>
        </p:txBody>
      </p:sp>
      <p:sp>
        <p:nvSpPr>
          <p:cNvPr id="34" name="TextBox 33"/>
          <p:cNvSpPr txBox="1"/>
          <p:nvPr/>
        </p:nvSpPr>
        <p:spPr>
          <a:xfrm>
            <a:off x="7818120" y="5193788"/>
            <a:ext cx="3547872" cy="548640"/>
          </a:xfrm>
          <a:prstGeom prst="rect">
            <a:avLst/>
          </a:prstGeom>
          <a:noFill/>
        </p:spPr>
        <p:txBody>
          <a:bodyPr wrap="square" anchor="t" lIns="0" rIns="0" tIns="0" bIns="0">
            <a:noAutofit/>
          </a:bodyPr>
          <a:lstStyle/>
          <a:p>
            <a:pPr algn="l">
              <a:lnSpc>
                <a:spcPct val="100000"/>
              </a:lnSpc>
            </a:pPr>
            <a:r>
              <a:rPr sz="1200" b="1" i="0" u="none">
                <a:solidFill>
                  <a:srgbClr val="B5D334"/>
                </a:solidFill>
                <a:latin typeface="Calibri"/>
              </a:rPr>
              <a:t>▸ </a:t>
            </a:r>
            <a:r>
              <a:rPr sz="1250" b="1" i="0" u="none">
                <a:solidFill>
                  <a:srgbClr val="FFFFFF"/>
                </a:solidFill>
                <a:latin typeface="Calibri"/>
              </a:rPr>
              <a:t>Omnichannel tech roadmap</a:t>
            </a:r>
            <a:r>
              <a:rPr sz="1000" b="0" i="0" u="none">
                <a:solidFill>
                  <a:srgbClr val="BFE3CF"/>
                </a:solidFill>
                <a:latin typeface="Calibri"/>
              </a:rPr>
              <a:t>   24 capabilities (internal 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BEST PRACTICE</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What the world's leading pharmacies prove — and what transfers to SA</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Borrow mechanisms, not funding architectures: Australia, India and China transfer to South Africa far better than the US, UK or EU models.</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wiki/global-benchmarks/patterns-to-borrow-and-cautions</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7</a:t>
            </a:r>
          </a:p>
        </p:txBody>
      </p:sp>
      <p:sp>
        <p:nvSpPr>
          <p:cNvPr id="12" name="TextBox 11"/>
          <p:cNvSpPr txBox="1"/>
          <p:nvPr/>
        </p:nvSpPr>
        <p:spPr>
          <a:xfrm>
            <a:off x="548640" y="2194560"/>
            <a:ext cx="6400800" cy="292608"/>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PATTERNS TO BORROW</a:t>
            </a:r>
          </a:p>
        </p:txBody>
      </p:sp>
      <p:sp>
        <p:nvSpPr>
          <p:cNvPr id="13" name="TextBox 12"/>
          <p:cNvSpPr txBox="1"/>
          <p:nvPr/>
        </p:nvSpPr>
        <p:spPr>
          <a:xfrm>
            <a:off x="548640" y="2578608"/>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QR e-script token</a:t>
            </a:r>
            <a:r>
              <a:rPr sz="1050" b="0" i="0" u="none">
                <a:solidFill>
                  <a:srgbClr val="52525B"/>
                </a:solidFill>
                <a:latin typeface="Calibri"/>
              </a:rPr>
              <a:t>  —  scanned at any pharmacy; printed/USSD/WhatsApp fallback (AU)</a:t>
            </a:r>
          </a:p>
        </p:txBody>
      </p:sp>
      <p:sp>
        <p:nvSpPr>
          <p:cNvPr id="14" name="TextBox 13"/>
          <p:cNvSpPr txBox="1"/>
          <p:nvPr/>
        </p:nvSpPr>
        <p:spPr>
          <a:xfrm>
            <a:off x="548640" y="3145536"/>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Nominated pharmacy / script list</a:t>
            </a:r>
            <a:r>
              <a:rPr sz="1050" b="0" i="0" u="none">
                <a:solidFill>
                  <a:srgbClr val="52525B"/>
                </a:solidFill>
                <a:latin typeface="Calibri"/>
              </a:rPr>
              <a:t>  —  patient-consented, revocable (UK EPS, AU ASL)</a:t>
            </a:r>
          </a:p>
        </p:txBody>
      </p:sp>
      <p:sp>
        <p:nvSpPr>
          <p:cNvPr id="15" name="TextBox 14"/>
          <p:cNvSpPr txBox="1"/>
          <p:nvPr/>
        </p:nvSpPr>
        <p:spPr>
          <a:xfrm>
            <a:off x="548640" y="3712464"/>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Auto-refill / med-sync</a:t>
            </a:r>
            <a:r>
              <a:rPr sz="1050" b="0" i="0" u="none">
                <a:solidFill>
                  <a:srgbClr val="52525B"/>
                </a:solidFill>
                <a:latin typeface="Calibri"/>
              </a:rPr>
              <a:t>  —  the refill is automatic; cancelling is the exception</a:t>
            </a:r>
          </a:p>
        </p:txBody>
      </p:sp>
      <p:sp>
        <p:nvSpPr>
          <p:cNvPr id="16" name="TextBox 15"/>
          <p:cNvSpPr txBox="1"/>
          <p:nvPr/>
        </p:nvSpPr>
        <p:spPr>
          <a:xfrm>
            <a:off x="548640" y="4279392"/>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Teleconsult → Rx → deliver</a:t>
            </a:r>
            <a:r>
              <a:rPr sz="1050" b="0" i="0" u="none">
                <a:solidFill>
                  <a:srgbClr val="52525B"/>
                </a:solidFill>
                <a:latin typeface="Calibri"/>
              </a:rPr>
              <a:t>  —  one integrated loop, scoped to follow-up/chronic (IN, CN)</a:t>
            </a:r>
          </a:p>
        </p:txBody>
      </p:sp>
      <p:sp>
        <p:nvSpPr>
          <p:cNvPr id="17" name="TextBox 16"/>
          <p:cNvSpPr txBox="1"/>
          <p:nvPr/>
        </p:nvSpPr>
        <p:spPr>
          <a:xfrm>
            <a:off x="548640" y="4846320"/>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Adherence packaging + app wallet</a:t>
            </a:r>
            <a:r>
              <a:rPr sz="1050" b="0" i="0" u="none">
                <a:solidFill>
                  <a:srgbClr val="52525B"/>
                </a:solidFill>
                <a:latin typeface="Calibri"/>
              </a:rPr>
              <a:t>  —  dose-by-time packs; carer mode (PillPack, MedAdvisor)</a:t>
            </a:r>
          </a:p>
        </p:txBody>
      </p:sp>
      <p:sp>
        <p:nvSpPr>
          <p:cNvPr id="18" name="TextBox 17"/>
          <p:cNvSpPr txBox="1"/>
          <p:nvPr/>
        </p:nvSpPr>
        <p:spPr>
          <a:xfrm>
            <a:off x="548640" y="5413248"/>
            <a:ext cx="6492240" cy="457200"/>
          </a:xfrm>
          <a:prstGeom prst="rect">
            <a:avLst/>
          </a:prstGeom>
          <a:noFill/>
        </p:spPr>
        <p:txBody>
          <a:bodyPr wrap="square" anchor="t" lIns="0" rIns="0" tIns="0" bIns="0">
            <a:noAutofit/>
          </a:bodyPr>
          <a:lstStyle/>
          <a:p>
            <a:pPr algn="l">
              <a:lnSpc>
                <a:spcPct val="100000"/>
              </a:lnSpc>
            </a:pPr>
            <a:r>
              <a:rPr sz="1200" b="1" i="0" u="none">
                <a:solidFill>
                  <a:srgbClr val="1A9B4A"/>
                </a:solidFill>
                <a:latin typeface="Calibri"/>
              </a:rPr>
              <a:t>✓  </a:t>
            </a:r>
            <a:r>
              <a:rPr sz="1200" b="1" i="0" u="none">
                <a:solidFill>
                  <a:srgbClr val="1D1D1D"/>
                </a:solidFill>
                <a:latin typeface="Calibri"/>
              </a:rPr>
              <a:t>Price legible at point of commit</a:t>
            </a:r>
            <a:r>
              <a:rPr sz="1050" b="0" i="0" u="none">
                <a:solidFill>
                  <a:srgbClr val="52525B"/>
                </a:solidFill>
                <a:latin typeface="Calibri"/>
              </a:rPr>
              <a:t>  —  SEP + capped fee already make this natural in SA</a:t>
            </a:r>
          </a:p>
        </p:txBody>
      </p:sp>
      <p:sp>
        <p:nvSpPr>
          <p:cNvPr id="19" name="TextBox 18"/>
          <p:cNvSpPr txBox="1"/>
          <p:nvPr/>
        </p:nvSpPr>
        <p:spPr>
          <a:xfrm>
            <a:off x="7360920" y="2194560"/>
            <a:ext cx="4279392" cy="292608"/>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TRANSFER STRENGTH TO SA</a:t>
            </a:r>
          </a:p>
        </p:txBody>
      </p:sp>
      <p:sp>
        <p:nvSpPr>
          <p:cNvPr id="20" name="Rounded Rectangle 19"/>
          <p:cNvSpPr/>
          <p:nvPr/>
        </p:nvSpPr>
        <p:spPr>
          <a:xfrm>
            <a:off x="7360920" y="2578608"/>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2578608"/>
            <a:ext cx="91440"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2642616"/>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Australia</a:t>
            </a:r>
          </a:p>
        </p:txBody>
      </p:sp>
      <p:sp>
        <p:nvSpPr>
          <p:cNvPr id="23" name="TextBox 22"/>
          <p:cNvSpPr txBox="1"/>
          <p:nvPr/>
        </p:nvSpPr>
        <p:spPr>
          <a:xfrm>
            <a:off x="9372600" y="2642616"/>
            <a:ext cx="2084832" cy="365760"/>
          </a:xfrm>
          <a:prstGeom prst="rect">
            <a:avLst/>
          </a:prstGeom>
          <a:noFill/>
        </p:spPr>
        <p:txBody>
          <a:bodyPr wrap="square" anchor="ctr" lIns="0" rIns="0" tIns="0" bIns="0">
            <a:noAutofit/>
          </a:bodyPr>
          <a:lstStyle/>
          <a:p>
            <a:pPr algn="l">
              <a:lnSpc>
                <a:spcPct val="100000"/>
              </a:lnSpc>
            </a:pPr>
            <a:r>
              <a:rPr sz="1100" b="0" i="0" u="none">
                <a:solidFill>
                  <a:srgbClr val="1A9B4A"/>
                </a:solidFill>
                <a:latin typeface="Calibri"/>
              </a:rPr>
              <a:t>Highest</a:t>
            </a:r>
          </a:p>
        </p:txBody>
      </p:sp>
      <p:sp>
        <p:nvSpPr>
          <p:cNvPr id="24" name="Rounded Rectangle 23"/>
          <p:cNvSpPr/>
          <p:nvPr/>
        </p:nvSpPr>
        <p:spPr>
          <a:xfrm>
            <a:off x="7360920" y="3108960"/>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3108960"/>
            <a:ext cx="91440"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3172968"/>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India</a:t>
            </a:r>
          </a:p>
        </p:txBody>
      </p:sp>
      <p:sp>
        <p:nvSpPr>
          <p:cNvPr id="27" name="TextBox 26"/>
          <p:cNvSpPr txBox="1"/>
          <p:nvPr/>
        </p:nvSpPr>
        <p:spPr>
          <a:xfrm>
            <a:off x="9372600" y="3172968"/>
            <a:ext cx="2084832" cy="365760"/>
          </a:xfrm>
          <a:prstGeom prst="rect">
            <a:avLst/>
          </a:prstGeom>
          <a:noFill/>
        </p:spPr>
        <p:txBody>
          <a:bodyPr wrap="square" anchor="ctr" lIns="0" rIns="0" tIns="0" bIns="0">
            <a:noAutofit/>
          </a:bodyPr>
          <a:lstStyle/>
          <a:p>
            <a:pPr algn="l">
              <a:lnSpc>
                <a:spcPct val="100000"/>
              </a:lnSpc>
            </a:pPr>
            <a:r>
              <a:rPr sz="1100" b="0" i="0" u="none">
                <a:solidFill>
                  <a:srgbClr val="1A9B4A"/>
                </a:solidFill>
                <a:latin typeface="Calibri"/>
              </a:rPr>
              <a:t>High</a:t>
            </a:r>
          </a:p>
        </p:txBody>
      </p:sp>
      <p:sp>
        <p:nvSpPr>
          <p:cNvPr id="28" name="Rounded Rectangle 27"/>
          <p:cNvSpPr/>
          <p:nvPr/>
        </p:nvSpPr>
        <p:spPr>
          <a:xfrm>
            <a:off x="7360920" y="3639312"/>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60920" y="3639312"/>
            <a:ext cx="91440"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35240" y="3703320"/>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China</a:t>
            </a:r>
          </a:p>
        </p:txBody>
      </p:sp>
      <p:sp>
        <p:nvSpPr>
          <p:cNvPr id="31" name="TextBox 30"/>
          <p:cNvSpPr txBox="1"/>
          <p:nvPr/>
        </p:nvSpPr>
        <p:spPr>
          <a:xfrm>
            <a:off x="9372600" y="3703320"/>
            <a:ext cx="2084832" cy="365760"/>
          </a:xfrm>
          <a:prstGeom prst="rect">
            <a:avLst/>
          </a:prstGeom>
          <a:noFill/>
        </p:spPr>
        <p:txBody>
          <a:bodyPr wrap="square" anchor="ctr" lIns="0" rIns="0" tIns="0" bIns="0">
            <a:noAutofit/>
          </a:bodyPr>
          <a:lstStyle/>
          <a:p>
            <a:pPr algn="l">
              <a:lnSpc>
                <a:spcPct val="100000"/>
              </a:lnSpc>
            </a:pPr>
            <a:r>
              <a:rPr sz="1100" b="0" i="0" u="none">
                <a:solidFill>
                  <a:srgbClr val="1A9B4A"/>
                </a:solidFill>
                <a:latin typeface="Calibri"/>
              </a:rPr>
              <a:t>High (loop + guardrails)</a:t>
            </a:r>
          </a:p>
        </p:txBody>
      </p:sp>
      <p:sp>
        <p:nvSpPr>
          <p:cNvPr id="32" name="Rounded Rectangle 31"/>
          <p:cNvSpPr/>
          <p:nvPr/>
        </p:nvSpPr>
        <p:spPr>
          <a:xfrm>
            <a:off x="7360920" y="4169664"/>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0920" y="4169664"/>
            <a:ext cx="91440" cy="475488"/>
          </a:xfrm>
          <a:prstGeom prst="rect">
            <a:avLst/>
          </a:prstGeom>
          <a:solidFill>
            <a:srgbClr val="C9A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35240" y="4233672"/>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UK</a:t>
            </a:r>
          </a:p>
        </p:txBody>
      </p:sp>
      <p:sp>
        <p:nvSpPr>
          <p:cNvPr id="35" name="TextBox 34"/>
          <p:cNvSpPr txBox="1"/>
          <p:nvPr/>
        </p:nvSpPr>
        <p:spPr>
          <a:xfrm>
            <a:off x="9372600" y="4233672"/>
            <a:ext cx="2084832" cy="365760"/>
          </a:xfrm>
          <a:prstGeom prst="rect">
            <a:avLst/>
          </a:prstGeom>
          <a:noFill/>
        </p:spPr>
        <p:txBody>
          <a:bodyPr wrap="square" anchor="ctr" lIns="0" rIns="0" tIns="0" bIns="0">
            <a:noAutofit/>
          </a:bodyPr>
          <a:lstStyle/>
          <a:p>
            <a:pPr algn="l">
              <a:lnSpc>
                <a:spcPct val="100000"/>
              </a:lnSpc>
            </a:pPr>
            <a:r>
              <a:rPr sz="1100" b="0" i="0" u="none">
                <a:solidFill>
                  <a:srgbClr val="C9A22E"/>
                </a:solidFill>
                <a:latin typeface="Calibri"/>
              </a:rPr>
              <a:t>Medium</a:t>
            </a:r>
          </a:p>
        </p:txBody>
      </p:sp>
      <p:sp>
        <p:nvSpPr>
          <p:cNvPr id="36" name="Rounded Rectangle 35"/>
          <p:cNvSpPr/>
          <p:nvPr/>
        </p:nvSpPr>
        <p:spPr>
          <a:xfrm>
            <a:off x="7360920" y="4700016"/>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60920" y="4700016"/>
            <a:ext cx="91440" cy="475488"/>
          </a:xfrm>
          <a:prstGeom prst="rect">
            <a:avLst/>
          </a:prstGeom>
          <a:solidFill>
            <a:srgbClr val="C9A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35240" y="4764024"/>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EU / Germany</a:t>
            </a:r>
          </a:p>
        </p:txBody>
      </p:sp>
      <p:sp>
        <p:nvSpPr>
          <p:cNvPr id="39" name="TextBox 38"/>
          <p:cNvSpPr txBox="1"/>
          <p:nvPr/>
        </p:nvSpPr>
        <p:spPr>
          <a:xfrm>
            <a:off x="9372600" y="4764024"/>
            <a:ext cx="2084832" cy="365760"/>
          </a:xfrm>
          <a:prstGeom prst="rect">
            <a:avLst/>
          </a:prstGeom>
          <a:noFill/>
        </p:spPr>
        <p:txBody>
          <a:bodyPr wrap="square" anchor="ctr" lIns="0" rIns="0" tIns="0" bIns="0">
            <a:noAutofit/>
          </a:bodyPr>
          <a:lstStyle/>
          <a:p>
            <a:pPr algn="l">
              <a:lnSpc>
                <a:spcPct val="100000"/>
              </a:lnSpc>
            </a:pPr>
            <a:r>
              <a:rPr sz="1100" b="0" i="0" u="none">
                <a:solidFill>
                  <a:srgbClr val="C9A22E"/>
                </a:solidFill>
                <a:latin typeface="Calibri"/>
              </a:rPr>
              <a:t>Medium (as a warning)</a:t>
            </a:r>
          </a:p>
        </p:txBody>
      </p:sp>
      <p:sp>
        <p:nvSpPr>
          <p:cNvPr id="40" name="Rounded Rectangle 39"/>
          <p:cNvSpPr/>
          <p:nvPr/>
        </p:nvSpPr>
        <p:spPr>
          <a:xfrm>
            <a:off x="7360920" y="5230368"/>
            <a:ext cx="4279392" cy="47548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60920" y="5230368"/>
            <a:ext cx="91440" cy="475488"/>
          </a:xfrm>
          <a:prstGeom prst="rect">
            <a:avLst/>
          </a:prstGeom>
          <a:solidFill>
            <a:srgbClr val="C9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35240" y="5294376"/>
            <a:ext cx="1828800" cy="365760"/>
          </a:xfrm>
          <a:prstGeom prst="rect">
            <a:avLst/>
          </a:prstGeom>
          <a:noFill/>
        </p:spPr>
        <p:txBody>
          <a:bodyPr wrap="square" anchor="ctr" lIns="0" rIns="0" tIns="0" bIns="0">
            <a:noAutofit/>
          </a:bodyPr>
          <a:lstStyle/>
          <a:p>
            <a:pPr algn="l">
              <a:lnSpc>
                <a:spcPct val="100000"/>
              </a:lnSpc>
            </a:pPr>
            <a:r>
              <a:rPr sz="1200" b="1" i="0" u="none">
                <a:solidFill>
                  <a:srgbClr val="1D1D1D"/>
                </a:solidFill>
                <a:latin typeface="Calibri"/>
              </a:rPr>
              <a:t>USA</a:t>
            </a:r>
          </a:p>
        </p:txBody>
      </p:sp>
      <p:sp>
        <p:nvSpPr>
          <p:cNvPr id="43" name="TextBox 42"/>
          <p:cNvSpPr txBox="1"/>
          <p:nvPr/>
        </p:nvSpPr>
        <p:spPr>
          <a:xfrm>
            <a:off x="9372600" y="5294376"/>
            <a:ext cx="2084832" cy="365760"/>
          </a:xfrm>
          <a:prstGeom prst="rect">
            <a:avLst/>
          </a:prstGeom>
          <a:noFill/>
        </p:spPr>
        <p:txBody>
          <a:bodyPr wrap="square" anchor="ctr" lIns="0" rIns="0" tIns="0" bIns="0">
            <a:noAutofit/>
          </a:bodyPr>
          <a:lstStyle/>
          <a:p>
            <a:pPr algn="l">
              <a:lnSpc>
                <a:spcPct val="100000"/>
              </a:lnSpc>
            </a:pPr>
            <a:r>
              <a:rPr sz="1100" b="0" i="0" u="none">
                <a:solidFill>
                  <a:srgbClr val="C96A2E"/>
                </a:solidFill>
                <a:latin typeface="Calibri"/>
              </a:rPr>
              <a:t>Lowest (features only)</a:t>
            </a:r>
          </a:p>
        </p:txBody>
      </p:sp>
      <p:sp>
        <p:nvSpPr>
          <p:cNvPr id="44" name="TextBox 43"/>
          <p:cNvSpPr txBox="1"/>
          <p:nvPr/>
        </p:nvSpPr>
        <p:spPr>
          <a:xfrm>
            <a:off x="7360920" y="5779008"/>
            <a:ext cx="4279392" cy="457200"/>
          </a:xfrm>
          <a:prstGeom prst="rect">
            <a:avLst/>
          </a:prstGeom>
          <a:noFill/>
        </p:spPr>
        <p:txBody>
          <a:bodyPr wrap="square" anchor="t" lIns="0" rIns="0" tIns="0" bIns="0">
            <a:noAutofit/>
          </a:bodyPr>
          <a:lstStyle/>
          <a:p>
            <a:pPr algn="l">
              <a:lnSpc>
                <a:spcPct val="95000"/>
              </a:lnSpc>
            </a:pPr>
            <a:r>
              <a:rPr sz="850" b="0" i="1" u="none">
                <a:solidFill>
                  <a:srgbClr val="52525B"/>
                </a:solidFill>
                <a:latin typeface="Calibri"/>
              </a:rPr>
              <a:t>Reject: the US PBM layer, a single online-only rail, PIN/smart-card redemption, density-dependent speed promises.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98480" y="640080"/>
            <a:ext cx="457200" cy="219456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829800" y="1508760"/>
            <a:ext cx="2194560" cy="45720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828800" cy="548640"/>
          </a:xfrm>
          <a:prstGeom prst="rect">
            <a:avLst/>
          </a:prstGeom>
          <a:noFill/>
        </p:spPr>
        <p:txBody>
          <a:bodyPr wrap="square" anchor="t" lIns="0" rIns="0" tIns="0" bIns="0">
            <a:noAutofit/>
          </a:bodyPr>
          <a:lstStyle/>
          <a:p>
            <a:pPr algn="l">
              <a:lnSpc>
                <a:spcPct val="100000"/>
              </a:lnSpc>
            </a:pPr>
            <a:r>
              <a:rPr sz="4000" b="1" i="0" u="none">
                <a:solidFill>
                  <a:srgbClr val="B5D334"/>
                </a:solidFill>
                <a:latin typeface="Calibri Light"/>
              </a:rPr>
              <a:t>02</a:t>
            </a:r>
          </a:p>
        </p:txBody>
      </p:sp>
      <p:sp>
        <p:nvSpPr>
          <p:cNvPr id="6" name="Rectangle 5"/>
          <p:cNvSpPr/>
          <p:nvPr/>
        </p:nvSpPr>
        <p:spPr>
          <a:xfrm>
            <a:off x="868680" y="3246120"/>
            <a:ext cx="822960" cy="54864"/>
          </a:xfrm>
          <a:prstGeom prst="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058400" cy="1280160"/>
          </a:xfrm>
          <a:prstGeom prst="rect">
            <a:avLst/>
          </a:prstGeom>
          <a:noFill/>
        </p:spPr>
        <p:txBody>
          <a:bodyPr wrap="square" anchor="t" lIns="0" rIns="0" tIns="0" bIns="0">
            <a:noAutofit/>
          </a:bodyPr>
          <a:lstStyle/>
          <a:p>
            <a:pPr algn="l">
              <a:lnSpc>
                <a:spcPct val="100000"/>
              </a:lnSpc>
            </a:pPr>
            <a:r>
              <a:rPr sz="3400" b="1" i="0" u="none">
                <a:solidFill>
                  <a:srgbClr val="FFFFFF"/>
                </a:solidFill>
                <a:latin typeface="Calibri"/>
              </a:rPr>
              <a:t>Principles &amp; people</a:t>
            </a:r>
          </a:p>
        </p:txBody>
      </p:sp>
      <p:sp>
        <p:nvSpPr>
          <p:cNvPr id="8" name="TextBox 7"/>
          <p:cNvSpPr txBox="1"/>
          <p:nvPr/>
        </p:nvSpPr>
        <p:spPr>
          <a:xfrm>
            <a:off x="868680" y="4572000"/>
            <a:ext cx="9692640" cy="914400"/>
          </a:xfrm>
          <a:prstGeom prst="rect">
            <a:avLst/>
          </a:prstGeom>
          <a:noFill/>
        </p:spPr>
        <p:txBody>
          <a:bodyPr wrap="square" anchor="t" lIns="0" rIns="0" tIns="0" bIns="0">
            <a:noAutofit/>
          </a:bodyPr>
          <a:lstStyle/>
          <a:p>
            <a:pPr algn="l">
              <a:lnSpc>
                <a:spcPct val="115000"/>
              </a:lnSpc>
            </a:pPr>
            <a:r>
              <a:rPr sz="1400" b="0" i="0" u="none">
                <a:solidFill>
                  <a:srgbClr val="BFE3CF"/>
                </a:solidFill>
                <a:latin typeface="Calibri"/>
              </a:rPr>
              <a:t>The strategic bets, the experience constitution, the segments and the personas the journey is grounded in.</a:t>
            </a:r>
          </a:p>
        </p:txBody>
      </p:sp>
      <p:sp>
        <p:nvSpPr>
          <p:cNvPr id="9" name="TextBox 8"/>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BFE3C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STRATEGIC PRINCIPLES</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S1–S5 — the business bets</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Five strategic bets define what business this is: compete on service (not regulated price), own the chronic flywheel, and serve both economies on one spine.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deliverables/_shared/pillars.md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9</a:t>
            </a:r>
          </a:p>
        </p:txBody>
      </p:sp>
      <p:sp>
        <p:nvSpPr>
          <p:cNvPr id="12" name="Rounded Rectangle 11"/>
          <p:cNvSpPr/>
          <p:nvPr/>
        </p:nvSpPr>
        <p:spPr>
          <a:xfrm>
            <a:off x="548640" y="2240280"/>
            <a:ext cx="3564026" cy="157276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2404872"/>
            <a:ext cx="566928" cy="38404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S1</a:t>
            </a:r>
          </a:p>
        </p:txBody>
      </p:sp>
      <p:sp>
        <p:nvSpPr>
          <p:cNvPr id="14" name="TextBox 13"/>
          <p:cNvSpPr txBox="1"/>
          <p:nvPr/>
        </p:nvSpPr>
        <p:spPr>
          <a:xfrm>
            <a:off x="1417320" y="2386584"/>
            <a:ext cx="2558186" cy="640080"/>
          </a:xfrm>
          <a:prstGeom prst="rect">
            <a:avLst/>
          </a:prstGeom>
          <a:noFill/>
        </p:spPr>
        <p:txBody>
          <a:bodyPr wrap="square" anchor="t" lIns="0" rIns="0" tIns="0" bIns="0">
            <a:noAutofit/>
          </a:bodyPr>
          <a:lstStyle/>
          <a:p>
            <a:pPr algn="l">
              <a:lnSpc>
                <a:spcPct val="95000"/>
              </a:lnSpc>
            </a:pPr>
            <a:r>
              <a:rPr sz="1150" b="1" i="0" u="none">
                <a:solidFill>
                  <a:srgbClr val="1D1D1D"/>
                </a:solidFill>
                <a:latin typeface="Calibri"/>
              </a:rPr>
              <a:t>Serve both economies on one spine</a:t>
            </a:r>
          </a:p>
        </p:txBody>
      </p:sp>
      <p:sp>
        <p:nvSpPr>
          <p:cNvPr id="15" name="TextBox 14"/>
          <p:cNvSpPr txBox="1"/>
          <p:nvPr/>
        </p:nvSpPr>
        <p:spPr>
          <a:xfrm>
            <a:off x="731520" y="2953512"/>
            <a:ext cx="3198266" cy="749808"/>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Insured (~16%) and cash (~84%) are different journeys sharing one spine; the cash majority is never a degraded afterthought.</a:t>
            </a:r>
          </a:p>
        </p:txBody>
      </p:sp>
      <p:sp>
        <p:nvSpPr>
          <p:cNvPr id="16" name="Rounded Rectangle 15"/>
          <p:cNvSpPr/>
          <p:nvPr/>
        </p:nvSpPr>
        <p:spPr>
          <a:xfrm>
            <a:off x="4313834" y="2240280"/>
            <a:ext cx="3564026" cy="157276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78426" y="2404872"/>
            <a:ext cx="566928" cy="38404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S2</a:t>
            </a:r>
          </a:p>
        </p:txBody>
      </p:sp>
      <p:sp>
        <p:nvSpPr>
          <p:cNvPr id="18" name="TextBox 17"/>
          <p:cNvSpPr txBox="1"/>
          <p:nvPr/>
        </p:nvSpPr>
        <p:spPr>
          <a:xfrm>
            <a:off x="5182514" y="2386584"/>
            <a:ext cx="2558186" cy="640080"/>
          </a:xfrm>
          <a:prstGeom prst="rect">
            <a:avLst/>
          </a:prstGeom>
          <a:noFill/>
        </p:spPr>
        <p:txBody>
          <a:bodyPr wrap="square" anchor="t" lIns="0" rIns="0" tIns="0" bIns="0">
            <a:noAutofit/>
          </a:bodyPr>
          <a:lstStyle/>
          <a:p>
            <a:pPr algn="l">
              <a:lnSpc>
                <a:spcPct val="95000"/>
              </a:lnSpc>
            </a:pPr>
            <a:r>
              <a:rPr sz="1150" b="1" i="0" u="none">
                <a:solidFill>
                  <a:srgbClr val="1D1D1D"/>
                </a:solidFill>
                <a:latin typeface="Calibri"/>
              </a:rPr>
              <a:t>Pharmacy as the health front door</a:t>
            </a:r>
          </a:p>
        </p:txBody>
      </p:sp>
      <p:sp>
        <p:nvSpPr>
          <p:cNvPr id="19" name="TextBox 18"/>
          <p:cNvSpPr txBox="1"/>
          <p:nvPr/>
        </p:nvSpPr>
        <p:spPr>
          <a:xfrm>
            <a:off x="4496714" y="2953512"/>
            <a:ext cx="3198266" cy="749808"/>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Scripting is the entry to an ongoing care relationship, not a one-off transaction; the store + clinic estate is a strategic asset.</a:t>
            </a:r>
          </a:p>
        </p:txBody>
      </p:sp>
      <p:sp>
        <p:nvSpPr>
          <p:cNvPr id="20" name="Rounded Rectangle 19"/>
          <p:cNvSpPr/>
          <p:nvPr/>
        </p:nvSpPr>
        <p:spPr>
          <a:xfrm>
            <a:off x="8079028" y="2240280"/>
            <a:ext cx="3564026" cy="157276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43620" y="2404872"/>
            <a:ext cx="566928" cy="38404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S3</a:t>
            </a:r>
          </a:p>
        </p:txBody>
      </p:sp>
      <p:sp>
        <p:nvSpPr>
          <p:cNvPr id="22" name="TextBox 21"/>
          <p:cNvSpPr txBox="1"/>
          <p:nvPr/>
        </p:nvSpPr>
        <p:spPr>
          <a:xfrm>
            <a:off x="8947708" y="2386584"/>
            <a:ext cx="2558186" cy="640080"/>
          </a:xfrm>
          <a:prstGeom prst="rect">
            <a:avLst/>
          </a:prstGeom>
          <a:noFill/>
        </p:spPr>
        <p:txBody>
          <a:bodyPr wrap="square" anchor="t" lIns="0" rIns="0" tIns="0" bIns="0">
            <a:noAutofit/>
          </a:bodyPr>
          <a:lstStyle/>
          <a:p>
            <a:pPr algn="l">
              <a:lnSpc>
                <a:spcPct val="95000"/>
              </a:lnSpc>
            </a:pPr>
            <a:r>
              <a:rPr sz="1150" b="1" i="0" u="none">
                <a:solidFill>
                  <a:srgbClr val="1D1D1D"/>
                </a:solidFill>
                <a:latin typeface="Calibri"/>
              </a:rPr>
              <a:t>Compete on service, not price</a:t>
            </a:r>
          </a:p>
        </p:txBody>
      </p:sp>
      <p:sp>
        <p:nvSpPr>
          <p:cNvPr id="23" name="TextBox 22"/>
          <p:cNvSpPr txBox="1"/>
          <p:nvPr/>
        </p:nvSpPr>
        <p:spPr>
          <a:xfrm>
            <a:off x="8261908" y="2953512"/>
            <a:ext cx="3198266" cy="749808"/>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SEP + capped dispensing fee fix the price; the durable differentiator is the experience around the drug.</a:t>
            </a:r>
          </a:p>
        </p:txBody>
      </p:sp>
      <p:sp>
        <p:nvSpPr>
          <p:cNvPr id="24" name="Rounded Rectangle 23"/>
          <p:cNvSpPr/>
          <p:nvPr/>
        </p:nvSpPr>
        <p:spPr>
          <a:xfrm>
            <a:off x="548640" y="4014216"/>
            <a:ext cx="3564026" cy="157276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3232" y="4178808"/>
            <a:ext cx="566928" cy="38404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S4</a:t>
            </a:r>
          </a:p>
        </p:txBody>
      </p:sp>
      <p:sp>
        <p:nvSpPr>
          <p:cNvPr id="26" name="TextBox 25"/>
          <p:cNvSpPr txBox="1"/>
          <p:nvPr/>
        </p:nvSpPr>
        <p:spPr>
          <a:xfrm>
            <a:off x="1417320" y="4160520"/>
            <a:ext cx="2558186" cy="640080"/>
          </a:xfrm>
          <a:prstGeom prst="rect">
            <a:avLst/>
          </a:prstGeom>
          <a:noFill/>
        </p:spPr>
        <p:txBody>
          <a:bodyPr wrap="square" anchor="t" lIns="0" rIns="0" tIns="0" bIns="0">
            <a:noAutofit/>
          </a:bodyPr>
          <a:lstStyle/>
          <a:p>
            <a:pPr algn="l">
              <a:lnSpc>
                <a:spcPct val="95000"/>
              </a:lnSpc>
            </a:pPr>
            <a:r>
              <a:rPr sz="1150" b="1" i="0" u="none">
                <a:solidFill>
                  <a:srgbClr val="1D1D1D"/>
                </a:solidFill>
                <a:latin typeface="Calibri"/>
              </a:rPr>
              <a:t>Chronic-medicine flywheel = retention engine</a:t>
            </a:r>
          </a:p>
        </p:txBody>
      </p:sp>
      <p:sp>
        <p:nvSpPr>
          <p:cNvPr id="27" name="TextBox 26"/>
          <p:cNvSpPr txBox="1"/>
          <p:nvPr/>
        </p:nvSpPr>
        <p:spPr>
          <a:xfrm>
            <a:off x="731520" y="4727448"/>
            <a:ext cx="3198266" cy="749808"/>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Proactive, managed chronic repeats are the recurring relationship that compounds loyalty and adherence.</a:t>
            </a:r>
          </a:p>
        </p:txBody>
      </p:sp>
      <p:sp>
        <p:nvSpPr>
          <p:cNvPr id="28" name="Rounded Rectangle 27"/>
          <p:cNvSpPr/>
          <p:nvPr/>
        </p:nvSpPr>
        <p:spPr>
          <a:xfrm>
            <a:off x="4313834" y="4014216"/>
            <a:ext cx="3564026" cy="157276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78426" y="4178808"/>
            <a:ext cx="566928" cy="38404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S5</a:t>
            </a:r>
          </a:p>
        </p:txBody>
      </p:sp>
      <p:sp>
        <p:nvSpPr>
          <p:cNvPr id="30" name="TextBox 29"/>
          <p:cNvSpPr txBox="1"/>
          <p:nvPr/>
        </p:nvSpPr>
        <p:spPr>
          <a:xfrm>
            <a:off x="5182514" y="4160520"/>
            <a:ext cx="2558186" cy="640080"/>
          </a:xfrm>
          <a:prstGeom prst="rect">
            <a:avLst/>
          </a:prstGeom>
          <a:noFill/>
        </p:spPr>
        <p:txBody>
          <a:bodyPr wrap="square" anchor="t" lIns="0" rIns="0" tIns="0" bIns="0">
            <a:noAutofit/>
          </a:bodyPr>
          <a:lstStyle/>
          <a:p>
            <a:pPr algn="l">
              <a:lnSpc>
                <a:spcPct val="95000"/>
              </a:lnSpc>
            </a:pPr>
            <a:r>
              <a:rPr sz="1150" b="1" i="0" u="none">
                <a:solidFill>
                  <a:srgbClr val="1D1D1D"/>
                </a:solidFill>
                <a:latin typeface="Calibri"/>
              </a:rPr>
              <a:t>Pharmacist at top-of-licence; automate the toil</a:t>
            </a:r>
          </a:p>
        </p:txBody>
      </p:sp>
      <p:sp>
        <p:nvSpPr>
          <p:cNvPr id="31" name="TextBox 30"/>
          <p:cNvSpPr txBox="1"/>
          <p:nvPr/>
        </p:nvSpPr>
        <p:spPr>
          <a:xfrm>
            <a:off x="4496714" y="4727448"/>
            <a:ext cx="3198266" cy="749808"/>
          </a:xfrm>
          <a:prstGeom prst="rect">
            <a:avLst/>
          </a:prstGeom>
          <a:noFill/>
        </p:spPr>
        <p:txBody>
          <a:bodyPr wrap="square" anchor="t" lIns="0" rIns="0" tIns="0" bIns="0">
            <a:noAutofit/>
          </a:bodyPr>
          <a:lstStyle/>
          <a:p>
            <a:pPr algn="l">
              <a:lnSpc>
                <a:spcPct val="100000"/>
              </a:lnSpc>
            </a:pPr>
            <a:r>
              <a:rPr sz="950" b="0" i="0" u="none">
                <a:solidFill>
                  <a:srgbClr val="52525B"/>
                </a:solidFill>
                <a:latin typeface="Calibri"/>
              </a:rPr>
              <a:t>Automation, central-fill and telepharmacy absorb the mechanics so pharmacists do the clinical, trust-building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UX PRINCIPLES</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U1–U7 — the experience constitution</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Seven UX rules govern how the experience must behave at every touchpoint — WhatsApp-first, never leave them guessing, money legible, graceful failure, dignity, fewer steps, adherence by design.</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deliverables/_shared/pillars.md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10</a:t>
            </a:r>
          </a:p>
        </p:txBody>
      </p:sp>
      <p:sp>
        <p:nvSpPr>
          <p:cNvPr id="12" name="Rounded Rectangle 11"/>
          <p:cNvSpPr/>
          <p:nvPr/>
        </p:nvSpPr>
        <p:spPr>
          <a:xfrm>
            <a:off x="548640" y="2194560"/>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2359152"/>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U1</a:t>
            </a:r>
          </a:p>
        </p:txBody>
      </p:sp>
      <p:sp>
        <p:nvSpPr>
          <p:cNvPr id="14" name="TextBox 13"/>
          <p:cNvSpPr txBox="1"/>
          <p:nvPr/>
        </p:nvSpPr>
        <p:spPr>
          <a:xfrm>
            <a:off x="1417320" y="2340864"/>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Channel ladder: WhatsApp-first &amp; data-frugal</a:t>
            </a:r>
          </a:p>
        </p:txBody>
      </p:sp>
      <p:sp>
        <p:nvSpPr>
          <p:cNvPr id="15" name="TextBox 14"/>
          <p:cNvSpPr txBox="1"/>
          <p:nvPr/>
        </p:nvSpPr>
        <p:spPr>
          <a:xfrm>
            <a:off x="731520" y="2871216"/>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WhatsApp/USSD/SMS first, app as enhancement; low-data, async, resumable.</a:t>
            </a:r>
          </a:p>
        </p:txBody>
      </p:sp>
      <p:sp>
        <p:nvSpPr>
          <p:cNvPr id="16" name="Rounded Rectangle 15"/>
          <p:cNvSpPr/>
          <p:nvPr/>
        </p:nvSpPr>
        <p:spPr>
          <a:xfrm>
            <a:off x="3372535" y="2194560"/>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37127" y="2359152"/>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U2</a:t>
            </a:r>
          </a:p>
        </p:txBody>
      </p:sp>
      <p:sp>
        <p:nvSpPr>
          <p:cNvPr id="18" name="TextBox 17"/>
          <p:cNvSpPr txBox="1"/>
          <p:nvPr/>
        </p:nvSpPr>
        <p:spPr>
          <a:xfrm>
            <a:off x="4241215" y="2340864"/>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Never leave them guessing</a:t>
            </a:r>
          </a:p>
        </p:txBody>
      </p:sp>
      <p:sp>
        <p:nvSpPr>
          <p:cNvPr id="19" name="TextBox 18"/>
          <p:cNvSpPr txBox="1"/>
          <p:nvPr/>
        </p:nvSpPr>
        <p:spPr>
          <a:xfrm>
            <a:off x="3555415" y="2871216"/>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Honest real-time status at every step; the silent wait is the primary pain.</a:t>
            </a:r>
          </a:p>
        </p:txBody>
      </p:sp>
      <p:sp>
        <p:nvSpPr>
          <p:cNvPr id="20" name="Rounded Rectangle 19"/>
          <p:cNvSpPr/>
          <p:nvPr/>
        </p:nvSpPr>
        <p:spPr>
          <a:xfrm>
            <a:off x="6196431" y="2194560"/>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61023" y="2359152"/>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U3</a:t>
            </a:r>
          </a:p>
        </p:txBody>
      </p:sp>
      <p:sp>
        <p:nvSpPr>
          <p:cNvPr id="22" name="TextBox 21"/>
          <p:cNvSpPr txBox="1"/>
          <p:nvPr/>
        </p:nvSpPr>
        <p:spPr>
          <a:xfrm>
            <a:off x="7065111" y="2340864"/>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Make money legible, early, always</a:t>
            </a:r>
          </a:p>
        </p:txBody>
      </p:sp>
      <p:sp>
        <p:nvSpPr>
          <p:cNvPr id="23" name="TextBox 22"/>
          <p:cNvSpPr txBox="1"/>
          <p:nvPr/>
        </p:nvSpPr>
        <p:spPr>
          <a:xfrm>
            <a:off x="6379311" y="2871216"/>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Price + cover + co-pay shown before the till; cash/EFT/wallet; no cost shock.</a:t>
            </a:r>
          </a:p>
        </p:txBody>
      </p:sp>
      <p:sp>
        <p:nvSpPr>
          <p:cNvPr id="24" name="Rounded Rectangle 23"/>
          <p:cNvSpPr/>
          <p:nvPr/>
        </p:nvSpPr>
        <p:spPr>
          <a:xfrm>
            <a:off x="9020327" y="2194560"/>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4919" y="2359152"/>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U4</a:t>
            </a:r>
          </a:p>
        </p:txBody>
      </p:sp>
      <p:sp>
        <p:nvSpPr>
          <p:cNvPr id="26" name="TextBox 25"/>
          <p:cNvSpPr txBox="1"/>
          <p:nvPr/>
        </p:nvSpPr>
        <p:spPr>
          <a:xfrm>
            <a:off x="9889007" y="2340864"/>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Design for graceful failure</a:t>
            </a:r>
          </a:p>
        </p:txBody>
      </p:sp>
      <p:sp>
        <p:nvSpPr>
          <p:cNvPr id="27" name="TextBox 26"/>
          <p:cNvSpPr txBox="1"/>
          <p:nvPr/>
        </p:nvSpPr>
        <p:spPr>
          <a:xfrm>
            <a:off x="9203207" y="2871216"/>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Plain-language recovery, never a dead end, always a route to a pharmacist.</a:t>
            </a:r>
          </a:p>
        </p:txBody>
      </p:sp>
      <p:sp>
        <p:nvSpPr>
          <p:cNvPr id="28" name="Rounded Rectangle 27"/>
          <p:cNvSpPr/>
          <p:nvPr/>
        </p:nvSpPr>
        <p:spPr>
          <a:xfrm>
            <a:off x="548640" y="4242816"/>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4407408"/>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U5</a:t>
            </a:r>
          </a:p>
        </p:txBody>
      </p:sp>
      <p:sp>
        <p:nvSpPr>
          <p:cNvPr id="30" name="TextBox 29"/>
          <p:cNvSpPr txBox="1"/>
          <p:nvPr/>
        </p:nvSpPr>
        <p:spPr>
          <a:xfrm>
            <a:off x="1417320" y="4389120"/>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Dignity, privacy &amp; language by default</a:t>
            </a:r>
          </a:p>
        </p:txBody>
      </p:sp>
      <p:sp>
        <p:nvSpPr>
          <p:cNvPr id="31" name="TextBox 30"/>
          <p:cNvSpPr txBox="1"/>
          <p:nvPr/>
        </p:nvSpPr>
        <p:spPr>
          <a:xfrm>
            <a:off x="731520" y="4919472"/>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Stigma-aware, discreet, multilingual; caregivers/proxies are first-class users.</a:t>
            </a:r>
          </a:p>
        </p:txBody>
      </p:sp>
      <p:sp>
        <p:nvSpPr>
          <p:cNvPr id="32" name="Rounded Rectangle 31"/>
          <p:cNvSpPr/>
          <p:nvPr/>
        </p:nvSpPr>
        <p:spPr>
          <a:xfrm>
            <a:off x="3372535" y="4242816"/>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537127" y="4407408"/>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U6</a:t>
            </a:r>
          </a:p>
        </p:txBody>
      </p:sp>
      <p:sp>
        <p:nvSpPr>
          <p:cNvPr id="34" name="TextBox 33"/>
          <p:cNvSpPr txBox="1"/>
          <p:nvPr/>
        </p:nvSpPr>
        <p:spPr>
          <a:xfrm>
            <a:off x="4241215" y="4389120"/>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Reduce the journey, don't just digitise it</a:t>
            </a:r>
          </a:p>
        </p:txBody>
      </p:sp>
      <p:sp>
        <p:nvSpPr>
          <p:cNvPr id="35" name="TextBox 34"/>
          <p:cNvSpPr txBox="1"/>
          <p:nvPr/>
        </p:nvSpPr>
        <p:spPr>
          <a:xfrm>
            <a:off x="3555415" y="4919472"/>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Eliminate steps and re-keying; one profile across channels; measure friction removed.</a:t>
            </a:r>
          </a:p>
        </p:txBody>
      </p:sp>
      <p:sp>
        <p:nvSpPr>
          <p:cNvPr id="36" name="Rounded Rectangle 35"/>
          <p:cNvSpPr/>
          <p:nvPr/>
        </p:nvSpPr>
        <p:spPr>
          <a:xfrm>
            <a:off x="6196431" y="4242816"/>
            <a:ext cx="2622727" cy="1847088"/>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1023" y="4407408"/>
            <a:ext cx="566928" cy="384048"/>
          </a:xfrm>
          <a:prstGeom prst="round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400" b="1" i="0">
                <a:solidFill>
                  <a:srgbClr val="FFFFFF"/>
                </a:solidFill>
                <a:latin typeface="Calibri"/>
              </a:rPr>
              <a:t>U7</a:t>
            </a:r>
          </a:p>
        </p:txBody>
      </p:sp>
      <p:sp>
        <p:nvSpPr>
          <p:cNvPr id="38" name="TextBox 37"/>
          <p:cNvSpPr txBox="1"/>
          <p:nvPr/>
        </p:nvSpPr>
        <p:spPr>
          <a:xfrm>
            <a:off x="7065111" y="4389120"/>
            <a:ext cx="1616887" cy="64008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Adherence-as-design</a:t>
            </a:r>
          </a:p>
        </p:txBody>
      </p:sp>
      <p:sp>
        <p:nvSpPr>
          <p:cNvPr id="39" name="TextBox 38"/>
          <p:cNvSpPr txBox="1"/>
          <p:nvPr/>
        </p:nvSpPr>
        <p:spPr>
          <a:xfrm>
            <a:off x="6379311" y="4919472"/>
            <a:ext cx="2256967" cy="1024128"/>
          </a:xfrm>
          <a:prstGeom prst="rect">
            <a:avLst/>
          </a:prstGeom>
          <a:noFill/>
        </p:spPr>
        <p:txBody>
          <a:bodyPr wrap="square" anchor="t" lIns="0" rIns="0" tIns="0" bIns="0">
            <a:noAutofit/>
          </a:bodyPr>
          <a:lstStyle/>
          <a:p>
            <a:pPr algn="l">
              <a:lnSpc>
                <a:spcPct val="100000"/>
              </a:lnSpc>
            </a:pPr>
            <a:r>
              <a:rPr sz="869" b="0" i="0" u="none">
                <a:solidFill>
                  <a:srgbClr val="52525B"/>
                </a:solidFill>
                <a:latin typeface="Calibri"/>
              </a:rPr>
              <a:t>Design the schedule, label and refill loop as a behaviour-change surface.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SEGMENTS — THE TWO-ECONOMY REALITY</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One spine, two first-class funded paths</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Funding — not age, device or geography — is the single most load-bearing design variable; the cash-paying majority must never feel like a degraded afterthought.</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wiki/concepts/dual-journey · wiki/consumer-context/two-economy-affordability</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11</a:t>
            </a:r>
          </a:p>
        </p:txBody>
      </p:sp>
      <p:sp>
        <p:nvSpPr>
          <p:cNvPr id="12" name="Rounded Rectangle 11"/>
          <p:cNvSpPr/>
          <p:nvPr/>
        </p:nvSpPr>
        <p:spPr>
          <a:xfrm>
            <a:off x="548640" y="2240280"/>
            <a:ext cx="1774667" cy="749808"/>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FFFFFF"/>
                </a:solidFill>
                <a:latin typeface="Calibri"/>
              </a:rPr>
              <a:t>16%</a:t>
            </a:r>
          </a:p>
        </p:txBody>
      </p:sp>
      <p:sp>
        <p:nvSpPr>
          <p:cNvPr id="13" name="Rounded Rectangle 12"/>
          <p:cNvSpPr/>
          <p:nvPr/>
        </p:nvSpPr>
        <p:spPr>
          <a:xfrm>
            <a:off x="2323307" y="2240280"/>
            <a:ext cx="9317005" cy="749808"/>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1D1D1D"/>
                </a:solidFill>
                <a:latin typeface="Calibri"/>
              </a:rPr>
              <a:t>84%</a:t>
            </a:r>
          </a:p>
        </p:txBody>
      </p:sp>
      <p:sp>
        <p:nvSpPr>
          <p:cNvPr id="14" name="TextBox 13"/>
          <p:cNvSpPr txBox="1"/>
          <p:nvPr/>
        </p:nvSpPr>
        <p:spPr>
          <a:xfrm>
            <a:off x="548640" y="3026664"/>
            <a:ext cx="2743200" cy="274320"/>
          </a:xfrm>
          <a:prstGeom prst="rect">
            <a:avLst/>
          </a:prstGeom>
          <a:noFill/>
        </p:spPr>
        <p:txBody>
          <a:bodyPr wrap="square" anchor="t" lIns="0" rIns="0" tIns="0" bIns="0">
            <a:noAutofit/>
          </a:bodyPr>
          <a:lstStyle/>
          <a:p>
            <a:pPr algn="l">
              <a:lnSpc>
                <a:spcPct val="100000"/>
              </a:lnSpc>
            </a:pPr>
            <a:r>
              <a:rPr sz="1000" b="1" i="0" u="none">
                <a:solidFill>
                  <a:srgbClr val="126E35"/>
                </a:solidFill>
                <a:latin typeface="Calibri"/>
              </a:rPr>
              <a:t>Insured (medical scheme)</a:t>
            </a:r>
          </a:p>
        </p:txBody>
      </p:sp>
      <p:sp>
        <p:nvSpPr>
          <p:cNvPr id="15" name="TextBox 14"/>
          <p:cNvSpPr txBox="1"/>
          <p:nvPr/>
        </p:nvSpPr>
        <p:spPr>
          <a:xfrm>
            <a:off x="2414747" y="3026664"/>
            <a:ext cx="5486400" cy="274320"/>
          </a:xfrm>
          <a:prstGeom prst="rect">
            <a:avLst/>
          </a:prstGeom>
          <a:noFill/>
        </p:spPr>
        <p:txBody>
          <a:bodyPr wrap="square" anchor="t" lIns="0" rIns="0" tIns="0" bIns="0">
            <a:noAutofit/>
          </a:bodyPr>
          <a:lstStyle/>
          <a:p>
            <a:pPr algn="l">
              <a:lnSpc>
                <a:spcPct val="100000"/>
              </a:lnSpc>
            </a:pPr>
            <a:r>
              <a:rPr sz="1000" b="1" i="0" u="none">
                <a:solidFill>
                  <a:srgbClr val="52525B"/>
                </a:solidFill>
                <a:latin typeface="Calibri"/>
              </a:rPr>
              <a:t>Cash / uninsured majority</a:t>
            </a:r>
          </a:p>
        </p:txBody>
      </p:sp>
      <p:sp>
        <p:nvSpPr>
          <p:cNvPr id="16" name="Rounded Rectangle 15"/>
          <p:cNvSpPr/>
          <p:nvPr/>
        </p:nvSpPr>
        <p:spPr>
          <a:xfrm>
            <a:off x="548640" y="3657600"/>
            <a:ext cx="5440680" cy="2468880"/>
          </a:xfrm>
          <a:prstGeom prst="roundRect">
            <a:avLst/>
          </a:prstGeom>
          <a:solidFill>
            <a:srgbClr val="E8F5EC"/>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0480"/>
            <a:ext cx="4892040" cy="365760"/>
          </a:xfrm>
          <a:prstGeom prst="rect">
            <a:avLst/>
          </a:prstGeom>
          <a:noFill/>
        </p:spPr>
        <p:txBody>
          <a:bodyPr wrap="square" anchor="t" lIns="0" rIns="0" tIns="0" bIns="0">
            <a:noAutofit/>
          </a:bodyPr>
          <a:lstStyle/>
          <a:p>
            <a:pPr algn="l">
              <a:lnSpc>
                <a:spcPct val="100000"/>
              </a:lnSpc>
            </a:pPr>
            <a:r>
              <a:rPr sz="1200" b="1" i="0" u="none">
                <a:solidFill>
                  <a:srgbClr val="126E35"/>
                </a:solidFill>
                <a:latin typeface="Calibri"/>
              </a:rPr>
              <a:t>INSURED JOURNEY</a:t>
            </a:r>
            <a:r>
              <a:rPr sz="1100" b="0" i="1" u="none">
                <a:solidFill>
                  <a:srgbClr val="52525B"/>
                </a:solidFill>
                <a:latin typeface="Calibri"/>
              </a:rPr>
              <a:t>   — Nomvula</a:t>
            </a:r>
          </a:p>
        </p:txBody>
      </p:sp>
      <p:sp>
        <p:nvSpPr>
          <p:cNvPr id="18" name="TextBox 17"/>
          <p:cNvSpPr txBox="1"/>
          <p:nvPr/>
        </p:nvSpPr>
        <p:spPr>
          <a:xfrm>
            <a:off x="822960" y="4261104"/>
            <a:ext cx="4892040" cy="713232"/>
          </a:xfrm>
          <a:prstGeom prst="rect">
            <a:avLst/>
          </a:prstGeom>
          <a:noFill/>
        </p:spPr>
        <p:txBody>
          <a:bodyPr wrap="square" anchor="t" lIns="0" rIns="0" tIns="0" bIns="0">
            <a:noAutofit/>
          </a:bodyPr>
          <a:lstStyle/>
          <a:p>
            <a:pPr algn="l">
              <a:lnSpc>
                <a:spcPct val="105000"/>
              </a:lnSpc>
            </a:pPr>
            <a:r>
              <a:rPr sz="1100" b="1" i="0" u="none">
                <a:solidFill>
                  <a:srgbClr val="1A9B4A"/>
                </a:solidFill>
                <a:latin typeface="Calibri"/>
              </a:rPr>
              <a:t>▸ </a:t>
            </a:r>
            <a:r>
              <a:rPr sz="1100" b="0" i="0" u="none">
                <a:solidFill>
                  <a:srgbClr val="1D1D1D"/>
                </a:solidFill>
                <a:latin typeface="Calibri"/>
              </a:rPr>
              <a:t>Fund: real-time claim pre-adjudication; co-pay shown before commit</a:t>
            </a:r>
          </a:p>
        </p:txBody>
      </p:sp>
      <p:sp>
        <p:nvSpPr>
          <p:cNvPr id="19" name="TextBox 18"/>
          <p:cNvSpPr txBox="1"/>
          <p:nvPr/>
        </p:nvSpPr>
        <p:spPr>
          <a:xfrm>
            <a:off x="822960" y="4718304"/>
            <a:ext cx="4892040" cy="713232"/>
          </a:xfrm>
          <a:prstGeom prst="rect">
            <a:avLst/>
          </a:prstGeom>
          <a:noFill/>
        </p:spPr>
        <p:txBody>
          <a:bodyPr wrap="square" anchor="t" lIns="0" rIns="0" tIns="0" bIns="0">
            <a:noAutofit/>
          </a:bodyPr>
          <a:lstStyle/>
          <a:p>
            <a:pPr algn="l">
              <a:lnSpc>
                <a:spcPct val="105000"/>
              </a:lnSpc>
            </a:pPr>
            <a:r>
              <a:rPr sz="1100" b="1" i="0" u="none">
                <a:solidFill>
                  <a:srgbClr val="1A9B4A"/>
                </a:solidFill>
                <a:latin typeface="Calibri"/>
              </a:rPr>
              <a:t>▸ </a:t>
            </a:r>
            <a:r>
              <a:rPr sz="1100" b="0" i="0" u="none">
                <a:solidFill>
                  <a:srgbClr val="1D1D1D"/>
                </a:solidFill>
                <a:latin typeface="Calibri"/>
              </a:rPr>
              <a:t>Fulfilment: home delivery or collection by default</a:t>
            </a:r>
          </a:p>
        </p:txBody>
      </p:sp>
      <p:sp>
        <p:nvSpPr>
          <p:cNvPr id="20" name="TextBox 19"/>
          <p:cNvSpPr txBox="1"/>
          <p:nvPr/>
        </p:nvSpPr>
        <p:spPr>
          <a:xfrm>
            <a:off x="822960" y="5175504"/>
            <a:ext cx="4892040" cy="713232"/>
          </a:xfrm>
          <a:prstGeom prst="rect">
            <a:avLst/>
          </a:prstGeom>
          <a:noFill/>
        </p:spPr>
        <p:txBody>
          <a:bodyPr wrap="square" anchor="t" lIns="0" rIns="0" tIns="0" bIns="0">
            <a:noAutofit/>
          </a:bodyPr>
          <a:lstStyle/>
          <a:p>
            <a:pPr algn="l">
              <a:lnSpc>
                <a:spcPct val="105000"/>
              </a:lnSpc>
            </a:pPr>
            <a:r>
              <a:rPr sz="1100" b="1" i="0" u="none">
                <a:solidFill>
                  <a:srgbClr val="1A9B4A"/>
                </a:solidFill>
                <a:latin typeface="Calibri"/>
              </a:rPr>
              <a:t>▸ </a:t>
            </a:r>
            <a:r>
              <a:rPr sz="1100" b="0" i="0" u="none">
                <a:solidFill>
                  <a:srgbClr val="1D1D1D"/>
                </a:solidFill>
                <a:latin typeface="Calibri"/>
              </a:rPr>
              <a:t>Pay: scheme + saved method</a:t>
            </a:r>
          </a:p>
        </p:txBody>
      </p:sp>
      <p:sp>
        <p:nvSpPr>
          <p:cNvPr id="21" name="TextBox 20"/>
          <p:cNvSpPr txBox="1"/>
          <p:nvPr/>
        </p:nvSpPr>
        <p:spPr>
          <a:xfrm>
            <a:off x="822960" y="5632704"/>
            <a:ext cx="4892040" cy="713232"/>
          </a:xfrm>
          <a:prstGeom prst="rect">
            <a:avLst/>
          </a:prstGeom>
          <a:noFill/>
        </p:spPr>
        <p:txBody>
          <a:bodyPr wrap="square" anchor="t" lIns="0" rIns="0" tIns="0" bIns="0">
            <a:noAutofit/>
          </a:bodyPr>
          <a:lstStyle/>
          <a:p>
            <a:pPr algn="l">
              <a:lnSpc>
                <a:spcPct val="105000"/>
              </a:lnSpc>
            </a:pPr>
            <a:r>
              <a:rPr sz="1100" b="1" i="0" u="none">
                <a:solidFill>
                  <a:srgbClr val="1A9B4A"/>
                </a:solidFill>
                <a:latin typeface="Calibri"/>
              </a:rPr>
              <a:t>▸ </a:t>
            </a:r>
            <a:r>
              <a:rPr sz="1100" b="0" i="0" u="none">
                <a:solidFill>
                  <a:srgbClr val="1D1D1D"/>
                </a:solidFill>
                <a:latin typeface="Calibri"/>
              </a:rPr>
              <a:t>Steering: DSP / formulary / co-pay logic</a:t>
            </a:r>
          </a:p>
        </p:txBody>
      </p:sp>
      <p:sp>
        <p:nvSpPr>
          <p:cNvPr id="22" name="Rounded Rectangle 21"/>
          <p:cNvSpPr/>
          <p:nvPr/>
        </p:nvSpPr>
        <p:spPr>
          <a:xfrm>
            <a:off x="6217920" y="3657600"/>
            <a:ext cx="5440680" cy="246888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840480"/>
            <a:ext cx="4892040" cy="365760"/>
          </a:xfrm>
          <a:prstGeom prst="rect">
            <a:avLst/>
          </a:prstGeom>
          <a:noFill/>
        </p:spPr>
        <p:txBody>
          <a:bodyPr wrap="square" anchor="t" lIns="0" rIns="0" tIns="0" bIns="0">
            <a:noAutofit/>
          </a:bodyPr>
          <a:lstStyle/>
          <a:p>
            <a:pPr algn="l">
              <a:lnSpc>
                <a:spcPct val="100000"/>
              </a:lnSpc>
            </a:pPr>
            <a:r>
              <a:rPr sz="1200" b="1" i="0" u="none">
                <a:solidFill>
                  <a:srgbClr val="1D1D1D"/>
                </a:solidFill>
                <a:latin typeface="Calibri"/>
              </a:rPr>
              <a:t>CASH / UNINSURED JOURNEY</a:t>
            </a:r>
            <a:r>
              <a:rPr sz="1100" b="0" i="1" u="none">
                <a:solidFill>
                  <a:srgbClr val="52525B"/>
                </a:solidFill>
                <a:latin typeface="Calibri"/>
              </a:rPr>
              <a:t>   — Sipho</a:t>
            </a:r>
          </a:p>
        </p:txBody>
      </p:sp>
      <p:sp>
        <p:nvSpPr>
          <p:cNvPr id="24" name="TextBox 23"/>
          <p:cNvSpPr txBox="1"/>
          <p:nvPr/>
        </p:nvSpPr>
        <p:spPr>
          <a:xfrm>
            <a:off x="6492240" y="4261104"/>
            <a:ext cx="4892040" cy="713232"/>
          </a:xfrm>
          <a:prstGeom prst="rect">
            <a:avLst/>
          </a:prstGeom>
          <a:noFill/>
        </p:spPr>
        <p:txBody>
          <a:bodyPr wrap="square" anchor="t" lIns="0" rIns="0" tIns="0" bIns="0">
            <a:noAutofit/>
          </a:bodyPr>
          <a:lstStyle/>
          <a:p>
            <a:pPr algn="l">
              <a:lnSpc>
                <a:spcPct val="105000"/>
              </a:lnSpc>
            </a:pPr>
            <a:r>
              <a:rPr sz="1100" b="1" i="0" u="none">
                <a:solidFill>
                  <a:srgbClr val="52525B"/>
                </a:solidFill>
                <a:latin typeface="Calibri"/>
              </a:rPr>
              <a:t>▸ </a:t>
            </a:r>
            <a:r>
              <a:rPr sz="1100" b="0" i="0" u="none">
                <a:solidFill>
                  <a:srgbClr val="1D1D1D"/>
                </a:solidFill>
                <a:latin typeface="Calibri"/>
              </a:rPr>
              <a:t>Fund: transparent cash price (SEP + dispensing fee) before commit</a:t>
            </a:r>
          </a:p>
        </p:txBody>
      </p:sp>
      <p:sp>
        <p:nvSpPr>
          <p:cNvPr id="25" name="TextBox 24"/>
          <p:cNvSpPr txBox="1"/>
          <p:nvPr/>
        </p:nvSpPr>
        <p:spPr>
          <a:xfrm>
            <a:off x="6492240" y="4718304"/>
            <a:ext cx="4892040" cy="713232"/>
          </a:xfrm>
          <a:prstGeom prst="rect">
            <a:avLst/>
          </a:prstGeom>
          <a:noFill/>
        </p:spPr>
        <p:txBody>
          <a:bodyPr wrap="square" anchor="t" lIns="0" rIns="0" tIns="0" bIns="0">
            <a:noAutofit/>
          </a:bodyPr>
          <a:lstStyle/>
          <a:p>
            <a:pPr algn="l">
              <a:lnSpc>
                <a:spcPct val="105000"/>
              </a:lnSpc>
            </a:pPr>
            <a:r>
              <a:rPr sz="1100" b="1" i="0" u="none">
                <a:solidFill>
                  <a:srgbClr val="52525B"/>
                </a:solidFill>
                <a:latin typeface="Calibri"/>
              </a:rPr>
              <a:t>▸ </a:t>
            </a:r>
            <a:r>
              <a:rPr sz="1100" b="0" i="0" u="none">
                <a:solidFill>
                  <a:srgbClr val="1D1D1D"/>
                </a:solidFill>
                <a:latin typeface="Calibri"/>
              </a:rPr>
              <a:t>Fulfilment: nearest collection / locker (delivery = premium)</a:t>
            </a:r>
          </a:p>
        </p:txBody>
      </p:sp>
      <p:sp>
        <p:nvSpPr>
          <p:cNvPr id="26" name="TextBox 25"/>
          <p:cNvSpPr txBox="1"/>
          <p:nvPr/>
        </p:nvSpPr>
        <p:spPr>
          <a:xfrm>
            <a:off x="6492240" y="5175504"/>
            <a:ext cx="4892040" cy="713232"/>
          </a:xfrm>
          <a:prstGeom prst="rect">
            <a:avLst/>
          </a:prstGeom>
          <a:noFill/>
        </p:spPr>
        <p:txBody>
          <a:bodyPr wrap="square" anchor="t" lIns="0" rIns="0" tIns="0" bIns="0">
            <a:noAutofit/>
          </a:bodyPr>
          <a:lstStyle/>
          <a:p>
            <a:pPr algn="l">
              <a:lnSpc>
                <a:spcPct val="105000"/>
              </a:lnSpc>
            </a:pPr>
            <a:r>
              <a:rPr sz="1100" b="1" i="0" u="none">
                <a:solidFill>
                  <a:srgbClr val="52525B"/>
                </a:solidFill>
                <a:latin typeface="Calibri"/>
              </a:rPr>
              <a:t>▸ </a:t>
            </a:r>
            <a:r>
              <a:rPr sz="1100" b="0" i="0" u="none">
                <a:solidFill>
                  <a:srgbClr val="1D1D1D"/>
                </a:solidFill>
                <a:latin typeface="Calibri"/>
              </a:rPr>
              <a:t>Pay: cash-on-collection + instant EFT / wallet, no saved card</a:t>
            </a:r>
          </a:p>
        </p:txBody>
      </p:sp>
      <p:sp>
        <p:nvSpPr>
          <p:cNvPr id="27" name="TextBox 26"/>
          <p:cNvSpPr txBox="1"/>
          <p:nvPr/>
        </p:nvSpPr>
        <p:spPr>
          <a:xfrm>
            <a:off x="6492240" y="5632704"/>
            <a:ext cx="4892040" cy="713232"/>
          </a:xfrm>
          <a:prstGeom prst="rect">
            <a:avLst/>
          </a:prstGeom>
          <a:noFill/>
        </p:spPr>
        <p:txBody>
          <a:bodyPr wrap="square" anchor="t" lIns="0" rIns="0" tIns="0" bIns="0">
            <a:noAutofit/>
          </a:bodyPr>
          <a:lstStyle/>
          <a:p>
            <a:pPr algn="l">
              <a:lnSpc>
                <a:spcPct val="105000"/>
              </a:lnSpc>
            </a:pPr>
            <a:r>
              <a:rPr sz="1100" b="1" i="0" u="none">
                <a:solidFill>
                  <a:srgbClr val="52525B"/>
                </a:solidFill>
                <a:latin typeface="Calibri"/>
              </a:rPr>
              <a:t>▸ </a:t>
            </a:r>
            <a:r>
              <a:rPr sz="1100" b="0" i="0" u="none">
                <a:solidFill>
                  <a:srgbClr val="1D1D1D"/>
                </a:solidFill>
                <a:latin typeface="Calibri"/>
              </a:rPr>
              <a:t>Steering: generic-first for affordability; CCMDD precedent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PERSONAS</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Eight research-backed people — three become the protagonists</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The journey is designed for real, evidenced people spanning the two-economy split — spotlighting an insured chronic patient, a cash WhatsApp-first customer, and a caregiver.</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design-kit/personas/_personas-index</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12</a:t>
            </a:r>
          </a:p>
        </p:txBody>
      </p:sp>
      <p:sp>
        <p:nvSpPr>
          <p:cNvPr id="12" name="Rounded Rectangle 11"/>
          <p:cNvSpPr/>
          <p:nvPr/>
        </p:nvSpPr>
        <p:spPr>
          <a:xfrm>
            <a:off x="548640" y="2194560"/>
            <a:ext cx="3611880" cy="233172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4672" y="2432304"/>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600" b="1" i="0">
                <a:solidFill>
                  <a:srgbClr val="FFFFFF"/>
                </a:solidFill>
                <a:latin typeface="Calibri"/>
              </a:rPr>
              <a:t>NK</a:t>
            </a:r>
          </a:p>
        </p:txBody>
      </p:sp>
      <p:sp>
        <p:nvSpPr>
          <p:cNvPr id="14" name="TextBox 13"/>
          <p:cNvSpPr txBox="1"/>
          <p:nvPr/>
        </p:nvSpPr>
        <p:spPr>
          <a:xfrm>
            <a:off x="1554480" y="2450592"/>
            <a:ext cx="2423160" cy="365760"/>
          </a:xfrm>
          <a:prstGeom prst="rect">
            <a:avLst/>
          </a:prstGeom>
          <a:noFill/>
        </p:spPr>
        <p:txBody>
          <a:bodyPr wrap="square" anchor="t" lIns="0" rIns="0" tIns="0" bIns="0">
            <a:noAutofit/>
          </a:bodyPr>
          <a:lstStyle/>
          <a:p>
            <a:pPr algn="l">
              <a:lnSpc>
                <a:spcPct val="100000"/>
              </a:lnSpc>
            </a:pPr>
            <a:r>
              <a:rPr sz="1350" b="1" i="0" u="none">
                <a:solidFill>
                  <a:srgbClr val="1D1D1D"/>
                </a:solidFill>
                <a:latin typeface="Calibri"/>
              </a:rPr>
              <a:t>Nomvula Khumalo</a:t>
            </a:r>
          </a:p>
        </p:txBody>
      </p:sp>
      <p:sp>
        <p:nvSpPr>
          <p:cNvPr id="15" name="TextBox 14"/>
          <p:cNvSpPr txBox="1"/>
          <p:nvPr/>
        </p:nvSpPr>
        <p:spPr>
          <a:xfrm>
            <a:off x="1554480" y="2798064"/>
            <a:ext cx="2423160" cy="274320"/>
          </a:xfrm>
          <a:prstGeom prst="rect">
            <a:avLst/>
          </a:prstGeom>
          <a:noFill/>
        </p:spPr>
        <p:txBody>
          <a:bodyPr wrap="square" anchor="t" lIns="0" rIns="0" tIns="0" bIns="0">
            <a:noAutofit/>
          </a:bodyPr>
          <a:lstStyle/>
          <a:p>
            <a:pPr algn="l">
              <a:lnSpc>
                <a:spcPct val="100000"/>
              </a:lnSpc>
            </a:pPr>
            <a:r>
              <a:rPr sz="950" b="1" i="0" u="none">
                <a:solidFill>
                  <a:srgbClr val="126E35"/>
                </a:solidFill>
                <a:latin typeface="Calibri"/>
              </a:rPr>
              <a:t>Insured chronic, multimorbid</a:t>
            </a:r>
          </a:p>
        </p:txBody>
      </p:sp>
      <p:sp>
        <p:nvSpPr>
          <p:cNvPr id="16" name="TextBox 15"/>
          <p:cNvSpPr txBox="1"/>
          <p:nvPr/>
        </p:nvSpPr>
        <p:spPr>
          <a:xfrm>
            <a:off x="804672" y="3273552"/>
            <a:ext cx="3099816" cy="1143000"/>
          </a:xfrm>
          <a:prstGeom prst="rect">
            <a:avLst/>
          </a:prstGeom>
          <a:noFill/>
        </p:spPr>
        <p:txBody>
          <a:bodyPr wrap="square" anchor="t" lIns="0" rIns="0" tIns="0" bIns="0">
            <a:noAutofit/>
          </a:bodyPr>
          <a:lstStyle/>
          <a:p>
            <a:pPr algn="l">
              <a:lnSpc>
                <a:spcPct val="102000"/>
              </a:lnSpc>
            </a:pPr>
            <a:r>
              <a:rPr sz="1000" b="0" i="0" u="none">
                <a:solidFill>
                  <a:srgbClr val="52525B"/>
                </a:solidFill>
                <a:latin typeface="Calibri"/>
              </a:rPr>
              <a:t>54, Discovery, HTN + type-2 diabetes on the CDL. Wants several repeats to flow automatically, fully funded, no co-pay surprise.</a:t>
            </a:r>
          </a:p>
        </p:txBody>
      </p:sp>
      <p:sp>
        <p:nvSpPr>
          <p:cNvPr id="17" name="Rounded Rectangle 16"/>
          <p:cNvSpPr/>
          <p:nvPr/>
        </p:nvSpPr>
        <p:spPr>
          <a:xfrm>
            <a:off x="2926080" y="2286000"/>
            <a:ext cx="1097280" cy="274320"/>
          </a:xfrm>
          <a:prstGeom prst="round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750" b="1" i="0">
                <a:solidFill>
                  <a:srgbClr val="1D1D1D"/>
                </a:solidFill>
                <a:latin typeface="Calibri"/>
              </a:rPr>
              <a:t>★ PROTAGONIST</a:t>
            </a:r>
          </a:p>
        </p:txBody>
      </p:sp>
      <p:sp>
        <p:nvSpPr>
          <p:cNvPr id="18" name="Rounded Rectangle 17"/>
          <p:cNvSpPr/>
          <p:nvPr/>
        </p:nvSpPr>
        <p:spPr>
          <a:xfrm>
            <a:off x="4288536" y="2194560"/>
            <a:ext cx="3611880" cy="233172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44568" y="2432304"/>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600" b="1" i="0">
                <a:solidFill>
                  <a:srgbClr val="FFFFFF"/>
                </a:solidFill>
                <a:latin typeface="Calibri"/>
              </a:rPr>
              <a:t>SN</a:t>
            </a:r>
          </a:p>
        </p:txBody>
      </p:sp>
      <p:sp>
        <p:nvSpPr>
          <p:cNvPr id="20" name="TextBox 19"/>
          <p:cNvSpPr txBox="1"/>
          <p:nvPr/>
        </p:nvSpPr>
        <p:spPr>
          <a:xfrm>
            <a:off x="5294376" y="2450592"/>
            <a:ext cx="2423160" cy="365760"/>
          </a:xfrm>
          <a:prstGeom prst="rect">
            <a:avLst/>
          </a:prstGeom>
          <a:noFill/>
        </p:spPr>
        <p:txBody>
          <a:bodyPr wrap="square" anchor="t" lIns="0" rIns="0" tIns="0" bIns="0">
            <a:noAutofit/>
          </a:bodyPr>
          <a:lstStyle/>
          <a:p>
            <a:pPr algn="l">
              <a:lnSpc>
                <a:spcPct val="100000"/>
              </a:lnSpc>
            </a:pPr>
            <a:r>
              <a:rPr sz="1350" b="1" i="0" u="none">
                <a:solidFill>
                  <a:srgbClr val="1D1D1D"/>
                </a:solidFill>
                <a:latin typeface="Calibri"/>
              </a:rPr>
              <a:t>Sipho Ndlovu</a:t>
            </a:r>
          </a:p>
        </p:txBody>
      </p:sp>
      <p:sp>
        <p:nvSpPr>
          <p:cNvPr id="21" name="TextBox 20"/>
          <p:cNvSpPr txBox="1"/>
          <p:nvPr/>
        </p:nvSpPr>
        <p:spPr>
          <a:xfrm>
            <a:off x="5294376" y="2798064"/>
            <a:ext cx="2423160" cy="274320"/>
          </a:xfrm>
          <a:prstGeom prst="rect">
            <a:avLst/>
          </a:prstGeom>
          <a:noFill/>
        </p:spPr>
        <p:txBody>
          <a:bodyPr wrap="square" anchor="t" lIns="0" rIns="0" tIns="0" bIns="0">
            <a:noAutofit/>
          </a:bodyPr>
          <a:lstStyle/>
          <a:p>
            <a:pPr algn="l">
              <a:lnSpc>
                <a:spcPct val="100000"/>
              </a:lnSpc>
            </a:pPr>
            <a:r>
              <a:rPr sz="950" b="1" i="0" u="none">
                <a:solidFill>
                  <a:srgbClr val="126E35"/>
                </a:solidFill>
                <a:latin typeface="Calibri"/>
              </a:rPr>
              <a:t>Cash, low-data, WhatsApp-first</a:t>
            </a:r>
          </a:p>
        </p:txBody>
      </p:sp>
      <p:sp>
        <p:nvSpPr>
          <p:cNvPr id="22" name="TextBox 21"/>
          <p:cNvSpPr txBox="1"/>
          <p:nvPr/>
        </p:nvSpPr>
        <p:spPr>
          <a:xfrm>
            <a:off x="4544568" y="3273552"/>
            <a:ext cx="3099816" cy="1143000"/>
          </a:xfrm>
          <a:prstGeom prst="rect">
            <a:avLst/>
          </a:prstGeom>
          <a:noFill/>
        </p:spPr>
        <p:txBody>
          <a:bodyPr wrap="square" anchor="t" lIns="0" rIns="0" tIns="0" bIns="0">
            <a:noAutofit/>
          </a:bodyPr>
          <a:lstStyle/>
          <a:p>
            <a:pPr algn="l">
              <a:lnSpc>
                <a:spcPct val="102000"/>
              </a:lnSpc>
            </a:pPr>
            <a:r>
              <a:rPr sz="1000" b="0" i="0" u="none">
                <a:solidFill>
                  <a:srgbClr val="52525B"/>
                </a:solidFill>
                <a:latin typeface="Calibri"/>
              </a:rPr>
              <a:t>45, peri-urban, cheap Android, no street address. WhatsApp + SMS PIN + a collection point near home are the only things that reliably work.</a:t>
            </a:r>
          </a:p>
        </p:txBody>
      </p:sp>
      <p:sp>
        <p:nvSpPr>
          <p:cNvPr id="23" name="Rounded Rectangle 22"/>
          <p:cNvSpPr/>
          <p:nvPr/>
        </p:nvSpPr>
        <p:spPr>
          <a:xfrm>
            <a:off x="6665976" y="2286000"/>
            <a:ext cx="1097280" cy="274320"/>
          </a:xfrm>
          <a:prstGeom prst="round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750" b="1" i="0">
                <a:solidFill>
                  <a:srgbClr val="1D1D1D"/>
                </a:solidFill>
                <a:latin typeface="Calibri"/>
              </a:rPr>
              <a:t>★ PROTAGONIST</a:t>
            </a:r>
          </a:p>
        </p:txBody>
      </p:sp>
      <p:sp>
        <p:nvSpPr>
          <p:cNvPr id="24" name="Rounded Rectangle 23"/>
          <p:cNvSpPr/>
          <p:nvPr/>
        </p:nvSpPr>
        <p:spPr>
          <a:xfrm>
            <a:off x="8028432" y="2194560"/>
            <a:ext cx="3611880" cy="233172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84464" y="2432304"/>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600" b="1" i="0">
                <a:solidFill>
                  <a:srgbClr val="FFFFFF"/>
                </a:solidFill>
                <a:latin typeface="Calibri"/>
              </a:rPr>
              <a:t>LD</a:t>
            </a:r>
          </a:p>
        </p:txBody>
      </p:sp>
      <p:sp>
        <p:nvSpPr>
          <p:cNvPr id="26" name="TextBox 25"/>
          <p:cNvSpPr txBox="1"/>
          <p:nvPr/>
        </p:nvSpPr>
        <p:spPr>
          <a:xfrm>
            <a:off x="9034272" y="2450592"/>
            <a:ext cx="2423160" cy="365760"/>
          </a:xfrm>
          <a:prstGeom prst="rect">
            <a:avLst/>
          </a:prstGeom>
          <a:noFill/>
        </p:spPr>
        <p:txBody>
          <a:bodyPr wrap="square" anchor="t" lIns="0" rIns="0" tIns="0" bIns="0">
            <a:noAutofit/>
          </a:bodyPr>
          <a:lstStyle/>
          <a:p>
            <a:pPr algn="l">
              <a:lnSpc>
                <a:spcPct val="100000"/>
              </a:lnSpc>
            </a:pPr>
            <a:r>
              <a:rPr sz="1350" b="1" i="0" u="none">
                <a:solidFill>
                  <a:srgbClr val="1D1D1D"/>
                </a:solidFill>
                <a:latin typeface="Calibri"/>
              </a:rPr>
              <a:t>Lerato Dlamini</a:t>
            </a:r>
          </a:p>
        </p:txBody>
      </p:sp>
      <p:sp>
        <p:nvSpPr>
          <p:cNvPr id="27" name="TextBox 26"/>
          <p:cNvSpPr txBox="1"/>
          <p:nvPr/>
        </p:nvSpPr>
        <p:spPr>
          <a:xfrm>
            <a:off x="9034272" y="2798064"/>
            <a:ext cx="2423160" cy="274320"/>
          </a:xfrm>
          <a:prstGeom prst="rect">
            <a:avLst/>
          </a:prstGeom>
          <a:noFill/>
        </p:spPr>
        <p:txBody>
          <a:bodyPr wrap="square" anchor="t" lIns="0" rIns="0" tIns="0" bIns="0">
            <a:noAutofit/>
          </a:bodyPr>
          <a:lstStyle/>
          <a:p>
            <a:pPr algn="l">
              <a:lnSpc>
                <a:spcPct val="100000"/>
              </a:lnSpc>
            </a:pPr>
            <a:r>
              <a:rPr sz="950" b="1" i="0" u="none">
                <a:solidFill>
                  <a:srgbClr val="126E35"/>
                </a:solidFill>
                <a:latin typeface="Calibri"/>
              </a:rPr>
              <a:t>Caregiver / proxy collector</a:t>
            </a:r>
          </a:p>
        </p:txBody>
      </p:sp>
      <p:sp>
        <p:nvSpPr>
          <p:cNvPr id="28" name="TextBox 27"/>
          <p:cNvSpPr txBox="1"/>
          <p:nvPr/>
        </p:nvSpPr>
        <p:spPr>
          <a:xfrm>
            <a:off x="8284464" y="3273552"/>
            <a:ext cx="3099816" cy="1143000"/>
          </a:xfrm>
          <a:prstGeom prst="rect">
            <a:avLst/>
          </a:prstGeom>
          <a:noFill/>
        </p:spPr>
        <p:txBody>
          <a:bodyPr wrap="square" anchor="t" lIns="0" rIns="0" tIns="0" bIns="0">
            <a:noAutofit/>
          </a:bodyPr>
          <a:lstStyle/>
          <a:p>
            <a:pPr algn="l">
              <a:lnSpc>
                <a:spcPct val="102000"/>
              </a:lnSpc>
            </a:pPr>
            <a:r>
              <a:rPr sz="1000" b="0" i="0" u="none">
                <a:solidFill>
                  <a:srgbClr val="52525B"/>
                </a:solidFill>
                <a:latin typeface="Calibri"/>
              </a:rPr>
              <a:t>38, sandwich-generation. Runs medicine admin for her diabetic mother, two children and herself — multiple profiles, cycles and wallets.</a:t>
            </a:r>
          </a:p>
        </p:txBody>
      </p:sp>
      <p:sp>
        <p:nvSpPr>
          <p:cNvPr id="29" name="Rounded Rectangle 28"/>
          <p:cNvSpPr/>
          <p:nvPr/>
        </p:nvSpPr>
        <p:spPr>
          <a:xfrm>
            <a:off x="10405872" y="2286000"/>
            <a:ext cx="1097280" cy="274320"/>
          </a:xfrm>
          <a:prstGeom prst="round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750" b="1" i="0">
                <a:solidFill>
                  <a:srgbClr val="1D1D1D"/>
                </a:solidFill>
                <a:latin typeface="Calibri"/>
              </a:rPr>
              <a:t>★ PROTAGONIST</a:t>
            </a:r>
          </a:p>
        </p:txBody>
      </p:sp>
      <p:sp>
        <p:nvSpPr>
          <p:cNvPr id="30" name="TextBox 29"/>
          <p:cNvSpPr txBox="1"/>
          <p:nvPr/>
        </p:nvSpPr>
        <p:spPr>
          <a:xfrm>
            <a:off x="548640" y="4736592"/>
            <a:ext cx="5486400" cy="274320"/>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THE FULL SET ALSO SPANS:</a:t>
            </a:r>
          </a:p>
        </p:txBody>
      </p:sp>
      <p:sp>
        <p:nvSpPr>
          <p:cNvPr id="31" name="Rounded Rectangle 30"/>
          <p:cNvSpPr/>
          <p:nvPr/>
        </p:nvSpPr>
        <p:spPr>
          <a:xfrm>
            <a:off x="548640" y="5047488"/>
            <a:ext cx="2139696" cy="566928"/>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950" b="1" i="0">
                <a:solidFill>
                  <a:srgbClr val="1D1D1D"/>
                </a:solidFill>
                <a:latin typeface="Calibri"/>
              </a:rPr>
              <a:t>Thabo — cash-pay acute</a:t>
            </a:r>
          </a:p>
        </p:txBody>
      </p:sp>
      <p:sp>
        <p:nvSpPr>
          <p:cNvPr id="32" name="Rounded Rectangle 31"/>
          <p:cNvSpPr/>
          <p:nvPr/>
        </p:nvSpPr>
        <p:spPr>
          <a:xfrm>
            <a:off x="2798064" y="5047488"/>
            <a:ext cx="2139696" cy="566928"/>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950" b="1" i="0">
                <a:solidFill>
                  <a:srgbClr val="1D1D1D"/>
                </a:solidFill>
                <a:latin typeface="Calibri"/>
              </a:rPr>
              <a:t>Trudie — elderly poly-pharmacy</a:t>
            </a:r>
          </a:p>
        </p:txBody>
      </p:sp>
      <p:sp>
        <p:nvSpPr>
          <p:cNvPr id="33" name="Rounded Rectangle 32"/>
          <p:cNvSpPr/>
          <p:nvPr/>
        </p:nvSpPr>
        <p:spPr>
          <a:xfrm>
            <a:off x="5047488" y="5047488"/>
            <a:ext cx="2139696" cy="566928"/>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950" b="1" i="0">
                <a:solidFill>
                  <a:srgbClr val="1D1D1D"/>
                </a:solidFill>
                <a:latin typeface="Calibri"/>
              </a:rPr>
              <a:t>Aisha — time-poor professional</a:t>
            </a:r>
          </a:p>
        </p:txBody>
      </p:sp>
      <p:sp>
        <p:nvSpPr>
          <p:cNvPr id="34" name="Rounded Rectangle 33"/>
          <p:cNvSpPr/>
          <p:nvPr/>
        </p:nvSpPr>
        <p:spPr>
          <a:xfrm>
            <a:off x="7296912" y="5047488"/>
            <a:ext cx="2139696" cy="566928"/>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950" b="1" i="0">
                <a:solidFill>
                  <a:srgbClr val="1D1D1D"/>
                </a:solidFill>
                <a:latin typeface="Calibri"/>
              </a:rPr>
              <a:t>Mandla — public→retail bridge</a:t>
            </a:r>
          </a:p>
        </p:txBody>
      </p:sp>
      <p:sp>
        <p:nvSpPr>
          <p:cNvPr id="35" name="Rounded Rectangle 34"/>
          <p:cNvSpPr/>
          <p:nvPr/>
        </p:nvSpPr>
        <p:spPr>
          <a:xfrm>
            <a:off x="9546336" y="5047488"/>
            <a:ext cx="2139696" cy="566928"/>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950" b="1" i="0">
                <a:solidFill>
                  <a:srgbClr val="1D1D1D"/>
                </a:solidFill>
                <a:latin typeface="Calibri"/>
              </a:rPr>
              <a:t>Naledi — frontline pharmacist (staff)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PAINS, MAPPED</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Today's complaint clusters map cleanly onto the journey spine</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Most root causes sit in the digital and fulfilment seams — yet surface as 'pharmacy' complaints; fixing the counter alone won't fix them. This sets up the journey as the answer.</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wiki/dischem/pharmacy-complaints-pain-points · src-dc-complaints-jan2025</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13</a:t>
            </a:r>
          </a:p>
        </p:txBody>
      </p:sp>
      <p:sp>
        <p:nvSpPr>
          <p:cNvPr id="12" name="Chevron 11"/>
          <p:cNvSpPr/>
          <p:nvPr/>
        </p:nvSpPr>
        <p:spPr>
          <a:xfrm>
            <a:off x="548640" y="2194560"/>
            <a:ext cx="1828800" cy="457200"/>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SUBMIT</a:t>
            </a:r>
          </a:p>
        </p:txBody>
      </p:sp>
      <p:sp>
        <p:nvSpPr>
          <p:cNvPr id="13" name="Chevron 12"/>
          <p:cNvSpPr/>
          <p:nvPr/>
        </p:nvSpPr>
        <p:spPr>
          <a:xfrm>
            <a:off x="2340864" y="2194560"/>
            <a:ext cx="1828800" cy="457200"/>
          </a:xfrm>
          <a:prstGeom prst="chevron">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VALIDATE</a:t>
            </a:r>
          </a:p>
        </p:txBody>
      </p:sp>
      <p:sp>
        <p:nvSpPr>
          <p:cNvPr id="14" name="Chevron 13"/>
          <p:cNvSpPr/>
          <p:nvPr/>
        </p:nvSpPr>
        <p:spPr>
          <a:xfrm>
            <a:off x="4133088" y="2194560"/>
            <a:ext cx="1828800" cy="457200"/>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FUND / PAY</a:t>
            </a:r>
          </a:p>
        </p:txBody>
      </p:sp>
      <p:sp>
        <p:nvSpPr>
          <p:cNvPr id="15" name="Chevron 14"/>
          <p:cNvSpPr/>
          <p:nvPr/>
        </p:nvSpPr>
        <p:spPr>
          <a:xfrm>
            <a:off x="5925312" y="2194560"/>
            <a:ext cx="1828800" cy="457200"/>
          </a:xfrm>
          <a:prstGeom prst="chevron">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DISPENSE</a:t>
            </a:r>
          </a:p>
        </p:txBody>
      </p:sp>
      <p:sp>
        <p:nvSpPr>
          <p:cNvPr id="16" name="Chevron 15"/>
          <p:cNvSpPr/>
          <p:nvPr/>
        </p:nvSpPr>
        <p:spPr>
          <a:xfrm>
            <a:off x="7717536" y="2194560"/>
            <a:ext cx="1828800" cy="457200"/>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DELIVER</a:t>
            </a:r>
          </a:p>
        </p:txBody>
      </p:sp>
      <p:sp>
        <p:nvSpPr>
          <p:cNvPr id="17" name="Chevron 16"/>
          <p:cNvSpPr/>
          <p:nvPr/>
        </p:nvSpPr>
        <p:spPr>
          <a:xfrm>
            <a:off x="9509760" y="2194560"/>
            <a:ext cx="1828800" cy="457200"/>
          </a:xfrm>
          <a:prstGeom prst="chevron">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000" b="1" i="0">
                <a:solidFill>
                  <a:srgbClr val="FFFFFF"/>
                </a:solidFill>
                <a:latin typeface="Calibri"/>
              </a:rPr>
              <a:t>REFILL</a:t>
            </a:r>
          </a:p>
        </p:txBody>
      </p:sp>
      <p:sp>
        <p:nvSpPr>
          <p:cNvPr id="18" name="Rounded Rectangle 17"/>
          <p:cNvSpPr/>
          <p:nvPr/>
        </p:nvSpPr>
        <p:spPr>
          <a:xfrm>
            <a:off x="548640" y="3063240"/>
            <a:ext cx="2167128" cy="2834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63240"/>
            <a:ext cx="2167128" cy="54864"/>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209544"/>
            <a:ext cx="1874520" cy="50292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A · Chronic re-order</a:t>
            </a:r>
          </a:p>
        </p:txBody>
      </p:sp>
      <p:sp>
        <p:nvSpPr>
          <p:cNvPr id="21" name="Rounded Rectangle 20"/>
          <p:cNvSpPr/>
          <p:nvPr/>
        </p:nvSpPr>
        <p:spPr>
          <a:xfrm>
            <a:off x="694944" y="3721608"/>
            <a:ext cx="1554480" cy="256032"/>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00" b="1" i="0">
                <a:solidFill>
                  <a:srgbClr val="126E35"/>
                </a:solidFill>
                <a:latin typeface="Calibri"/>
              </a:rPr>
              <a:t>Dominant cluster</a:t>
            </a:r>
          </a:p>
        </p:txBody>
      </p:sp>
      <p:sp>
        <p:nvSpPr>
          <p:cNvPr id="22" name="TextBox 21"/>
          <p:cNvSpPr txBox="1"/>
          <p:nvPr/>
        </p:nvSpPr>
        <p:spPr>
          <a:xfrm>
            <a:off x="694944" y="4114800"/>
            <a:ext cx="1874520" cy="274320"/>
          </a:xfrm>
          <a:prstGeom prst="rect">
            <a:avLst/>
          </a:prstGeom>
          <a:noFill/>
        </p:spPr>
        <p:txBody>
          <a:bodyPr wrap="square" anchor="t" lIns="0" rIns="0" tIns="0" bIns="0">
            <a:noAutofit/>
          </a:bodyPr>
          <a:lstStyle/>
          <a:p>
            <a:pPr algn="l">
              <a:lnSpc>
                <a:spcPct val="100000"/>
              </a:lnSpc>
            </a:pPr>
            <a:r>
              <a:rPr sz="850" b="1" i="0" u="none">
                <a:solidFill>
                  <a:srgbClr val="1A9B4A"/>
                </a:solidFill>
                <a:latin typeface="Calibri"/>
              </a:rPr>
              <a:t>→ REFILL / SUBMIT</a:t>
            </a:r>
          </a:p>
        </p:txBody>
      </p:sp>
      <p:sp>
        <p:nvSpPr>
          <p:cNvPr id="23" name="TextBox 22"/>
          <p:cNvSpPr txBox="1"/>
          <p:nvPr/>
        </p:nvSpPr>
        <p:spPr>
          <a:xfrm>
            <a:off x="694944" y="4480560"/>
            <a:ext cx="1874520" cy="1280160"/>
          </a:xfrm>
          <a:prstGeom prst="rect">
            <a:avLst/>
          </a:prstGeom>
          <a:noFill/>
        </p:spPr>
        <p:txBody>
          <a:bodyPr wrap="square" anchor="t" lIns="0" rIns="0" tIns="0" bIns="0">
            <a:noAutofit/>
          </a:bodyPr>
          <a:lstStyle/>
          <a:p>
            <a:pPr algn="l">
              <a:lnSpc>
                <a:spcPct val="105000"/>
              </a:lnSpc>
            </a:pPr>
            <a:r>
              <a:rPr sz="950" b="0" i="1" u="none">
                <a:solidFill>
                  <a:srgbClr val="52525B"/>
                </a:solidFill>
                <a:latin typeface="Calibri"/>
              </a:rPr>
              <a:t>“Dis-Chem App is dysfunctional.”</a:t>
            </a:r>
          </a:p>
        </p:txBody>
      </p:sp>
      <p:sp>
        <p:nvSpPr>
          <p:cNvPr id="24" name="Rounded Rectangle 23"/>
          <p:cNvSpPr/>
          <p:nvPr/>
        </p:nvSpPr>
        <p:spPr>
          <a:xfrm>
            <a:off x="2807208" y="3063240"/>
            <a:ext cx="2167128" cy="2834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807208" y="3063240"/>
            <a:ext cx="2167128" cy="54864"/>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53512" y="3209544"/>
            <a:ext cx="1874520" cy="50292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B · Delivery fails</a:t>
            </a:r>
          </a:p>
        </p:txBody>
      </p:sp>
      <p:sp>
        <p:nvSpPr>
          <p:cNvPr id="27" name="Rounded Rectangle 26"/>
          <p:cNvSpPr/>
          <p:nvPr/>
        </p:nvSpPr>
        <p:spPr>
          <a:xfrm>
            <a:off x="2953512" y="3721608"/>
            <a:ext cx="1554480" cy="256032"/>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00" b="1" i="0">
                <a:solidFill>
                  <a:srgbClr val="126E35"/>
                </a:solidFill>
                <a:latin typeface="Calibri"/>
              </a:rPr>
              <a:t>Priority 2</a:t>
            </a:r>
          </a:p>
        </p:txBody>
      </p:sp>
      <p:sp>
        <p:nvSpPr>
          <p:cNvPr id="28" name="TextBox 27"/>
          <p:cNvSpPr txBox="1"/>
          <p:nvPr/>
        </p:nvSpPr>
        <p:spPr>
          <a:xfrm>
            <a:off x="2953512" y="4114800"/>
            <a:ext cx="1874520" cy="274320"/>
          </a:xfrm>
          <a:prstGeom prst="rect">
            <a:avLst/>
          </a:prstGeom>
          <a:noFill/>
        </p:spPr>
        <p:txBody>
          <a:bodyPr wrap="square" anchor="t" lIns="0" rIns="0" tIns="0" bIns="0">
            <a:noAutofit/>
          </a:bodyPr>
          <a:lstStyle/>
          <a:p>
            <a:pPr algn="l">
              <a:lnSpc>
                <a:spcPct val="100000"/>
              </a:lnSpc>
            </a:pPr>
            <a:r>
              <a:rPr sz="850" b="1" i="0" u="none">
                <a:solidFill>
                  <a:srgbClr val="1A9B4A"/>
                </a:solidFill>
                <a:latin typeface="Calibri"/>
              </a:rPr>
              <a:t>→ DELIVER</a:t>
            </a:r>
          </a:p>
        </p:txBody>
      </p:sp>
      <p:sp>
        <p:nvSpPr>
          <p:cNvPr id="29" name="TextBox 28"/>
          <p:cNvSpPr txBox="1"/>
          <p:nvPr/>
        </p:nvSpPr>
        <p:spPr>
          <a:xfrm>
            <a:off x="2953512" y="4480560"/>
            <a:ext cx="1874520" cy="1280160"/>
          </a:xfrm>
          <a:prstGeom prst="rect">
            <a:avLst/>
          </a:prstGeom>
          <a:noFill/>
        </p:spPr>
        <p:txBody>
          <a:bodyPr wrap="square" anchor="t" lIns="0" rIns="0" tIns="0" bIns="0">
            <a:noAutofit/>
          </a:bodyPr>
          <a:lstStyle/>
          <a:p>
            <a:pPr algn="l">
              <a:lnSpc>
                <a:spcPct val="105000"/>
              </a:lnSpc>
            </a:pPr>
            <a:r>
              <a:rPr sz="950" b="0" i="1" u="none">
                <a:solidFill>
                  <a:srgbClr val="52525B"/>
                </a:solidFill>
                <a:latin typeface="Calibri"/>
              </a:rPr>
              <a:t>“Out for delivery. I did not receive it.”</a:t>
            </a:r>
          </a:p>
        </p:txBody>
      </p:sp>
      <p:sp>
        <p:nvSpPr>
          <p:cNvPr id="30" name="Rounded Rectangle 29"/>
          <p:cNvSpPr/>
          <p:nvPr/>
        </p:nvSpPr>
        <p:spPr>
          <a:xfrm>
            <a:off x="5065776" y="3063240"/>
            <a:ext cx="2167128" cy="2834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65776" y="3063240"/>
            <a:ext cx="2167128" cy="54864"/>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3209544"/>
            <a:ext cx="1874520" cy="50292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C · Dispensing accuracy</a:t>
            </a:r>
          </a:p>
        </p:txBody>
      </p:sp>
      <p:sp>
        <p:nvSpPr>
          <p:cNvPr id="33" name="Rounded Rectangle 32"/>
          <p:cNvSpPr/>
          <p:nvPr/>
        </p:nvSpPr>
        <p:spPr>
          <a:xfrm>
            <a:off x="5212080" y="3721608"/>
            <a:ext cx="1554480" cy="256032"/>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00" b="1" i="0">
                <a:solidFill>
                  <a:srgbClr val="126E35"/>
                </a:solidFill>
                <a:latin typeface="Calibri"/>
              </a:rPr>
              <a:t>Higher-risk</a:t>
            </a:r>
          </a:p>
        </p:txBody>
      </p:sp>
      <p:sp>
        <p:nvSpPr>
          <p:cNvPr id="34" name="TextBox 33"/>
          <p:cNvSpPr txBox="1"/>
          <p:nvPr/>
        </p:nvSpPr>
        <p:spPr>
          <a:xfrm>
            <a:off x="5212080" y="4114800"/>
            <a:ext cx="1874520" cy="274320"/>
          </a:xfrm>
          <a:prstGeom prst="rect">
            <a:avLst/>
          </a:prstGeom>
          <a:noFill/>
        </p:spPr>
        <p:txBody>
          <a:bodyPr wrap="square" anchor="t" lIns="0" rIns="0" tIns="0" bIns="0">
            <a:noAutofit/>
          </a:bodyPr>
          <a:lstStyle/>
          <a:p>
            <a:pPr algn="l">
              <a:lnSpc>
                <a:spcPct val="100000"/>
              </a:lnSpc>
            </a:pPr>
            <a:r>
              <a:rPr sz="850" b="1" i="0" u="none">
                <a:solidFill>
                  <a:srgbClr val="1A9B4A"/>
                </a:solidFill>
                <a:latin typeface="Calibri"/>
              </a:rPr>
              <a:t>→ DISPENSE</a:t>
            </a:r>
          </a:p>
        </p:txBody>
      </p:sp>
      <p:sp>
        <p:nvSpPr>
          <p:cNvPr id="35" name="TextBox 34"/>
          <p:cNvSpPr txBox="1"/>
          <p:nvPr/>
        </p:nvSpPr>
        <p:spPr>
          <a:xfrm>
            <a:off x="5212080" y="4480560"/>
            <a:ext cx="1874520" cy="1280160"/>
          </a:xfrm>
          <a:prstGeom prst="rect">
            <a:avLst/>
          </a:prstGeom>
          <a:noFill/>
        </p:spPr>
        <p:txBody>
          <a:bodyPr wrap="square" anchor="t" lIns="0" rIns="0" tIns="0" bIns="0">
            <a:noAutofit/>
          </a:bodyPr>
          <a:lstStyle/>
          <a:p>
            <a:pPr algn="l">
              <a:lnSpc>
                <a:spcPct val="105000"/>
              </a:lnSpc>
            </a:pPr>
            <a:r>
              <a:rPr sz="950" b="0" i="1" u="none">
                <a:solidFill>
                  <a:srgbClr val="52525B"/>
                </a:solidFill>
                <a:latin typeface="Calibri"/>
              </a:rPr>
              <a:t>“My blood-pressure tablets were missing.”</a:t>
            </a:r>
          </a:p>
        </p:txBody>
      </p:sp>
      <p:sp>
        <p:nvSpPr>
          <p:cNvPr id="36" name="Rounded Rectangle 35"/>
          <p:cNvSpPr/>
          <p:nvPr/>
        </p:nvSpPr>
        <p:spPr>
          <a:xfrm>
            <a:off x="7324344" y="3063240"/>
            <a:ext cx="2167128" cy="2834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24344" y="3063240"/>
            <a:ext cx="2167128" cy="54864"/>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70648" y="3209544"/>
            <a:ext cx="1874520" cy="50292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D · Service &amp; ownership</a:t>
            </a:r>
          </a:p>
        </p:txBody>
      </p:sp>
      <p:sp>
        <p:nvSpPr>
          <p:cNvPr id="39" name="Rounded Rectangle 38"/>
          <p:cNvSpPr/>
          <p:nvPr/>
        </p:nvSpPr>
        <p:spPr>
          <a:xfrm>
            <a:off x="7470648" y="3721608"/>
            <a:ext cx="1554480" cy="256032"/>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00" b="1" i="0">
                <a:solidFill>
                  <a:srgbClr val="126E35"/>
                </a:solidFill>
                <a:latin typeface="Calibri"/>
              </a:rPr>
              <a:t>Priority 4</a:t>
            </a:r>
          </a:p>
        </p:txBody>
      </p:sp>
      <p:sp>
        <p:nvSpPr>
          <p:cNvPr id="40" name="TextBox 39"/>
          <p:cNvSpPr txBox="1"/>
          <p:nvPr/>
        </p:nvSpPr>
        <p:spPr>
          <a:xfrm>
            <a:off x="7470648" y="4114800"/>
            <a:ext cx="1874520" cy="274320"/>
          </a:xfrm>
          <a:prstGeom prst="rect">
            <a:avLst/>
          </a:prstGeom>
          <a:noFill/>
        </p:spPr>
        <p:txBody>
          <a:bodyPr wrap="square" anchor="t" lIns="0" rIns="0" tIns="0" bIns="0">
            <a:noAutofit/>
          </a:bodyPr>
          <a:lstStyle/>
          <a:p>
            <a:pPr algn="l">
              <a:lnSpc>
                <a:spcPct val="100000"/>
              </a:lnSpc>
            </a:pPr>
            <a:r>
              <a:rPr sz="850" b="1" i="0" u="none">
                <a:solidFill>
                  <a:srgbClr val="1A9B4A"/>
                </a:solidFill>
                <a:latin typeface="Calibri"/>
              </a:rPr>
              <a:t>→ Cross-cutting</a:t>
            </a:r>
          </a:p>
        </p:txBody>
      </p:sp>
      <p:sp>
        <p:nvSpPr>
          <p:cNvPr id="41" name="TextBox 40"/>
          <p:cNvSpPr txBox="1"/>
          <p:nvPr/>
        </p:nvSpPr>
        <p:spPr>
          <a:xfrm>
            <a:off x="7470648" y="4480560"/>
            <a:ext cx="1874520" cy="1280160"/>
          </a:xfrm>
          <a:prstGeom prst="rect">
            <a:avLst/>
          </a:prstGeom>
          <a:noFill/>
        </p:spPr>
        <p:txBody>
          <a:bodyPr wrap="square" anchor="t" lIns="0" rIns="0" tIns="0" bIns="0">
            <a:noAutofit/>
          </a:bodyPr>
          <a:lstStyle/>
          <a:p>
            <a:pPr algn="l">
              <a:lnSpc>
                <a:spcPct val="105000"/>
              </a:lnSpc>
            </a:pPr>
            <a:r>
              <a:rPr sz="950" b="0" i="1" u="none">
                <a:solidFill>
                  <a:srgbClr val="52525B"/>
                </a:solidFill>
                <a:latin typeface="Calibri"/>
              </a:rPr>
              <a:t>“The nurse doesn't know what to do.”</a:t>
            </a:r>
          </a:p>
        </p:txBody>
      </p:sp>
      <p:sp>
        <p:nvSpPr>
          <p:cNvPr id="42" name="Rounded Rectangle 41"/>
          <p:cNvSpPr/>
          <p:nvPr/>
        </p:nvSpPr>
        <p:spPr>
          <a:xfrm>
            <a:off x="9582912" y="3063240"/>
            <a:ext cx="2167128" cy="2834640"/>
          </a:xfrm>
          <a:prstGeom prst="roundRect">
            <a:avLst/>
          </a:prstGeom>
          <a:solidFill>
            <a:srgbClr val="F4F8F5"/>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82912" y="3063240"/>
            <a:ext cx="2167128" cy="54864"/>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29216" y="3209544"/>
            <a:ext cx="1874520" cy="502920"/>
          </a:xfrm>
          <a:prstGeom prst="rect">
            <a:avLst/>
          </a:prstGeom>
          <a:noFill/>
        </p:spPr>
        <p:txBody>
          <a:bodyPr wrap="square" anchor="t" lIns="0" rIns="0" tIns="0" bIns="0">
            <a:noAutofit/>
          </a:bodyPr>
          <a:lstStyle/>
          <a:p>
            <a:pPr algn="l">
              <a:lnSpc>
                <a:spcPct val="95000"/>
              </a:lnSpc>
            </a:pPr>
            <a:r>
              <a:rPr sz="1100" b="1" i="0" u="none">
                <a:solidFill>
                  <a:srgbClr val="1D1D1D"/>
                </a:solidFill>
                <a:latin typeface="Calibri"/>
              </a:rPr>
              <a:t>E · Billing transparency</a:t>
            </a:r>
          </a:p>
        </p:txBody>
      </p:sp>
      <p:sp>
        <p:nvSpPr>
          <p:cNvPr id="45" name="Rounded Rectangle 44"/>
          <p:cNvSpPr/>
          <p:nvPr/>
        </p:nvSpPr>
        <p:spPr>
          <a:xfrm>
            <a:off x="9729216" y="3721608"/>
            <a:ext cx="1554480" cy="256032"/>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00" b="1" i="0">
                <a:solidFill>
                  <a:srgbClr val="126E35"/>
                </a:solidFill>
                <a:latin typeface="Calibri"/>
              </a:rPr>
              <a:t>Priority 5</a:t>
            </a:r>
          </a:p>
        </p:txBody>
      </p:sp>
      <p:sp>
        <p:nvSpPr>
          <p:cNvPr id="46" name="TextBox 45"/>
          <p:cNvSpPr txBox="1"/>
          <p:nvPr/>
        </p:nvSpPr>
        <p:spPr>
          <a:xfrm>
            <a:off x="9729216" y="4114800"/>
            <a:ext cx="1874520" cy="274320"/>
          </a:xfrm>
          <a:prstGeom prst="rect">
            <a:avLst/>
          </a:prstGeom>
          <a:noFill/>
        </p:spPr>
        <p:txBody>
          <a:bodyPr wrap="square" anchor="t" lIns="0" rIns="0" tIns="0" bIns="0">
            <a:noAutofit/>
          </a:bodyPr>
          <a:lstStyle/>
          <a:p>
            <a:pPr algn="l">
              <a:lnSpc>
                <a:spcPct val="100000"/>
              </a:lnSpc>
            </a:pPr>
            <a:r>
              <a:rPr sz="850" b="1" i="0" u="none">
                <a:solidFill>
                  <a:srgbClr val="1A9B4A"/>
                </a:solidFill>
                <a:latin typeface="Calibri"/>
              </a:rPr>
              <a:t>→ FUND / PAY</a:t>
            </a:r>
          </a:p>
        </p:txBody>
      </p:sp>
      <p:sp>
        <p:nvSpPr>
          <p:cNvPr id="47" name="TextBox 46"/>
          <p:cNvSpPr txBox="1"/>
          <p:nvPr/>
        </p:nvSpPr>
        <p:spPr>
          <a:xfrm>
            <a:off x="9729216" y="4480560"/>
            <a:ext cx="1874520" cy="1280160"/>
          </a:xfrm>
          <a:prstGeom prst="rect">
            <a:avLst/>
          </a:prstGeom>
          <a:noFill/>
        </p:spPr>
        <p:txBody>
          <a:bodyPr wrap="square" anchor="t" lIns="0" rIns="0" tIns="0" bIns="0">
            <a:noAutofit/>
          </a:bodyPr>
          <a:lstStyle/>
          <a:p>
            <a:pPr algn="l">
              <a:lnSpc>
                <a:spcPct val="105000"/>
              </a:lnSpc>
            </a:pPr>
            <a:r>
              <a:rPr sz="950" b="0" i="1" u="none">
                <a:solidFill>
                  <a:srgbClr val="52525B"/>
                </a:solidFill>
                <a:latin typeface="Calibri"/>
              </a:rPr>
              <a:t>“Pricing differs dramatically between stores.”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98480" y="640080"/>
            <a:ext cx="457200" cy="219456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829800" y="1508760"/>
            <a:ext cx="2194560" cy="45720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828800" cy="548640"/>
          </a:xfrm>
          <a:prstGeom prst="rect">
            <a:avLst/>
          </a:prstGeom>
          <a:noFill/>
        </p:spPr>
        <p:txBody>
          <a:bodyPr wrap="square" anchor="t" lIns="0" rIns="0" tIns="0" bIns="0">
            <a:noAutofit/>
          </a:bodyPr>
          <a:lstStyle/>
          <a:p>
            <a:pPr algn="l">
              <a:lnSpc>
                <a:spcPct val="100000"/>
              </a:lnSpc>
            </a:pPr>
            <a:r>
              <a:rPr sz="4000" b="1" i="0" u="none">
                <a:solidFill>
                  <a:srgbClr val="B5D334"/>
                </a:solidFill>
                <a:latin typeface="Calibri Light"/>
              </a:rPr>
              <a:t>03</a:t>
            </a:r>
          </a:p>
        </p:txBody>
      </p:sp>
      <p:sp>
        <p:nvSpPr>
          <p:cNvPr id="6" name="Rectangle 5"/>
          <p:cNvSpPr/>
          <p:nvPr/>
        </p:nvSpPr>
        <p:spPr>
          <a:xfrm>
            <a:off x="868680" y="3246120"/>
            <a:ext cx="822960" cy="54864"/>
          </a:xfrm>
          <a:prstGeom prst="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058400" cy="1280160"/>
          </a:xfrm>
          <a:prstGeom prst="rect">
            <a:avLst/>
          </a:prstGeom>
          <a:noFill/>
        </p:spPr>
        <p:txBody>
          <a:bodyPr wrap="square" anchor="t" lIns="0" rIns="0" tIns="0" bIns="0">
            <a:noAutofit/>
          </a:bodyPr>
          <a:lstStyle/>
          <a:p>
            <a:pPr algn="l">
              <a:lnSpc>
                <a:spcPct val="100000"/>
              </a:lnSpc>
            </a:pPr>
            <a:r>
              <a:rPr sz="3400" b="1" i="0" u="none">
                <a:solidFill>
                  <a:srgbClr val="FFFFFF"/>
                </a:solidFill>
                <a:latin typeface="Calibri"/>
              </a:rPr>
              <a:t>The North Star</a:t>
            </a:r>
          </a:p>
        </p:txBody>
      </p:sp>
      <p:sp>
        <p:nvSpPr>
          <p:cNvPr id="8" name="TextBox 7"/>
          <p:cNvSpPr txBox="1"/>
          <p:nvPr/>
        </p:nvSpPr>
        <p:spPr>
          <a:xfrm>
            <a:off x="868680" y="4572000"/>
            <a:ext cx="9692640" cy="914400"/>
          </a:xfrm>
          <a:prstGeom prst="rect">
            <a:avLst/>
          </a:prstGeom>
          <a:noFill/>
        </p:spPr>
        <p:txBody>
          <a:bodyPr wrap="square" anchor="t" lIns="0" rIns="0" tIns="0" bIns="0">
            <a:noAutofit/>
          </a:bodyPr>
          <a:lstStyle/>
          <a:p>
            <a:pPr algn="l">
              <a:lnSpc>
                <a:spcPct val="115000"/>
              </a:lnSpc>
            </a:pPr>
            <a:r>
              <a:rPr sz="1400" b="0" i="0" u="none">
                <a:solidFill>
                  <a:srgbClr val="BFE3CF"/>
                </a:solidFill>
                <a:latin typeface="Calibri"/>
              </a:rPr>
              <a:t>The future-state experience — the household medicine manager, revealed.</a:t>
            </a:r>
          </a:p>
        </p:txBody>
      </p:sp>
      <p:sp>
        <p:nvSpPr>
          <p:cNvPr id="9" name="TextBox 8"/>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BFE3C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NORTH STAR — REVEAL</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The household medicine manager — a self-running repeat</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One person manages her own, her mother's and her child's medication in one place; the system predicts, dispenses and delivers — she barely has to think about it.</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deliverables/05-tobe-future-state-journey.html · src-vn-cape-point-11</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15</a:t>
            </a:r>
          </a:p>
        </p:txBody>
      </p:sp>
      <p:sp>
        <p:nvSpPr>
          <p:cNvPr id="12" name="TextBox 11"/>
          <p:cNvSpPr txBox="1"/>
          <p:nvPr/>
        </p:nvSpPr>
        <p:spPr>
          <a:xfrm>
            <a:off x="548640" y="2286000"/>
            <a:ext cx="3931920" cy="36576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MOMENT ARC</a:t>
            </a:r>
          </a:p>
        </p:txBody>
      </p:sp>
      <p:sp>
        <p:nvSpPr>
          <p:cNvPr id="13" name="TextBox 12"/>
          <p:cNvSpPr txBox="1"/>
          <p:nvPr/>
        </p:nvSpPr>
        <p:spPr>
          <a:xfrm>
            <a:off x="548640" y="26700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“My repeat is due — and I barely have to think about it”</a:t>
            </a:r>
          </a:p>
        </p:txBody>
      </p:sp>
      <p:sp>
        <p:nvSpPr>
          <p:cNvPr id="14" name="TextBox 13"/>
          <p:cNvSpPr txBox="1"/>
          <p:nvPr/>
        </p:nvSpPr>
        <p:spPr>
          <a:xfrm>
            <a:off x="548640" y="31272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“I handle Mum's and my little one's meds in one place”</a:t>
            </a:r>
          </a:p>
        </p:txBody>
      </p:sp>
      <p:sp>
        <p:nvSpPr>
          <p:cNvPr id="15" name="TextBox 14"/>
          <p:cNvSpPr txBox="1"/>
          <p:nvPr/>
        </p:nvSpPr>
        <p:spPr>
          <a:xfrm>
            <a:off x="548640" y="35844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“I know the cost and cover before I commit”</a:t>
            </a:r>
          </a:p>
        </p:txBody>
      </p:sp>
      <p:sp>
        <p:nvSpPr>
          <p:cNvPr id="16" name="TextBox 15"/>
          <p:cNvSpPr txBox="1"/>
          <p:nvPr/>
        </p:nvSpPr>
        <p:spPr>
          <a:xfrm>
            <a:off x="548640" y="40416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“A named pharmacist has my back”</a:t>
            </a:r>
          </a:p>
        </p:txBody>
      </p:sp>
      <p:sp>
        <p:nvSpPr>
          <p:cNvPr id="17" name="TextBox 16"/>
          <p:cNvSpPr txBox="1"/>
          <p:nvPr/>
        </p:nvSpPr>
        <p:spPr>
          <a:xfrm>
            <a:off x="548640" y="44988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“It's picked, checked and packed — and I watch it happen”</a:t>
            </a:r>
          </a:p>
        </p:txBody>
      </p:sp>
      <p:sp>
        <p:nvSpPr>
          <p:cNvPr id="18" name="TextBox 17"/>
          <p:cNvSpPr txBox="1"/>
          <p:nvPr/>
        </p:nvSpPr>
        <p:spPr>
          <a:xfrm>
            <a:off x="548640" y="49560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“It arrives when they said — never left guessing”</a:t>
            </a:r>
          </a:p>
        </p:txBody>
      </p:sp>
      <p:sp>
        <p:nvSpPr>
          <p:cNvPr id="19" name="TextBox 18"/>
          <p:cNvSpPr txBox="1"/>
          <p:nvPr/>
        </p:nvSpPr>
        <p:spPr>
          <a:xfrm>
            <a:off x="548640" y="5413248"/>
            <a:ext cx="3977639" cy="457200"/>
          </a:xfrm>
          <a:prstGeom prst="rect">
            <a:avLst/>
          </a:prstGeom>
          <a:noFill/>
        </p:spPr>
        <p:txBody>
          <a:bodyPr wrap="square" anchor="t" lIns="0" rIns="0" tIns="0" bIns="0">
            <a:noAutofit/>
          </a:bodyPr>
          <a:lstStyle/>
          <a:p>
            <a:pPr algn="l">
              <a:lnSpc>
                <a:spcPct val="98000"/>
              </a:lnSpc>
            </a:pPr>
            <a:r>
              <a:rPr sz="1000" b="1" i="0" u="none">
                <a:solidFill>
                  <a:srgbClr val="1A9B4A"/>
                </a:solidFill>
                <a:latin typeface="Calibri"/>
              </a:rPr>
              <a:t>→ </a:t>
            </a:r>
            <a:r>
              <a:rPr sz="1050" b="0" i="1" u="none">
                <a:solidFill>
                  <a:srgbClr val="1D1D1D"/>
                </a:solidFill>
                <a:latin typeface="Calibri"/>
              </a:rPr>
              <a:t>“When life throws a curveball, the system bends”</a:t>
            </a:r>
          </a:p>
        </p:txBody>
      </p:sp>
      <p:sp>
        <p:nvSpPr>
          <p:cNvPr id="20" name="Rectangle 19"/>
          <p:cNvSpPr/>
          <p:nvPr/>
        </p:nvSpPr>
        <p:spPr>
          <a:xfrm>
            <a:off x="4745736" y="2276856"/>
            <a:ext cx="6876288" cy="4549728"/>
          </a:xfrm>
          <a:prstGeom prst="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journey-board.png"/>
          <p:cNvPicPr>
            <a:picLocks noChangeAspect="1"/>
          </p:cNvPicPr>
          <p:nvPr/>
        </p:nvPicPr>
        <p:blipFill>
          <a:blip r:embed="rId2"/>
          <a:stretch>
            <a:fillRect/>
          </a:stretch>
        </p:blipFill>
        <p:spPr>
          <a:xfrm>
            <a:off x="4800600" y="2331720"/>
            <a:ext cx="6766560" cy="4440000"/>
          </a:xfrm>
          <a:prstGeom prst="rect">
            <a:avLst/>
          </a:prstGeom>
        </p:spPr>
      </p:pic>
      <p:sp>
        <p:nvSpPr>
          <p:cNvPr id="22" name="TextBox 21"/>
          <p:cNvSpPr txBox="1"/>
          <p:nvPr/>
        </p:nvSpPr>
        <p:spPr>
          <a:xfrm>
            <a:off x="4800600" y="6826584"/>
            <a:ext cx="6766560" cy="274320"/>
          </a:xfrm>
          <a:prstGeom prst="rect">
            <a:avLst/>
          </a:prstGeom>
          <a:noFill/>
        </p:spPr>
        <p:txBody>
          <a:bodyPr wrap="square" anchor="t" lIns="0" rIns="0" tIns="0" bIns="0">
            <a:noAutofit/>
          </a:bodyPr>
          <a:lstStyle/>
          <a:p>
            <a:pPr algn="ctr">
              <a:lnSpc>
                <a:spcPct val="100000"/>
              </a:lnSpc>
            </a:pPr>
            <a:r>
              <a:rPr sz="850" b="0" i="1" u="none">
                <a:solidFill>
                  <a:srgbClr val="52525B"/>
                </a:solidFill>
                <a:latin typeface="Calibri"/>
              </a:rPr>
              <a:t>The built artefact — interactive future-state journey board (insured 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NORTH STAR — REVEAL</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Calm on the surface, depth on demand — and equal on both paths</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Each moment opens to reveal the experience behind the line of visibility; the dual-economy toggle proves the cash path is first-class, not a downgrade.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deliverables/05-tobe-future-state-journey.html · wiki/concepts/dual-journey</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16</a:t>
            </a:r>
          </a:p>
        </p:txBody>
      </p:sp>
      <p:sp>
        <p:nvSpPr>
          <p:cNvPr id="12" name="Rectangle 11"/>
          <p:cNvSpPr/>
          <p:nvPr/>
        </p:nvSpPr>
        <p:spPr>
          <a:xfrm>
            <a:off x="502920" y="2240280"/>
            <a:ext cx="5577840" cy="3691440"/>
          </a:xfrm>
          <a:prstGeom prst="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ourney-moment-expanded.png"/>
          <p:cNvPicPr>
            <a:picLocks noChangeAspect="1"/>
          </p:cNvPicPr>
          <p:nvPr/>
        </p:nvPicPr>
        <p:blipFill>
          <a:blip r:embed="rId2"/>
          <a:stretch>
            <a:fillRect/>
          </a:stretch>
        </p:blipFill>
        <p:spPr>
          <a:xfrm>
            <a:off x="548640" y="2286000"/>
            <a:ext cx="5486400" cy="3600000"/>
          </a:xfrm>
          <a:prstGeom prst="rect">
            <a:avLst/>
          </a:prstGeom>
        </p:spPr>
      </p:pic>
      <p:sp>
        <p:nvSpPr>
          <p:cNvPr id="14" name="TextBox 13"/>
          <p:cNvSpPr txBox="1"/>
          <p:nvPr/>
        </p:nvSpPr>
        <p:spPr>
          <a:xfrm>
            <a:off x="548640" y="5940864"/>
            <a:ext cx="5486400" cy="274320"/>
          </a:xfrm>
          <a:prstGeom prst="rect">
            <a:avLst/>
          </a:prstGeom>
          <a:noFill/>
        </p:spPr>
        <p:txBody>
          <a:bodyPr wrap="square" anchor="t" lIns="0" rIns="0" tIns="0" bIns="0">
            <a:noAutofit/>
          </a:bodyPr>
          <a:lstStyle/>
          <a:p>
            <a:pPr algn="ctr">
              <a:lnSpc>
                <a:spcPct val="100000"/>
              </a:lnSpc>
            </a:pPr>
            <a:r>
              <a:rPr sz="900" b="0" i="1" u="none">
                <a:solidFill>
                  <a:srgbClr val="52525B"/>
                </a:solidFill>
                <a:latin typeface="Calibri"/>
              </a:rPr>
              <a:t>A moment expanded — story + behind-the-line (insured)</a:t>
            </a:r>
          </a:p>
        </p:txBody>
      </p:sp>
      <p:sp>
        <p:nvSpPr>
          <p:cNvPr id="15" name="Rectangle 14"/>
          <p:cNvSpPr/>
          <p:nvPr/>
        </p:nvSpPr>
        <p:spPr>
          <a:xfrm>
            <a:off x="6263640" y="2240280"/>
            <a:ext cx="5577840" cy="3691440"/>
          </a:xfrm>
          <a:prstGeom prst="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journey-cash.png"/>
          <p:cNvPicPr>
            <a:picLocks noChangeAspect="1"/>
          </p:cNvPicPr>
          <p:nvPr/>
        </p:nvPicPr>
        <p:blipFill>
          <a:blip r:embed="rId3"/>
          <a:stretch>
            <a:fillRect/>
          </a:stretch>
        </p:blipFill>
        <p:spPr>
          <a:xfrm>
            <a:off x="6309360" y="2286000"/>
            <a:ext cx="5486400" cy="3600000"/>
          </a:xfrm>
          <a:prstGeom prst="rect">
            <a:avLst/>
          </a:prstGeom>
        </p:spPr>
      </p:pic>
      <p:sp>
        <p:nvSpPr>
          <p:cNvPr id="17" name="TextBox 16"/>
          <p:cNvSpPr txBox="1"/>
          <p:nvPr/>
        </p:nvSpPr>
        <p:spPr>
          <a:xfrm>
            <a:off x="6309360" y="5940864"/>
            <a:ext cx="5486400" cy="274320"/>
          </a:xfrm>
          <a:prstGeom prst="rect">
            <a:avLst/>
          </a:prstGeom>
          <a:noFill/>
        </p:spPr>
        <p:txBody>
          <a:bodyPr wrap="square" anchor="t" lIns="0" rIns="0" tIns="0" bIns="0">
            <a:noAutofit/>
          </a:bodyPr>
          <a:lstStyle/>
          <a:p>
            <a:pPr algn="ctr">
              <a:lnSpc>
                <a:spcPct val="100000"/>
              </a:lnSpc>
            </a:pPr>
            <a:r>
              <a:rPr sz="900" b="0" i="1" u="none">
                <a:solidFill>
                  <a:srgbClr val="52525B"/>
                </a:solidFill>
                <a:latin typeface="Calibri"/>
              </a:rPr>
              <a:t>The same journey, cash / uninsured path (Sipho)</a:t>
            </a:r>
          </a:p>
        </p:txBody>
      </p:sp>
      <p:sp>
        <p:nvSpPr>
          <p:cNvPr id="18" name="Rounded Rectangle 17"/>
          <p:cNvSpPr/>
          <p:nvPr/>
        </p:nvSpPr>
        <p:spPr>
          <a:xfrm>
            <a:off x="548640" y="6343200"/>
            <a:ext cx="11091672" cy="658368"/>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noAutofit/>
          </a:bodyPr>
          <a:lstStyle/>
          <a:p>
            <a:pPr algn="l">
              <a:lnSpc>
                <a:spcPct val="100000"/>
              </a:lnSpc>
            </a:pPr>
            <a:r>
              <a:rPr sz="1150" b="1" i="0">
                <a:solidFill>
                  <a:srgbClr val="126E35"/>
                </a:solidFill>
                <a:latin typeface="Calibri"/>
              </a:rPr>
              <a:t>Low-friction &amp; human:  </a:t>
            </a:r>
            <a:r>
              <a:rPr sz="1100" b="0" i="0">
                <a:solidFill>
                  <a:srgbClr val="1D1D1D"/>
                </a:solidFill>
                <a:latin typeface="Calibri"/>
              </a:rPr>
              <a:t>predictability beats speed (SOTF), the customer surface stays calm, and the ops/tech depth lives behind a line of visibility the reader can open. The cash majority gets the same dignity, transparency and fulfilment quality.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THE NORTH STAR — REVEAL</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“My medicine cabinet” — the hero moment</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Every household member's medication in one beautiful view — what to take, when, what's left and what's coming — turns admin into confidence.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deliverables/05-tobe-future-state-journey.html · src-vn-cape-point-11</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17</a:t>
            </a:r>
          </a:p>
        </p:txBody>
      </p:sp>
      <p:sp>
        <p:nvSpPr>
          <p:cNvPr id="12" name="Rectangle 11"/>
          <p:cNvSpPr/>
          <p:nvPr/>
        </p:nvSpPr>
        <p:spPr>
          <a:xfrm>
            <a:off x="7772400" y="2194560"/>
            <a:ext cx="2664972" cy="4069079"/>
          </a:xfrm>
          <a:prstGeom prst="rect">
            <a:avLst/>
          </a:prstGeom>
          <a:solidFill>
            <a:srgbClr val="FFFFFF"/>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edicine-cabinet.png"/>
          <p:cNvPicPr>
            <a:picLocks noChangeAspect="1"/>
          </p:cNvPicPr>
          <p:nvPr/>
        </p:nvPicPr>
        <p:blipFill>
          <a:blip r:embed="rId2"/>
          <a:stretch>
            <a:fillRect/>
          </a:stretch>
        </p:blipFill>
        <p:spPr>
          <a:xfrm>
            <a:off x="7818120" y="2240280"/>
            <a:ext cx="2572442" cy="3977639"/>
          </a:xfrm>
          <a:prstGeom prst="rect">
            <a:avLst/>
          </a:prstGeom>
        </p:spPr>
      </p:pic>
      <p:sp>
        <p:nvSpPr>
          <p:cNvPr id="14" name="TextBox 13"/>
          <p:cNvSpPr txBox="1"/>
          <p:nvPr/>
        </p:nvSpPr>
        <p:spPr>
          <a:xfrm>
            <a:off x="7360920" y="6291071"/>
            <a:ext cx="3487932" cy="274320"/>
          </a:xfrm>
          <a:prstGeom prst="rect">
            <a:avLst/>
          </a:prstGeom>
          <a:noFill/>
        </p:spPr>
        <p:txBody>
          <a:bodyPr wrap="square" anchor="t" lIns="0" rIns="0" tIns="0" bIns="0">
            <a:noAutofit/>
          </a:bodyPr>
          <a:lstStyle/>
          <a:p>
            <a:pPr algn="ctr">
              <a:lnSpc>
                <a:spcPct val="100000"/>
              </a:lnSpc>
            </a:pPr>
            <a:r>
              <a:rPr sz="850" b="0" i="1" u="none">
                <a:solidFill>
                  <a:srgbClr val="52525B"/>
                </a:solidFill>
                <a:latin typeface="Calibri"/>
              </a:rPr>
              <a:t>★ The “manage my medications” showpiece moment</a:t>
            </a:r>
          </a:p>
        </p:txBody>
      </p:sp>
      <p:sp>
        <p:nvSpPr>
          <p:cNvPr id="15" name="TextBox 14"/>
          <p:cNvSpPr txBox="1"/>
          <p:nvPr/>
        </p:nvSpPr>
        <p:spPr>
          <a:xfrm>
            <a:off x="548640" y="2286000"/>
            <a:ext cx="6766560" cy="36576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WHY IT MATTERS</a:t>
            </a:r>
          </a:p>
        </p:txBody>
      </p:sp>
      <p:sp>
        <p:nvSpPr>
          <p:cNvPr id="16" name="TextBox 15"/>
          <p:cNvSpPr txBox="1"/>
          <p:nvPr/>
        </p:nvSpPr>
        <p:spPr>
          <a:xfrm>
            <a:off x="548640" y="2697480"/>
            <a:ext cx="6903720" cy="777240"/>
          </a:xfrm>
          <a:prstGeom prst="rect">
            <a:avLst/>
          </a:prstGeom>
          <a:noFill/>
        </p:spPr>
        <p:txBody>
          <a:bodyPr wrap="square" anchor="t" lIns="0" rIns="0" tIns="0" bIns="0">
            <a:noAutofit/>
          </a:bodyPr>
          <a:lstStyle/>
          <a:p>
            <a:pPr algn="l">
              <a:lnSpc>
                <a:spcPct val="105000"/>
              </a:lnSpc>
            </a:pPr>
            <a:r>
              <a:rPr sz="1200" b="1" i="0" u="none">
                <a:solidFill>
                  <a:srgbClr val="1A9B4A"/>
                </a:solidFill>
                <a:latin typeface="Calibri"/>
              </a:rPr>
              <a:t>▸ </a:t>
            </a:r>
            <a:r>
              <a:rPr sz="1250" b="1" i="0" u="none">
                <a:solidFill>
                  <a:srgbClr val="1D1D1D"/>
                </a:solidFill>
                <a:latin typeface="Calibri"/>
              </a:rPr>
              <a:t>Every member, one view</a:t>
            </a:r>
            <a:r>
              <a:rPr sz="1100" b="0" i="0" u="none">
                <a:solidFill>
                  <a:srgbClr val="52525B"/>
                </a:solidFill>
                <a:latin typeface="Calibri"/>
              </a:rPr>
              <a:t>  —  her own multimorbid regimen, her mother's chronic meds, her child's acute scripts — with a clear pill visual.</a:t>
            </a:r>
          </a:p>
        </p:txBody>
      </p:sp>
      <p:sp>
        <p:nvSpPr>
          <p:cNvPr id="17" name="TextBox 16"/>
          <p:cNvSpPr txBox="1"/>
          <p:nvPr/>
        </p:nvSpPr>
        <p:spPr>
          <a:xfrm>
            <a:off x="548640" y="3593592"/>
            <a:ext cx="6903720" cy="777240"/>
          </a:xfrm>
          <a:prstGeom prst="rect">
            <a:avLst/>
          </a:prstGeom>
          <a:noFill/>
        </p:spPr>
        <p:txBody>
          <a:bodyPr wrap="square" anchor="t" lIns="0" rIns="0" tIns="0" bIns="0">
            <a:noAutofit/>
          </a:bodyPr>
          <a:lstStyle/>
          <a:p>
            <a:pPr algn="l">
              <a:lnSpc>
                <a:spcPct val="105000"/>
              </a:lnSpc>
            </a:pPr>
            <a:r>
              <a:rPr sz="1200" b="1" i="0" u="none">
                <a:solidFill>
                  <a:srgbClr val="1A9B4A"/>
                </a:solidFill>
                <a:latin typeface="Calibri"/>
              </a:rPr>
              <a:t>▸ </a:t>
            </a:r>
            <a:r>
              <a:rPr sz="1250" b="1" i="0" u="none">
                <a:solidFill>
                  <a:srgbClr val="1D1D1D"/>
                </a:solidFill>
                <a:latin typeface="Calibri"/>
              </a:rPr>
              <a:t>Predict, don't prompt</a:t>
            </a:r>
            <a:r>
              <a:rPr sz="1100" b="0" i="0" u="none">
                <a:solidFill>
                  <a:srgbClr val="52525B"/>
                </a:solidFill>
                <a:latin typeface="Calibri"/>
              </a:rPr>
              <a:t>  —  the cabinet shows what's running low and pre-stages the repeat — the best refill is the one she didn't have to think about (U7, S4).</a:t>
            </a:r>
          </a:p>
        </p:txBody>
      </p:sp>
      <p:sp>
        <p:nvSpPr>
          <p:cNvPr id="18" name="TextBox 17"/>
          <p:cNvSpPr txBox="1"/>
          <p:nvPr/>
        </p:nvSpPr>
        <p:spPr>
          <a:xfrm>
            <a:off x="548640" y="4489704"/>
            <a:ext cx="6903720" cy="777240"/>
          </a:xfrm>
          <a:prstGeom prst="rect">
            <a:avLst/>
          </a:prstGeom>
          <a:noFill/>
        </p:spPr>
        <p:txBody>
          <a:bodyPr wrap="square" anchor="t" lIns="0" rIns="0" tIns="0" bIns="0">
            <a:noAutofit/>
          </a:bodyPr>
          <a:lstStyle/>
          <a:p>
            <a:pPr algn="l">
              <a:lnSpc>
                <a:spcPct val="105000"/>
              </a:lnSpc>
            </a:pPr>
            <a:r>
              <a:rPr sz="1200" b="1" i="0" u="none">
                <a:solidFill>
                  <a:srgbClr val="1A9B4A"/>
                </a:solidFill>
                <a:latin typeface="Calibri"/>
              </a:rPr>
              <a:t>▸ </a:t>
            </a:r>
            <a:r>
              <a:rPr sz="1250" b="1" i="0" u="none">
                <a:solidFill>
                  <a:srgbClr val="1D1D1D"/>
                </a:solidFill>
                <a:latin typeface="Calibri"/>
              </a:rPr>
              <a:t>Adherence by design</a:t>
            </a:r>
            <a:r>
              <a:rPr sz="1100" b="0" i="0" u="none">
                <a:solidFill>
                  <a:srgbClr val="52525B"/>
                </a:solidFill>
                <a:latin typeface="Calibri"/>
              </a:rPr>
              <a:t>  —  what to take and when, with hybrid digital + printed instructions and consented, opt-out-able reminders tied to routine.</a:t>
            </a:r>
          </a:p>
        </p:txBody>
      </p:sp>
      <p:sp>
        <p:nvSpPr>
          <p:cNvPr id="19" name="TextBox 18"/>
          <p:cNvSpPr txBox="1"/>
          <p:nvPr/>
        </p:nvSpPr>
        <p:spPr>
          <a:xfrm>
            <a:off x="548640" y="5385816"/>
            <a:ext cx="6903720" cy="777240"/>
          </a:xfrm>
          <a:prstGeom prst="rect">
            <a:avLst/>
          </a:prstGeom>
          <a:noFill/>
        </p:spPr>
        <p:txBody>
          <a:bodyPr wrap="square" anchor="t" lIns="0" rIns="0" tIns="0" bIns="0">
            <a:noAutofit/>
          </a:bodyPr>
          <a:lstStyle/>
          <a:p>
            <a:pPr algn="l">
              <a:lnSpc>
                <a:spcPct val="105000"/>
              </a:lnSpc>
            </a:pPr>
            <a:r>
              <a:rPr sz="1200" b="1" i="0" u="none">
                <a:solidFill>
                  <a:srgbClr val="1A9B4A"/>
                </a:solidFill>
                <a:latin typeface="Calibri"/>
              </a:rPr>
              <a:t>▸ </a:t>
            </a:r>
            <a:r>
              <a:rPr sz="1250" b="1" i="0" u="none">
                <a:solidFill>
                  <a:srgbClr val="1D1D1D"/>
                </a:solidFill>
                <a:latin typeface="Calibri"/>
              </a:rPr>
              <a:t>Dignity &amp; proxy by default</a:t>
            </a:r>
            <a:r>
              <a:rPr sz="1100" b="0" i="0" u="none">
                <a:solidFill>
                  <a:srgbClr val="52525B"/>
                </a:solidFill>
                <a:latin typeface="Calibri"/>
              </a:rPr>
              <a:t>  —  caregivers are first-class users; POPIA-grade consent for managing a dependant's medication (U5).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WHAT MAKES IT REAL</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The capability roadmap already exists — and we flag what needs reform</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ROWA, OCR, AI capture, BRIX, the E2E Dashboard and PICCUP are Dis-Chem's own roadmapped capabilities; the vision is buildable, with reform-dependencies named honestly.</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wiki/digital-transformation/dischem-scripting-tech-roadmap · src-dc-omnichannel-scripting-roadmap</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18</a:t>
            </a:r>
          </a:p>
        </p:txBody>
      </p:sp>
      <p:sp>
        <p:nvSpPr>
          <p:cNvPr id="12" name="TextBox 11"/>
          <p:cNvSpPr txBox="1"/>
          <p:nvPr/>
        </p:nvSpPr>
        <p:spPr>
          <a:xfrm>
            <a:off x="548640" y="2194560"/>
            <a:ext cx="6400800" cy="292608"/>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ROADMAPPED CAPABILITIES (planned, not yet live)</a:t>
            </a:r>
          </a:p>
        </p:txBody>
      </p:sp>
      <p:sp>
        <p:nvSpPr>
          <p:cNvPr id="13" name="Rounded Rectangle 12"/>
          <p:cNvSpPr/>
          <p:nvPr/>
        </p:nvSpPr>
        <p:spPr>
          <a:xfrm>
            <a:off x="548640" y="2606040"/>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ROWA</a:t>
            </a:r>
          </a:p>
        </p:txBody>
      </p:sp>
      <p:sp>
        <p:nvSpPr>
          <p:cNvPr id="14" name="TextBox 13"/>
          <p:cNvSpPr txBox="1"/>
          <p:nvPr/>
        </p:nvSpPr>
        <p:spPr>
          <a:xfrm>
            <a:off x="2377440" y="2651760"/>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automated picker / dispensing robot — the proof-point for 'automate the toil' (S5)</a:t>
            </a:r>
          </a:p>
        </p:txBody>
      </p:sp>
      <p:sp>
        <p:nvSpPr>
          <p:cNvPr id="15" name="Rounded Rectangle 14"/>
          <p:cNvSpPr/>
          <p:nvPr/>
        </p:nvSpPr>
        <p:spPr>
          <a:xfrm>
            <a:off x="548640" y="3172968"/>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OCR + AI capture</a:t>
            </a:r>
          </a:p>
        </p:txBody>
      </p:sp>
      <p:sp>
        <p:nvSpPr>
          <p:cNvPr id="16" name="TextBox 15"/>
          <p:cNvSpPr txBox="1"/>
          <p:nvPr/>
        </p:nvSpPr>
        <p:spPr>
          <a:xfrm>
            <a:off x="2377440" y="3218688"/>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reads, standardises &amp; routes the script; human fallback (PBQ)</a:t>
            </a:r>
          </a:p>
        </p:txBody>
      </p:sp>
      <p:sp>
        <p:nvSpPr>
          <p:cNvPr id="17" name="Rounded Rectangle 16"/>
          <p:cNvSpPr/>
          <p:nvPr/>
        </p:nvSpPr>
        <p:spPr>
          <a:xfrm>
            <a:off x="548640" y="3739896"/>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BRIX</a:t>
            </a:r>
          </a:p>
        </p:txBody>
      </p:sp>
      <p:sp>
        <p:nvSpPr>
          <p:cNvPr id="18" name="TextBox 17"/>
          <p:cNvSpPr txBox="1"/>
          <p:nvPr/>
        </p:nvSpPr>
        <p:spPr>
          <a:xfrm>
            <a:off x="2377440" y="3785616"/>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auto-dispense of eligible repeats + point-of-sale</a:t>
            </a:r>
          </a:p>
        </p:txBody>
      </p:sp>
      <p:sp>
        <p:nvSpPr>
          <p:cNvPr id="19" name="Rounded Rectangle 18"/>
          <p:cNvSpPr/>
          <p:nvPr/>
        </p:nvSpPr>
        <p:spPr>
          <a:xfrm>
            <a:off x="548640" y="4306824"/>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E2E Dashboard</a:t>
            </a:r>
          </a:p>
        </p:txBody>
      </p:sp>
      <p:sp>
        <p:nvSpPr>
          <p:cNvPr id="20" name="TextBox 19"/>
          <p:cNvSpPr txBox="1"/>
          <p:nvPr/>
        </p:nvSpPr>
        <p:spPr>
          <a:xfrm>
            <a:off x="2377440" y="4352544"/>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one workflow manager across dispensary, store, collection &amp; delivery</a:t>
            </a:r>
          </a:p>
        </p:txBody>
      </p:sp>
      <p:sp>
        <p:nvSpPr>
          <p:cNvPr id="21" name="Rounded Rectangle 20"/>
          <p:cNvSpPr/>
          <p:nvPr/>
        </p:nvSpPr>
        <p:spPr>
          <a:xfrm>
            <a:off x="548640" y="4873752"/>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PICCUP + VC</a:t>
            </a:r>
          </a:p>
        </p:txBody>
      </p:sp>
      <p:sp>
        <p:nvSpPr>
          <p:cNvPr id="22" name="TextBox 21"/>
          <p:cNvSpPr txBox="1"/>
          <p:nvPr/>
        </p:nvSpPr>
        <p:spPr>
          <a:xfrm>
            <a:off x="2377440" y="4919472"/>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consolidation → driver → last-mile with proof-of-delivery</a:t>
            </a:r>
          </a:p>
        </p:txBody>
      </p:sp>
      <p:sp>
        <p:nvSpPr>
          <p:cNvPr id="23" name="Rounded Rectangle 22"/>
          <p:cNvSpPr/>
          <p:nvPr/>
        </p:nvSpPr>
        <p:spPr>
          <a:xfrm>
            <a:off x="548640" y="5440680"/>
            <a:ext cx="1691640" cy="457200"/>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noAutofit/>
          </a:bodyPr>
          <a:lstStyle/>
          <a:p>
            <a:pPr algn="ctr">
              <a:lnSpc>
                <a:spcPct val="100000"/>
              </a:lnSpc>
            </a:pPr>
            <a:r>
              <a:rPr sz="1150" b="1" i="0">
                <a:solidFill>
                  <a:srgbClr val="FFFFFF"/>
                </a:solidFill>
                <a:latin typeface="Calibri"/>
              </a:rPr>
              <a:t>Virtual Manager</a:t>
            </a:r>
          </a:p>
        </p:txBody>
      </p:sp>
      <p:sp>
        <p:nvSpPr>
          <p:cNvPr id="24" name="TextBox 23"/>
          <p:cNvSpPr txBox="1"/>
          <p:nvPr/>
        </p:nvSpPr>
        <p:spPr>
          <a:xfrm>
            <a:off x="2377440" y="5486400"/>
            <a:ext cx="4617720" cy="457200"/>
          </a:xfrm>
          <a:prstGeom prst="rect">
            <a:avLst/>
          </a:prstGeom>
          <a:noFill/>
        </p:spPr>
        <p:txBody>
          <a:bodyPr wrap="square" anchor="t" lIns="0" rIns="0" tIns="0" bIns="0">
            <a:noAutofit/>
          </a:bodyPr>
          <a:lstStyle/>
          <a:p>
            <a:pPr algn="l">
              <a:lnSpc>
                <a:spcPct val="98000"/>
              </a:lnSpc>
            </a:pPr>
            <a:r>
              <a:rPr sz="1000" b="0" i="0" u="none">
                <a:solidFill>
                  <a:srgbClr val="52525B"/>
                </a:solidFill>
                <a:latin typeface="Calibri"/>
              </a:rPr>
              <a:t>human SLA oversight of the virtual order queue</a:t>
            </a:r>
          </a:p>
        </p:txBody>
      </p:sp>
      <p:sp>
        <p:nvSpPr>
          <p:cNvPr id="25" name="Rounded Rectangle 24"/>
          <p:cNvSpPr/>
          <p:nvPr/>
        </p:nvSpPr>
        <p:spPr>
          <a:xfrm>
            <a:off x="7315200" y="2194560"/>
            <a:ext cx="4325112" cy="3611880"/>
          </a:xfrm>
          <a:prstGeom prst="roundRect">
            <a:avLst/>
          </a:prstGeom>
          <a:solidFill>
            <a:srgbClr val="FDF6E8"/>
          </a:solidFill>
          <a:ln w="12700">
            <a:solidFill>
              <a:srgbClr val="E6C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2" y="2377440"/>
            <a:ext cx="3813048" cy="365760"/>
          </a:xfrm>
          <a:prstGeom prst="rect">
            <a:avLst/>
          </a:prstGeom>
          <a:noFill/>
        </p:spPr>
        <p:txBody>
          <a:bodyPr wrap="square" anchor="t" lIns="0" rIns="0" tIns="0" bIns="0">
            <a:noAutofit/>
          </a:bodyPr>
          <a:lstStyle/>
          <a:p>
            <a:pPr algn="l">
              <a:lnSpc>
                <a:spcPct val="100000"/>
              </a:lnSpc>
            </a:pPr>
            <a:r>
              <a:rPr sz="1150" b="1" i="0" u="none">
                <a:solidFill>
                  <a:srgbClr val="B06A00"/>
                </a:solidFill>
                <a:latin typeface="Calibri"/>
              </a:rPr>
              <a:t>🔮  REQUIRES REFORM — flagged honestly</a:t>
            </a:r>
          </a:p>
        </p:txBody>
      </p:sp>
      <p:sp>
        <p:nvSpPr>
          <p:cNvPr id="27" name="TextBox 26"/>
          <p:cNvSpPr txBox="1"/>
          <p:nvPr/>
        </p:nvSpPr>
        <p:spPr>
          <a:xfrm>
            <a:off x="7571232" y="2852928"/>
            <a:ext cx="3813048" cy="594360"/>
          </a:xfrm>
          <a:prstGeom prst="rect">
            <a:avLst/>
          </a:prstGeom>
          <a:noFill/>
        </p:spPr>
        <p:txBody>
          <a:bodyPr wrap="square" anchor="t" lIns="0" rIns="0" tIns="0" bIns="0">
            <a:noAutofit/>
          </a:bodyPr>
          <a:lstStyle/>
          <a:p>
            <a:pPr algn="l">
              <a:lnSpc>
                <a:spcPct val="100000"/>
              </a:lnSpc>
            </a:pPr>
            <a:r>
              <a:rPr sz="1100" b="1" i="0" u="none">
                <a:solidFill>
                  <a:srgbClr val="B06A00"/>
                </a:solidFill>
                <a:latin typeface="Calibri"/>
              </a:rPr>
              <a:t>▸ </a:t>
            </a:r>
            <a:r>
              <a:rPr sz="1050" b="0" i="0" u="none">
                <a:solidFill>
                  <a:srgbClr val="1D1D1D"/>
                </a:solidFill>
                <a:latin typeface="Calibri"/>
              </a:rPr>
              <a:t>Auto-dispense without human intervention vs pharmacist-oversight &amp; valid-prescription rules</a:t>
            </a:r>
          </a:p>
        </p:txBody>
      </p:sp>
      <p:sp>
        <p:nvSpPr>
          <p:cNvPr id="28" name="TextBox 27"/>
          <p:cNvSpPr txBox="1"/>
          <p:nvPr/>
        </p:nvSpPr>
        <p:spPr>
          <a:xfrm>
            <a:off x="7571232" y="3419856"/>
            <a:ext cx="3813048" cy="594360"/>
          </a:xfrm>
          <a:prstGeom prst="rect">
            <a:avLst/>
          </a:prstGeom>
          <a:noFill/>
        </p:spPr>
        <p:txBody>
          <a:bodyPr wrap="square" anchor="t" lIns="0" rIns="0" tIns="0" bIns="0">
            <a:noAutofit/>
          </a:bodyPr>
          <a:lstStyle/>
          <a:p>
            <a:pPr algn="l">
              <a:lnSpc>
                <a:spcPct val="100000"/>
              </a:lnSpc>
            </a:pPr>
            <a:r>
              <a:rPr sz="1100" b="1" i="0" u="none">
                <a:solidFill>
                  <a:srgbClr val="B06A00"/>
                </a:solidFill>
                <a:latin typeface="Calibri"/>
              </a:rPr>
              <a:t>▸ </a:t>
            </a:r>
            <a:r>
              <a:rPr sz="1050" b="0" i="0" u="none">
                <a:solidFill>
                  <a:srgbClr val="1D1D1D"/>
                </a:solidFill>
                <a:latin typeface="Calibri"/>
              </a:rPr>
              <a:t>Fully-paperless AES e-script acceptance (ECTA / Reg 33)</a:t>
            </a:r>
          </a:p>
        </p:txBody>
      </p:sp>
      <p:sp>
        <p:nvSpPr>
          <p:cNvPr id="29" name="TextBox 28"/>
          <p:cNvSpPr txBox="1"/>
          <p:nvPr/>
        </p:nvSpPr>
        <p:spPr>
          <a:xfrm>
            <a:off x="7571232" y="3986784"/>
            <a:ext cx="3813048" cy="594360"/>
          </a:xfrm>
          <a:prstGeom prst="rect">
            <a:avLst/>
          </a:prstGeom>
          <a:noFill/>
        </p:spPr>
        <p:txBody>
          <a:bodyPr wrap="square" anchor="t" lIns="0" rIns="0" tIns="0" bIns="0">
            <a:noAutofit/>
          </a:bodyPr>
          <a:lstStyle/>
          <a:p>
            <a:pPr algn="l">
              <a:lnSpc>
                <a:spcPct val="100000"/>
              </a:lnSpc>
            </a:pPr>
            <a:r>
              <a:rPr sz="1100" b="1" i="0" u="none">
                <a:solidFill>
                  <a:srgbClr val="B06A00"/>
                </a:solidFill>
                <a:latin typeface="Calibri"/>
              </a:rPr>
              <a:t>▸ </a:t>
            </a:r>
            <a:r>
              <a:rPr sz="1050" b="0" i="0" u="none">
                <a:solidFill>
                  <a:srgbClr val="1D1D1D"/>
                </a:solidFill>
                <a:latin typeface="Calibri"/>
              </a:rPr>
              <a:t>Locker / unattended dispensing of scheduled medicines</a:t>
            </a:r>
          </a:p>
        </p:txBody>
      </p:sp>
      <p:sp>
        <p:nvSpPr>
          <p:cNvPr id="30" name="TextBox 29"/>
          <p:cNvSpPr txBox="1"/>
          <p:nvPr/>
        </p:nvSpPr>
        <p:spPr>
          <a:xfrm>
            <a:off x="7571232" y="4553712"/>
            <a:ext cx="3813048" cy="594360"/>
          </a:xfrm>
          <a:prstGeom prst="rect">
            <a:avLst/>
          </a:prstGeom>
          <a:noFill/>
        </p:spPr>
        <p:txBody>
          <a:bodyPr wrap="square" anchor="t" lIns="0" rIns="0" tIns="0" bIns="0">
            <a:noAutofit/>
          </a:bodyPr>
          <a:lstStyle/>
          <a:p>
            <a:pPr algn="l">
              <a:lnSpc>
                <a:spcPct val="100000"/>
              </a:lnSpc>
            </a:pPr>
            <a:r>
              <a:rPr sz="1100" b="1" i="0" u="none">
                <a:solidFill>
                  <a:srgbClr val="B06A00"/>
                </a:solidFill>
                <a:latin typeface="Calibri"/>
              </a:rPr>
              <a:t>▸ </a:t>
            </a:r>
            <a:r>
              <a:rPr sz="1050" b="0" i="0" u="none">
                <a:solidFill>
                  <a:srgbClr val="1D1D1D"/>
                </a:solidFill>
                <a:latin typeface="Calibri"/>
              </a:rPr>
              <a:t>After-hours live scheme authorisation &amp; 24/7 pharmacist oversight</a:t>
            </a:r>
          </a:p>
        </p:txBody>
      </p:sp>
      <p:sp>
        <p:nvSpPr>
          <p:cNvPr id="31" name="TextBox 30"/>
          <p:cNvSpPr txBox="1"/>
          <p:nvPr/>
        </p:nvSpPr>
        <p:spPr>
          <a:xfrm>
            <a:off x="7571232" y="5120640"/>
            <a:ext cx="3813048" cy="594360"/>
          </a:xfrm>
          <a:prstGeom prst="rect">
            <a:avLst/>
          </a:prstGeom>
          <a:noFill/>
        </p:spPr>
        <p:txBody>
          <a:bodyPr wrap="square" anchor="t" lIns="0" rIns="0" tIns="0" bIns="0">
            <a:noAutofit/>
          </a:bodyPr>
          <a:lstStyle/>
          <a:p>
            <a:pPr algn="l">
              <a:lnSpc>
                <a:spcPct val="100000"/>
              </a:lnSpc>
            </a:pPr>
            <a:r>
              <a:rPr sz="1100" b="1" i="0" u="none">
                <a:solidFill>
                  <a:srgbClr val="B06A00"/>
                </a:solidFill>
                <a:latin typeface="Calibri"/>
              </a:rPr>
              <a:t>▸ </a:t>
            </a:r>
            <a:r>
              <a:rPr sz="1050" b="0" i="0" u="none">
                <a:solidFill>
                  <a:srgbClr val="1D1D1D"/>
                </a:solidFill>
                <a:latin typeface="Calibri"/>
              </a:rPr>
              <a:t>Remote pharmacist supervision / central-fill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FROM PAIN TO NORTH STAR</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Every future moment answers a real, quoted pain of today</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The gap is undeniable when you put today's customer words next to the future experience — the North Star is a direct response to the evidence.</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wiki/dischem/pharmacy-complaints-pain-points · dischem-social-sentiment-trust-journey</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19</a:t>
            </a:r>
          </a:p>
        </p:txBody>
      </p:sp>
      <p:sp>
        <p:nvSpPr>
          <p:cNvPr id="12" name="Rounded Rectangle 11"/>
          <p:cNvSpPr/>
          <p:nvPr/>
        </p:nvSpPr>
        <p:spPr>
          <a:xfrm>
            <a:off x="548640" y="2194560"/>
            <a:ext cx="5486400" cy="420624"/>
          </a:xfrm>
          <a:prstGeom prst="roundRect">
            <a:avLst/>
          </a:prstGeom>
          <a:solidFill>
            <a:srgbClr val="F3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1200" b="1" i="0">
                <a:solidFill>
                  <a:srgbClr val="9B3737"/>
                </a:solidFill>
                <a:latin typeface="Calibri"/>
              </a:rPr>
              <a:t>TODAY  (the quoted pain)</a:t>
            </a:r>
          </a:p>
        </p:txBody>
      </p:sp>
      <p:sp>
        <p:nvSpPr>
          <p:cNvPr id="13" name="Rounded Rectangle 12"/>
          <p:cNvSpPr/>
          <p:nvPr/>
        </p:nvSpPr>
        <p:spPr>
          <a:xfrm>
            <a:off x="6153912" y="2194560"/>
            <a:ext cx="5486400" cy="420624"/>
          </a:xfrm>
          <a:prstGeom prst="round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noAutofit/>
          </a:bodyPr>
          <a:lstStyle/>
          <a:p>
            <a:pPr algn="ctr">
              <a:lnSpc>
                <a:spcPct val="100000"/>
              </a:lnSpc>
            </a:pPr>
            <a:r>
              <a:rPr sz="1200" b="1" i="0">
                <a:solidFill>
                  <a:srgbClr val="FFFFFF"/>
                </a:solidFill>
                <a:latin typeface="Calibri"/>
              </a:rPr>
              <a:t>NORTH STAR  (the moment that answers it)</a:t>
            </a:r>
          </a:p>
        </p:txBody>
      </p:sp>
      <p:sp>
        <p:nvSpPr>
          <p:cNvPr id="14" name="Rounded Rectangle 13"/>
          <p:cNvSpPr/>
          <p:nvPr/>
        </p:nvSpPr>
        <p:spPr>
          <a:xfrm>
            <a:off x="548640" y="2724912"/>
            <a:ext cx="5486400" cy="676656"/>
          </a:xfrm>
          <a:prstGeom prst="roundRect">
            <a:avLst/>
          </a:prstGeom>
          <a:solidFill>
            <a:srgbClr val="FBF3F3"/>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98064"/>
            <a:ext cx="5120640" cy="530352"/>
          </a:xfrm>
          <a:prstGeom prst="rect">
            <a:avLst/>
          </a:prstGeom>
          <a:noFill/>
        </p:spPr>
        <p:txBody>
          <a:bodyPr wrap="square" anchor="ctr" lIns="0" rIns="0" tIns="0" bIns="0">
            <a:noAutofit/>
          </a:bodyPr>
          <a:lstStyle/>
          <a:p>
            <a:pPr algn="l">
              <a:lnSpc>
                <a:spcPct val="98000"/>
              </a:lnSpc>
            </a:pPr>
            <a:r>
              <a:rPr sz="1100" b="0" i="1" u="none">
                <a:solidFill>
                  <a:srgbClr val="8A3333"/>
                </a:solidFill>
                <a:latin typeface="Calibri"/>
              </a:rPr>
              <a:t>“Pulling my hair trying to order via the App or WhatsApp.”</a:t>
            </a:r>
          </a:p>
        </p:txBody>
      </p:sp>
      <p:sp>
        <p:nvSpPr>
          <p:cNvPr id="16" name="Rounded Rectangle 15"/>
          <p:cNvSpPr/>
          <p:nvPr/>
        </p:nvSpPr>
        <p:spPr>
          <a:xfrm>
            <a:off x="6153912" y="2724912"/>
            <a:ext cx="5486400" cy="676656"/>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2798064"/>
            <a:ext cx="5120640" cy="530352"/>
          </a:xfrm>
          <a:prstGeom prst="rect">
            <a:avLst/>
          </a:prstGeom>
          <a:noFill/>
        </p:spPr>
        <p:txBody>
          <a:bodyPr wrap="square" anchor="ctr" lIns="0" rIns="0" tIns="0" bIns="0">
            <a:noAutofit/>
          </a:bodyPr>
          <a:lstStyle/>
          <a:p>
            <a:pPr algn="l">
              <a:lnSpc>
                <a:spcPct val="98000"/>
              </a:lnSpc>
            </a:pPr>
            <a:r>
              <a:rPr sz="1100" b="0" i="0" u="none">
                <a:solidFill>
                  <a:srgbClr val="1D1D1D"/>
                </a:solidFill>
                <a:latin typeface="Calibri"/>
              </a:rPr>
              <a:t>My repeat is predicted and one-tap — I barely have to think about it.</a:t>
            </a:r>
          </a:p>
        </p:txBody>
      </p:sp>
      <p:sp>
        <p:nvSpPr>
          <p:cNvPr id="18" name="Chevron 17"/>
          <p:cNvSpPr/>
          <p:nvPr/>
        </p:nvSpPr>
        <p:spPr>
          <a:xfrm>
            <a:off x="6007608" y="2962656"/>
            <a:ext cx="201168"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493008"/>
            <a:ext cx="5486400" cy="676656"/>
          </a:xfrm>
          <a:prstGeom prst="roundRect">
            <a:avLst/>
          </a:prstGeom>
          <a:solidFill>
            <a:srgbClr val="FBF3F3"/>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566160"/>
            <a:ext cx="5120640" cy="530352"/>
          </a:xfrm>
          <a:prstGeom prst="rect">
            <a:avLst/>
          </a:prstGeom>
          <a:noFill/>
        </p:spPr>
        <p:txBody>
          <a:bodyPr wrap="square" anchor="ctr" lIns="0" rIns="0" tIns="0" bIns="0">
            <a:noAutofit/>
          </a:bodyPr>
          <a:lstStyle/>
          <a:p>
            <a:pPr algn="l">
              <a:lnSpc>
                <a:spcPct val="98000"/>
              </a:lnSpc>
            </a:pPr>
            <a:r>
              <a:rPr sz="1100" b="0" i="1" u="none">
                <a:solidFill>
                  <a:srgbClr val="8A3333"/>
                </a:solidFill>
                <a:latin typeface="Calibri"/>
              </a:rPr>
              <a:t>“Out for delivery. I did not receive it.”</a:t>
            </a:r>
          </a:p>
        </p:txBody>
      </p:sp>
      <p:sp>
        <p:nvSpPr>
          <p:cNvPr id="21" name="Rounded Rectangle 20"/>
          <p:cNvSpPr/>
          <p:nvPr/>
        </p:nvSpPr>
        <p:spPr>
          <a:xfrm>
            <a:off x="6153912" y="3493008"/>
            <a:ext cx="5486400" cy="676656"/>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3566160"/>
            <a:ext cx="5120640" cy="530352"/>
          </a:xfrm>
          <a:prstGeom prst="rect">
            <a:avLst/>
          </a:prstGeom>
          <a:noFill/>
        </p:spPr>
        <p:txBody>
          <a:bodyPr wrap="square" anchor="ctr" lIns="0" rIns="0" tIns="0" bIns="0">
            <a:noAutofit/>
          </a:bodyPr>
          <a:lstStyle/>
          <a:p>
            <a:pPr algn="l">
              <a:lnSpc>
                <a:spcPct val="98000"/>
              </a:lnSpc>
            </a:pPr>
            <a:r>
              <a:rPr sz="1100" b="0" i="0" u="none">
                <a:solidFill>
                  <a:srgbClr val="1D1D1D"/>
                </a:solidFill>
                <a:latin typeface="Calibri"/>
              </a:rPr>
              <a:t>Realistic windows, closed-loop tracking &amp; proof-of-delivery — I'm never left guessing.</a:t>
            </a:r>
          </a:p>
        </p:txBody>
      </p:sp>
      <p:sp>
        <p:nvSpPr>
          <p:cNvPr id="23" name="Chevron 22"/>
          <p:cNvSpPr/>
          <p:nvPr/>
        </p:nvSpPr>
        <p:spPr>
          <a:xfrm>
            <a:off x="6007608" y="3730752"/>
            <a:ext cx="201168"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261104"/>
            <a:ext cx="5486400" cy="676656"/>
          </a:xfrm>
          <a:prstGeom prst="roundRect">
            <a:avLst/>
          </a:prstGeom>
          <a:solidFill>
            <a:srgbClr val="FBF3F3"/>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334256"/>
            <a:ext cx="5120640" cy="530352"/>
          </a:xfrm>
          <a:prstGeom prst="rect">
            <a:avLst/>
          </a:prstGeom>
          <a:noFill/>
        </p:spPr>
        <p:txBody>
          <a:bodyPr wrap="square" anchor="ctr" lIns="0" rIns="0" tIns="0" bIns="0">
            <a:noAutofit/>
          </a:bodyPr>
          <a:lstStyle/>
          <a:p>
            <a:pPr algn="l">
              <a:lnSpc>
                <a:spcPct val="98000"/>
              </a:lnSpc>
            </a:pPr>
            <a:r>
              <a:rPr sz="1100" b="0" i="1" u="none">
                <a:solidFill>
                  <a:srgbClr val="8A3333"/>
                </a:solidFill>
                <a:latin typeface="Calibri"/>
              </a:rPr>
              <a:t>“My blood-pressure tablets were missing.”</a:t>
            </a:r>
          </a:p>
        </p:txBody>
      </p:sp>
      <p:sp>
        <p:nvSpPr>
          <p:cNvPr id="26" name="Rounded Rectangle 25"/>
          <p:cNvSpPr/>
          <p:nvPr/>
        </p:nvSpPr>
        <p:spPr>
          <a:xfrm>
            <a:off x="6153912" y="4261104"/>
            <a:ext cx="5486400" cy="676656"/>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4334256"/>
            <a:ext cx="5120640" cy="530352"/>
          </a:xfrm>
          <a:prstGeom prst="rect">
            <a:avLst/>
          </a:prstGeom>
          <a:noFill/>
        </p:spPr>
        <p:txBody>
          <a:bodyPr wrap="square" anchor="ctr" lIns="0" rIns="0" tIns="0" bIns="0">
            <a:noAutofit/>
          </a:bodyPr>
          <a:lstStyle/>
          <a:p>
            <a:pPr algn="l">
              <a:lnSpc>
                <a:spcPct val="98000"/>
              </a:lnSpc>
            </a:pPr>
            <a:r>
              <a:rPr sz="1100" b="0" i="0" u="none">
                <a:solidFill>
                  <a:srgbClr val="1D1D1D"/>
                </a:solidFill>
                <a:latin typeface="Calibri"/>
              </a:rPr>
              <a:t>ROWA picks, the pharmacist signs off, an itemised handover I can check.</a:t>
            </a:r>
          </a:p>
        </p:txBody>
      </p:sp>
      <p:sp>
        <p:nvSpPr>
          <p:cNvPr id="28" name="Chevron 27"/>
          <p:cNvSpPr/>
          <p:nvPr/>
        </p:nvSpPr>
        <p:spPr>
          <a:xfrm>
            <a:off x="6007608" y="4498848"/>
            <a:ext cx="201168"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5029200"/>
            <a:ext cx="5486400" cy="676656"/>
          </a:xfrm>
          <a:prstGeom prst="roundRect">
            <a:avLst/>
          </a:prstGeom>
          <a:solidFill>
            <a:srgbClr val="FBF3F3"/>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102352"/>
            <a:ext cx="5120640" cy="530352"/>
          </a:xfrm>
          <a:prstGeom prst="rect">
            <a:avLst/>
          </a:prstGeom>
          <a:noFill/>
        </p:spPr>
        <p:txBody>
          <a:bodyPr wrap="square" anchor="ctr" lIns="0" rIns="0" tIns="0" bIns="0">
            <a:noAutofit/>
          </a:bodyPr>
          <a:lstStyle/>
          <a:p>
            <a:pPr algn="l">
              <a:lnSpc>
                <a:spcPct val="98000"/>
              </a:lnSpc>
            </a:pPr>
            <a:r>
              <a:rPr sz="1100" b="0" i="1" u="none">
                <a:solidFill>
                  <a:srgbClr val="8A3333"/>
                </a:solidFill>
                <a:latin typeface="Calibri"/>
              </a:rPr>
              <a:t>“The nurse doesn't know what to do.”</a:t>
            </a:r>
          </a:p>
        </p:txBody>
      </p:sp>
      <p:sp>
        <p:nvSpPr>
          <p:cNvPr id="31" name="Rounded Rectangle 30"/>
          <p:cNvSpPr/>
          <p:nvPr/>
        </p:nvSpPr>
        <p:spPr>
          <a:xfrm>
            <a:off x="6153912" y="5029200"/>
            <a:ext cx="5486400" cy="676656"/>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36792" y="5102352"/>
            <a:ext cx="5120640" cy="530352"/>
          </a:xfrm>
          <a:prstGeom prst="rect">
            <a:avLst/>
          </a:prstGeom>
          <a:noFill/>
        </p:spPr>
        <p:txBody>
          <a:bodyPr wrap="square" anchor="ctr" lIns="0" rIns="0" tIns="0" bIns="0">
            <a:noAutofit/>
          </a:bodyPr>
          <a:lstStyle/>
          <a:p>
            <a:pPr algn="l">
              <a:lnSpc>
                <a:spcPct val="98000"/>
              </a:lnSpc>
            </a:pPr>
            <a:r>
              <a:rPr sz="1100" b="0" i="0" u="none">
                <a:solidFill>
                  <a:srgbClr val="1D1D1D"/>
                </a:solidFill>
                <a:latin typeface="Calibri"/>
              </a:rPr>
              <a:t>A named pharmacist has my back; renewing is a tap, not a trek.</a:t>
            </a:r>
          </a:p>
        </p:txBody>
      </p:sp>
      <p:sp>
        <p:nvSpPr>
          <p:cNvPr id="33" name="Chevron 32"/>
          <p:cNvSpPr/>
          <p:nvPr/>
        </p:nvSpPr>
        <p:spPr>
          <a:xfrm>
            <a:off x="6007608" y="5266944"/>
            <a:ext cx="201168"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5797296"/>
            <a:ext cx="5486400" cy="676656"/>
          </a:xfrm>
          <a:prstGeom prst="roundRect">
            <a:avLst/>
          </a:prstGeom>
          <a:solidFill>
            <a:srgbClr val="FBF3F3"/>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870448"/>
            <a:ext cx="5120640" cy="530352"/>
          </a:xfrm>
          <a:prstGeom prst="rect">
            <a:avLst/>
          </a:prstGeom>
          <a:noFill/>
        </p:spPr>
        <p:txBody>
          <a:bodyPr wrap="square" anchor="ctr" lIns="0" rIns="0" tIns="0" bIns="0">
            <a:noAutofit/>
          </a:bodyPr>
          <a:lstStyle/>
          <a:p>
            <a:pPr algn="l">
              <a:lnSpc>
                <a:spcPct val="98000"/>
              </a:lnSpc>
            </a:pPr>
            <a:r>
              <a:rPr sz="1100" b="0" i="1" u="none">
                <a:solidFill>
                  <a:srgbClr val="8A3333"/>
                </a:solidFill>
                <a:latin typeface="Calibri"/>
              </a:rPr>
              <a:t>“Pricing differs dramatically between stores.”</a:t>
            </a:r>
          </a:p>
        </p:txBody>
      </p:sp>
      <p:sp>
        <p:nvSpPr>
          <p:cNvPr id="36" name="Rounded Rectangle 35"/>
          <p:cNvSpPr/>
          <p:nvPr/>
        </p:nvSpPr>
        <p:spPr>
          <a:xfrm>
            <a:off x="6153912" y="5797296"/>
            <a:ext cx="5486400" cy="676656"/>
          </a:xfrm>
          <a:prstGeom prst="roundRect">
            <a:avLst/>
          </a:prstGeom>
          <a:solidFill>
            <a:srgbClr val="E8F5EC"/>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6792" y="5870448"/>
            <a:ext cx="5120640" cy="530352"/>
          </a:xfrm>
          <a:prstGeom prst="rect">
            <a:avLst/>
          </a:prstGeom>
          <a:noFill/>
        </p:spPr>
        <p:txBody>
          <a:bodyPr wrap="square" anchor="ctr" lIns="0" rIns="0" tIns="0" bIns="0">
            <a:noAutofit/>
          </a:bodyPr>
          <a:lstStyle/>
          <a:p>
            <a:pPr algn="l">
              <a:lnSpc>
                <a:spcPct val="98000"/>
              </a:lnSpc>
            </a:pPr>
            <a:r>
              <a:rPr sz="1100" b="0" i="0" u="none">
                <a:solidFill>
                  <a:srgbClr val="1D1D1D"/>
                </a:solidFill>
                <a:latin typeface="Calibri"/>
              </a:rPr>
              <a:t>Cost and cover are legible before I commit — no surprise at the till.</a:t>
            </a:r>
          </a:p>
        </p:txBody>
      </p:sp>
      <p:sp>
        <p:nvSpPr>
          <p:cNvPr id="38" name="Chevron 37"/>
          <p:cNvSpPr/>
          <p:nvPr/>
        </p:nvSpPr>
        <p:spPr>
          <a:xfrm>
            <a:off x="6007608" y="6035040"/>
            <a:ext cx="201168"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98480" y="640080"/>
            <a:ext cx="457200" cy="219456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829800" y="1508760"/>
            <a:ext cx="2194560" cy="457200"/>
          </a:xfrm>
          <a:prstGeom prst="rect">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828800" cy="548640"/>
          </a:xfrm>
          <a:prstGeom prst="rect">
            <a:avLst/>
          </a:prstGeom>
          <a:noFill/>
        </p:spPr>
        <p:txBody>
          <a:bodyPr wrap="square" anchor="t" lIns="0" rIns="0" tIns="0" bIns="0">
            <a:noAutofit/>
          </a:bodyPr>
          <a:lstStyle/>
          <a:p>
            <a:pPr algn="l">
              <a:lnSpc>
                <a:spcPct val="100000"/>
              </a:lnSpc>
            </a:pPr>
            <a:r>
              <a:rPr sz="4000" b="1" i="0" u="none">
                <a:solidFill>
                  <a:srgbClr val="B5D334"/>
                </a:solidFill>
                <a:latin typeface="Calibri Light"/>
              </a:rPr>
              <a:t>04</a:t>
            </a:r>
          </a:p>
        </p:txBody>
      </p:sp>
      <p:sp>
        <p:nvSpPr>
          <p:cNvPr id="6" name="Rectangle 5"/>
          <p:cNvSpPr/>
          <p:nvPr/>
        </p:nvSpPr>
        <p:spPr>
          <a:xfrm>
            <a:off x="868680" y="3246120"/>
            <a:ext cx="822960" cy="54864"/>
          </a:xfrm>
          <a:prstGeom prst="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058400" cy="1280160"/>
          </a:xfrm>
          <a:prstGeom prst="rect">
            <a:avLst/>
          </a:prstGeom>
          <a:noFill/>
        </p:spPr>
        <p:txBody>
          <a:bodyPr wrap="square" anchor="t" lIns="0" rIns="0" tIns="0" bIns="0">
            <a:noAutofit/>
          </a:bodyPr>
          <a:lstStyle/>
          <a:p>
            <a:pPr algn="l">
              <a:lnSpc>
                <a:spcPct val="100000"/>
              </a:lnSpc>
            </a:pPr>
            <a:r>
              <a:rPr sz="3400" b="1" i="0" u="none">
                <a:solidFill>
                  <a:srgbClr val="FFFFFF"/>
                </a:solidFill>
                <a:latin typeface="Calibri"/>
              </a:rPr>
              <a:t>From here</a:t>
            </a:r>
          </a:p>
        </p:txBody>
      </p:sp>
      <p:sp>
        <p:nvSpPr>
          <p:cNvPr id="8" name="TextBox 7"/>
          <p:cNvSpPr txBox="1"/>
          <p:nvPr/>
        </p:nvSpPr>
        <p:spPr>
          <a:xfrm>
            <a:off x="868680" y="4572000"/>
            <a:ext cx="9692640" cy="914400"/>
          </a:xfrm>
          <a:prstGeom prst="rect">
            <a:avLst/>
          </a:prstGeom>
          <a:noFill/>
        </p:spPr>
        <p:txBody>
          <a:bodyPr wrap="square" anchor="t" lIns="0" rIns="0" tIns="0" bIns="0">
            <a:noAutofit/>
          </a:bodyPr>
          <a:lstStyle/>
          <a:p>
            <a:pPr algn="l">
              <a:lnSpc>
                <a:spcPct val="115000"/>
              </a:lnSpc>
            </a:pPr>
            <a:r>
              <a:rPr sz="1400" b="0" i="0" u="none">
                <a:solidFill>
                  <a:srgbClr val="BFE3CF"/>
                </a:solidFill>
                <a:latin typeface="Calibri"/>
              </a:rPr>
              <a:t>What this deck is, what comes next, and the evidence behind it.</a:t>
            </a:r>
          </a:p>
        </p:txBody>
      </p:sp>
      <p:sp>
        <p:nvSpPr>
          <p:cNvPr id="9" name="TextBox 8"/>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BFE3CF"/>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WHAT'S NEXT</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This deck is the groundwork — here is the road to build</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We've defined the experience and earned buy-in; the next steps turn it into a service blueprint, per-channel adaptations, and a build.</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deliverables/05-tobe-future-state-journey.html (experience definition)</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21</a:t>
            </a:r>
          </a:p>
        </p:txBody>
      </p:sp>
      <p:sp>
        <p:nvSpPr>
          <p:cNvPr id="12" name="Rounded Rectangle 11"/>
          <p:cNvSpPr/>
          <p:nvPr/>
        </p:nvSpPr>
        <p:spPr>
          <a:xfrm>
            <a:off x="522579" y="2468880"/>
            <a:ext cx="2697480" cy="2743200"/>
          </a:xfrm>
          <a:prstGeom prst="roundRect">
            <a:avLst/>
          </a:prstGeom>
          <a:solidFill>
            <a:srgbClr val="1A9B4A"/>
          </a:solidFill>
          <a:ln w="12700">
            <a:solidFill>
              <a:srgbClr val="D7DDD9"/>
            </a:solidFill>
          </a:ln>
          <a:effectLst>
            <a:outerShdw blurRad="60000" dist="25000" dir="5400000" rotWithShape="0">
              <a:srgbClr val="1D1D1D">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96899" y="2724912"/>
            <a:ext cx="640080" cy="640080"/>
          </a:xfrm>
          <a:prstGeom prst="ellipse">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2000" b="1" i="0">
                <a:solidFill>
                  <a:srgbClr val="1D1D1D"/>
                </a:solidFill>
                <a:latin typeface="Calibri"/>
              </a:rPr>
              <a:t>1</a:t>
            </a:r>
          </a:p>
        </p:txBody>
      </p:sp>
      <p:sp>
        <p:nvSpPr>
          <p:cNvPr id="14" name="Rounded Rectangle 13"/>
          <p:cNvSpPr/>
          <p:nvPr/>
        </p:nvSpPr>
        <p:spPr>
          <a:xfrm>
            <a:off x="1985619" y="2798064"/>
            <a:ext cx="960120" cy="310896"/>
          </a:xfrm>
          <a:prstGeom prst="roundRect">
            <a:avLst/>
          </a:prstGeom>
          <a:solidFill>
            <a:srgbClr val="B5D3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50" b="1" i="0">
                <a:solidFill>
                  <a:srgbClr val="1D1D1D"/>
                </a:solidFill>
                <a:latin typeface="Calibri"/>
              </a:rPr>
              <a:t>THIS DECK</a:t>
            </a:r>
          </a:p>
        </p:txBody>
      </p:sp>
      <p:sp>
        <p:nvSpPr>
          <p:cNvPr id="15" name="TextBox 14"/>
          <p:cNvSpPr txBox="1"/>
          <p:nvPr/>
        </p:nvSpPr>
        <p:spPr>
          <a:xfrm>
            <a:off x="796899" y="3520440"/>
            <a:ext cx="2148840" cy="548640"/>
          </a:xfrm>
          <a:prstGeom prst="rect">
            <a:avLst/>
          </a:prstGeom>
          <a:noFill/>
        </p:spPr>
        <p:txBody>
          <a:bodyPr wrap="square" anchor="t" lIns="0" rIns="0" tIns="0" bIns="0">
            <a:noAutofit/>
          </a:bodyPr>
          <a:lstStyle/>
          <a:p>
            <a:pPr algn="l">
              <a:lnSpc>
                <a:spcPct val="95000"/>
              </a:lnSpc>
            </a:pPr>
            <a:r>
              <a:rPr sz="1500" b="1" i="0" u="none">
                <a:solidFill>
                  <a:srgbClr val="FFFFFF"/>
                </a:solidFill>
                <a:latin typeface="Calibri"/>
              </a:rPr>
              <a:t>Experience defined</a:t>
            </a:r>
          </a:p>
        </p:txBody>
      </p:sp>
      <p:sp>
        <p:nvSpPr>
          <p:cNvPr id="16" name="TextBox 15"/>
          <p:cNvSpPr txBox="1"/>
          <p:nvPr/>
        </p:nvSpPr>
        <p:spPr>
          <a:xfrm>
            <a:off x="796899" y="4096512"/>
            <a:ext cx="2148840" cy="1005840"/>
          </a:xfrm>
          <a:prstGeom prst="rect">
            <a:avLst/>
          </a:prstGeom>
          <a:noFill/>
        </p:spPr>
        <p:txBody>
          <a:bodyPr wrap="square" anchor="t" lIns="0" rIns="0" tIns="0" bIns="0">
            <a:noAutofit/>
          </a:bodyPr>
          <a:lstStyle/>
          <a:p>
            <a:pPr algn="l">
              <a:lnSpc>
                <a:spcPct val="105000"/>
              </a:lnSpc>
            </a:pPr>
            <a:r>
              <a:rPr sz="1050" b="0" i="0" u="none">
                <a:solidFill>
                  <a:srgbClr val="BFE3CF"/>
                </a:solidFill>
                <a:latin typeface="Calibri"/>
              </a:rPr>
              <a:t>Agree the North Star — the experience we want to create.</a:t>
            </a:r>
          </a:p>
        </p:txBody>
      </p:sp>
      <p:sp>
        <p:nvSpPr>
          <p:cNvPr id="17" name="Chevron 16"/>
          <p:cNvSpPr/>
          <p:nvPr/>
        </p:nvSpPr>
        <p:spPr>
          <a:xfrm>
            <a:off x="3201771" y="3749040"/>
            <a:ext cx="164592"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38931" y="2468880"/>
            <a:ext cx="2697480" cy="274320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13251" y="2724912"/>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2000" b="1" i="0">
                <a:solidFill>
                  <a:srgbClr val="FFFFFF"/>
                </a:solidFill>
                <a:latin typeface="Calibri"/>
              </a:rPr>
              <a:t>2</a:t>
            </a:r>
          </a:p>
        </p:txBody>
      </p:sp>
      <p:sp>
        <p:nvSpPr>
          <p:cNvPr id="20" name="Rounded Rectangle 19"/>
          <p:cNvSpPr/>
          <p:nvPr/>
        </p:nvSpPr>
        <p:spPr>
          <a:xfrm>
            <a:off x="4801971" y="2798064"/>
            <a:ext cx="960120" cy="310896"/>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50" b="1" i="0">
                <a:solidFill>
                  <a:srgbClr val="1D1D1D"/>
                </a:solidFill>
                <a:latin typeface="Calibri"/>
              </a:rPr>
              <a:t>NEXT</a:t>
            </a:r>
          </a:p>
        </p:txBody>
      </p:sp>
      <p:sp>
        <p:nvSpPr>
          <p:cNvPr id="21" name="TextBox 20"/>
          <p:cNvSpPr txBox="1"/>
          <p:nvPr/>
        </p:nvSpPr>
        <p:spPr>
          <a:xfrm>
            <a:off x="3613251" y="3520440"/>
            <a:ext cx="2148840" cy="548640"/>
          </a:xfrm>
          <a:prstGeom prst="rect">
            <a:avLst/>
          </a:prstGeom>
          <a:noFill/>
        </p:spPr>
        <p:txBody>
          <a:bodyPr wrap="square" anchor="t" lIns="0" rIns="0" tIns="0" bIns="0">
            <a:noAutofit/>
          </a:bodyPr>
          <a:lstStyle/>
          <a:p>
            <a:pPr algn="l">
              <a:lnSpc>
                <a:spcPct val="95000"/>
              </a:lnSpc>
            </a:pPr>
            <a:r>
              <a:rPr sz="1500" b="1" i="0" u="none">
                <a:solidFill>
                  <a:srgbClr val="1D1D1D"/>
                </a:solidFill>
                <a:latin typeface="Calibri"/>
              </a:rPr>
              <a:t>Service blueprint</a:t>
            </a:r>
          </a:p>
        </p:txBody>
      </p:sp>
      <p:sp>
        <p:nvSpPr>
          <p:cNvPr id="22" name="TextBox 21"/>
          <p:cNvSpPr txBox="1"/>
          <p:nvPr/>
        </p:nvSpPr>
        <p:spPr>
          <a:xfrm>
            <a:off x="3613251" y="4096512"/>
            <a:ext cx="2148840" cy="1005840"/>
          </a:xfrm>
          <a:prstGeom prst="rect">
            <a:avLst/>
          </a:prstGeom>
          <a:noFill/>
        </p:spPr>
        <p:txBody>
          <a:bodyPr wrap="square" anchor="t" lIns="0" rIns="0" tIns="0" bIns="0">
            <a:noAutofit/>
          </a:bodyPr>
          <a:lstStyle/>
          <a:p>
            <a:pPr algn="l">
              <a:lnSpc>
                <a:spcPct val="105000"/>
              </a:lnSpc>
            </a:pPr>
            <a:r>
              <a:rPr sz="1050" b="0" i="0" u="none">
                <a:solidFill>
                  <a:srgbClr val="52525B"/>
                </a:solidFill>
                <a:latin typeface="Calibri"/>
              </a:rPr>
              <a:t>Frontstage/backstage lanes, ownership, SLAs, exception handling.</a:t>
            </a:r>
          </a:p>
        </p:txBody>
      </p:sp>
      <p:sp>
        <p:nvSpPr>
          <p:cNvPr id="23" name="Chevron 22"/>
          <p:cNvSpPr/>
          <p:nvPr/>
        </p:nvSpPr>
        <p:spPr>
          <a:xfrm>
            <a:off x="6018123" y="3749040"/>
            <a:ext cx="164592"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55283" y="2468880"/>
            <a:ext cx="2697480" cy="274320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29603" y="2724912"/>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2000" b="1" i="0">
                <a:solidFill>
                  <a:srgbClr val="FFFFFF"/>
                </a:solidFill>
                <a:latin typeface="Calibri"/>
              </a:rPr>
              <a:t>3</a:t>
            </a:r>
          </a:p>
        </p:txBody>
      </p:sp>
      <p:sp>
        <p:nvSpPr>
          <p:cNvPr id="26" name="Rounded Rectangle 25"/>
          <p:cNvSpPr/>
          <p:nvPr/>
        </p:nvSpPr>
        <p:spPr>
          <a:xfrm>
            <a:off x="7618323" y="2798064"/>
            <a:ext cx="960120" cy="310896"/>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50" b="1" i="0">
                <a:solidFill>
                  <a:srgbClr val="1D1D1D"/>
                </a:solidFill>
                <a:latin typeface="Calibri"/>
              </a:rPr>
              <a:t>THEN</a:t>
            </a:r>
          </a:p>
        </p:txBody>
      </p:sp>
      <p:sp>
        <p:nvSpPr>
          <p:cNvPr id="27" name="TextBox 26"/>
          <p:cNvSpPr txBox="1"/>
          <p:nvPr/>
        </p:nvSpPr>
        <p:spPr>
          <a:xfrm>
            <a:off x="6429603" y="3520440"/>
            <a:ext cx="2148840" cy="548640"/>
          </a:xfrm>
          <a:prstGeom prst="rect">
            <a:avLst/>
          </a:prstGeom>
          <a:noFill/>
        </p:spPr>
        <p:txBody>
          <a:bodyPr wrap="square" anchor="t" lIns="0" rIns="0" tIns="0" bIns="0">
            <a:noAutofit/>
          </a:bodyPr>
          <a:lstStyle/>
          <a:p>
            <a:pPr algn="l">
              <a:lnSpc>
                <a:spcPct val="95000"/>
              </a:lnSpc>
            </a:pPr>
            <a:r>
              <a:rPr sz="1500" b="1" i="0" u="none">
                <a:solidFill>
                  <a:srgbClr val="1D1D1D"/>
                </a:solidFill>
                <a:latin typeface="Calibri"/>
              </a:rPr>
              <a:t>Per-channel adaptation</a:t>
            </a:r>
          </a:p>
        </p:txBody>
      </p:sp>
      <p:sp>
        <p:nvSpPr>
          <p:cNvPr id="28" name="TextBox 27"/>
          <p:cNvSpPr txBox="1"/>
          <p:nvPr/>
        </p:nvSpPr>
        <p:spPr>
          <a:xfrm>
            <a:off x="6429603" y="4096512"/>
            <a:ext cx="2148840" cy="1005840"/>
          </a:xfrm>
          <a:prstGeom prst="rect">
            <a:avLst/>
          </a:prstGeom>
          <a:noFill/>
        </p:spPr>
        <p:txBody>
          <a:bodyPr wrap="square" anchor="t" lIns="0" rIns="0" tIns="0" bIns="0">
            <a:noAutofit/>
          </a:bodyPr>
          <a:lstStyle/>
          <a:p>
            <a:pPr algn="l">
              <a:lnSpc>
                <a:spcPct val="105000"/>
              </a:lnSpc>
            </a:pPr>
            <a:r>
              <a:rPr sz="1050" b="0" i="0" u="none">
                <a:solidFill>
                  <a:srgbClr val="52525B"/>
                </a:solidFill>
                <a:latin typeface="Calibri"/>
              </a:rPr>
              <a:t>Tune the base journey for WhatsApp, app, in-store and USSD.</a:t>
            </a:r>
          </a:p>
        </p:txBody>
      </p:sp>
      <p:sp>
        <p:nvSpPr>
          <p:cNvPr id="29" name="Chevron 28"/>
          <p:cNvSpPr/>
          <p:nvPr/>
        </p:nvSpPr>
        <p:spPr>
          <a:xfrm>
            <a:off x="8834475" y="3749040"/>
            <a:ext cx="164592" cy="201168"/>
          </a:xfrm>
          <a:prstGeom prst="chevron">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71635" y="2468880"/>
            <a:ext cx="2697480" cy="274320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245955" y="2724912"/>
            <a:ext cx="640080" cy="64008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2000" b="1" i="0">
                <a:solidFill>
                  <a:srgbClr val="FFFFFF"/>
                </a:solidFill>
                <a:latin typeface="Calibri"/>
              </a:rPr>
              <a:t>4</a:t>
            </a:r>
          </a:p>
        </p:txBody>
      </p:sp>
      <p:sp>
        <p:nvSpPr>
          <p:cNvPr id="32" name="Rounded Rectangle 31"/>
          <p:cNvSpPr/>
          <p:nvPr/>
        </p:nvSpPr>
        <p:spPr>
          <a:xfrm>
            <a:off x="10434675" y="2798064"/>
            <a:ext cx="960120" cy="310896"/>
          </a:xfrm>
          <a:prstGeom prst="round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850" b="1" i="0">
                <a:solidFill>
                  <a:srgbClr val="1D1D1D"/>
                </a:solidFill>
                <a:latin typeface="Calibri"/>
              </a:rPr>
              <a:t>BUILD</a:t>
            </a:r>
          </a:p>
        </p:txBody>
      </p:sp>
      <p:sp>
        <p:nvSpPr>
          <p:cNvPr id="33" name="TextBox 32"/>
          <p:cNvSpPr txBox="1"/>
          <p:nvPr/>
        </p:nvSpPr>
        <p:spPr>
          <a:xfrm>
            <a:off x="9245955" y="3520440"/>
            <a:ext cx="2148840" cy="548640"/>
          </a:xfrm>
          <a:prstGeom prst="rect">
            <a:avLst/>
          </a:prstGeom>
          <a:noFill/>
        </p:spPr>
        <p:txBody>
          <a:bodyPr wrap="square" anchor="t" lIns="0" rIns="0" tIns="0" bIns="0">
            <a:noAutofit/>
          </a:bodyPr>
          <a:lstStyle/>
          <a:p>
            <a:pPr algn="l">
              <a:lnSpc>
                <a:spcPct val="95000"/>
              </a:lnSpc>
            </a:pPr>
            <a:r>
              <a:rPr sz="1500" b="1" i="0" u="none">
                <a:solidFill>
                  <a:srgbClr val="1D1D1D"/>
                </a:solidFill>
                <a:latin typeface="Calibri"/>
              </a:rPr>
              <a:t>Build &amp; pilot</a:t>
            </a:r>
          </a:p>
        </p:txBody>
      </p:sp>
      <p:sp>
        <p:nvSpPr>
          <p:cNvPr id="34" name="TextBox 33"/>
          <p:cNvSpPr txBox="1"/>
          <p:nvPr/>
        </p:nvSpPr>
        <p:spPr>
          <a:xfrm>
            <a:off x="9245955" y="4096512"/>
            <a:ext cx="2148840" cy="1005840"/>
          </a:xfrm>
          <a:prstGeom prst="rect">
            <a:avLst/>
          </a:prstGeom>
          <a:noFill/>
        </p:spPr>
        <p:txBody>
          <a:bodyPr wrap="square" anchor="t" lIns="0" rIns="0" tIns="0" bIns="0">
            <a:noAutofit/>
          </a:bodyPr>
          <a:lstStyle/>
          <a:p>
            <a:pPr algn="l">
              <a:lnSpc>
                <a:spcPct val="105000"/>
              </a:lnSpc>
            </a:pPr>
            <a:r>
              <a:rPr sz="1050" b="0" i="0" u="none">
                <a:solidFill>
                  <a:srgbClr val="52525B"/>
                </a:solidFill>
                <a:latin typeface="Calibri"/>
              </a:rPr>
              <a:t>Sequence against the roadmap; pilot, measure, scale.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APPENDIX</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Methodology &amp; source-reliability tiers</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How the vault works and how we weight evidence — the discipline behind every cited claim in this deck.</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CLAUDE.md · meta/source-reliability-guide.md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22</a:t>
            </a:r>
          </a:p>
        </p:txBody>
      </p:sp>
      <p:sp>
        <p:nvSpPr>
          <p:cNvPr id="12" name="Rounded Rectangle 11"/>
          <p:cNvSpPr/>
          <p:nvPr/>
        </p:nvSpPr>
        <p:spPr>
          <a:xfrm>
            <a:off x="548640" y="2194560"/>
            <a:ext cx="5486400" cy="3566160"/>
          </a:xfrm>
          <a:prstGeom prst="roundRect">
            <a:avLst/>
          </a:prstGeom>
          <a:solidFill>
            <a:srgbClr val="F4F8F5"/>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377440"/>
            <a:ext cx="4937760" cy="365760"/>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THE GROUND-TRUTH VAULT (3 layers)</a:t>
            </a:r>
          </a:p>
        </p:txBody>
      </p:sp>
      <p:sp>
        <p:nvSpPr>
          <p:cNvPr id="14" name="TextBox 13"/>
          <p:cNvSpPr txBox="1"/>
          <p:nvPr/>
        </p:nvSpPr>
        <p:spPr>
          <a:xfrm>
            <a:off x="822960" y="2834640"/>
            <a:ext cx="4937760" cy="777240"/>
          </a:xfrm>
          <a:prstGeom prst="rect">
            <a:avLst/>
          </a:prstGeom>
          <a:noFill/>
        </p:spPr>
        <p:txBody>
          <a:bodyPr wrap="square" anchor="t" lIns="0" rIns="0" tIns="0" bIns="0">
            <a:noAutofit/>
          </a:bodyPr>
          <a:lstStyle/>
          <a:p>
            <a:pPr algn="l">
              <a:lnSpc>
                <a:spcPct val="102000"/>
              </a:lnSpc>
            </a:pPr>
            <a:r>
              <a:rPr sz="1150" b="1" i="0" u="none">
                <a:solidFill>
                  <a:srgbClr val="1D1D1D"/>
                </a:solidFill>
                <a:latin typeface="Calibri"/>
              </a:rPr>
              <a:t>Raw sources.  </a:t>
            </a:r>
            <a:r>
              <a:rPr sz="1050" b="0" i="0" u="none">
                <a:solidFill>
                  <a:srgbClr val="52525B"/>
                </a:solidFill>
                <a:latin typeface="Calibri"/>
              </a:rPr>
              <a:t>one note per source: citation, key claims, verbatim excerpts — append-only evidence.</a:t>
            </a:r>
          </a:p>
        </p:txBody>
      </p:sp>
      <p:sp>
        <p:nvSpPr>
          <p:cNvPr id="15" name="TextBox 14"/>
          <p:cNvSpPr txBox="1"/>
          <p:nvPr/>
        </p:nvSpPr>
        <p:spPr>
          <a:xfrm>
            <a:off x="822960" y="3675888"/>
            <a:ext cx="4937760" cy="777240"/>
          </a:xfrm>
          <a:prstGeom prst="rect">
            <a:avLst/>
          </a:prstGeom>
          <a:noFill/>
        </p:spPr>
        <p:txBody>
          <a:bodyPr wrap="square" anchor="t" lIns="0" rIns="0" tIns="0" bIns="0">
            <a:noAutofit/>
          </a:bodyPr>
          <a:lstStyle/>
          <a:p>
            <a:pPr algn="l">
              <a:lnSpc>
                <a:spcPct val="102000"/>
              </a:lnSpc>
            </a:pPr>
            <a:r>
              <a:rPr sz="1150" b="1" i="0" u="none">
                <a:solidFill>
                  <a:srgbClr val="1D1D1D"/>
                </a:solidFill>
                <a:latin typeface="Calibri"/>
              </a:rPr>
              <a:t>The wiki.  </a:t>
            </a:r>
            <a:r>
              <a:rPr sz="1050" b="0" i="0" u="none">
                <a:solidFill>
                  <a:srgbClr val="52525B"/>
                </a:solidFill>
                <a:latin typeface="Calibri"/>
              </a:rPr>
              <a:t>synthesised, cross-linked entity/concept pages — claims link back to their sources.</a:t>
            </a:r>
          </a:p>
        </p:txBody>
      </p:sp>
      <p:sp>
        <p:nvSpPr>
          <p:cNvPr id="16" name="TextBox 15"/>
          <p:cNvSpPr txBox="1"/>
          <p:nvPr/>
        </p:nvSpPr>
        <p:spPr>
          <a:xfrm>
            <a:off x="822960" y="4517136"/>
            <a:ext cx="4937760" cy="777240"/>
          </a:xfrm>
          <a:prstGeom prst="rect">
            <a:avLst/>
          </a:prstGeom>
          <a:noFill/>
        </p:spPr>
        <p:txBody>
          <a:bodyPr wrap="square" anchor="t" lIns="0" rIns="0" tIns="0" bIns="0">
            <a:noAutofit/>
          </a:bodyPr>
          <a:lstStyle/>
          <a:p>
            <a:pPr algn="l">
              <a:lnSpc>
                <a:spcPct val="102000"/>
              </a:lnSpc>
            </a:pPr>
            <a:r>
              <a:rPr sz="1150" b="1" i="0" u="none">
                <a:solidFill>
                  <a:srgbClr val="1D1D1D"/>
                </a:solidFill>
                <a:latin typeface="Calibri"/>
              </a:rPr>
              <a:t>The schema.  </a:t>
            </a:r>
            <a:r>
              <a:rPr sz="1050" b="0" i="0" u="none">
                <a:solidFill>
                  <a:srgbClr val="52525B"/>
                </a:solidFill>
                <a:latin typeface="Calibri"/>
              </a:rPr>
              <a:t>conventions &amp; workflows (ingest, query, lint) that keep it consistent and current.</a:t>
            </a:r>
          </a:p>
        </p:txBody>
      </p:sp>
      <p:sp>
        <p:nvSpPr>
          <p:cNvPr id="17" name="TextBox 16"/>
          <p:cNvSpPr txBox="1"/>
          <p:nvPr/>
        </p:nvSpPr>
        <p:spPr>
          <a:xfrm>
            <a:off x="822960" y="5404104"/>
            <a:ext cx="4937760" cy="457200"/>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Golden rule: </a:t>
            </a:r>
            <a:r>
              <a:rPr sz="1050" b="0" i="1" u="none">
                <a:solidFill>
                  <a:srgbClr val="52525B"/>
                </a:solidFill>
                <a:latin typeface="Calibri"/>
              </a:rPr>
              <a:t>a wiki claim links to the source that backs it — synthesis, not narrative, in evidence.</a:t>
            </a:r>
          </a:p>
        </p:txBody>
      </p:sp>
      <p:sp>
        <p:nvSpPr>
          <p:cNvPr id="18" name="TextBox 17"/>
          <p:cNvSpPr txBox="1"/>
          <p:nvPr/>
        </p:nvSpPr>
        <p:spPr>
          <a:xfrm>
            <a:off x="6355080" y="2194560"/>
            <a:ext cx="5285232" cy="365760"/>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SOURCE RELIABILITY TIERS</a:t>
            </a:r>
          </a:p>
        </p:txBody>
      </p:sp>
      <p:sp>
        <p:nvSpPr>
          <p:cNvPr id="19" name="Rounded Rectangle 18"/>
          <p:cNvSpPr/>
          <p:nvPr/>
        </p:nvSpPr>
        <p:spPr>
          <a:xfrm>
            <a:off x="6355080" y="2606040"/>
            <a:ext cx="5285232" cy="74980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1384" y="2752344"/>
            <a:ext cx="457200" cy="457200"/>
          </a:xfrm>
          <a:prstGeom prst="ellipse">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FFFFFF"/>
                </a:solidFill>
                <a:latin typeface="Calibri"/>
              </a:rPr>
              <a:t>A</a:t>
            </a:r>
          </a:p>
        </p:txBody>
      </p:sp>
      <p:sp>
        <p:nvSpPr>
          <p:cNvPr id="21" name="TextBox 20"/>
          <p:cNvSpPr txBox="1"/>
          <p:nvPr/>
        </p:nvSpPr>
        <p:spPr>
          <a:xfrm>
            <a:off x="7086600" y="2697480"/>
            <a:ext cx="4370832" cy="274320"/>
          </a:xfrm>
          <a:prstGeom prst="rect">
            <a:avLst/>
          </a:prstGeom>
          <a:noFill/>
        </p:spPr>
        <p:txBody>
          <a:bodyPr wrap="square" anchor="t" lIns="0" rIns="0" tIns="0" bIns="0">
            <a:noAutofit/>
          </a:bodyPr>
          <a:lstStyle/>
          <a:p>
            <a:pPr algn="l">
              <a:lnSpc>
                <a:spcPct val="100000"/>
              </a:lnSpc>
            </a:pPr>
            <a:r>
              <a:rPr sz="1100" b="1" i="0" u="none">
                <a:solidFill>
                  <a:srgbClr val="1D1D1D"/>
                </a:solidFill>
                <a:latin typeface="Calibri"/>
              </a:rPr>
              <a:t>Primary / authoritative</a:t>
            </a:r>
          </a:p>
        </p:txBody>
      </p:sp>
      <p:sp>
        <p:nvSpPr>
          <p:cNvPr id="22" name="TextBox 21"/>
          <p:cNvSpPr txBox="1"/>
          <p:nvPr/>
        </p:nvSpPr>
        <p:spPr>
          <a:xfrm>
            <a:off x="7086600" y="2971800"/>
            <a:ext cx="4370832" cy="365760"/>
          </a:xfrm>
          <a:prstGeom prst="rect">
            <a:avLst/>
          </a:prstGeom>
          <a:noFill/>
        </p:spPr>
        <p:txBody>
          <a:bodyPr wrap="square" anchor="t" lIns="0" rIns="0" tIns="0" bIns="0">
            <a:noAutofit/>
          </a:bodyPr>
          <a:lstStyle/>
          <a:p>
            <a:pPr algn="l">
              <a:lnSpc>
                <a:spcPct val="92000"/>
              </a:lnSpc>
            </a:pPr>
            <a:r>
              <a:rPr sz="850" b="0" i="0" u="none">
                <a:solidFill>
                  <a:srgbClr val="52525B"/>
                </a:solidFill>
                <a:latin typeface="Calibri"/>
              </a:rPr>
              <a:t>legislation, regulators (SAHPRA, SAPC, CMS, HPCSA), peer-reviewed, standards, company disclosures</a:t>
            </a:r>
          </a:p>
        </p:txBody>
      </p:sp>
      <p:sp>
        <p:nvSpPr>
          <p:cNvPr id="23" name="Rounded Rectangle 22"/>
          <p:cNvSpPr/>
          <p:nvPr/>
        </p:nvSpPr>
        <p:spPr>
          <a:xfrm>
            <a:off x="6355080" y="3410712"/>
            <a:ext cx="5285232" cy="74980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01384" y="3557016"/>
            <a:ext cx="457200" cy="457200"/>
          </a:xfrm>
          <a:prstGeom prst="ellipse">
            <a:avLst/>
          </a:prstGeom>
          <a:solidFill>
            <a:srgbClr val="126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FFFFFF"/>
                </a:solidFill>
                <a:latin typeface="Calibri"/>
              </a:rPr>
              <a:t>B</a:t>
            </a:r>
          </a:p>
        </p:txBody>
      </p:sp>
      <p:sp>
        <p:nvSpPr>
          <p:cNvPr id="25" name="TextBox 24"/>
          <p:cNvSpPr txBox="1"/>
          <p:nvPr/>
        </p:nvSpPr>
        <p:spPr>
          <a:xfrm>
            <a:off x="7086600" y="3502152"/>
            <a:ext cx="4370832" cy="274320"/>
          </a:xfrm>
          <a:prstGeom prst="rect">
            <a:avLst/>
          </a:prstGeom>
          <a:noFill/>
        </p:spPr>
        <p:txBody>
          <a:bodyPr wrap="square" anchor="t" lIns="0" rIns="0" tIns="0" bIns="0">
            <a:noAutofit/>
          </a:bodyPr>
          <a:lstStyle/>
          <a:p>
            <a:pPr algn="l">
              <a:lnSpc>
                <a:spcPct val="100000"/>
              </a:lnSpc>
            </a:pPr>
            <a:r>
              <a:rPr sz="1100" b="1" i="0" u="none">
                <a:solidFill>
                  <a:srgbClr val="1D1D1D"/>
                </a:solidFill>
                <a:latin typeface="Calibri"/>
              </a:rPr>
              <a:t>Strong secondary</a:t>
            </a:r>
          </a:p>
        </p:txBody>
      </p:sp>
      <p:sp>
        <p:nvSpPr>
          <p:cNvPr id="26" name="TextBox 25"/>
          <p:cNvSpPr txBox="1"/>
          <p:nvPr/>
        </p:nvSpPr>
        <p:spPr>
          <a:xfrm>
            <a:off x="7086600" y="3776472"/>
            <a:ext cx="4370832" cy="365760"/>
          </a:xfrm>
          <a:prstGeom prst="rect">
            <a:avLst/>
          </a:prstGeom>
          <a:noFill/>
        </p:spPr>
        <p:txBody>
          <a:bodyPr wrap="square" anchor="t" lIns="0" rIns="0" tIns="0" bIns="0">
            <a:noAutofit/>
          </a:bodyPr>
          <a:lstStyle/>
          <a:p>
            <a:pPr algn="l">
              <a:lnSpc>
                <a:spcPct val="92000"/>
              </a:lnSpc>
            </a:pPr>
            <a:r>
              <a:rPr sz="850" b="0" i="0" u="none">
                <a:solidFill>
                  <a:srgbClr val="52525B"/>
                </a:solidFill>
                <a:latin typeface="Calibri"/>
              </a:rPr>
              <a:t>reputable analysts &amp; consultancies, established trade press, gov-adjacent bodies</a:t>
            </a:r>
          </a:p>
        </p:txBody>
      </p:sp>
      <p:sp>
        <p:nvSpPr>
          <p:cNvPr id="27" name="Rounded Rectangle 26"/>
          <p:cNvSpPr/>
          <p:nvPr/>
        </p:nvSpPr>
        <p:spPr>
          <a:xfrm>
            <a:off x="6355080" y="4215384"/>
            <a:ext cx="5285232" cy="74980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01384" y="4361688"/>
            <a:ext cx="457200" cy="457200"/>
          </a:xfrm>
          <a:prstGeom prst="ellipse">
            <a:avLst/>
          </a:prstGeom>
          <a:solidFill>
            <a:srgbClr val="C9A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FFFFFF"/>
                </a:solidFill>
                <a:latin typeface="Calibri"/>
              </a:rPr>
              <a:t>C</a:t>
            </a:r>
          </a:p>
        </p:txBody>
      </p:sp>
      <p:sp>
        <p:nvSpPr>
          <p:cNvPr id="29" name="TextBox 28"/>
          <p:cNvSpPr txBox="1"/>
          <p:nvPr/>
        </p:nvSpPr>
        <p:spPr>
          <a:xfrm>
            <a:off x="7086600" y="4306824"/>
            <a:ext cx="4370832" cy="274320"/>
          </a:xfrm>
          <a:prstGeom prst="rect">
            <a:avLst/>
          </a:prstGeom>
          <a:noFill/>
        </p:spPr>
        <p:txBody>
          <a:bodyPr wrap="square" anchor="t" lIns="0" rIns="0" tIns="0" bIns="0">
            <a:noAutofit/>
          </a:bodyPr>
          <a:lstStyle/>
          <a:p>
            <a:pPr algn="l">
              <a:lnSpc>
                <a:spcPct val="100000"/>
              </a:lnSpc>
            </a:pPr>
            <a:r>
              <a:rPr sz="1100" b="1" i="0" u="none">
                <a:solidFill>
                  <a:srgbClr val="1D1D1D"/>
                </a:solidFill>
                <a:latin typeface="Calibri"/>
              </a:rPr>
              <a:t>Useful but weaker</a:t>
            </a:r>
          </a:p>
        </p:txBody>
      </p:sp>
      <p:sp>
        <p:nvSpPr>
          <p:cNvPr id="30" name="TextBox 29"/>
          <p:cNvSpPr txBox="1"/>
          <p:nvPr/>
        </p:nvSpPr>
        <p:spPr>
          <a:xfrm>
            <a:off x="7086600" y="4581144"/>
            <a:ext cx="4370832" cy="365760"/>
          </a:xfrm>
          <a:prstGeom prst="rect">
            <a:avLst/>
          </a:prstGeom>
          <a:noFill/>
        </p:spPr>
        <p:txBody>
          <a:bodyPr wrap="square" anchor="t" lIns="0" rIns="0" tIns="0" bIns="0">
            <a:noAutofit/>
          </a:bodyPr>
          <a:lstStyle/>
          <a:p>
            <a:pPr algn="l">
              <a:lnSpc>
                <a:spcPct val="92000"/>
              </a:lnSpc>
            </a:pPr>
            <a:r>
              <a:rPr sz="850" b="0" i="0" u="none">
                <a:solidFill>
                  <a:srgbClr val="52525B"/>
                </a:solidFill>
                <a:latin typeface="Calibri"/>
              </a:rPr>
              <a:t>general news, vendor marketing, single-author blogs — verify load-bearing claims</a:t>
            </a:r>
          </a:p>
        </p:txBody>
      </p:sp>
      <p:sp>
        <p:nvSpPr>
          <p:cNvPr id="31" name="Rounded Rectangle 30"/>
          <p:cNvSpPr/>
          <p:nvPr/>
        </p:nvSpPr>
        <p:spPr>
          <a:xfrm>
            <a:off x="6355080" y="5020056"/>
            <a:ext cx="5285232" cy="749808"/>
          </a:xfrm>
          <a:prstGeom prst="roundRect">
            <a:avLst/>
          </a:prstGeom>
          <a:solidFill>
            <a:srgbClr val="FFFFFF"/>
          </a:solidFill>
          <a:ln w="12700">
            <a:solidFill>
              <a:srgbClr val="D7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01384" y="5166360"/>
            <a:ext cx="457200" cy="457200"/>
          </a:xfrm>
          <a:prstGeom prst="ellipse">
            <a:avLst/>
          </a:prstGeom>
          <a:solidFill>
            <a:srgbClr val="C96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noAutofit/>
          </a:bodyPr>
          <a:lstStyle/>
          <a:p>
            <a:pPr algn="ctr">
              <a:lnSpc>
                <a:spcPct val="100000"/>
              </a:lnSpc>
            </a:pPr>
            <a:r>
              <a:rPr sz="1500" b="1" i="0">
                <a:solidFill>
                  <a:srgbClr val="FFFFFF"/>
                </a:solidFill>
                <a:latin typeface="Calibri"/>
              </a:rPr>
              <a:t>D</a:t>
            </a:r>
          </a:p>
        </p:txBody>
      </p:sp>
      <p:sp>
        <p:nvSpPr>
          <p:cNvPr id="33" name="TextBox 32"/>
          <p:cNvSpPr txBox="1"/>
          <p:nvPr/>
        </p:nvSpPr>
        <p:spPr>
          <a:xfrm>
            <a:off x="7086600" y="5111496"/>
            <a:ext cx="4370832" cy="274320"/>
          </a:xfrm>
          <a:prstGeom prst="rect">
            <a:avLst/>
          </a:prstGeom>
          <a:noFill/>
        </p:spPr>
        <p:txBody>
          <a:bodyPr wrap="square" anchor="t" lIns="0" rIns="0" tIns="0" bIns="0">
            <a:noAutofit/>
          </a:bodyPr>
          <a:lstStyle/>
          <a:p>
            <a:pPr algn="l">
              <a:lnSpc>
                <a:spcPct val="100000"/>
              </a:lnSpc>
            </a:pPr>
            <a:r>
              <a:rPr sz="1100" b="1" i="0" u="none">
                <a:solidFill>
                  <a:srgbClr val="1D1D1D"/>
                </a:solidFill>
                <a:latin typeface="Calibri"/>
              </a:rPr>
              <a:t>Anecdotal / signal-only</a:t>
            </a:r>
          </a:p>
        </p:txBody>
      </p:sp>
      <p:sp>
        <p:nvSpPr>
          <p:cNvPr id="34" name="TextBox 33"/>
          <p:cNvSpPr txBox="1"/>
          <p:nvPr/>
        </p:nvSpPr>
        <p:spPr>
          <a:xfrm>
            <a:off x="7086600" y="5385816"/>
            <a:ext cx="4370832" cy="365760"/>
          </a:xfrm>
          <a:prstGeom prst="rect">
            <a:avLst/>
          </a:prstGeom>
          <a:noFill/>
        </p:spPr>
        <p:txBody>
          <a:bodyPr wrap="square" anchor="t" lIns="0" rIns="0" tIns="0" bIns="0">
            <a:noAutofit/>
          </a:bodyPr>
          <a:lstStyle/>
          <a:p>
            <a:pPr algn="l">
              <a:lnSpc>
                <a:spcPct val="92000"/>
              </a:lnSpc>
            </a:pPr>
            <a:r>
              <a:rPr sz="850" b="0" i="0" u="none">
                <a:solidFill>
                  <a:srgbClr val="52525B"/>
                </a:solidFill>
                <a:latin typeface="Calibri"/>
              </a:rPr>
              <a:t>forums, app-store reviews, social posts — never a factual basis; sentiment signal only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515600" cy="274320"/>
          </a:xfrm>
          <a:prstGeom prst="rect">
            <a:avLst/>
          </a:prstGeom>
          <a:noFill/>
        </p:spPr>
        <p:txBody>
          <a:bodyPr wrap="square" anchor="t" lIns="0" rIns="0" tIns="0" bIns="0">
            <a:noAutofit/>
          </a:bodyPr>
          <a:lstStyle/>
          <a:p>
            <a:pPr algn="l">
              <a:lnSpc>
                <a:spcPct val="100000"/>
              </a:lnSpc>
            </a:pPr>
            <a:r>
              <a:rPr sz="1100" b="1" i="0" u="none">
                <a:solidFill>
                  <a:srgbClr val="1A9B4A"/>
                </a:solidFill>
                <a:latin typeface="Calibri"/>
              </a:rPr>
              <a:t>APPENDIX</a:t>
            </a:r>
          </a:p>
        </p:txBody>
      </p:sp>
      <p:sp>
        <p:nvSpPr>
          <p:cNvPr id="5" name="TextBox 4"/>
          <p:cNvSpPr txBox="1"/>
          <p:nvPr/>
        </p:nvSpPr>
        <p:spPr>
          <a:xfrm>
            <a:off x="548640" y="566928"/>
            <a:ext cx="11064240" cy="822960"/>
          </a:xfrm>
          <a:prstGeom prst="rect">
            <a:avLst/>
          </a:prstGeom>
          <a:noFill/>
        </p:spPr>
        <p:txBody>
          <a:bodyPr wrap="square" anchor="t" lIns="0" rIns="0" tIns="0" bIns="0">
            <a:noAutofit/>
          </a:bodyPr>
          <a:lstStyle/>
          <a:p>
            <a:pPr algn="l">
              <a:lnSpc>
                <a:spcPct val="98000"/>
              </a:lnSpc>
            </a:pPr>
            <a:r>
              <a:rPr sz="2700" b="1" i="0" u="none">
                <a:solidFill>
                  <a:srgbClr val="1D1D1D"/>
                </a:solidFill>
                <a:latin typeface="Calibri"/>
              </a:rPr>
              <a:t>Full persona set &amp; open questions / reform register</a:t>
            </a:r>
          </a:p>
        </p:txBody>
      </p:sp>
      <p:sp>
        <p:nvSpPr>
          <p:cNvPr id="6" name="Rectangle 5"/>
          <p:cNvSpPr/>
          <p:nvPr/>
        </p:nvSpPr>
        <p:spPr>
          <a:xfrm>
            <a:off x="548640" y="1481328"/>
            <a:ext cx="82296" cy="475488"/>
          </a:xfrm>
          <a:prstGeom prst="rect">
            <a:avLst/>
          </a:prstGeom>
          <a:solidFill>
            <a:srgbClr val="1A9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 y="1481328"/>
            <a:ext cx="11009376" cy="475488"/>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87782" bIns="87782">
            <a:noAutofit/>
          </a:bodyPr>
          <a:lstStyle/>
          <a:p>
            <a:pPr algn="l">
              <a:lnSpc>
                <a:spcPct val="100000"/>
              </a:lnSpc>
            </a:pPr>
            <a:r>
              <a:rPr sz="1250" b="1" i="0">
                <a:solidFill>
                  <a:srgbClr val="126E35"/>
                </a:solidFill>
                <a:latin typeface="Calibri"/>
              </a:rPr>
              <a:t>So what:  </a:t>
            </a:r>
            <a:r>
              <a:rPr sz="1250" b="0" i="0">
                <a:solidFill>
                  <a:srgbClr val="1D1D1D"/>
                </a:solidFill>
                <a:latin typeface="Calibri"/>
              </a:rPr>
              <a:t>The complete cast the design must satisfy, and the honest list of what we still need to verify or change in regulation.</a:t>
            </a:r>
          </a:p>
        </p:txBody>
      </p:sp>
      <p:sp>
        <p:nvSpPr>
          <p:cNvPr id="8" name="TextBox 7"/>
          <p:cNvSpPr txBox="1"/>
          <p:nvPr/>
        </p:nvSpPr>
        <p:spPr>
          <a:xfrm>
            <a:off x="548640" y="6455664"/>
            <a:ext cx="7315200" cy="274320"/>
          </a:xfrm>
          <a:prstGeom prst="rect">
            <a:avLst/>
          </a:prstGeom>
          <a:noFill/>
        </p:spPr>
        <p:txBody>
          <a:bodyPr wrap="square" anchor="t" lIns="0" rIns="0" tIns="0" bIns="0">
            <a:noAutofit/>
          </a:bodyPr>
          <a:lstStyle/>
          <a:p>
            <a:pPr algn="l">
              <a:lnSpc>
                <a:spcPct val="100000"/>
              </a:lnSpc>
            </a:pPr>
            <a:r>
              <a:rPr sz="800" b="0" i="1" u="none">
                <a:solidFill>
                  <a:srgbClr val="52525B"/>
                </a:solidFill>
                <a:latin typeface="Calibri"/>
              </a:rPr>
              <a:t>Source: </a:t>
            </a:r>
            <a:r>
              <a:rPr sz="800" b="0" i="1" u="none">
                <a:solidFill>
                  <a:srgbClr val="126E35"/>
                </a:solidFill>
                <a:latin typeface="Calibri"/>
              </a:rPr>
              <a:t>design-kit/personas/_personas-index · meta/open-questions.md</a:t>
            </a:r>
          </a:p>
        </p:txBody>
      </p:sp>
      <p:sp>
        <p:nvSpPr>
          <p:cNvPr id="9" name="Rectangle 8"/>
          <p:cNvSpPr/>
          <p:nvPr/>
        </p:nvSpPr>
        <p:spPr>
          <a:xfrm>
            <a:off x="0" y="6565392"/>
            <a:ext cx="12191695" cy="9525"/>
          </a:xfrm>
          <a:prstGeom prst="rect">
            <a:avLst/>
          </a:prstGeom>
          <a:solidFill>
            <a:srgbClr val="D7D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0256"/>
            <a:ext cx="10058400" cy="219456"/>
          </a:xfrm>
          <a:prstGeom prst="rect">
            <a:avLst/>
          </a:prstGeom>
          <a:noFill/>
        </p:spPr>
        <p:txBody>
          <a:bodyPr wrap="square" anchor="t" lIns="0" rIns="0" tIns="0" bIns="0">
            <a:noAutofit/>
          </a:bodyPr>
          <a:lstStyle/>
          <a:p>
            <a:pPr algn="l">
              <a:lnSpc>
                <a:spcPct val="100000"/>
              </a:lnSpc>
            </a:pPr>
            <a:r>
              <a:rPr sz="750" b="0" i="0" u="none">
                <a:solidFill>
                  <a:srgbClr val="52525B"/>
                </a:solidFill>
                <a:latin typeface="Calibri"/>
              </a:rPr>
              <a:t>Concept for review — not an official Dis-Chem artefact  ·  Bigly Labs × Dis-Chem</a:t>
            </a:r>
          </a:p>
        </p:txBody>
      </p:sp>
      <p:sp>
        <p:nvSpPr>
          <p:cNvPr id="11" name="TextBox 10"/>
          <p:cNvSpPr txBox="1"/>
          <p:nvPr/>
        </p:nvSpPr>
        <p:spPr>
          <a:xfrm>
            <a:off x="11338560" y="6620256"/>
            <a:ext cx="640080" cy="219456"/>
          </a:xfrm>
          <a:prstGeom prst="rect">
            <a:avLst/>
          </a:prstGeom>
          <a:noFill/>
        </p:spPr>
        <p:txBody>
          <a:bodyPr wrap="square" anchor="t" lIns="0" rIns="0" tIns="0" bIns="0">
            <a:noAutofit/>
          </a:bodyPr>
          <a:lstStyle/>
          <a:p>
            <a:pPr algn="r">
              <a:lnSpc>
                <a:spcPct val="100000"/>
              </a:lnSpc>
            </a:pPr>
            <a:r>
              <a:rPr sz="800" b="1" i="0" u="none">
                <a:solidFill>
                  <a:srgbClr val="126E35"/>
                </a:solidFill>
                <a:latin typeface="Calibri"/>
              </a:rPr>
              <a:t>23</a:t>
            </a:r>
          </a:p>
        </p:txBody>
      </p:sp>
      <p:sp>
        <p:nvSpPr>
          <p:cNvPr id="12" name="TextBox 11"/>
          <p:cNvSpPr txBox="1"/>
          <p:nvPr/>
        </p:nvSpPr>
        <p:spPr>
          <a:xfrm>
            <a:off x="548640" y="2194560"/>
            <a:ext cx="5486400" cy="320040"/>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THE 8 PERSONAS</a:t>
            </a:r>
          </a:p>
        </p:txBody>
      </p:sp>
      <p:sp>
        <p:nvSpPr>
          <p:cNvPr id="13" name="TextBox 12"/>
          <p:cNvSpPr txBox="1"/>
          <p:nvPr/>
        </p:nvSpPr>
        <p:spPr>
          <a:xfrm>
            <a:off x="548640" y="2578608"/>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1.  </a:t>
            </a:r>
            <a:r>
              <a:rPr sz="1050" b="1" i="0" u="none">
                <a:solidFill>
                  <a:srgbClr val="1D1D1D"/>
                </a:solidFill>
                <a:latin typeface="Calibri"/>
              </a:rPr>
              <a:t>Nomvula Khumalo  </a:t>
            </a:r>
            <a:r>
              <a:rPr sz="1000" b="0" i="0" u="none">
                <a:solidFill>
                  <a:srgbClr val="52525B"/>
                </a:solidFill>
                <a:latin typeface="Calibri"/>
              </a:rPr>
              <a:t>— Insured chronic, multimorbid ★</a:t>
            </a:r>
          </a:p>
        </p:txBody>
      </p:sp>
      <p:sp>
        <p:nvSpPr>
          <p:cNvPr id="14" name="TextBox 13"/>
          <p:cNvSpPr txBox="1"/>
          <p:nvPr/>
        </p:nvSpPr>
        <p:spPr>
          <a:xfrm>
            <a:off x="548640" y="2962656"/>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2.  </a:t>
            </a:r>
            <a:r>
              <a:rPr sz="1050" b="1" i="0" u="none">
                <a:solidFill>
                  <a:srgbClr val="1D1D1D"/>
                </a:solidFill>
                <a:latin typeface="Calibri"/>
              </a:rPr>
              <a:t>Thabo Mokoena  </a:t>
            </a:r>
            <a:r>
              <a:rPr sz="1000" b="0" i="0" u="none">
                <a:solidFill>
                  <a:srgbClr val="52525B"/>
                </a:solidFill>
                <a:latin typeface="Calibri"/>
              </a:rPr>
              <a:t>— Cash-pay acute customer</a:t>
            </a:r>
          </a:p>
        </p:txBody>
      </p:sp>
      <p:sp>
        <p:nvSpPr>
          <p:cNvPr id="15" name="TextBox 14"/>
          <p:cNvSpPr txBox="1"/>
          <p:nvPr/>
        </p:nvSpPr>
        <p:spPr>
          <a:xfrm>
            <a:off x="548640" y="3346704"/>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3.  </a:t>
            </a:r>
            <a:r>
              <a:rPr sz="1050" b="1" i="0" u="none">
                <a:solidFill>
                  <a:srgbClr val="1D1D1D"/>
                </a:solidFill>
                <a:latin typeface="Calibri"/>
              </a:rPr>
              <a:t>Lerato Dlamini  </a:t>
            </a:r>
            <a:r>
              <a:rPr sz="1000" b="0" i="0" u="none">
                <a:solidFill>
                  <a:srgbClr val="52525B"/>
                </a:solidFill>
                <a:latin typeface="Calibri"/>
              </a:rPr>
              <a:t>— Caregiver / proxy collector ★</a:t>
            </a:r>
          </a:p>
        </p:txBody>
      </p:sp>
      <p:sp>
        <p:nvSpPr>
          <p:cNvPr id="16" name="TextBox 15"/>
          <p:cNvSpPr txBox="1"/>
          <p:nvPr/>
        </p:nvSpPr>
        <p:spPr>
          <a:xfrm>
            <a:off x="548640" y="3730752"/>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4.  </a:t>
            </a:r>
            <a:r>
              <a:rPr sz="1050" b="1" i="0" u="none">
                <a:solidFill>
                  <a:srgbClr val="1D1D1D"/>
                </a:solidFill>
                <a:latin typeface="Calibri"/>
              </a:rPr>
              <a:t>Trudie van Wyk  </a:t>
            </a:r>
            <a:r>
              <a:rPr sz="1000" b="0" i="0" u="none">
                <a:solidFill>
                  <a:srgbClr val="52525B"/>
                </a:solidFill>
                <a:latin typeface="Calibri"/>
              </a:rPr>
              <a:t>— Elderly poly-pharmacy patient</a:t>
            </a:r>
          </a:p>
        </p:txBody>
      </p:sp>
      <p:sp>
        <p:nvSpPr>
          <p:cNvPr id="17" name="TextBox 16"/>
          <p:cNvSpPr txBox="1"/>
          <p:nvPr/>
        </p:nvSpPr>
        <p:spPr>
          <a:xfrm>
            <a:off x="548640" y="4114800"/>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5.  </a:t>
            </a:r>
            <a:r>
              <a:rPr sz="1050" b="1" i="0" u="none">
                <a:solidFill>
                  <a:srgbClr val="1D1D1D"/>
                </a:solidFill>
                <a:latin typeface="Calibri"/>
              </a:rPr>
              <a:t>Sipho Ndlovu  </a:t>
            </a:r>
            <a:r>
              <a:rPr sz="1000" b="0" i="0" u="none">
                <a:solidFill>
                  <a:srgbClr val="52525B"/>
                </a:solidFill>
                <a:latin typeface="Calibri"/>
              </a:rPr>
              <a:t>— Low-data, peri-urban, WhatsApp-first ★</a:t>
            </a:r>
          </a:p>
        </p:txBody>
      </p:sp>
      <p:sp>
        <p:nvSpPr>
          <p:cNvPr id="18" name="TextBox 17"/>
          <p:cNvSpPr txBox="1"/>
          <p:nvPr/>
        </p:nvSpPr>
        <p:spPr>
          <a:xfrm>
            <a:off x="548640" y="4498848"/>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6.  </a:t>
            </a:r>
            <a:r>
              <a:rPr sz="1050" b="1" i="0" u="none">
                <a:solidFill>
                  <a:srgbClr val="1D1D1D"/>
                </a:solidFill>
                <a:latin typeface="Calibri"/>
              </a:rPr>
              <a:t>Aisha Patel  </a:t>
            </a:r>
            <a:r>
              <a:rPr sz="1000" b="0" i="0" u="none">
                <a:solidFill>
                  <a:srgbClr val="52525B"/>
                </a:solidFill>
                <a:latin typeface="Calibri"/>
              </a:rPr>
              <a:t>— Time-poor urban professional</a:t>
            </a:r>
          </a:p>
        </p:txBody>
      </p:sp>
      <p:sp>
        <p:nvSpPr>
          <p:cNvPr id="19" name="TextBox 18"/>
          <p:cNvSpPr txBox="1"/>
          <p:nvPr/>
        </p:nvSpPr>
        <p:spPr>
          <a:xfrm>
            <a:off x="548640" y="4882896"/>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7.  </a:t>
            </a:r>
            <a:r>
              <a:rPr sz="1050" b="1" i="0" u="none">
                <a:solidFill>
                  <a:srgbClr val="1D1D1D"/>
                </a:solidFill>
                <a:latin typeface="Calibri"/>
              </a:rPr>
              <a:t>Mandla Zwane  </a:t>
            </a:r>
            <a:r>
              <a:rPr sz="1000" b="0" i="0" u="none">
                <a:solidFill>
                  <a:srgbClr val="52525B"/>
                </a:solidFill>
                <a:latin typeface="Calibri"/>
              </a:rPr>
              <a:t>— Public-sector bridging to retail</a:t>
            </a:r>
          </a:p>
        </p:txBody>
      </p:sp>
      <p:sp>
        <p:nvSpPr>
          <p:cNvPr id="20" name="TextBox 19"/>
          <p:cNvSpPr txBox="1"/>
          <p:nvPr/>
        </p:nvSpPr>
        <p:spPr>
          <a:xfrm>
            <a:off x="548640" y="5266944"/>
            <a:ext cx="5486400" cy="347472"/>
          </a:xfrm>
          <a:prstGeom prst="rect">
            <a:avLst/>
          </a:prstGeom>
          <a:noFill/>
        </p:spPr>
        <p:txBody>
          <a:bodyPr wrap="square" anchor="t" lIns="0" rIns="0" tIns="0" bIns="0">
            <a:noAutofit/>
          </a:bodyPr>
          <a:lstStyle/>
          <a:p>
            <a:pPr algn="l">
              <a:lnSpc>
                <a:spcPct val="100000"/>
              </a:lnSpc>
            </a:pPr>
            <a:r>
              <a:rPr sz="1050" b="1" i="0" u="none">
                <a:solidFill>
                  <a:srgbClr val="126E35"/>
                </a:solidFill>
                <a:latin typeface="Calibri"/>
              </a:rPr>
              <a:t>8.  </a:t>
            </a:r>
            <a:r>
              <a:rPr sz="1050" b="1" i="0" u="none">
                <a:solidFill>
                  <a:srgbClr val="1D1D1D"/>
                </a:solidFill>
                <a:latin typeface="Calibri"/>
              </a:rPr>
              <a:t>Naledi Mahlangu  </a:t>
            </a:r>
            <a:r>
              <a:rPr sz="1000" b="0" i="0" u="none">
                <a:solidFill>
                  <a:srgbClr val="52525B"/>
                </a:solidFill>
                <a:latin typeface="Calibri"/>
              </a:rPr>
              <a:t>— Frontline dispensary pharmacist (staff)</a:t>
            </a:r>
          </a:p>
        </p:txBody>
      </p:sp>
      <p:sp>
        <p:nvSpPr>
          <p:cNvPr id="21" name="TextBox 20"/>
          <p:cNvSpPr txBox="1"/>
          <p:nvPr/>
        </p:nvSpPr>
        <p:spPr>
          <a:xfrm>
            <a:off x="548640" y="5696712"/>
            <a:ext cx="5486400" cy="274320"/>
          </a:xfrm>
          <a:prstGeom prst="rect">
            <a:avLst/>
          </a:prstGeom>
          <a:noFill/>
        </p:spPr>
        <p:txBody>
          <a:bodyPr wrap="square" anchor="t" lIns="0" rIns="0" tIns="0" bIns="0">
            <a:noAutofit/>
          </a:bodyPr>
          <a:lstStyle/>
          <a:p>
            <a:pPr algn="l">
              <a:lnSpc>
                <a:spcPct val="100000"/>
              </a:lnSpc>
            </a:pPr>
            <a:r>
              <a:rPr sz="850" b="0" i="1" u="none">
                <a:solidFill>
                  <a:srgbClr val="126E35"/>
                </a:solidFill>
                <a:latin typeface="Calibri"/>
              </a:rPr>
              <a:t>★ = protagonist of the North Star journey</a:t>
            </a:r>
          </a:p>
        </p:txBody>
      </p:sp>
      <p:sp>
        <p:nvSpPr>
          <p:cNvPr id="22" name="TextBox 21"/>
          <p:cNvSpPr txBox="1"/>
          <p:nvPr/>
        </p:nvSpPr>
        <p:spPr>
          <a:xfrm>
            <a:off x="6355080" y="2194560"/>
            <a:ext cx="5285232" cy="320040"/>
          </a:xfrm>
          <a:prstGeom prst="rect">
            <a:avLst/>
          </a:prstGeom>
          <a:noFill/>
        </p:spPr>
        <p:txBody>
          <a:bodyPr wrap="square" anchor="t" lIns="0" rIns="0" tIns="0" bIns="0">
            <a:noAutofit/>
          </a:bodyPr>
          <a:lstStyle/>
          <a:p>
            <a:pPr algn="l">
              <a:lnSpc>
                <a:spcPct val="100000"/>
              </a:lnSpc>
            </a:pPr>
            <a:r>
              <a:rPr sz="1150" b="1" i="0" u="none">
                <a:solidFill>
                  <a:srgbClr val="1A9B4A"/>
                </a:solidFill>
                <a:latin typeface="Calibri"/>
              </a:rPr>
              <a:t>OPEN QUESTIONS &amp; REFORM REGISTER (selected)</a:t>
            </a:r>
          </a:p>
        </p:txBody>
      </p:sp>
      <p:sp>
        <p:nvSpPr>
          <p:cNvPr id="23" name="TextBox 22"/>
          <p:cNvSpPr txBox="1"/>
          <p:nvPr/>
        </p:nvSpPr>
        <p:spPr>
          <a:xfrm>
            <a:off x="6355080" y="257860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Real-time scheme pre-adjudication API (“can I claim?” dry-run) — exposed by any switch? Key enabler for U3.</a:t>
            </a:r>
          </a:p>
        </p:txBody>
      </p:sp>
      <p:sp>
        <p:nvSpPr>
          <p:cNvPr id="24" name="TextBox 23"/>
          <p:cNvSpPr txBox="1"/>
          <p:nvPr/>
        </p:nvSpPr>
        <p:spPr>
          <a:xfrm>
            <a:off x="6355080" y="312724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Legal boundary of auto-dispense for eligible repeats vs pharmacist oversight. 🔮</a:t>
            </a:r>
          </a:p>
        </p:txBody>
      </p:sp>
      <p:sp>
        <p:nvSpPr>
          <p:cNvPr id="25" name="TextBox 24"/>
          <p:cNvSpPr txBox="1"/>
          <p:nvPr/>
        </p:nvSpPr>
        <p:spPr>
          <a:xfrm>
            <a:off x="6355080" y="367588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SAPC acceptance of AES-signed e-scripts for S5/S6. 🔮</a:t>
            </a:r>
          </a:p>
        </p:txBody>
      </p:sp>
      <p:sp>
        <p:nvSpPr>
          <p:cNvPr id="26" name="TextBox 25"/>
          <p:cNvSpPr txBox="1"/>
          <p:nvPr/>
        </p:nvSpPr>
        <p:spPr>
          <a:xfrm>
            <a:off x="6355080" y="422452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Chain-of-custody for third-party last-mile couriers holding scheduled meds. 🔮</a:t>
            </a:r>
          </a:p>
        </p:txBody>
      </p:sp>
      <p:sp>
        <p:nvSpPr>
          <p:cNvPr id="27" name="TextBox 26"/>
          <p:cNvSpPr txBox="1"/>
          <p:nvPr/>
        </p:nvSpPr>
        <p:spPr>
          <a:xfrm>
            <a:off x="6355080" y="477316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24/7 pharmacist oversight &amp; live after-hours scheme authorisation. 🔮</a:t>
            </a:r>
          </a:p>
        </p:txBody>
      </p:sp>
      <p:sp>
        <p:nvSpPr>
          <p:cNvPr id="28" name="TextBox 27"/>
          <p:cNvSpPr txBox="1"/>
          <p:nvPr/>
        </p:nvSpPr>
        <p:spPr>
          <a:xfrm>
            <a:off x="6355080" y="5321808"/>
            <a:ext cx="5285232" cy="566928"/>
          </a:xfrm>
          <a:prstGeom prst="rect">
            <a:avLst/>
          </a:prstGeom>
          <a:noFill/>
        </p:spPr>
        <p:txBody>
          <a:bodyPr wrap="square" anchor="t" lIns="0" rIns="0" tIns="0" bIns="0">
            <a:noAutofit/>
          </a:bodyPr>
          <a:lstStyle/>
          <a:p>
            <a:pPr algn="l">
              <a:lnSpc>
                <a:spcPct val="100000"/>
              </a:lnSpc>
            </a:pPr>
            <a:r>
              <a:rPr sz="1000" b="1" i="0" u="none">
                <a:solidFill>
                  <a:srgbClr val="1A9B4A"/>
                </a:solidFill>
                <a:latin typeface="Calibri"/>
              </a:rPr>
              <a:t>▸ </a:t>
            </a:r>
            <a:r>
              <a:rPr sz="1000" b="0" i="0" u="none">
                <a:solidFill>
                  <a:srgbClr val="1D1D1D"/>
                </a:solidFill>
                <a:latin typeface="Calibri"/>
              </a:rPr>
              <a:t>Exact dispensing-fee bands &amp; CMS coverage split — re-verify vs primary gazette/PDF.</a:t>
            </a:r>
          </a:p>
        </p:txBody>
      </p:sp>
      <p:sp>
        <p:nvSpPr>
          <p:cNvPr id="29" name="TextBox 28"/>
          <p:cNvSpPr txBox="1"/>
          <p:nvPr/>
        </p:nvSpPr>
        <p:spPr>
          <a:xfrm>
            <a:off x="6355080" y="5888736"/>
            <a:ext cx="5285232" cy="320040"/>
          </a:xfrm>
          <a:prstGeom prst="rect">
            <a:avLst/>
          </a:prstGeom>
          <a:noFill/>
        </p:spPr>
        <p:txBody>
          <a:bodyPr wrap="square" anchor="t" lIns="0" rIns="0" tIns="0" bIns="0">
            <a:noAutofit/>
          </a:bodyPr>
          <a:lstStyle/>
          <a:p>
            <a:pPr algn="l">
              <a:lnSpc>
                <a:spcPct val="100000"/>
              </a:lnSpc>
            </a:pPr>
            <a:r>
              <a:rPr sz="850" b="0" i="1" u="none">
                <a:solidFill>
                  <a:srgbClr val="B06A00"/>
                </a:solidFill>
                <a:latin typeface="Calibri"/>
              </a:rPr>
              <a:t>🔮 = requires regulatory reform.  </a:t>
            </a:r>
            <a:r>
              <a:rPr sz="850" b="0" i="1" u="none">
                <a:solidFill>
                  <a:srgbClr val="52525B"/>
                </a:solidFill>
                <a:latin typeface="Calibri"/>
              </a:rPr>
              <a:t>48 reform flags &amp; 63 unverified items tracked across the vault.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