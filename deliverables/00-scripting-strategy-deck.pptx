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Dis-Chem anchor; Bigly Labs concept for review. Footer carries the disclaimer.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spine of the whole deck — Parts 1-2 prove the white space exists; later parts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Oliver Wyman ("new front door", pharmacy as strategic asset); Deloitte (consolidated health destinations); McKinsey (~40% want clinical services via pharmacy); EY ("digital front door" framing). Global only — direction of travel, not SA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McKinsey (med-sync + home delivery); Bain (retail-grade convenience/responsiveness expectations); EY (~1 in 10 UK manage repeats digitally — the adoption gap). Global only — direction of travel.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Deloitte (automation frees clinical time); McKinsey (reallocate pharmacist time from counting to clinical); EY (~70% Danish robots; 81% UK pharmacists considered leaving 2022). Global only — direction of travel.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— no SA-local consultancy POV exists; this slide explicitly closes Part 1 by reframing all globals as direction of travel and handing off to the SA-specific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IDEO pharmacist-forward / Walgreens Well Experience is the exemplar; frog and Picker's patient-centred principles back the frame. FLAG unverified — IDEO's ~750-store scale is extract-only; cite the mechanism (pharmacist forward, private rooms) as proven, the scale as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frog's efficacy-to-effectiveness frame is the spine; Conn et al. meta-analysis (52 reports, ~22,858 subjects; 71% vs 63%; blister effect ~0.802) is the hard evidence. FLAG unverified — frog's ~70% adherence app result and Accenture/CCS ~50% lift are vendor-reported; cite the mechanism (design lifts adherence) as proven, the numbers as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Transferable lesson — the artefact is designable; deliver it on whatever channel the patient has. Scale/outcome claims are company-stated (Tier B) but the design pattern is the load-bearing point, not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Kept strictly to the EXPERIENCE/adherence innovation (date/time dose sachets) — deliberately NOT covering Part 3's market/operating-model material (RxPass economics, scale, PBM rails). PillPack was prototyped with IDEO, reinforcing the design lineage.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Sets the lens for the whole part. Keep funding out — every following slide is about operating model / CX. Germany/UK/US are the "doesn't transfer" foils.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&gt;95% is PHARMACY COVERAGE, not the share of all scripts that are electronic — say so on-slide. A token-by-SMS degrades gracefully to printed-QR/USSD/WhatsApp for SA low-bandwidth. ASL needs a SA-fitted ID model (not AU's 100-points-of-ID).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~75k/day and the HealthCo profit are listed-company disclosures (A-tier); ~31% share and ~7,000 stores are from the e-pharmacy source. 19-min delivery is density-dependent and does NOT transfer across SA geography — borrow the store-as-node mechanism, not the speed promise. PharmEasy = the explicit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Borrow the loop + the guardrails; reject the platform-scale super-apps and the state-directed insurance plumbing (NHSA wiring by fiat has no SA analogue). Internet-hospital-on-a-physical-hospital is a China-specific construct; SA's HPCSA telehealth rules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Source-confirmed verbatim — NHC supervision rules Feb 2022; reaffirmed Beijing draft Aug 2023. This is the cleanest, most defensible AI/safety guardrail in the deck — AI in front of a human, never instead of one. dia:teleconsult-loop carries the AI-triage to human to pharmacist guardrail visually.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Foreign scale figures are company/agency-reported; treat as directional. Apollo's listed disclosures are the firmest numbers in the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 2026 = max 1.47% (2025 was 5.25%) — Gray/Daily Maverick Feb 2026, B-tier. Dispensing-fee bands are current-indicative; recompute from latest Gazette (exact thresholds flagged unverified in the wiki). SEPA bands are volatile per SPEC §5 — do not hard-code.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Insured % basis VARIES — cite both: ~16% headline / 15.8% GHS 2022 / 9.17m CMS 2024 beneficiaries. NHI is the reform flag — NHI Act signed 2023, paused and in court 2026; design for the status-quo scheme model and monitor. CCMDD &gt;4.9m is the public-sector bridge into retail collection. dia:two-economies-one-spine belongs here (or on a closing Part-4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costs are volatile per SPEC §5 (~R20–R79/GB; RAMP warns of a possible fourth price-increase cycle) — date the figure. WhatsApp exact % (93–96%) is a wide-band signal flagged unverified in the wiki; the load-bearing claim (WhatsApp = #1 channel) is robust. ICASA figures are 2024 reporting year (A-tier).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NHI flagged reform (in court 2026); insured % basis varies (cite both ~16% / 15.8% / 9.17m); data costs volatile.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S6 is the synthesis the other five point at; flag it visually as the hero on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Date the insured share (~16%, base/year varies 15.8–17.4%). Keep compact — deep dive is S6.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 the flywheel into scheme/DSP registration, not bolted on. Treat a lapsed registration or expired repeat as a P1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 is regulated end-to-end (§22G Medicines Act); use itemised pricing as a trust feature, not a discount 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global firms as "direction of travel," not local proof — no SA-local consultancy POV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the ~50% adherence lift and ~70% Danish-robot figures are vendor/extract-only. Remote verification + unattended-locker hand-over likely needs SAPC clarity (🔮 see S6 reform list).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deck's pivot. Builder: render the left as five disconnected silos with the patient shuttling between them; right as one spine with a single owner. Quotes "breaks back out to the prescriber with no orchestration" and "no single owner of a stuck repeat" are verbatim from the vault.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slide. Use the EXACT S6 oneLiner from SPEC §6 as so_what (done). The title is the core question, on-slide. 🔮 reform items are honest gaps — flag, don't promise. EMPI/FHIR stance is from interoperability-identity-records (build internal, don't depend on NHI).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Names and one-liners are verbatim from the canonical pillars.md. U3 uses the RENAMED wording per SPEC §6 (was "Make money legible, early, always"). These seven answer HOW the experience must behave; a good blueprint step is defensible from at least one S and one 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= the North Star deck's nine journey moments (m1–m9 in 06-anim-data.js); right = the 11 transferable global patterns from patterns-to-borrow-and-cautions.md. Borrow the mechanism, reject the foreign funding architecture (no PBM, no single-payer rail). All precedents are "direction of travel" — no SA-local proof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SPEC §6 rename (was "Make money legible, early, always"). Broaden the radial diagram beyond price: Cost · Funding/cover · Stock · Timing/ETA · Alternatives · (and any other decision-material variable). SA's SEP + capped dispensing fee already make the cost spoke natural — lean into it. Anim m3 ("I know the cost and the cover before I commit") is the in-journey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U3 is covered by its own hero slide (PillPack/Cost Plus), so it is intentionally not repeated here. FLAG unverified — NHS App user/order counts, MedAdvisor reach, PillPack scale and Amazon ~99%-pricing-estimate are company/agency-reported; cite the mechanism as proven, the magnitudes as directional. All examples are "direction of travel," not SA-local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four sharpening bets, land on S6 as the strategic pivot, then be explicit about reform-gated and unverified items. Honesty is the point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Visible vault paths only, no external URLs (per SPEC §5). These are the principal pages; full citations live in each wiki page's source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0"/>
            <a:ext cx="73152" cy="685800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46920" y="822960"/>
            <a:ext cx="566928" cy="2651760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95360" y="1865376"/>
            <a:ext cx="2651760" cy="566928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A9B4A"/>
                </a:solidFill>
                <a:latin typeface="Calibri"/>
              </a:rPr>
              <a:t>BIGLY LABS  × 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600" b="1" i="0" u="none">
                <a:solidFill>
                  <a:srgbClr val="1D1D1D"/>
                </a:solidFill>
                <a:latin typeface="Calibri"/>
              </a:rPr>
              <a:t>The Scripting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0" i="0" u="none">
                <a:solidFill>
                  <a:srgbClr val="52525B"/>
                </a:solidFill>
                <a:latin typeface="Calibri"/>
              </a:rPr>
              <a:t>A future-state prescription experience for South African retail pharmacy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7955279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⚠  Concept for review — not an official Dis-Chem artefact.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 u="none">
                <a:solidFill>
                  <a:srgbClr val="52525B"/>
                </a:solidFill>
                <a:latin typeface="Calibri"/>
              </a:rPr>
              <a:t>Executive strategy deck for Dis-Chem &amp; Bigly leadership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THE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Everyone has mapped the pharmacy of the future — nobody has built the scripting journey for 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end-to-end prescription experience for a regulated, multi-funder, low-bandwidth market is unclaimed white space — and that is the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wiki/global-benchmarks/patterns-to-borrow-and-cautions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240280"/>
            <a:ext cx="11091672" cy="3749039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60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Strategy firms own the destination: pharmacy as health front door, top-of-licence, omnichannel.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Design firms own the experience: trust, adherence, the script artefact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5993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Neither connects them into one journey — submit, validate, dispense, pay, collect, deliver, adhere.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0974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None handles SA's reality at once: scheduling law, scheme adjudication, POPIA, WhatsApp/USSD fallback.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5955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The blueprint that fuses all three is the asset no competitor has published.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global consultancies are predicting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The direction of travel — read as signal, not local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pharmacy stops being a counter and becomes the front door to health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If the store is the entry point to a care relationship, the script is the first conversation — not the transaction to optimise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src-consult-oliver-wyman-pharmacy · src-consult-deloitte-future-of-pharmacy · src-consult-mckinsey-retail-pharmacy-future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Treat pharmacy services as a strategic asset, not a downstream dispensing function.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Dense store-plus-clinic estates become integrated health touchpoints — screening, coordination, behaviour change.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Roughly 40% of consumers want broader clinical services delivered via the pharmacy.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Dis-Chem already owns the estate the global thesis assumes you must build.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dia:front-door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store becomes a fulfilment node — one regimen, many channels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Winning means meeting the patient on whichever channel they choose, with the store as the omnichannel hub behind all of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src-consult-mckinsey-pharmacy-home · src-consult-bain-front-line-healthcare · src-consult-ey-pharmacy-innovation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Medication synchronisation plus home delivery is an adherence and relationship play, not just logistics.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convenience bar is set by retail — SA benchmarks pharmacy against Sixty60, not other pharmacies.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Digital repeat-management adoption is the untapped lever — only ~1 in 10 UK patients manage repeats digitally.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Store-as-node lets collect, deliver and locker coexist off one inventory and one record.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dia:fulfilment-node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Automate the toil so the pharmacist works at top-of-licence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Robots should absorb the counting and checking; the scarce pharmacist hour should buy the clinical and trust work machines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src-consult-deloitte-future-of-pharmacy · src-consult-ey-pharmacy-innovation · src-consult-mckinsey-retail-pharmacy-future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Automation and AI free pharmacists from counting pills to manage chronic disease and counsel.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clinical-pharmacist vision is real only if you invest in the workforce behind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Exemplars exist at scale — roughly 70% of Danish community pharmacies already run dispensing robots.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Workforce fragility is the live risk — 81% of UK community pharmacists considered leaving in 2022.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dia:time-reallocation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firms agree on the destination — none has drawn the map for our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We can borrow the vision wholesale, but the journey, the funding plumbing and the low-bandwidth reality are ours to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src-consult-bain-beyond-the-pill · src-consult-oliver-wyman-pharmacy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Front door, fulfilment node and top-of-licence are one coherent picture — the strategic consensus.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It is almost entirely US/UK-framed and assumes single-payer or PBM plumbing we do not have.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No firm has published an end-to-end scripting blueprint — submit to adhere — for any market.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Read globals as direction of travel; the SA-specific layer is the defensible work.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dia:front-door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design firms teach us about the experience of scripting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From the front-door vision to the craft at the touchpoint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Trust is the product — design the pharmacist relationship, not just the queue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scripting moment is where dignity and trust are won or lost, so the human relationship is the thing to design for, not the throughput.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wiki/ux-service-design/healthcare-service-design-patterns · src-consult-ideo-walgreens-pharmacy · src-ux-picker-patient-centred-care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Bring the pharmacist forward — out from behind the counter, with private consultation space.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Honour Picker's principles: information, emotional support, continuity, access, respect for preferences.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Design for the caregiver as a co-user — SA's proxy and household-collection norm is the default, not the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Discreet by default — "your order is ready", never "your ARV is ready".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Adherence is a design problem, and the label is the design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medicine only works if it is taken, so the experience after dispensing — and the artefact in the patient's hand — is where real-world value is created or lost.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wiki/dispensing-practice/adherence-packaging · src-disp-conn-packaging-meta · src-consult-frog-pharma-experience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Experience is the gap between a drug's efficacy and its real-world effectiveness — adherence is that gap.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Packaging is one of the few adherence levers with meta-analytic support — 71% vs 63%, blister strongest.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It works best when pharmacy-delivered and contact-rich — packaging alone is necessary, not sufficient.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Treat the script label and schedule as a design surface, not a regulatory printout.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dia:efficacy-effectiveness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script-artefact — CVS ScriptPath — the script artefact, redesigned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One icon-driven medication schedule plus a redesigned bottle label that replaces a pile of separate prescriptions with a single legible picture of when to take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src-consult-cvs-scriptpath-adler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label is the highest-leverage, lowest-cost adherence surface — and an icon-led, multilingual schedule is exactly what SA's low-literacy, polypharmacy population needs across paper, SMS, WhatsApp or app.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6035040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Designed by Deborah Adler (creator of Target's ClearRx); consolidates timing and dosing into easy-to-understand icons for polypharmacy patients and caregivers.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240280"/>
            <a:ext cx="4846320" cy="36576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dia:script-artefact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240280"/>
            <a:ext cx="109728" cy="365760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595274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PillPack proves the dose, not the bottle, is the unit patients can manage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Organising medicines by the moment they are taken — not by the box they came in — is the adherence innovation worth borrowing, separate from the operating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wiki/global-benchmarks/amazon-pharmacy-pillpack-deepdive · src-gbl-amazon-pharmacy · src-disp-conn-packaging-meta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PillPack pre-sorts a patient's daily medicines into per-dose sachets labelled by date and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One roll replaces six bottles — the regimen, not the package, becomes the unit of management.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mechanism is lawful in SA under unit-dose rules; the subscription pricing is not.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Pair packaging with pharmacist contact — the evidence rewards contact-rich, not packaging alone.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276" y="2194560"/>
            <a:ext cx="23977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dicine-cabi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996" y="2240280"/>
            <a:ext cx="230632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we can learn from overseas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Borrow the mechanisms — operating models and CX — not the funding architectures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Australia, India and China are the right teachers — because they share our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Read overseas markets for the mechanism, not the money: the markets that fit ours are the ones that already assume mixed funding, cash payers, store estates and pragmatic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wiki/global-benchmarks/_index · wiki/global-benchmarks/patterns-to-borrow-and-cautions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Australia, India and China assume mixed funding, cash-paying patients, dense store estates as fulfilment nodes and pragmatic verification — like 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UK transfers poorly — it presumes a single tax-funded payer and rail SA does not have.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US transfers poorly — its PBM/rebate middle layer is opaque and has no SA analogue.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Germany transfers poorly — rigid PIN-gated rails drove ~99% of patients to the analogue fallback.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46904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motto for this part — borrow mechanisms, reject funding architectures.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dia:transfer-fit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BEST FIT FOR 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Australia — a QR token the patient owns, scannable at any pharmacy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scan-to-retrieve token (no PIN, any phone) with a fresh code per repeat gives SA a low-friction e-script design with anti-double-dispense baked 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wiki/global-benchmarks/australia-chemist-warehouse-escript · wiki/concepts/e-prescription-token · src-gbl-australia-escript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First e-script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6 May 2020 (Anglesea, VIC)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E-scripts issued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~360m by 30 Jun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Pharmacy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&gt;95% (coverage ≠ volume)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Redemption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QR token by SMS/email, no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24028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WHAT IT PROVES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2606040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Token is a key/pointer to an encrypted script store — patient shows it at any pharmacy to unlock and dispense.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3172968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A new token is issued after each repeat is dispensed — built-in anti-double-dispense control.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739896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Because it is just an SMS/email, the token can be forwarded to a carer — strong accessibility.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4306824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Active Script List is an opt-in, per-pharmacy, revocable managed list — token and list, patient chooses.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720" y="4709160"/>
            <a:ext cx="5852160" cy="17373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dia:au-token-loop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4709160"/>
            <a:ext cx="109728" cy="17373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6501384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EMERGING-MARKET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India — turn the store estate into fulfilment nodes, and verify pragmatically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India shows the omnichannel/anchored model wins over venture-subsidised pure-play, and that dual verification bridges the gap where no national e-script rail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wiki/global-benchmarks/india-pharmeasy-apollo-tata1mg · src-gbl-india-epharmacy · src-gbl-apollo-247-results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Apollo 24|7 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~75k/day (Q3 FY25)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Apollo Pharmacy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~7,000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Metro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~19 min (density-dependent)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Tata 1mg share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~31% (overtook PharmEasy)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24028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WHAT IT PROVES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2606040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Core loop — teleconsult to e-prescription to order to deliver, fulfilled from physical stores used as dark stores.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3172968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Dual verification — photo upload to pharmacist digital review to phone confirm to physical check at dispense.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739896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Apollo HealthCo swung to profit on the omnichannel model; PharmEasy's pure-play collapsed (cautionary tale).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4306824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Telemedicine Practice Guidelines 2020 are the legal hinge that let a doctor issue a dispensable e-prescription.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720" y="4709160"/>
            <a:ext cx="5852160" cy="17373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dia:teleconsult-loop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4709160"/>
            <a:ext cx="109728" cy="17373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6501384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MOST FULLY-REALISED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China — the regulated internet hospital and O2O nearest-store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China proves the full teleconsult-to-deliver loop works only on top of deliberate regulation — licensing, non-delegable pharmacist review, and follow-up-only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wiki/global-benchmarks/china-pingan-alibaba-jdhealth · src-gbl-china-internet-hospitals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Internet hospital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must be based on a licensed physical hospital (2018)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Online care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follow-up/chronic only — no first visit online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Fulfilment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O2O routing to nearest store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Platforms at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Ping An / Alibaba / JD Health (profit 2024-25)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224028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WHAT IT PROVES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2606040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Online prescription is valid only with real-name doctor auth, e-signature, and pharmacist review.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3172968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Pharmacist clinical review is non-delegable — a hard human checkpoint before any medicine is released.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3739896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"No first visit online" scopes digital care to follow-up/chronic, concentrating effort where it is safest.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4306824"/>
            <a:ext cx="5852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Platforms route an online order to the nearest physical pharmacy for fast O2O delivery — fits dense store estates.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720" y="4709160"/>
            <a:ext cx="5852160" cy="17373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dia:teleconsult-loop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4709160"/>
            <a:ext cx="109728" cy="17373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6501384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THE DEFENSIBLE AI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China bans AI from auto-generating prescriptions — "prescription first, drug second"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safest AI stance for a future digital pharmacy is the Chinese one — AI may triage and intake, but a human clinician must diagnose and sign, and a pharmacist must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wiki/global-benchmarks/china-pingan-alibaba-jdhealth · src-gbl-china-eprescription-policy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NHC supervision rules (Feb 2022, reaffirmed Aug 2023) ban AI from auto-generating prescriptions.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"Prescription first, drug second" — no drug may be supplied before its script is issued and reviewed.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Rationale — patient safety, and scoping digital care to lower-risk follow-up rather than first diagnosis.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Implication for SA — AI may triage and intake; a licensed clinician diagnoses and signs; the pharmacist reviews.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dia:teleconsult-loop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Sources — overseas markets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Australia eScript token + ASL, MedAdvisor, Chemist Warehouse — src-gbl-australia-escript (A)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India e-pharmacy — PharmEasy, Apollo, Tata 1mg, Netmeds — src-gbl-india-epharmacy 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52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Apollo HealthCo / Apollo 24|7 listed-company disclosures — src-gbl-apollo-247-results (A)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821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China internet hospitals — Ping An / Alibaba / JD Health — src-gbl-china-internet-hospitals (B)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1129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China e-prescription policy — AI ban, prescription-first — src-gbl-china-eprescription-policy (B)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Synthesis — patterns to borrow &amp; cautions — wiki/global-benchmarks/patterns-to-borrow-and-cautions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The South African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Regulated · Multi-Funder · Low-Bandwidth — the three constraints that shape every design choice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1 OF 3 · REGULATED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Price is fixed and transparent by law — so the only place left to compete is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Because the medicine price is regulated end-to-end, a scripting experience cannot win on headline price — it must win on service, convenience and trust.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wiki/sa-regulatory/sep-dispensing-fee · wiki/sa-regulatory/medicines-act-scheduling · wiki/sa-regulatory/e-prescription-telehealth-popia · src-reg-gray-pricing-2026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Single Exit Price (§22G) is the one lawful price to non-State buyers — no discounts, rebates or bonuses.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pharmacy's margin is a capped dispensing fee — flat amount + % of SEP across four bands; SEPA 2026 caps SEP rises at max 1.47%.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Scheduling S0–S8 is the master switch — S3+ gates behind a valid prescription, pharmacist validation mandatory.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POPIA treats all prescription data as special personal information — consent must be explicit, scoped, revocable.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46904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Takeaway — price is regulated and transparent, so compete on service; show SEP + dispensing fee + VAT line-by-line as a trust win.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unknown visual: omit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2 OF 3 · MULTI-FUNDER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Two economies, one spine — ~16% insured, ~84% cash, and the funding logic forks at step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scripting experience must run an insured path and a cash path as first-class parallel flows from the first question — funding status re-routes the entire journey.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wiki/medical-schemes/cms-medical-schemes-overview · wiki/medical-schemes/pmb-cdl-chronic · wiki/medical-schemes/dsp-formularies-copayments · wiki/medical-schemes/realtime-claims-switching · wiki/medical-schemes/courier-chronic-pharmacy-models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Coverage is reported two ways — CMS beneficiary counts for absolute numbers, GHS % for population share; always state the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PMB/CDL conditions are a legal funding floor, but each must be registered separately before a chronic script funds richly.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DSP co-pay steering, real-time claims switching and formulary/MMAP rules turn a valid script into the number the member actually pays.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uninsured majority has its public mirror — CCMDD pre-packs chronic meds to &gt;4.9m at external pick-up points.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46904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Takeaway — capture funding status first; pre-adjudicate before commit so co-payments are never a counter surprise.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dia:two-economies-one-spine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58613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3 OF 3 · LOW-BANDWIDTH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Connectivity is solved — affordability is the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Signal reaches almost everyone, but data costs and prepaid rationing mean the experience must be lightweight, async, resumable and WhatsApp/USSD-first.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wiki/consumer-context/digital-access-and-whatsapp · wiki/consumer-context/last-mile-addressing-logistics · src-con-icasa-ict-2025 · src-con-ramp-data-prices · src-con-loadshedding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Coverage is near-universal — the gap is the cost of data and devices, plus digital literacy, not signal.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Small-bundle data carries a poverty premium — those who can only top up in small increments pay the most per MB.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Prepaid dominates and runs to zero balance — USSD and SMS need no data and reach any handset.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Load-shedding degrades connectivity (tower batteries fade beyond ~Stage 4) just when people are home trying to transact.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46904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Takeaway — connectivity is solved, affordability is not; build lightweight, async, resumable, WhatsApp/USSD-first flows.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03720" y="2240280"/>
            <a:ext cx="4754880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unknown visual: omit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03720" y="224028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Sources — the South African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ICASA State of the ICT Sector 2025 (2024 figures) — src-con-icasa-ict-2025 (A)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RAMP data-price index &amp; SA data-cost trend — src-con-ramp-data-prices (B)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5292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Load-shedding scale &amp; network/cold-chain impact — src-con-loadshedding (B)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8211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Andy Gray on SA medicine pricing (SEP/SEPA, Feb 2026) — src-reg-gray-pricing-2026 (B)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1129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CMS schemes &amp; two-economy split, PMB/CDL, DSPs, claims switching, CCMDD — wiki/medical-schemes/*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SEP/§22G, scheduling, e-Rx/telehealth/POPIA — wiki/sa-regulatory/*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Strategic Opportunities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Six pillars for the store of the future — and one that reframes the whole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Six strategic bets — five sharpen the model, one changes the 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Serve both economies on one spine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Insured (~16%) and cash (~84%) are different journeys on one service spine; the cash majority is never a degraded afterthought.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3834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78426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2514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Pharmacy as the health front door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714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Scripting is the entry to an ongoing care relationship, not a one-off transaction; the store + clinic estate is a strategic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9028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43620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7708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Compete on service, not price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908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SEP + capped dispensing fee fix the price; the only durable differentiator is the experience around the drug.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Chronic-medicine flywheel = retention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Proactive managed chronic repeats are the recurring relationship that compounds loyalty and adherence.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834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78426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514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Pharmacist at top-of-licence; automate the toil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6714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Automation, central-fill and telepharmacy absorb mechanics so pharmacists do the clinical, trust-building work.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9028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43620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47708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From prescription fulfilment to treatment orchestration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908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Absorb the coordination patients do today — across prescriber, pharmacy, scheme, stock and delivery — into one system.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S1 · SERVE BOTH ECONOMIES ON ONE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pillar-s1-two-economies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One service spine, two journeys — an insured/scheme flow (claim, co-pay, courier) and a cash/out-of-pocket flow — sharing identity, status and fulfilment.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wiki/consumer-context/two-economy-affordability · wiki/medical-schemes/cash-uninsured-pathway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SA is the most unequal major economy; ~84% are uninsured and pay cash at the margin, where a removed trip, queue or surprise charge is real money, not just convenience.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6035040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SEP + capped dispensing fee make the cash price computable up front — show SEP + fee line-by-line, offer the generic, support cash / instant-EFT / wallet, never card-only.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240280"/>
            <a:ext cx="4846320" cy="36576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dia:two-economies-one-spine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240280"/>
            <a:ext cx="109728" cy="365760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595274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S4 · CHRONIC-MEDICINE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pillar-s4-chronic-flywheel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Register once → auto-dispense on schedule → proactively prompt the refill → deliver or collect → repeat; each turn lowers patient effort and raises stickiness.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wiki/concepts/chronic-medicine-flywheel · wiki/medical-schemes/courier-chronic-pharmacy-models · src-gbl-medadvisor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It is the proven SA model (Pharmacy Direct &gt;1.2m scripts/month; Clicks Direct, Medipost, Dis-Chem Direct) and CCMDD at public scale (&gt;4.9m enrolled) — a managed loop the patient barely touches.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Australia's MedAdvisor is the polished benchmark — a digital script wallet with "tap to refill", reminders and carer mode over the e-script rail (~3.7–4m patients, &gt;95% of AU pharmacies).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S3 · COMPETE ON SERVICE, NOT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pillar-s3-service-not-price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Discounting the medicine is unlawful; competition is on convenience, reliability, transparency and trust — the experience, not the headline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wiki/sa-regulatory/sep-dispensing-fee · wiki/dischem/pharmacy-complaints-pain-points · src-dc-complaints-jan2025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Dis-Chem's Jan-2025 complaints (n=360) are overwhelmingly service, digital and fulfilment failures — broken re-orders, "processed but never arrived", dispensing errors — not price.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The striking "scheduled meds priced differently between stores" complaint is almost certainly a transparency failure under SEP, not a real price gap — i.e. a service fix, not a pricing 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S2 · PHARMACY AS THE HEALTH FRONT DOOR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pillar-s2-front-door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Scripting is the entry point to screening, advice, chronic management and telehealth — an ongoing care relationship, with the physical estate as an integrated health touchpoint.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strategy firms converge on it — McKinsey (~40% want broader clinical services via pharmacy), Bain (≥65% already use pharmacy as a primary point of care; ~74% of Gen Z), Oliver Wyman ("pharmacy services as a strategic asset, not a downstream function").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England's Pharmacy First lets pharmacists assess and supply for 7 conditions without a GP visit — the front-door model under protocol.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S5 · PHARMACIST AT TOP-OF-LICENCE; AUTOMATE THE TOIL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pillar-s5-top-of-licence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Use robots, central-fill and remote pharmacist verification to take the counting/checking toil off the counter; pharmacists move to counselling, chronic management and clinical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wiki/digital-transformation/telepharmacy-and-omnichannel · wiki/ux-service-design/consultancy-pharmacy-research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consultancy and design canon agree (Deloitte, McKinsey, EY); EY cites ~70% of Danish pharmacies using dispensing robots, and telepharmacy studies show no drop in medication-use quality.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Accenture/CCS reported an AI model lifting adherence in targeted high-risk patients by up to ~50% — promising, but vendor-reported.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S6 · FROM FULFILMENT TO ORCHESTRATION — THE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Today the patient is the integration layer between five silos that don't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patient personally carries the coordination tax across prescriber, pharmacy, scheme, stock and delivery — and the strategic move is to absorb that complexity into the system instead.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194560"/>
            <a:ext cx="9262872" cy="356616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dia:fragmentation-vs-orchestration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194560"/>
            <a:ext cx="109728" cy="356616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5815584"/>
            <a:ext cx="92628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Left — fragmentation: prescriber (diagnose/prescribe; at script expiry the journey breaks back out to the prescriber with no orchestration) → pharmacy (opt-in reorder loop) → scheme (PMB registration + claim adjudication) → stock → delivery, with no single owner of a stuck repeat. The patient absorbs the delays, uncertainty, repeat visits, stock surprises, funding shocks and admin. Right — orchestration: one system owns the hand-offs end-to-end; the patient sees one continuous journey.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S6 · FROM PRESCRIPTION FULFILMENT TO TREATMENT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pillar-s6-orchestration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Move from prescription FULFILMENT (hand over a script, dispense a box) to treatment ORCHESTRATION (one system owns the end-to-end journey, the hand-offs, and the recovery when something breaks).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wiki/dischem/dischem-rx-current-journey · wiki/dischem/pharmacy-complaints-pain-points · wiki/concepts/omnichannel-fulfilment · wiki/digital-transformation/interoperability-identity-records · wiki/concepts/chronic-medicine-flywheel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pain is structural, not incidental — the journey "breaks back out to the prescriber with no orchestration" at script expiry, and there is "no single owner of a stuck repeat" across app / WhatsApp / store / call-centre; the patient pays the coordination tax in delays, uncertainty, repeat visits, stock issues, funding surprises and admin.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No one has built end-to-end orchestration for a regulated, multi-funder, low-bandwidth market — it is a direction requiring new capability, with reform-gated steps (pharmacist-initiated renewal, scheme claim-continuity automation, locker dispensing of scheduled meds).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From strategy to the touchpoint — seven UX pillars, proven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How the experience must behave, and where each behaviour has already worked 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seven UX pillars — the design constitution for every touchpoint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deliverables/_shared/pillars.md · design-kit/templates/future-state-principles · wiki/global-benchmarks/patterns-to-borrow-and-cautions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Channel ladder: WhatsApp-first &amp; data-frugal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WhatsApp/USSD/SMS first, app as enhancement; low-data, async, resumable, idempotent by default.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2535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37127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1215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Never leave them guessing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5415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Honest real-time status at every step; the silent wait and unexplained rejection are the primary pains.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61023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5111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Give me all the variables upfront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Surface everything that materially affects the decision before commitment — cost, cover, stock, timing/ETA, alternatives; never spring a surprise (money is the sharpest case, not the whole of it).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0327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4919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9007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Design for graceful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3207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Plain-language recovery, never a dead end, always a route to a pharmacist.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3232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Dignity, privacy &amp; language by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Stigma-aware, discreet, multilingual, POPIA-grade consent; caregivers/proxies are first-class users.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2535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37127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1215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Reduce the journey, don't just digitise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5415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Eliminate steps and re-keying; one profile across channels; measure friction removed, not features shipped.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6431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61023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5111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Adherence-as-design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69" b="0" i="0" u="none">
                <a:solidFill>
                  <a:srgbClr val="52525B"/>
                </a:solidFill>
                <a:latin typeface="Calibri"/>
              </a:rPr>
              <a:t>Effectiveness is lost after dispensing; design the schedule/label and refill loop as a behaviour-change surface.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Every pillar is already buildable — each behaviour maps to a pattern that has shipped abroad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We are not inventing experience principles, we are importing proven mechanisms — so each UX pillar can point to working journey moments and a real overseas precedent, not aspiration.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deliverables/_shared/06-anim-data.js · wiki/global-benchmarks/patterns-to-borrow-and-cautions · wiki/global-benchmarks/australia-chemist-warehouse-escript · wiki/global-benchmarks/amazon-pharmacy-pillpack-deepdive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3698138" cy="457200"/>
          </a:xfrm>
          <a:prstGeom prst="rect">
            <a:avLst/>
          </a:prstGeom>
          <a:solidFill>
            <a:srgbClr val="1A9B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UX pillar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46778" y="2240280"/>
            <a:ext cx="3698138" cy="457200"/>
          </a:xfrm>
          <a:prstGeom prst="rect">
            <a:avLst/>
          </a:prstGeom>
          <a:solidFill>
            <a:srgbClr val="1A9B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Future-state journey moment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4916" y="2240280"/>
            <a:ext cx="3698138" cy="457200"/>
          </a:xfrm>
          <a:prstGeom prst="rect">
            <a:avLst/>
          </a:prstGeom>
          <a:solidFill>
            <a:srgbClr val="1A9B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43891" bIns="43891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Global pattern (precedent)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97480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U1 — WhatsApp-first &amp; data-frugal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46778" y="2697480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WhatsApp-first nudge; USSD/SMS fallback (m1)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44916" y="2697480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"QR token on any phone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U2 — Never leave them guessing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46778" y="3209544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Realistic tracking + QR proof-of-delivery (m6); live ROWA pick status (m5)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4916" y="3209544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NHS App real-time 'Amazon-style' tracking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21608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U3 — Give me all the variables upfront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46778" y="3721608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"Cost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44916" y="3721608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cover &amp; alternatives legible before commit (m3)"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233672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U4 — Design for graceful failure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6778" y="4233672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"Graceful-failure loops; Pelebox locker reroute (m8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4916" y="4233672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m6)"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45736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"U5 — Dignity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6778" y="4745736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privacy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44916" y="4745736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language &amp; proxy"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57800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U6 — Reduce the journey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46778" y="5257800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"Renewal via teleconsult → new e-script token (m9); auto-refill + one household profile (m1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4916" y="5257800"/>
            <a:ext cx="3698138" cy="512064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m2)"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769864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U7 — Adherence-as-design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46778" y="5769864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"ROWA robot pick + adherence dose-pack; hybrid printed instructions (m5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44916" y="5769864"/>
            <a:ext cx="3698138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2525B"/>
                </a:solidFill>
                <a:latin typeface="Calibri"/>
              </a:rPr>
              <a:t>m7)"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HERO PILLAR (RENAMED)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u3-variables-upfront-hero — U3 — Give me all the variables upfront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Surface everything that materially affects the decision BEFORE commitment — cost, funding/cover, stock availability, timing/ETA, alternatives, and anything else that would change the choice — never spring a surprise at the till.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wiki/global-benchmarks/amazon-pharmacy-pillpack-deepdive · wiki/global-benchmarks/usa-cvs-walgreens-amazon · wiki/sa-regulatory/sep-dispensing-fee · deliverables/_shared/06-anim-data.js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Money is the sharpest case, not the whole of it — the trust-breaker is any hidden variable revealed too late (an out-of-stock after the trip, an ETA that slips, a co-pay at the counter), so legibility before commit is the single highest-trust design move and SEP makes the price half of it free.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6035040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Amazon PillPack / Amazon Pharmacy shows insured copay vs cash price side-by-side, the delivery date, and generic alternatives upfront at checkout; Mark Cuban Cost Plus shows a fully itemised cost + markup + fees — both make the variables legible before you pay.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12280" y="2240280"/>
            <a:ext cx="4846320" cy="3657600"/>
          </a:xfrm>
          <a:prstGeom prst="roundRect">
            <a:avLst/>
          </a:prstGeom>
          <a:solidFill>
            <a:srgbClr val="F4F8F5"/>
          </a:solidFill>
          <a:ln w="1905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DIAGRAM PLACEHOLDER</a:t>
            </a:r>
          </a:p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dia:variables-upfront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240280"/>
            <a:ext cx="109728" cy="365760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595274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95000"/>
              </a:lnSpc>
            </a:pPr>
            <a:r>
              <a:rPr sz="850" b="0" i="1" u="none">
                <a:solidFill>
                  <a:srgbClr val="52525B"/>
                </a:solidFill>
                <a:latin typeface="Calibri"/>
              </a:rPr>
              <a:t>WS4 will render this native diagram (see exec-deck/diagrams.md)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GROUNDED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Each pillar earns its place — one proven org example apiece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Every UX pillar already has a working real-world implementation we can point to, so the design constitution is defensible to a sceptical executive, not a designer's wish-list.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wiki/consumer-context/digital-access-and-whatsapp · wiki/global-benchmarks/uk-boots-pharmacy2u-nhs-eps · wiki/global-benchmarks/patterns-to-borrow-and-cautions · wiki/global-benchmarks/australia-chemist-warehouse-escript · wiki/global-benchmarks/amazon-pharmacy-pillpack-deepdive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U1 — WhatsApp is SA's default channel (#1 app, ~99% mobile coverage); USSD/SMS for the low end; India/China platform loops prove the model at scale.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U2 — NHS App: &gt;39m users, real-time "Amazon-style" status (ordered → ready → collected) cuts call-centre load and anxiety.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U4 — Dual prescription verification (India) + AI-triage-before-human with hard guardrails (China bans AI-generated scripts) = graceful, safe failure.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U5 — Australia eScript token is an SMS the patient can forward to a carer; nominated/ASL consent is per-pharmacy and revocable — proxy/caregiver as a first-class user.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U6 — MedAdvisor: a digital script wallet + "tap to refill" so medicine is prepared and ready; new-token-per-repeat removes the re-submit step.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U7 — PillPack pre-sorts daily medicines into per-dose sachets labelled by date and time — the dose, not the bottle, is the unit patients manage.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bets — and the honest open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11091672" cy="347472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Bet 1 — Build one spine, two journeys (S1): a first-class cash path beside the scheme path, never card-only, price legible before commit.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Bet 2 — Own the chronic flywheel (S4): proactive register-once → auto-dispense → refill loop, wired into scheme/DSP rails; out-compete the couriers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Bet 3 — Compete on service (S3): the Jan-2025 complaints are fix-the-seams problems — re-order state, closed-loop tracking, claim transparency, handover checks.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12064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Bet 4 — Free the pharmacist (S5): automate the toil, push to top-of-licence, make the store + clinic estate the health front door (S2).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978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The big bet — Orchestration (S6): absorb the coordination the patient does today into one system; from dispensing a script to owning the treatment journey.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6751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🔮 Needs reform: pharmacist-initiated renewal · scheme claim-continuity automation · locker dispensing of scheduled meds · SAPC clarity on remote verification.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745236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⚠️ Verify before building: vendor-reported adherence/automation figures (Accenture ~50% lift, ~70% Danish robots); insured % base/year; NHI status (in court).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82296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50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500" b="0" i="0" u="none">
                <a:solidFill>
                  <a:srgbClr val="FFFFFF"/>
                </a:solidFill>
                <a:latin typeface="Calibri"/>
              </a:rPr>
              <a:t>Open questions: complaint denominators (rates, not just rankings); SA identity/consent model for an e-script; will NHI adopt FHIR? Build internal EMPI/FHIR regardless.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996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  <a:r>
              <a:rPr sz="850" b="0" i="0" u="none">
                <a:solidFill>
                  <a:srgbClr val="52525B"/>
                </a:solidFill>
                <a:latin typeface="Calibri"/>
              </a:rPr>
              <a:t>    </a:t>
            </a:r>
            <a:r>
              <a:rPr sz="85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Where this comes from — the vault behind the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wiki/dischem/dischem-rx-current-journey — the as-is prescription journey (S6)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374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wiki/dischem/pharmacy-complaints-pain-points — Jan-2025 complaints, segmented (S3, S6)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529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wiki/consumer-context/two-economy-affordability — the ~16/~84 split (S1)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wiki/medical-schemes/cash-uninsured-pathway — what a cash patient pays (S1)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1129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wiki/medical-schemes/courier-chronic-pharmacy-models — the SA chronic loop + CCMDD (S4)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40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wiki/concepts/chronic-medicine-flywheel — the retention engine (S4)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966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wiki/sa-regulatory/sep-dispensing-fee — SEP + capped dispensing fee (S3)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wiki/ux-service-design/consultancy-pharmacy-research — McKinsey/Bain/Oliver Wyman/Deloitte/EY (S2, S5)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52374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wiki/digital-transformation/telepharmacy-and-omnichannel — remote verification, one profile (S5, S6)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8529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wiki/digital-transformation/interoperability-identity-records — internal EMPI + FHIR (S6)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182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wiki/concepts/omnichannel-fulfilment — one order, one profile, store-as-node (S6)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51129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wiki/global-benchmarks/patterns-to-borrow-and-cautions — what transfers to SA (S4, S6)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840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src-dc-complaints-jan2025 — Dis-Chem C4C dataset, n=360 (B-tier, single month)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16966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1050" b="0" i="0" u="none">
                <a:solidFill>
                  <a:srgbClr val="1D1D1D"/>
                </a:solidFill>
                <a:latin typeface="Calibri"/>
              </a:rPr>
              <a:t>src-gbl-medadvisor — Australia adherence-app benchmark (B-tier)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