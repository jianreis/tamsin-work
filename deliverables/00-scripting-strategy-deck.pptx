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Dis-Chem anchor; Bigly Labs concept for review. Footer carries the disclaimer.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spine of the whole deck — Parts 1-2 prove the white space exists; later parts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Firms behind it — Oliver Wyman ("new front door", pharmacy as strategic asset); Deloitte (consolidated health destinations); McKinsey (~40% want clinical services via pharmacy); EY ("digital front door" framing). Global only — direction of travel, not SA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Firms behind it — McKinsey (med-sync + home delivery); Bain (retail-grade convenience/responsiveness expectations); EY (~1 in 10 UK manage repeats digitally — the adoption gap). Global only — direction of travel.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Firms behind it — Deloitte (automation frees clinical time); McKinsey (reallocate pharmacist time from counting to clinical); EY (~70% Danish robots; 81% UK pharmacists considered leaving 2022). Global only — direction of travel.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FLAG — no SA-local consultancy POV exists; this slide explicitly closes Part 1 by reframing all globals as direction of travel and handing off to the SA-specific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IDEO pharmacist-forward / Walgreens Well Experience is the exemplar; frog and Picker's patient-centred principles back the frame. FLAG unverified — IDEO's ~750-store scale is extract-only; cite the mechanism (pharmacist forward, private rooms) as proven, the scale as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frog's efficacy-to-effectiveness frame is the spine; Conn et al. meta-analysis (52 reports, ~22,858 subjects; 71% vs 63%; blister effect ~0.802) is the hard evidence. FLAG unverified — frog's ~70% adherence app result and Accenture/CCS ~50% lift are vendor-reported; cite the mechanism (design lifts adherence) as proven, the numbers as unverified.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Transferable lesson — the artefact is designable; deliver it on whatever channel the patient has. Scale/outcome claims are company-stated (Tier B) but the design pattern is the load-bearing point, not a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Kept strictly to the EXPERIENCE/adherence innovation (date/time dose sachets) — deliberately NOT covering Part 3's market/operating-model material (RxPass economics, scale, PBM rails). PillPack was prototyped with IDEO, reinforcing the design lineage.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Sets the lens for the whole part. Keep funding out — every following slide is about operating model / CX. Germany/UK/US are the "doesn't transfer" foils.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&gt;95% is PHARMACY COVERAGE, not the share of all scripts that are electronic — say so on-slide. A token-by-SMS degrades gracefully to printed-QR/USSD/WhatsApp for SA low-bandwidth. ASL needs a SA-fitted ID model (not AU's 100-points-of-ID).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~75k/day and the HealthCo profit are listed-company disclosures (A-tier); ~31% share and ~7,000 stores are from the e-pharmacy source. 19-min delivery is density-dependent and does NOT transfer across SA geography — borrow the store-as-node mechanism, not the speed promise. PharmEasy = the explicit anti-pattern.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Borrow the loop + the guardrails; reject the platform-scale super-apps and the state-directed insurance plumbing (NHSA wiring by fiat has no SA analogue). Internet-hospital-on-a-physical-hospital is a China-specific construct; SA's HPCSA telehealth rules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Source-confirmed verbatim — NHC supervision rules Feb 2022; reaffirmed Beijing draft Aug 2023. This is the cleanest, most defensible AI/safety guardrail in the deck — AI in front of a human, never instead of one. dia:teleconsult-loop carries the AI-triage to human to pharmacist guardrail visually.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 2026 = max 1.47% (2025 was 5.25%) — Gray/Daily Maverick Feb 2026, B-tier. Dispensing-fee bands are current-indicative; recompute from latest Gazette (exact thresholds flagged unverified in the wiki). SEPA bands are volatile per SPEC §5 — do not hard-code.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Insured % basis VARIES — cite both: ~16% headline / 15.8% GHS 2022 / 9.17m CMS 2024 beneficiaries. NHI is the reform flag — NHI Act signed 2023, paused and in court 2026; design for the status-quo scheme model and monitor. CCMDD &gt;4.9m is the public-sector bridge into retail collection. dia:two-economies-one-spine belongs here (or on a closing Part-4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costs are volatile per SPEC §5 (~R20–R79/GB; RAMP warns of a possible fourth price-increase cycle) — date the figure. WhatsApp exact % (93–96%) is a wide-band signal flagged unverified in the wiki; the load-bearing claim (WhatsApp = #1 channel) is robust. ICASA figures are 2024 reporting year (A-tier).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S6 is the synthesis the other five point at; flag it visually as the hero on the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Date the insured share (~16%, base/year varies 15.8–17.4%). Keep compact — deep dive is S6.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Wire the flywheel into scheme/DSP registration, not bolted on. Treat a lapsed registration or expired repeat as a P1 incident.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 is regulated end-to-end (§22G Medicines Act); use itemised pricing as a trust feature, not a discount lever.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global firms as "direction of travel," not local proof — no SA-local consultancy POV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⚠️ the ~50% adherence lift and ~70% Danish-robot figures are vendor/extract-only. Remote verification + unattended-locker hand-over likely needs SAPC clarity (🔮 see S6 reform list).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deck's pivot. Builder: render the left as five disconnected silos with the patient shuttling between them; right as one spine with a single owner. Quotes "breaks back out to the prescriber with no orchestration" and "no single owner of a stuck repeat" are verbatim from the vault.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HERO slide. Use the EXACT S6 oneLiner from SPEC §6 as so_what (done). The title is the core question, on-slide. 🔮 reform items are honest gaps — flag, don't promise. EMPI/FHIR stance is from interoperability-identity-records (build internal, don't depend on NHI).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Names and one-liners are verbatim from the canonical pillars.md. U3 uses the RENAMED wording per SPEC §6 (was "Make money legible, early, always"). These seven answer HOW the experience must behave; a good blueprint step is defensible from at least one S and one 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 = the North Star deck's nine journey moments (m1–m9 in 06-anim-data.js); right = the 11 transferable global patterns from patterns-to-borrow-and-cautions.md. Borrow the mechanism, reject the foreign funding architecture (no PBM, no single-payer rail). All precedents are "direction of travel" — no SA-local proof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SPEC §6 rename (was "Make money legible, early, always"). Broaden the radial diagram beyond price: Cost · Funding/cover · Stock · Timing/ETA · Alternatives · (and any other decision-material variable). SA's SEP + capped dispensing fee already make the cost spoke natural — lean into it. Anim m3 ("I know the cost and the cover before I commit") is the in-journey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U3 is covered by its own hero slide (PillPack/Cost Plus), so it is intentionally not repeated here. FLAG unverified — NHS App user/order counts, MedAdvisor reach, PillPack scale and Amazon ~99%-pricing-estimate are company/agency-reported; cite the mechanism as proven, the magnitudes as directional. All examples are "direction of travel," not SA-local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four sharpening bets, land on S6 as the strategic pivot, then be explicit about reform-gated and unverified items. Honesty is the point of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Visible vault paths only, no external URLs (per SPEC §5). Consolidated from the former Part 3 / Part 4 source slides so no citation is lost. Full citations live in each wiki page's source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0"/>
            <a:ext cx="73152" cy="685800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46920" y="822960"/>
            <a:ext cx="566928" cy="2651760"/>
          </a:xfrm>
          <a:prstGeom prst="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95360" y="1865376"/>
            <a:ext cx="2651760" cy="566928"/>
          </a:xfrm>
          <a:prstGeom prst="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A9B4A"/>
                </a:solidFill>
                <a:latin typeface="Calibri"/>
              </a:rPr>
              <a:t>BIGLY LABS  × 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0424160" cy="2011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600" b="1" i="0" u="none">
                <a:solidFill>
                  <a:srgbClr val="1D1D1D"/>
                </a:solidFill>
                <a:latin typeface="Calibri"/>
              </a:rPr>
              <a:t>The Scripting Opportunity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600" b="0" i="0" u="none">
                <a:solidFill>
                  <a:srgbClr val="52525B"/>
                </a:solidFill>
                <a:latin typeface="Calibri"/>
              </a:rPr>
              <a:t>A future-state prescription experience for South African retail pharmacy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5029200"/>
            <a:ext cx="7955279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76809" bIns="76809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26E35"/>
                </a:solidFill>
                <a:latin typeface="Calibri"/>
              </a:rPr>
              <a:t>⚠  Concept for review — not an official Dis-Chem artefact.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0" i="0" u="none">
                <a:solidFill>
                  <a:srgbClr val="52525B"/>
                </a:solidFill>
                <a:latin typeface="Calibri"/>
              </a:rPr>
              <a:t>Executive strategy deck for Dis-Chem &amp; Bigly leadership  ·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THE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Everyone has mapped the pharmacy of the future — nobody has built the scripting journey for ours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end-to-end prescription experience for a regulated, multi-funder, low-bandwidth market is unclaimed white space — and that is the opportunity.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wiki/global-benchmarks/patterns-to-borrow-and-cautions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240280"/>
            <a:ext cx="11091672" cy="3749039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60320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Strategy firms own the destination: pharmacy as health front door, top-of-licence, omnichannel.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10128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Design firms own the experience: trust, adherence, the script artefact itself.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059936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Neither connects them into one journey — submit, validate, dispense, pay, collect, deliver, adhere.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09744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None handles SA's reality at once: scheduling law, scheme adjudication, POPIA, WhatsApp/USSD fallback.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559552"/>
            <a:ext cx="1042416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40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400" b="0" i="0" u="none">
                <a:solidFill>
                  <a:srgbClr val="1D1D1D"/>
                </a:solidFill>
                <a:latin typeface="Calibri"/>
              </a:rPr>
              <a:t>The blueprint that fuses all three is the asset no competitor has published.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What global consultancies are predicting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The direction of travel — read as signal, not local 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THEME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pharmacy stops being a counter and becomes the front door to health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If the store is the entry point to a care relationship, the script is the first conversation — not the transaction to optimise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src-consult-oliver-wyman-pharmacy · src-consult-deloitte-future-of-pharmacy · src-consult-mckinsey-retail-pharmacy-future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4572000" cy="2788920"/>
          </a:xfrm>
          <a:prstGeom prst="rect">
            <a:avLst/>
          </a:prstGeom>
          <a:solidFill>
            <a:srgbClr val="FAFBFA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331720"/>
            <a:ext cx="10058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52525B"/>
                </a:solidFill>
                <a:latin typeface="Calibri"/>
              </a:rPr>
              <a:t>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2697480"/>
            <a:ext cx="2560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D1D1D"/>
                </a:solidFill>
                <a:latin typeface="Calibri"/>
              </a:rPr>
              <a:t>Dispensing counter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D1D1D"/>
                </a:solidFill>
                <a:latin typeface="Calibri"/>
              </a:rPr>
              <a:t>one-off transaction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584448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4005072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Hand over script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425696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Pay &amp; leave</a:t>
            </a:r>
          </a:p>
        </p:txBody>
      </p:sp>
      <p:sp>
        <p:nvSpPr>
          <p:cNvPr id="18" name="Chevron 17"/>
          <p:cNvSpPr/>
          <p:nvPr/>
        </p:nvSpPr>
        <p:spPr>
          <a:xfrm>
            <a:off x="5285232" y="3246120"/>
            <a:ext cx="868680" cy="640080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5330952" cy="2788920"/>
          </a:xfrm>
          <a:prstGeom prst="rect">
            <a:avLst/>
          </a:prstGeom>
          <a:solidFill>
            <a:srgbClr val="E8F5EC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55664" y="2331720"/>
            <a:ext cx="17373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THE FRONT DOOR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706624"/>
            <a:ext cx="2286000" cy="56692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Ongoing care relationship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040880" y="3273552"/>
            <a:ext cx="2331720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46520" y="3584448"/>
            <a:ext cx="1188720" cy="42062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Screening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93608" y="3273552"/>
            <a:ext cx="1078992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3584448"/>
            <a:ext cx="1188720" cy="42062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Advice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72600" y="3273552"/>
            <a:ext cx="173736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51976" y="3584448"/>
            <a:ext cx="1188720" cy="42062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Chronic management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72600" y="3273552"/>
            <a:ext cx="1426464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204704" y="3584448"/>
            <a:ext cx="1188720" cy="42062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Telehealth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8823960" y="3273552"/>
            <a:ext cx="548640" cy="1042416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29600" y="4151376"/>
            <a:ext cx="1188720" cy="42062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Behaviour change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074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~40% of consumers want broader clinical services via the pharmacy — direction of travel.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THEME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store becomes a fulfilment node — one regimen, many channels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Winning means meeting the patient on whichever channel they choose, with the store as the omnichannel hub behind all of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src-consult-mckinsey-pharmacy-home · src-consult-bain-front-line-healthcare · src-consult-ey-pharmacy-innovation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2606040"/>
            <a:ext cx="3017520" cy="128016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The store as fulfilment node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one inventory · one record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31720"/>
            <a:ext cx="2377440" cy="5669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WhatsApp / USSD / SMS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017520" y="2615184"/>
            <a:ext cx="1554480" cy="630936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3154680"/>
            <a:ext cx="2377440" cy="5669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App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017520" y="3246120"/>
            <a:ext cx="1554480" cy="192024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977639"/>
            <a:ext cx="2377440" cy="5669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Walk-in / counter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017520" y="3246120"/>
            <a:ext cx="1554480" cy="1014983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0080" y="4590288"/>
            <a:ext cx="39319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channel ladder — meet them where they are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2331720"/>
            <a:ext cx="2606040" cy="56692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Collect in store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589520" y="2615184"/>
            <a:ext cx="1005840" cy="630936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595360" y="3154680"/>
            <a:ext cx="2606040" cy="566928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Home delivery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89520" y="3246120"/>
            <a:ext cx="1005840" cy="192024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595360" y="3977639"/>
            <a:ext cx="2606040" cy="566928"/>
          </a:xfrm>
          <a:prstGeom prst="roundRect">
            <a:avLst/>
          </a:prstGeom>
          <a:solidFill>
            <a:srgbClr val="BFE3CF"/>
          </a:solidFill>
          <a:ln w="19050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🔮 Locker / pickup point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0" y="3246120"/>
            <a:ext cx="1005840" cy="1014983"/>
          </a:xfrm>
          <a:prstGeom prst="bentConnector3">
            <a:avLst/>
          </a:prstGeom>
          <a:ln w="1587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595360" y="4590288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B06A00"/>
                </a:solidFill>
                <a:latin typeface="Calibri"/>
              </a:rPr>
              <a:t>scheduled-med lockers need reform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956048"/>
            <a:ext cx="11091672" cy="475488"/>
          </a:xfrm>
          <a:prstGeom prst="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D1D1D"/>
                </a:solidFill>
                <a:latin typeface="Calibri"/>
              </a:rPr>
              <a:t>The convenience bar is set by retail (Sixty60), not other pharmacies · only ~1 in 10 UK patients manage repeats digitally — the adoption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THEME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Automate the toil so the pharmacist works at top-of-licence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Robots should absorb the counting and checking; the scarce pharmacist hour should buy the clinical and trust work machines cannot.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src-consult-deloitte-future-of-pharmacy · src-consult-ey-pharmacy-innovation · src-consult-mckinsey-retail-pharmacy-future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86000"/>
            <a:ext cx="868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TODAY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2240280"/>
            <a:ext cx="6400800" cy="777240"/>
          </a:xfrm>
          <a:prstGeom prst="rect">
            <a:avLst/>
          </a:prstGeom>
          <a:solidFill>
            <a:srgbClr val="525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Counting · checking · admin (toil)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2240280"/>
            <a:ext cx="2743200" cy="777240"/>
          </a:xfrm>
          <a:prstGeom prst="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1D1D1D"/>
                </a:solidFill>
                <a:latin typeface="Calibri"/>
              </a:rPr>
              <a:t>Clinical · counselling</a:t>
            </a:r>
          </a:p>
        </p:txBody>
      </p:sp>
      <p:sp>
        <p:nvSpPr>
          <p:cNvPr id="15" name="Chevron 14"/>
          <p:cNvSpPr/>
          <p:nvPr/>
        </p:nvSpPr>
        <p:spPr>
          <a:xfrm>
            <a:off x="5760720" y="3127248"/>
            <a:ext cx="457200" cy="384048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163824"/>
            <a:ext cx="45720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u="none">
                <a:solidFill>
                  <a:srgbClr val="126E35"/>
                </a:solidFill>
                <a:latin typeface="Calibri"/>
              </a:rPr>
              <a:t>automation + AI absorb the toil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03320"/>
            <a:ext cx="86868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26E35"/>
                </a:solidFill>
                <a:latin typeface="Calibri"/>
              </a:rPr>
              <a:t>FUTURE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3657600"/>
            <a:ext cx="2286000" cy="777240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2525B"/>
                </a:solidFill>
                <a:latin typeface="Calibri"/>
              </a:rPr>
              <a:t>Automated dispense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39" y="3657600"/>
            <a:ext cx="6858000" cy="77724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Manage chronic disease · counsel · top-of-licence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548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~70% of Danish community pharmacies already run dispensing robots · but 81% of UK pharmacists considered leaving in 2022 — the workforce is the live risk.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DIRECTION OF TRAVEL ·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firms agree on the destination — none has drawn the map for our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We can borrow the vision wholesale, but the journey, the funding plumbing and the low-bandwidth reality are ours to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src-consult-bain-beyond-the-pill · src-consult-oliver-wyman-pharmacy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240280"/>
            <a:ext cx="4572000" cy="2788920"/>
          </a:xfrm>
          <a:prstGeom prst="rect">
            <a:avLst/>
          </a:prstGeom>
          <a:solidFill>
            <a:srgbClr val="FAFBFA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331720"/>
            <a:ext cx="10058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52525B"/>
                </a:solidFill>
                <a:latin typeface="Calibri"/>
              </a:rPr>
              <a:t>TODAY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2697480"/>
            <a:ext cx="256032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D1D1D"/>
                </a:solidFill>
                <a:latin typeface="Calibri"/>
              </a:rPr>
              <a:t>Dispensing counter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D1D1D"/>
                </a:solidFill>
                <a:latin typeface="Calibri"/>
              </a:rPr>
              <a:t>one-off transaction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584448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4005072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Hand over script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4425696"/>
            <a:ext cx="2926080" cy="347472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Pay &amp; leave</a:t>
            </a:r>
          </a:p>
        </p:txBody>
      </p:sp>
      <p:sp>
        <p:nvSpPr>
          <p:cNvPr id="18" name="Chevron 17"/>
          <p:cNvSpPr/>
          <p:nvPr/>
        </p:nvSpPr>
        <p:spPr>
          <a:xfrm>
            <a:off x="5285232" y="3246120"/>
            <a:ext cx="868680" cy="640080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5330952" cy="2788920"/>
          </a:xfrm>
          <a:prstGeom prst="rect">
            <a:avLst/>
          </a:prstGeom>
          <a:solidFill>
            <a:srgbClr val="E8F5EC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55664" y="2331720"/>
            <a:ext cx="17373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THE FRONT DOOR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2706624"/>
            <a:ext cx="2286000" cy="56692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Ongoing care relationship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040880" y="3273552"/>
            <a:ext cx="2331720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46520" y="3584448"/>
            <a:ext cx="1188720" cy="42062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Screening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293608" y="3273552"/>
            <a:ext cx="1078992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99248" y="3584448"/>
            <a:ext cx="1188720" cy="42062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Advice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72600" y="3273552"/>
            <a:ext cx="173736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951976" y="3584448"/>
            <a:ext cx="1188720" cy="42062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Chronic management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72600" y="3273552"/>
            <a:ext cx="1426464" cy="475487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10204704" y="3584448"/>
            <a:ext cx="1188720" cy="42062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Telehealth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8823960" y="3273552"/>
            <a:ext cx="548640" cy="1042416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229600" y="4151376"/>
            <a:ext cx="1188720" cy="420624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Behaviour change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074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~40% of consumers want broader clinical services via the pharmacy — direction of travel.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What design firms teach us about the experience of scripting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From the front-door vision to the craft at the touchpoint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Trust is the product — design the pharmacist relationship, not just the queue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scripting moment is where dignity and trust are won or lost, so the human relationship is the thing to design for, not the throughput.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wiki/ux-service-design/healthcare-service-design-patterns · src-consult-ideo-walgreens-pharmacy · src-ux-picker-patient-centred-care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Bring the pharmacist forward — out from behind the counter, with private consultation space.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Honour Picker's principles: information, emotional support, continuity, access, respect for preferences.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Design for the caregiver as a co-user — SA's proxy and household-collection norm is the default, not the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Discreet by default — "your order is ready", never "your ARV is ready".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99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Adherence is a design problem, and the label is the design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medicine only works if it is taken, so the experience after dispensing — and the artefact in the patient's hand — is where real-world value is created or lost.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wiki/dispensing-practice/adherence-packaging · src-disp-conn-packaging-meta · src-consult-frog-pharma-experience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2011680"/>
            <a:ext cx="1645920" cy="27432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37360" y="2121408"/>
            <a:ext cx="2194560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 u="none">
                <a:solidFill>
                  <a:srgbClr val="126E35"/>
                </a:solidFill>
                <a:latin typeface="Calibri"/>
              </a:rPr>
              <a:t>Efficacy</a:t>
            </a:r>
          </a:p>
          <a:p>
            <a:pPr algn="ctr">
              <a:lnSpc>
                <a:spcPct val="100000"/>
              </a:lnSpc>
            </a:pPr>
            <a:r>
              <a:rPr sz="900" b="0" i="0" u="none">
                <a:solidFill>
                  <a:srgbClr val="52525B"/>
                </a:solidFill>
                <a:latin typeface="Calibri"/>
              </a:rPr>
              <a:t>what the drug can 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2743200"/>
            <a:ext cx="1645920" cy="2011680"/>
          </a:xfrm>
          <a:prstGeom prst="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2286000"/>
            <a:ext cx="2194560" cy="42062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 u="none">
                <a:solidFill>
                  <a:srgbClr val="1D1D1D"/>
                </a:solidFill>
                <a:latin typeface="Calibri"/>
              </a:rPr>
              <a:t>Effectiveness</a:t>
            </a:r>
          </a:p>
          <a:p>
            <a:pPr algn="ctr">
              <a:lnSpc>
                <a:spcPct val="100000"/>
              </a:lnSpc>
            </a:pPr>
            <a:r>
              <a:rPr sz="900" b="0" i="0" u="none">
                <a:solidFill>
                  <a:srgbClr val="52525B"/>
                </a:solidFill>
                <a:latin typeface="Calibri"/>
              </a:rPr>
              <a:t>what it does in real life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2011680"/>
            <a:ext cx="45720" cy="731519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2011680"/>
            <a:ext cx="365760" cy="41148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2702052"/>
            <a:ext cx="365760" cy="41148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377440"/>
            <a:ext cx="4480560" cy="1280160"/>
          </a:xfrm>
          <a:prstGeom prst="roundRect">
            <a:avLst/>
          </a:prstGeom>
          <a:solidFill>
            <a:srgbClr val="E8F5EC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26E35"/>
                </a:solidFill>
                <a:latin typeface="Calibri"/>
              </a:rPr>
              <a:t>This gap = adherence</a:t>
            </a:r>
          </a:p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1D1D1D"/>
                </a:solidFill>
                <a:latin typeface="Calibri"/>
              </a:rPr>
              <a:t>the experience after dispensing — the artefact in the patient's hand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11091672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Adherence packaging: 71% vs 63% (blister strongest, meta-analytic) — works best pharmacy-delivered &amp; contact-rich.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38928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B06A00"/>
                </a:solidFill>
                <a:latin typeface="Calibri"/>
              </a:rPr>
              <a:t>⚠ vendor app/lift figures unverified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199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script-artefact — CVS ScriptPath — the script artefact, redesigned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One icon-driven medication schedule plus a redesigned bottle label that replaces a pile of separate prescriptions with a single legible picture of when to take everything.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src-consult-cvs-scriptpath-adler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label is the highest-leverage, lowest-cost adherence surface — and an icon-led, multilingual schedule is exactly what SA's low-literacy, polypharmacy population needs across paper, SMS, WhatsApp or app.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Designed by Deborah Adler (creator of Target's ClearRx); consolidates timing and dosing into easy-to-understand icons for polypharmacy patients and caregivers.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CVS ScriptPath — the script artefact, redesigned — the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One icon-driven medication schedule plus a redesigned bottle label that replaces a pile of separate prescriptions with a single legible picture of when to take everything.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 · src-consult-cvs-scriptpath-adler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20440" y="2240280"/>
            <a:ext cx="512064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2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75304" y="2295144"/>
            <a:ext cx="5010912" cy="438912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YOUR DAY  </a:t>
            </a:r>
            <a:r>
              <a:rPr sz="900" b="0" i="0">
                <a:solidFill>
                  <a:srgbClr val="E8F5EC"/>
                </a:solidFill>
                <a:latin typeface="Calibri"/>
              </a:rPr>
              <a:t>⊕ Dis-Chem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75304" y="2788920"/>
            <a:ext cx="50109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8755" bIns="98755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D1D1D"/>
                </a:solidFill>
                <a:latin typeface="Calibri"/>
              </a:rPr>
              <a:t>☀  Morning — 2 tablets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75304" y="3191256"/>
            <a:ext cx="5010912" cy="402336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8755" bIns="98755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D1D1D"/>
                </a:solidFill>
                <a:latin typeface="Calibri"/>
              </a:rPr>
              <a:t>⛅  Midday — 1 tablet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75304" y="3593592"/>
            <a:ext cx="5010912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8755" bIns="98755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D1D1D"/>
                </a:solidFill>
                <a:latin typeface="Calibri"/>
              </a:rPr>
              <a:t>🌆  Evening — 1 tablet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75304" y="3995928"/>
            <a:ext cx="5010912" cy="402336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8755" bIns="98755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D1D1D"/>
                </a:solidFill>
                <a:latin typeface="Calibri"/>
              </a:rPr>
              <a:t>🌙  Night — 1 tablet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75304" y="4416552"/>
            <a:ext cx="5010912" cy="347472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One picture of the whole regimen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331720"/>
            <a:ext cx="2468880" cy="54864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Icon-led — works at low literacy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08960" y="2606040"/>
            <a:ext cx="411480" cy="41148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40080" y="3611880"/>
            <a:ext cx="2468880" cy="54864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Multilingual by default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108960" y="3794760"/>
            <a:ext cx="411480" cy="9144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915400" y="2606040"/>
            <a:ext cx="2697480" cy="64008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Same artefact on paper · SMS · WhatsApp · app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641080" y="2926080"/>
            <a:ext cx="274320" cy="9144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Pattern: CVS ScriptPath (Deborah Adler, creator of Target ClearRx) — consolidates timing &amp; dosing for polypharmacy.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EXPERIENCE · THEME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PillPack proves the dose, not the bottle, is the unit patients can manage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Organising medicines by the moment they are taken — not by the box they came in — is the adherence innovation worth borrowing, separate from the operating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wiki/global-benchmarks/amazon-pharmacy-pillpack-deepdive · src-gbl-amazon-pharmacy · src-disp-conn-packaging-meta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PillPack pre-sorts a patient's daily medicines into per-dose sachets labelled by date and time.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16936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One roll replaces six bottles — the regimen, not the package, becomes the unit of management.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593592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The mechanism is lawful in SA under unit-dose rules; the subscription pricing is not.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270248"/>
            <a:ext cx="594360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2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250" b="0" i="0" u="none">
                <a:solidFill>
                  <a:srgbClr val="1D1D1D"/>
                </a:solidFill>
                <a:latin typeface="Calibri"/>
              </a:rPr>
              <a:t>Pair packaging with pharmacist contact — the evidence rewards contact-rich, not packaging alone.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2276" y="2194560"/>
            <a:ext cx="23977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edicine-cabin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996" y="2240280"/>
            <a:ext cx="2306328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What we can learn from overseas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Borrow the mechanisms — operating models and CX — not the funding architectures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FRAMING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Australia, India and China are the right teachers — because they share our 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Read overseas markets for the mechanism, not the money: the markets that fit ours are the ones that already assume mixed funding, cash payers, store estates and pragmatic verification.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wiki/global-benchmarks/_index · wiki/global-benchmarks/patterns-to-borrow-and-cautions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94560"/>
            <a:ext cx="2194560" cy="566928"/>
          </a:xfrm>
          <a:prstGeom prst="rect">
            <a:avLst/>
          </a:prstGeom>
          <a:solidFill>
            <a:srgbClr val="126E3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34639" y="2194560"/>
            <a:ext cx="2171700" cy="566928"/>
          </a:xfrm>
          <a:prstGeom prst="rect">
            <a:avLst/>
          </a:prstGeom>
          <a:solidFill>
            <a:srgbClr val="126E3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Mixed funding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E8F5EC"/>
                </a:solidFill>
                <a:latin typeface="Calibri"/>
              </a:rPr>
              <a:t>no single payer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6340" y="2194560"/>
            <a:ext cx="2171700" cy="566928"/>
          </a:xfrm>
          <a:prstGeom prst="rect">
            <a:avLst/>
          </a:prstGeom>
          <a:solidFill>
            <a:srgbClr val="126E3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Cash patients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E8F5EC"/>
                </a:solidFill>
                <a:latin typeface="Calibri"/>
              </a:rPr>
              <a:t>cash-pay is normal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2194560"/>
            <a:ext cx="2171700" cy="566928"/>
          </a:xfrm>
          <a:prstGeom prst="rect">
            <a:avLst/>
          </a:prstGeom>
          <a:solidFill>
            <a:srgbClr val="126E3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Store as asset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E8F5EC"/>
                </a:solidFill>
                <a:latin typeface="Calibri"/>
              </a:rPr>
              <a:t>dense estate = node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49740" y="2194560"/>
            <a:ext cx="2171700" cy="566928"/>
          </a:xfrm>
          <a:prstGeom prst="rect">
            <a:avLst/>
          </a:prstGeom>
          <a:solidFill>
            <a:srgbClr val="126E3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FFFFFF"/>
                </a:solidFill>
                <a:latin typeface="Calibri"/>
              </a:rPr>
              <a:t>Pragmatic verification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E8F5EC"/>
                </a:solidFill>
                <a:latin typeface="Calibri"/>
              </a:rPr>
              <a:t>no national e-Rx rail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761488"/>
            <a:ext cx="2194560" cy="370332"/>
          </a:xfrm>
          <a:prstGeom prst="rect">
            <a:avLst/>
          </a:prstGeom>
          <a:solidFill>
            <a:srgbClr val="E8F5EC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Australia</a:t>
            </a:r>
          </a:p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Highest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39" y="2761488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783329" y="2809494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6340" y="2761488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955029" y="2809494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8040" y="2761488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126729" y="2809494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49740" y="2761488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98430" y="2809494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131820"/>
            <a:ext cx="2194560" cy="370332"/>
          </a:xfrm>
          <a:prstGeom prst="rect">
            <a:avLst/>
          </a:prstGeom>
          <a:solidFill>
            <a:srgbClr val="E8F5EC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India</a:t>
            </a:r>
          </a:p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High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39" y="3131820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83329" y="3179826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06340" y="3131820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55029" y="3179826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78040" y="3131820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6729" y="3179826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49740" y="3131820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298430" y="3179826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502152"/>
            <a:ext cx="2194560" cy="370332"/>
          </a:xfrm>
          <a:prstGeom prst="rect">
            <a:avLst/>
          </a:prstGeom>
          <a:solidFill>
            <a:srgbClr val="BFE3CF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China</a:t>
            </a:r>
          </a:p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High — loop+guardrails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34639" y="3502152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783329" y="3550158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6340" y="3502152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955029" y="3550158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3502152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6729" y="3550158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49740" y="3502152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98430" y="3550158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" y="3872484"/>
            <a:ext cx="2194560" cy="370332"/>
          </a:xfrm>
          <a:prstGeom prst="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UK</a:t>
            </a:r>
          </a:p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2525B"/>
                </a:solidFill>
                <a:latin typeface="Calibri"/>
              </a:rPr>
              <a:t>Medium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34639" y="3872484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83329" y="3883913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 u="none">
                <a:solidFill>
                  <a:srgbClr val="52525B"/>
                </a:solidFill>
                <a:latin typeface="Calibri"/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06340" y="3872484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55029" y="3883913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 u="none">
                <a:solidFill>
                  <a:srgbClr val="52525B"/>
                </a:solidFill>
                <a:latin typeface="Calibri"/>
              </a:rPr>
              <a:t>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178040" y="3872484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126729" y="3920489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49740" y="3872484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298430" y="3920489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4242816"/>
            <a:ext cx="2194560" cy="370332"/>
          </a:xfrm>
          <a:prstGeom prst="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US</a:t>
            </a:r>
          </a:p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2525B"/>
                </a:solidFill>
                <a:latin typeface="Calibri"/>
              </a:rPr>
              <a:t>Lowest — features only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34639" y="4242816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83329" y="4254246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 u="none">
                <a:solidFill>
                  <a:srgbClr val="52525B"/>
                </a:solidFill>
                <a:latin typeface="Calibri"/>
              </a:rPr>
              <a:t>✗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06340" y="4242816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55029" y="4254246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 u="none">
                <a:solidFill>
                  <a:srgbClr val="52525B"/>
                </a:solidFill>
                <a:latin typeface="Calibri"/>
              </a:rPr>
              <a:t>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78040" y="4242816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126729" y="4290822"/>
            <a:ext cx="274320" cy="274320"/>
          </a:xfrm>
          <a:prstGeom prst="ellipse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349740" y="4242816"/>
            <a:ext cx="2171700" cy="370332"/>
          </a:xfrm>
          <a:prstGeom prst="rect">
            <a:avLst/>
          </a:prstGeom>
          <a:solidFill>
            <a:srgbClr val="FFFFFF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298430" y="4254246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 u="none">
                <a:solidFill>
                  <a:srgbClr val="52525B"/>
                </a:solidFill>
                <a:latin typeface="Calibri"/>
              </a:rPr>
              <a:t>–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" y="4613148"/>
            <a:ext cx="2194560" cy="370332"/>
          </a:xfrm>
          <a:prstGeom prst="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D1D1D"/>
                </a:solidFill>
                <a:latin typeface="Calibri"/>
              </a:rPr>
              <a:t>Germany / EU</a:t>
            </a:r>
          </a:p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52525B"/>
                </a:solidFill>
                <a:latin typeface="Calibri"/>
              </a:rPr>
              <a:t>Medium — as warning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834639" y="4613148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783329" y="4624578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 u="none">
                <a:solidFill>
                  <a:srgbClr val="52525B"/>
                </a:solidFill>
                <a:latin typeface="Calibri"/>
              </a:rPr>
              <a:t>✗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06340" y="4613148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55029" y="4624578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 u="none">
                <a:solidFill>
                  <a:srgbClr val="52525B"/>
                </a:solidFill>
                <a:latin typeface="Calibri"/>
              </a:rPr>
              <a:t>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178040" y="4613148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26729" y="4624578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 u="none">
                <a:solidFill>
                  <a:srgbClr val="52525B"/>
                </a:solidFill>
                <a:latin typeface="Calibri"/>
              </a:rPr>
              <a:t>✗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349740" y="4613148"/>
            <a:ext cx="2171700" cy="370332"/>
          </a:xfrm>
          <a:prstGeom prst="rect">
            <a:avLst/>
          </a:prstGeom>
          <a:solidFill>
            <a:srgbClr val="F4F8F5"/>
          </a:solidFill>
          <a:ln w="635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298430" y="4624578"/>
            <a:ext cx="274320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300" b="1" i="0" u="none">
                <a:solidFill>
                  <a:srgbClr val="52525B"/>
                </a:solidFill>
                <a:latin typeface="Calibri"/>
              </a:rPr>
              <a:t>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504748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Borrow mechanisms, reject funding architectures · all figures company/agency-reported — directional.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BEST FIT FOR 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Australia — a QR token the patient owns, scannable at any pharmacy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scan-to-retrieve token (no PIN, any phone) with a fresh code per repeat gives SA a low-friction e-script design with anti-double-dispense baked 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wiki/global-benchmarks/australia-chemist-warehouse-escript · wiki/concepts/e-prescription-token · src-gbl-australia-escript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KEY 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06040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06040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First e-script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35224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6 May 2020 (Anglesea, VIC)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55848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429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E-scripts issued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68503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~360m by 30 Jun 2025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05656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05656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78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Pharmacy coverage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43484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&gt;95% (coverage ≠ volume)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55464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855464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92861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Redemption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18464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QR token by SMS/email, no PIN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240280"/>
            <a:ext cx="59253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HOW THE LOOP RUNS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606040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Token is a key/pointer to an encrypted script store — patient shows it at any pharmacy to unlock and dispense.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172968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A new token is issued after each repeat is dispensed — built-in anti-double-dispense control.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739896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Because it is just an SMS/email, the token can be forwarded to a carer — strong accessibility.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306824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Active Script List is an opt-in, per-pharmacy, revocable managed list — token and list, patient chooses.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BEST FIT FOR 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Australia — a QR token the patient owns, scannable at any pharmacy — how the loop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scan-to-retrieve token (no PIN, any phone) with a fresh code per repeat gives SA a low-friction e-script design with anti-double-dispense baked 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wiki/global-benchmarks/australia-chemist-warehouse-escript · wiki/concepts/e-prescription-token · src-gbl-australia-escript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21408"/>
            <a:ext cx="2194560" cy="713232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Token issued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SMS / email · no PIN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798064"/>
            <a:ext cx="2194560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26E35"/>
                </a:solidFill>
                <a:latin typeface="Calibri"/>
              </a:rPr>
              <a:t>Scan at any pharmacy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any phone · forwardable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666744"/>
            <a:ext cx="2194560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Dispense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94560" y="2798064"/>
            <a:ext cx="2194560" cy="713232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26E35"/>
                </a:solidFill>
                <a:latin typeface="Calibri"/>
              </a:rPr>
              <a:t>New token per repeat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anti-double-dispense built in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9360" y="2423160"/>
            <a:ext cx="1280160" cy="374904"/>
          </a:xfrm>
          <a:prstGeom prst="bentConnector3">
            <a:avLst/>
          </a:prstGeom>
          <a:ln w="1905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6309360" y="3511296"/>
            <a:ext cx="1280160" cy="374904"/>
          </a:xfrm>
          <a:prstGeom prst="bentConnector3">
            <a:avLst/>
          </a:prstGeom>
          <a:ln w="1905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3383280" y="3511296"/>
            <a:ext cx="1280160" cy="374904"/>
          </a:xfrm>
          <a:prstGeom prst="bentConnector3">
            <a:avLst/>
          </a:prstGeom>
          <a:ln w="1905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3383280" y="2423160"/>
            <a:ext cx="1280160" cy="374904"/>
          </a:xfrm>
          <a:prstGeom prst="bentConnector3">
            <a:avLst/>
          </a:prstGeom>
          <a:ln w="31750">
            <a:solidFill>
              <a:srgbClr val="B5D33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0" y="3008376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e-script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617720"/>
            <a:ext cx="15544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u="none">
                <a:solidFill>
                  <a:srgbClr val="126E35"/>
                </a:solidFill>
                <a:latin typeface="Calibri"/>
              </a:rPr>
              <a:t>Parallel option: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03120" y="4590288"/>
            <a:ext cx="2971800" cy="502920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2525B"/>
                </a:solidFill>
                <a:latin typeface="Calibri"/>
              </a:rPr>
              <a:t>Register once (Active Script List)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79" y="4590288"/>
            <a:ext cx="2971800" cy="502920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2525B"/>
                </a:solidFill>
                <a:latin typeface="Calibri"/>
              </a:rPr>
              <a:t>consent per pharmacy (revocable)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84064" y="4846320"/>
            <a:ext cx="118872" cy="0"/>
          </a:xfrm>
          <a:prstGeom prst="bentConnector3">
            <a:avLst/>
          </a:prstGeom>
          <a:ln w="12700">
            <a:solidFill>
              <a:srgbClr val="52525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8321040" y="4590288"/>
            <a:ext cx="2971800" cy="502920"/>
          </a:xfrm>
          <a:prstGeom prst="roundRect">
            <a:avLst/>
          </a:prstGeom>
          <a:solidFill>
            <a:srgbClr val="F4F8F5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2525B"/>
                </a:solidFill>
                <a:latin typeface="Calibri"/>
              </a:rPr>
              <a:t>all scripts in one managed list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193023" y="4846320"/>
            <a:ext cx="118873" cy="0"/>
          </a:xfrm>
          <a:prstGeom prst="bentConnector3">
            <a:avLst/>
          </a:prstGeom>
          <a:ln w="12700">
            <a:solidFill>
              <a:srgbClr val="52525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193792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Offer token AND list — let the patient choose · SA needs a printed-QR / USSD / WhatsApp fallback.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EMERGING-MARKET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India — turn the store estate into fulfilment nodes, and verify pragmatically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India shows the omnichannel/anchored model wins over venture-subsidised pure-play, and that dual verification bridges the gap where no national e-script rail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wiki/global-benchmarks/india-pharmeasy-apollo-tata1mg · src-gbl-india-epharmacy · src-gbl-apollo-247-results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KEY 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06040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06040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Apollo 24|7 orders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35224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~75k/day (Q3 FY25)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55848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429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Apollo Pharmacy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68503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~7,000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05656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05656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78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Metro delivery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43484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~19 min (density-dependent)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55464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855464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92861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Tata 1mg share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18464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~31% (overtook PharmEasy)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240280"/>
            <a:ext cx="59253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HOW THE LOOP RUNS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606040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Core loop — teleconsult to e-prescription to order to deliver, fulfilled from physical stores used as dark stores.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172968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Dual verification — photo upload to pharmacist digital review to phone confirm to physical check at dispense.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739896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Apollo HealthCo swung to profit on the omnichannel model; PharmEasy's pure-play collapsed (cautionary tale).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306824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Telemedicine Practice Guidelines 2020 are the legal hinge that let a doctor issue a dispensable e-prescription.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EMERGING-MARKET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India — turn the store estate into fulfilment nodes, and verify pragmatically — how the loop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India shows the omnichannel/anchored model wins over venture-subsidised pure-play, and that dual verification bridges the gap where no national e-script rail exists.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wiki/global-benchmarks/india-pharmeasy-apollo-tata1mg · src-gbl-india-epharmacy · src-gbl-apollo-247-results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2377440" cy="109728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AI triage / intake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structured questions</a:t>
            </a:r>
          </a:p>
        </p:txBody>
      </p:sp>
      <p:sp>
        <p:nvSpPr>
          <p:cNvPr id="13" name="Chevron 12"/>
          <p:cNvSpPr/>
          <p:nvPr/>
        </p:nvSpPr>
        <p:spPr>
          <a:xfrm>
            <a:off x="3054096" y="2926079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01568" y="2542032"/>
            <a:ext cx="2377440" cy="109728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Human clinician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diagnoses &amp; e-signs the Rx</a:t>
            </a:r>
          </a:p>
        </p:txBody>
      </p:sp>
      <p:sp>
        <p:nvSpPr>
          <p:cNvPr id="15" name="Chevron 14"/>
          <p:cNvSpPr/>
          <p:nvPr/>
        </p:nvSpPr>
        <p:spPr>
          <a:xfrm>
            <a:off x="5815584" y="2926079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63056" y="2542032"/>
            <a:ext cx="2377440" cy="109728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Pharmacist review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clinical check</a:t>
            </a:r>
          </a:p>
        </p:txBody>
      </p:sp>
      <p:sp>
        <p:nvSpPr>
          <p:cNvPr id="17" name="Chevron 16"/>
          <p:cNvSpPr/>
          <p:nvPr/>
        </p:nvSpPr>
        <p:spPr>
          <a:xfrm>
            <a:off x="8577072" y="2926079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24544" y="2542032"/>
            <a:ext cx="2377440" cy="109728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Dispense &amp; deliver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to collect or door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24544" y="2523744"/>
            <a:ext cx="2377440" cy="9144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44584" y="2157984"/>
            <a:ext cx="1737360" cy="292608"/>
          </a:xfrm>
          <a:prstGeom prst="round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store-as-node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576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u="none">
                <a:solidFill>
                  <a:srgbClr val="126E35"/>
                </a:solidFill>
                <a:latin typeface="Calibri"/>
              </a:rPr>
              <a:t>GUARDRAILS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⛔ No AI-generated prescriptions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41648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🛡 No first-visit-online — follow-up / chronic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43216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🛡 Pharmacist review is non-delegable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China bans AI-generated Rx and enforces 'prescription first, drug second' — a defensible AI/safety stance for SA.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MOST FULLY-REALISED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China — the regulated internet hospital and O2O nearest-store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China proves the full teleconsult-to-deliver loop works only on top of deliberate regulation — licensing, non-delegable pharmacist review, and follow-up-only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wiki/global-benchmarks/china-pingan-alibaba-jdhealth · src-gbl-china-internet-hospitals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KEY FACTS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06040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06040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79192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Internet hospital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35224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must be based on a licensed physical hospital (2018)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355848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42900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Online care scope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685032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follow-up/chronic only — no first visit online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105656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105656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7880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Fulfilment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434840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O2O routing to nearest store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855464"/>
            <a:ext cx="493776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855464"/>
            <a:ext cx="91440" cy="65836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928616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Platforms at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184648"/>
            <a:ext cx="448056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300" b="1" i="0" u="none">
                <a:solidFill>
                  <a:srgbClr val="126E35"/>
                </a:solidFill>
                <a:latin typeface="Calibri"/>
              </a:rPr>
              <a:t>Ping An / Alibaba / JD Health (profit 2024-25)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15000" y="2240280"/>
            <a:ext cx="592531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HOW THE LOOP RUNS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15000" y="2606040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Online prescription is valid only with real-name doctor auth, e-signature, and pharmacist review.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000" y="3172968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Pharmacist clinical review is non-delegable — a hard human checkpoint before any medicine is released.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739896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"No first visit online" scopes digital care to follow-up/chronic, concentrating effort where it is safest.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306824"/>
            <a:ext cx="5925312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1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150" b="0" i="0" u="none">
                <a:solidFill>
                  <a:srgbClr val="1D1D1D"/>
                </a:solidFill>
                <a:latin typeface="Calibri"/>
              </a:rPr>
              <a:t>Platforms route an online order to the nearest physical pharmacy for fast O2O delivery — fits dense store estates.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MOST FULLY-REALISED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China — the regulated internet hospital and O2O nearest-store delivery — how the loop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China proves the full teleconsult-to-deliver loop works only on top of deliberate regulation — licensing, non-delegable pharmacist review, and follow-up-only scope.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wiki/global-benchmarks/china-pingan-alibaba-jdhealth · src-gbl-china-internet-hospitals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2377440" cy="109728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AI triage / intake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structured questions</a:t>
            </a:r>
          </a:p>
        </p:txBody>
      </p:sp>
      <p:sp>
        <p:nvSpPr>
          <p:cNvPr id="13" name="Chevron 12"/>
          <p:cNvSpPr/>
          <p:nvPr/>
        </p:nvSpPr>
        <p:spPr>
          <a:xfrm>
            <a:off x="3054096" y="2926079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01568" y="2542032"/>
            <a:ext cx="2377440" cy="109728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Human clinician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diagnoses &amp; e-signs the Rx</a:t>
            </a:r>
          </a:p>
        </p:txBody>
      </p:sp>
      <p:sp>
        <p:nvSpPr>
          <p:cNvPr id="15" name="Chevron 14"/>
          <p:cNvSpPr/>
          <p:nvPr/>
        </p:nvSpPr>
        <p:spPr>
          <a:xfrm>
            <a:off x="5815584" y="2926079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63056" y="2542032"/>
            <a:ext cx="2377440" cy="109728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Pharmacist review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clinical check</a:t>
            </a:r>
          </a:p>
        </p:txBody>
      </p:sp>
      <p:sp>
        <p:nvSpPr>
          <p:cNvPr id="17" name="Chevron 16"/>
          <p:cNvSpPr/>
          <p:nvPr/>
        </p:nvSpPr>
        <p:spPr>
          <a:xfrm>
            <a:off x="8577072" y="2926079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24544" y="2542032"/>
            <a:ext cx="2377440" cy="109728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Dispense &amp; deliver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to collect or door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3056" y="2523744"/>
            <a:ext cx="2377440" cy="9144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83096" y="2157984"/>
            <a:ext cx="1737360" cy="292608"/>
          </a:xfrm>
          <a:prstGeom prst="round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non-delegable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576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u="none">
                <a:solidFill>
                  <a:srgbClr val="126E35"/>
                </a:solidFill>
                <a:latin typeface="Calibri"/>
              </a:rPr>
              <a:t>GUARDRAILS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⛔ No AI-generated prescriptions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41648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🛡 No first-visit-online — follow-up / chronic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43216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🛡 Pharmacist review is non-delegable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China bans AI-generated Rx and enforces 'prescription first, drug second' — a defensible AI/safety stance for SA.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THE DEFENSIBLE AI GUARDRAIL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China bans AI from auto-generating prescriptions — "prescription first, drug second"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safest AI stance for a future digital pharmacy is the Chinese one — AI may triage and intake, but a human clinician must diagnose and sign, and a pharmacist must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wiki/global-benchmarks/china-pingan-alibaba-jdhealth · src-gbl-china-eprescription-policy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2377440" cy="109728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AI triage / intake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structured questions</a:t>
            </a:r>
          </a:p>
        </p:txBody>
      </p:sp>
      <p:sp>
        <p:nvSpPr>
          <p:cNvPr id="13" name="Chevron 12"/>
          <p:cNvSpPr/>
          <p:nvPr/>
        </p:nvSpPr>
        <p:spPr>
          <a:xfrm>
            <a:off x="3054096" y="2926079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01568" y="2542032"/>
            <a:ext cx="2377440" cy="109728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Human clinician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diagnoses &amp; e-signs the Rx</a:t>
            </a:r>
          </a:p>
        </p:txBody>
      </p:sp>
      <p:sp>
        <p:nvSpPr>
          <p:cNvPr id="15" name="Chevron 14"/>
          <p:cNvSpPr/>
          <p:nvPr/>
        </p:nvSpPr>
        <p:spPr>
          <a:xfrm>
            <a:off x="5815584" y="2926079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63056" y="2542032"/>
            <a:ext cx="2377440" cy="109728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Pharmacist review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Calibri"/>
              </a:rPr>
              <a:t>clinical check</a:t>
            </a:r>
          </a:p>
        </p:txBody>
      </p:sp>
      <p:sp>
        <p:nvSpPr>
          <p:cNvPr id="17" name="Chevron 16"/>
          <p:cNvSpPr/>
          <p:nvPr/>
        </p:nvSpPr>
        <p:spPr>
          <a:xfrm>
            <a:off x="8577072" y="2926079"/>
            <a:ext cx="310896" cy="329184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924544" y="2542032"/>
            <a:ext cx="2377440" cy="109728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Dispense &amp; deliver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to collect or door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523744"/>
            <a:ext cx="2377440" cy="9144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0120" y="2157984"/>
            <a:ext cx="1737360" cy="292608"/>
          </a:xfrm>
          <a:prstGeom prst="round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1945" bIns="21945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AI triage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6576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u="none">
                <a:solidFill>
                  <a:srgbClr val="126E35"/>
                </a:solidFill>
                <a:latin typeface="Calibri"/>
              </a:rPr>
              <a:t>GUARDRAILS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⛔ No AI-generated prescriptions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41648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🛡 No first-visit-online — follow-up / chronic only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43216" y="3931920"/>
            <a:ext cx="3108960" cy="640080"/>
          </a:xfrm>
          <a:prstGeom prst="roundRect">
            <a:avLst/>
          </a:prstGeom>
          <a:solidFill>
            <a:srgbClr val="FAFBFA"/>
          </a:solidFill>
          <a:ln w="15875">
            <a:solidFill>
              <a:srgbClr val="B06A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B06A00"/>
                </a:solidFill>
                <a:latin typeface="Calibri"/>
              </a:rPr>
              <a:t>🛡 Pharmacist review is non-delegable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China bans AI-generated Rx and enforces 'prescription first, drug second' — a defensible AI/safety stance for SA.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The South African reality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Regulated · Multi-Funder · Low-Bandwidth — the three constraints that shape every design choice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CONSTRAINT 1 OF 3 · REGULATED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Price is fixed and transparent by law — so the only place left to compete is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Because the medicine price is regulated end-to-end, a scripting experience cannot win on headline price — it must win on service, convenience and trust.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wiki/sa-regulatory/sep-dispensing-fee · wiki/sa-regulatory/medicines-act-scheduling · wiki/sa-regulatory/e-prescription-telehealth-popia · src-reg-gray-pricing-2026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Single Exit Price (§22G) is the one lawful price to non-State buyers — no discounts, rebates or bonuses.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The pharmacy's margin is a capped dispensing fee — flat amount + % of SEP across four bands; SEPA 2026 caps SEP rises at max 1.47%.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Scheduling S0–S8 is the master switch — S3+ gates behind a valid prescription, pharmacist validation mandatory.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POPIA treats all prescription data as special personal information — consent must be explicit, scoped, revocable.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Takeaway — price is regulated and transparent, so compete on service; show SEP + dispensing fee + VAT line-by-line as a trust win.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CONSTRAINT 2 OF 3 · MULTI-FUNDER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Two economies, one spine — ~16% insured, ~84% cash, and the funding logic forks at step 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scripting experience must run an insured path and a cash path as first-class parallel flows from the first question — funding status re-routes the entire journey.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wiki/medical-schemes/cms-medical-schemes-overview · wiki/medical-schemes/pmb-cdl-chronic · wiki/medical-schemes/dsp-formularies-copayments · wiki/medical-schemes/realtime-claims-switching · wiki/medical-schemes/courier-chronic-pharmacy-models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94560"/>
            <a:ext cx="7680960" cy="914400"/>
          </a:xfrm>
          <a:prstGeom prst="rect">
            <a:avLst/>
          </a:prstGeom>
          <a:solidFill>
            <a:srgbClr val="E8F5EC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286000"/>
            <a:ext cx="1828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INSURED · ~16%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65176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Scheme adjudication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39" y="265176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DSP / formulary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50591" y="2862072"/>
            <a:ext cx="137160" cy="0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343400" y="265176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Co-pay surfaced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87952" y="2862072"/>
            <a:ext cx="137160" cy="0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080759" y="265176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Courier / collect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25312" y="2862072"/>
            <a:ext cx="137160" cy="0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3383280"/>
            <a:ext cx="7680960" cy="914400"/>
          </a:xfrm>
          <a:prstGeom prst="rect">
            <a:avLst/>
          </a:prstGeom>
          <a:solidFill>
            <a:srgbClr val="BFE3CF"/>
          </a:solidFill>
          <a:ln w="15875">
            <a:solidFill>
              <a:srgbClr val="12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8" y="3474720"/>
            <a:ext cx="2194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26E35"/>
                </a:solidFill>
                <a:latin typeface="Calibri"/>
              </a:rPr>
              <a:t>CASH / UNINSURED · ~84%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4048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SEP + dispensing fee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06039" y="384048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CCMDD / retail pickup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50591" y="4050791"/>
            <a:ext cx="137160" cy="0"/>
          </a:xfrm>
          <a:prstGeom prst="bentConnector3">
            <a:avLst/>
          </a:prstGeom>
          <a:ln w="1270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343400" y="384048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Price-sensitive choice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87952" y="4050791"/>
            <a:ext cx="137160" cy="0"/>
          </a:xfrm>
          <a:prstGeom prst="bentConnector3">
            <a:avLst/>
          </a:prstGeom>
          <a:ln w="1270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080759" y="384048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Collect / delivery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25312" y="4050791"/>
            <a:ext cx="137160" cy="0"/>
          </a:xfrm>
          <a:prstGeom prst="bentConnector3">
            <a:avLst/>
          </a:prstGeom>
          <a:ln w="1270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21040" y="2651760"/>
            <a:ext cx="457200" cy="365760"/>
          </a:xfrm>
          <a:prstGeom prst="bentConnector3">
            <a:avLst/>
          </a:prstGeom>
          <a:ln w="2222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321040" y="3474720"/>
            <a:ext cx="457200" cy="365760"/>
          </a:xfrm>
          <a:prstGeom prst="bentConnector3">
            <a:avLst/>
          </a:prstGeom>
          <a:ln w="2222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23960" y="2194560"/>
            <a:ext cx="2697480" cy="210312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ONE SERVICE SPINE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E8F5EC"/>
                </a:solidFill>
                <a:latin typeface="Calibri"/>
              </a:rPr>
              <a:t>Unified profile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E8F5EC"/>
                </a:solidFill>
                <a:latin typeface="Calibri"/>
              </a:rPr>
              <a:t>Omnichannel — same steps, both journeys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2194560"/>
            <a:ext cx="2697480" cy="109728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49884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~16% insured figure is volatile (state/basis/year) · data cost ~R20–R79/GB shapes the cash journey.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199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B06A00"/>
                </a:solidFill>
                <a:latin typeface="Calibri"/>
              </a:rPr>
              <a:t>🔮 requires regulatory reform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CONSTRAINT 3 OF 3 · LOW-BANDWIDTH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Connectivity is solved — affordability is the constraint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Signal reaches almost everyone, but data costs and prepaid rationing mean the experience must be lightweight, async, resumable and WhatsApp/USSD-first.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wiki/consumer-context/digital-access-and-whatsapp · wiki/consumer-context/last-mile-addressing-logistics · src-con-icasa-ict-2025 · src-con-ramp-data-prices · src-con-loadshedding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Coverage is near-universal — the gap is the cost of data and devices, plus digital literacy, not signal.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Small-bundle data carries a poverty premium — those who can only top up in small increments pay the most per MB.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Prepaid dominates and runs to zero balance — USSD and SMS need no data and reach any handset.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Load-shedding degrades connectivity (tower batteries fade beyond ~Stage 4) just when people are home trying to transact.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Takeaway — connectivity is solved, affordability is not; build lightweight, async, resumable, WhatsApp/USSD-first flows.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199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Strategic Opportunities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Six pillars for the store of the future — and one that reframes the whole game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Six strategic bets — five sharpen the model, one changes the 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deliverables/_shared/pillars.md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386584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Serve both economies on one spine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53512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Insured (~16%) and cash (~84%) are different journeys on one service spine; the cash majority is never a degraded afterthought.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3834" y="2240280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78426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2514" y="2386584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Pharmacy as the health front door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6714" y="2953512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Scripting is the entry to an ongoing care relationship, not a one-off transaction; the store + clinic estate is a strategic asset.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79028" y="2240280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43620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7708" y="2386584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Compete on service, not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1908" y="2953512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SEP + capped dispensing fee fix the price; the only durable differentiator is the experience around the drug.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014216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13232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160520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Chronic-medicine flywheel = retention engine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727448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Proactive managed chronic repeats are the recurring relationship that compounds loyalty and adherence.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3834" y="4014216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478426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82514" y="4160520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Pharmacist at top-of-licence; automate the toil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96714" y="4727448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Automation, central-fill and telepharmacy absorb mechanics so pharmacists do the clinical, trust-building work.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79028" y="4014216"/>
            <a:ext cx="3564026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43620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7708" y="4160520"/>
            <a:ext cx="2558186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50" b="1" i="0" u="none">
                <a:solidFill>
                  <a:srgbClr val="1D1D1D"/>
                </a:solidFill>
                <a:latin typeface="Calibri"/>
              </a:rPr>
              <a:t>From prescription fulfilment to treatment orchestration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61908" y="4727448"/>
            <a:ext cx="319826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0" i="0" u="none">
                <a:solidFill>
                  <a:srgbClr val="52525B"/>
                </a:solidFill>
                <a:latin typeface="Calibri"/>
              </a:rPr>
              <a:t>Absorb the coordination patients do today — across prescriber, pharmacy, scheme, stock and delivery — into one system.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79028" y="4014216"/>
            <a:ext cx="3564026" cy="1572768"/>
          </a:xfrm>
          <a:prstGeom prst="roundRect">
            <a:avLst/>
          </a:prstGeom>
          <a:noFill/>
          <a:ln w="25400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929823" y="4160520"/>
            <a:ext cx="548640" cy="274320"/>
          </a:xfrm>
          <a:prstGeom prst="round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NEW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S1 · SERVE BOTH ECONOMIES ON ONE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pillar-s1-two-economies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One service spine, two journeys — an insured/scheme flow (claim, co-pay, courier) and a cash/out-of-pocket flow — sharing identity, status and fulfilment.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wiki/consumer-context/two-economy-affordability · wiki/medical-schemes/cash-uninsured-pathway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SA is the most unequal major economy; ~84% are uninsured and pay cash at the margin, where a removed trip, queue or surprise charge is real money, not just convenience.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SEP + capped dispensing fee make the cash price computable up front — show SEP + fee line-by-line, offer the generic, support cash / instant-EFT / wallet, never card-only.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S1 · SERVE BOTH ECONOMIES ON ONE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cash majority is the market, not the edge case — design for two wallets at once — the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A structural ~16/~84 insured-to-cash split means a scheme-first design quietly excludes most of the country; one spine must serve both, with the cash path a first-class path.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wiki/consumer-context/two-economy-affordability · wiki/medical-schemes/cash-uninsured-pathway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94560"/>
            <a:ext cx="7680960" cy="914400"/>
          </a:xfrm>
          <a:prstGeom prst="rect">
            <a:avLst/>
          </a:prstGeom>
          <a:solidFill>
            <a:srgbClr val="E8F5EC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286000"/>
            <a:ext cx="18288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26E35"/>
                </a:solidFill>
                <a:latin typeface="Calibri"/>
              </a:rPr>
              <a:t>INSURED · ~16%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65176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Scheme adjudication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39" y="265176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DSP / formulary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50591" y="2862072"/>
            <a:ext cx="137160" cy="0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343400" y="265176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Co-pay surfaced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187952" y="2862072"/>
            <a:ext cx="137160" cy="0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080759" y="265176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Courier / collect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925312" y="2862072"/>
            <a:ext cx="137160" cy="0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0080" y="3383280"/>
            <a:ext cx="7680960" cy="914400"/>
          </a:xfrm>
          <a:prstGeom prst="rect">
            <a:avLst/>
          </a:prstGeom>
          <a:solidFill>
            <a:srgbClr val="BFE3CF"/>
          </a:solidFill>
          <a:ln w="15875">
            <a:solidFill>
              <a:srgbClr val="126E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49808" y="3474720"/>
            <a:ext cx="2194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26E35"/>
                </a:solidFill>
                <a:latin typeface="Calibri"/>
              </a:rPr>
              <a:t>CASH / UNINSURED · ~84%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84048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SEP + dispensing fee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06039" y="384048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CCMDD / retail pickup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450591" y="4050791"/>
            <a:ext cx="137160" cy="0"/>
          </a:xfrm>
          <a:prstGeom prst="bentConnector3">
            <a:avLst/>
          </a:prstGeom>
          <a:ln w="1270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343400" y="384048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Price-sensitive choice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87952" y="4050791"/>
            <a:ext cx="137160" cy="0"/>
          </a:xfrm>
          <a:prstGeom prst="bentConnector3">
            <a:avLst/>
          </a:prstGeom>
          <a:ln w="1270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080759" y="3840480"/>
            <a:ext cx="1572768" cy="42062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Collect / delivery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25312" y="4050791"/>
            <a:ext cx="137160" cy="0"/>
          </a:xfrm>
          <a:prstGeom prst="bentConnector3">
            <a:avLst/>
          </a:prstGeom>
          <a:ln w="12700">
            <a:solidFill>
              <a:srgbClr val="126E3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21040" y="2651760"/>
            <a:ext cx="457200" cy="365760"/>
          </a:xfrm>
          <a:prstGeom prst="bentConnector3">
            <a:avLst/>
          </a:prstGeom>
          <a:ln w="2222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8321040" y="3474720"/>
            <a:ext cx="457200" cy="365760"/>
          </a:xfrm>
          <a:prstGeom prst="bentConnector3">
            <a:avLst/>
          </a:prstGeom>
          <a:ln w="22225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23960" y="2194560"/>
            <a:ext cx="2697480" cy="210312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ONE SERVICE SPINE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E8F5EC"/>
                </a:solidFill>
                <a:latin typeface="Calibri"/>
              </a:rPr>
              <a:t>Unified profile</a:t>
            </a:r>
          </a:p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E8F5EC"/>
                </a:solidFill>
                <a:latin typeface="Calibri"/>
              </a:rPr>
              <a:t>Omnichannel — same steps, both journeys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2194560"/>
            <a:ext cx="2697480" cy="109728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49884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~16% insured figure is volatile (state/basis/year) · data cost ~R20–R79/GB shapes the cash journey.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S4 · CHRONIC-MEDICINE FLYWHEEL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pillar-s4-chronic-flywheel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Register once → auto-dispense on schedule → proactively prompt the refill → deliver or collect → repeat; each turn lowers patient effort and raises stickiness.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wiki/concepts/chronic-medicine-flywheel · wiki/medical-schemes/courier-chronic-pharmacy-models · src-gbl-medadvisor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It is the proven SA model (Pharmacy Direct &gt;1.2m scripts/month; Clicks Direct, Medipost, Dis-Chem Direct) and CCMDD at public scale (&gt;4.9m enrolled) — a managed loop the patient barely touches.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Australia's MedAdvisor is the polished benchmark — a digital script wallet with "tap to refill", reminders and carer mode over the e-script rail (~3.7–4m patients, &gt;95% of AU pharmacies).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S3 · COMPETE ON SERVICE, NOT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pillar-s3-service-not-price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Discounting the medicine is unlawful; competition is on convenience, reliability, transparency and trust — the experience, not the headline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wiki/sa-regulatory/sep-dispensing-fee · wiki/dischem/pharmacy-complaints-pain-points · src-dc-complaints-jan2025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Dis-Chem's Jan-2025 complaints (n=360) are overwhelmingly service, digital and fulfilment failures — broken re-orders, "processed but never arrived", dispensing errors — not price.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The striking "scheduled meds priced differently between stores" complaint is almost certainly a transparency failure under SEP, not a real price gap — i.e. a service fix, not a pricing one.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S2 · PHARMACY AS THE HEALTH FRONT DOOR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pillar-s2-front-door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Scripting is the entry point to screening, advice, chronic management and telehealth — an ongoing care relationship, with the physical estate as an integrated health touchpoint.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wiki/ux-service-design/consultancy-pharmacy-research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strategy firms converge on it — McKinsey (~40% want broader clinical services via pharmacy), Bain (≥65% already use pharmacy as a primary point of care; ~74% of Gen Z), Oliver Wyman ("pharmacy services as a strategic asset, not a downstream function").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England's Pharmacy First lets pharmacists assess and supply for 7 conditions without a GP visit — the front-door model under protocol.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S5 · PHARMACIST AT TOP-OF-LICENCE; AUTOMATE THE TOIL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pillar-s5-top-of-licence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Use robots, central-fill and remote pharmacist verification to take the counting/checking toil off the counter; pharmacists move to counselling, chronic management and clinical services.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wiki/digital-transformation/telepharmacy-and-omnichannel · wiki/ux-service-design/consultancy-pharmacy-research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consultancy and design canon agree (Deloitte, McKinsey, EY); EY cites ~70% of Danish pharmacies using dispensing robots, and telepharmacy studies show no drop in medication-use quality.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Accenture/CCS reported an AI model lifting adherence in targeted high-risk patients by up to ~50% — promising, but vendor-reported.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99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S6 · FROM FULFILMENT TO ORCHESTRATION — THE HERO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Today the patient is the integration layer between five silos that don't talk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The patient personally carries the coordination tax across prescriber, pharmacy, scheme, stock and delivery — and the strategic move is to absorb that complexity into the system instead.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wiki/dischem/dischem-rx-current-journey · wiki/dischem/pharmacy-complaints-pain-points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9456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52525B"/>
                </a:solidFill>
                <a:latin typeface="Calibri"/>
              </a:rPr>
              <a:t>TODAY — patient coordinates everything</a:t>
            </a:r>
          </a:p>
        </p:txBody>
      </p:sp>
      <p:sp>
        <p:nvSpPr>
          <p:cNvPr id="13" name="Oval 12"/>
          <p:cNvSpPr/>
          <p:nvPr/>
        </p:nvSpPr>
        <p:spPr>
          <a:xfrm>
            <a:off x="904239" y="2954528"/>
            <a:ext cx="386080" cy="386080"/>
          </a:xfrm>
          <a:prstGeom prst="ellipse">
            <a:avLst/>
          </a:prstGeom>
          <a:solidFill>
            <a:srgbClr val="525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2320" y="3340608"/>
            <a:ext cx="629920" cy="528320"/>
          </a:xfrm>
          <a:prstGeom prst="roundRect">
            <a:avLst/>
          </a:prstGeom>
          <a:solidFill>
            <a:srgbClr val="5252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888232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u="none">
                <a:solidFill>
                  <a:srgbClr val="52525B"/>
                </a:solidFill>
                <a:latin typeface="Calibri"/>
              </a:rPr>
              <a:t>Patient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77440" y="2514600"/>
            <a:ext cx="1371600" cy="502920"/>
          </a:xfrm>
          <a:prstGeom prst="round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Prescriber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188720" y="2761488"/>
            <a:ext cx="1280160" cy="804672"/>
          </a:xfrm>
          <a:prstGeom prst="bentConnector3">
            <a:avLst/>
          </a:prstGeom>
          <a:ln w="11430">
            <a:solidFill>
              <a:srgbClr val="5252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023360" y="2743200"/>
            <a:ext cx="1371600" cy="502920"/>
          </a:xfrm>
          <a:prstGeom prst="round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Scheme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188720" y="2990088"/>
            <a:ext cx="2926080" cy="576072"/>
          </a:xfrm>
          <a:prstGeom prst="bentConnector3">
            <a:avLst/>
          </a:prstGeom>
          <a:ln w="11430">
            <a:solidFill>
              <a:srgbClr val="5252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297680" y="3611880"/>
            <a:ext cx="1371600" cy="502920"/>
          </a:xfrm>
          <a:prstGeom prst="round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Pharmacy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3566160"/>
            <a:ext cx="3200400" cy="292608"/>
          </a:xfrm>
          <a:prstGeom prst="bentConnector3">
            <a:avLst/>
          </a:prstGeom>
          <a:ln w="11430">
            <a:solidFill>
              <a:srgbClr val="5252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566160" y="4343400"/>
            <a:ext cx="1371600" cy="502920"/>
          </a:xfrm>
          <a:prstGeom prst="round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Stock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3566160"/>
            <a:ext cx="2468880" cy="1024128"/>
          </a:xfrm>
          <a:prstGeom prst="bentConnector3">
            <a:avLst/>
          </a:prstGeom>
          <a:ln w="11430">
            <a:solidFill>
              <a:srgbClr val="5252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2103120" y="4526280"/>
            <a:ext cx="1371600" cy="502920"/>
          </a:xfrm>
          <a:prstGeom prst="roundRect">
            <a:avLst/>
          </a:prstGeom>
          <a:solidFill>
            <a:srgbClr val="FAFBFA"/>
          </a:solidFill>
          <a:ln w="9525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2525B"/>
                </a:solidFill>
                <a:latin typeface="Calibri"/>
              </a:rPr>
              <a:t>Delivery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88720" y="3566160"/>
            <a:ext cx="1005840" cy="1207008"/>
          </a:xfrm>
          <a:prstGeom prst="bentConnector3">
            <a:avLst/>
          </a:prstGeom>
          <a:ln w="11430">
            <a:solidFill>
              <a:srgbClr val="52525B"/>
            </a:solidFill>
            <a:headEnd type="triangle" w="med" len="me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49039" y="2743200"/>
            <a:ext cx="548641" cy="868680"/>
          </a:xfrm>
          <a:prstGeom prst="bentConnector3">
            <a:avLst/>
          </a:prstGeom>
          <a:ln w="11430">
            <a:solidFill>
              <a:srgbClr val="D7DDD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4206240" y="3840480"/>
            <a:ext cx="731520" cy="502920"/>
          </a:xfrm>
          <a:prstGeom prst="bentConnector3">
            <a:avLst/>
          </a:prstGeom>
          <a:ln w="11430">
            <a:solidFill>
              <a:srgbClr val="D7DDD9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481328" y="2907792"/>
            <a:ext cx="169164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re-enter details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35808" y="3200400"/>
            <a:ext cx="169164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chase status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114800"/>
            <a:ext cx="169164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call to check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4187952"/>
            <a:ext cx="169164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surprise co-pay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97880" y="2240280"/>
            <a:ext cx="12801" cy="2743200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evron 32"/>
          <p:cNvSpPr/>
          <p:nvPr/>
        </p:nvSpPr>
        <p:spPr>
          <a:xfrm>
            <a:off x="5669280" y="3429000"/>
            <a:ext cx="457200" cy="384048"/>
          </a:xfrm>
          <a:prstGeom prst="chevron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3840480"/>
            <a:ext cx="141732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0" i="1" u="none">
                <a:solidFill>
                  <a:srgbClr val="126E35"/>
                </a:solidFill>
                <a:latin typeface="Calibri"/>
              </a:rPr>
              <a:t>absorb the coordination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194560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00" b="1" i="0" u="none">
                <a:solidFill>
                  <a:srgbClr val="126E35"/>
                </a:solidFill>
                <a:latin typeface="Calibri"/>
              </a:rPr>
              <a:t>FUTURE — one system orchestrates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89520" y="2468880"/>
            <a:ext cx="3291840" cy="109728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Calibri"/>
              </a:rPr>
              <a:t>Treatment Orchestration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E8F5EC"/>
                </a:solidFill>
                <a:latin typeface="Calibri"/>
              </a:rPr>
              <a:t>one system absorbs the coordination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589520" y="2468880"/>
            <a:ext cx="3291840" cy="9144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26480" y="3977639"/>
            <a:ext cx="1024128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Prescriber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6638544" y="3611880"/>
            <a:ext cx="0" cy="365759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196328" y="3977639"/>
            <a:ext cx="1024128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Scheme</a:t>
            </a:r>
          </a:p>
        </p:txBody>
      </p:sp>
      <p:cxnSp>
        <p:nvCxnSpPr>
          <p:cNvPr id="41" name="Connector 40"/>
          <p:cNvCxnSpPr/>
          <p:nvPr/>
        </p:nvCxnSpPr>
        <p:spPr>
          <a:xfrm flipV="1">
            <a:off x="7708392" y="3611880"/>
            <a:ext cx="0" cy="365759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8266176" y="3977639"/>
            <a:ext cx="1024128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Pharmacy</a:t>
            </a:r>
          </a:p>
        </p:txBody>
      </p:sp>
      <p:cxnSp>
        <p:nvCxnSpPr>
          <p:cNvPr id="43" name="Connector 42"/>
          <p:cNvCxnSpPr/>
          <p:nvPr/>
        </p:nvCxnSpPr>
        <p:spPr>
          <a:xfrm flipV="1">
            <a:off x="8778240" y="3611880"/>
            <a:ext cx="0" cy="365759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9336024" y="3977639"/>
            <a:ext cx="1024128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Stock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9848088" y="3611880"/>
            <a:ext cx="0" cy="365759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405872" y="3977639"/>
            <a:ext cx="1024128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Delivery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10917936" y="3611880"/>
            <a:ext cx="0" cy="365759"/>
          </a:xfrm>
          <a:prstGeom prst="bentConnector3">
            <a:avLst/>
          </a:prstGeom>
          <a:ln w="1270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10947806" y="2275149"/>
            <a:ext cx="324307" cy="324307"/>
          </a:xfrm>
          <a:prstGeom prst="ellipse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845393" y="2599456"/>
            <a:ext cx="529132" cy="443788"/>
          </a:xfrm>
          <a:prstGeom prst="round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78440" y="3059460"/>
            <a:ext cx="1261872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 u="none">
                <a:solidFill>
                  <a:srgbClr val="126E35"/>
                </a:solidFill>
                <a:latin typeface="Calibri"/>
              </a:rPr>
              <a:t>Patient</a:t>
            </a:r>
          </a:p>
        </p:txBody>
      </p:sp>
      <p:cxnSp>
        <p:nvCxnSpPr>
          <p:cNvPr id="51" name="Connector 50"/>
          <p:cNvCxnSpPr/>
          <p:nvPr/>
        </p:nvCxnSpPr>
        <p:spPr>
          <a:xfrm flipH="1">
            <a:off x="10561320" y="3017520"/>
            <a:ext cx="320040" cy="0"/>
          </a:xfrm>
          <a:prstGeom prst="bentConnector3">
            <a:avLst/>
          </a:prstGeom>
          <a:ln w="19050">
            <a:solidFill>
              <a:srgbClr val="1A9B4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8869680" y="4526280"/>
            <a:ext cx="274320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A9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65836" bIns="65836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D1D1D"/>
                </a:solidFill>
                <a:latin typeface="Calibri"/>
              </a:rPr>
              <a:t>Status: Ready for collection</a:t>
            </a:r>
          </a:p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Next: Tap to confirm delivery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5321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1" i="0" u="none">
                <a:solidFill>
                  <a:srgbClr val="126E35"/>
                </a:solidFill>
                <a:latin typeface="Calibri"/>
              </a:rPr>
              <a:t>Patient sees ONE state + ONE next step.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532180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S6 — from dispensing a script to orchestrating the whole treatment journey.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S6 · FROM PRESCRIPTION FULFILMENT TO TREATMENT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pillar-s6-orchestration — Strategic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Move from prescription FULFILMENT (hand over a script, dispense a box) to treatment ORCHESTRATION (one system owns the end-to-end journey, the hand-offs, and the recovery when something breaks).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wiki/dischem/dischem-rx-current-journey · wiki/dischem/pharmacy-complaints-pain-points · wiki/concepts/omnichannel-fulfilment · wiki/digital-transformation/interoperability-identity-records · wiki/concepts/chronic-medicine-flywheel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The pain is structural, not incidental — the journey "breaks back out to the prescriber with no orchestration" at script expiry, and there is "no single owner of a stuck repeat" across app / WhatsApp / store / call-centre; the patient pays the coordination tax in delays, uncertainty, repeat visits, stock issues, funding surprises and admin.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No one has built end-to-end orchestration for a regulated, multi-funder, low-bandwidth market — it is a direction requiring new capability, with reform-gated steps (pharmacist-initiated renewal, scheme claim-continuity automation, locker dispensing of scheduled meds).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99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B06A00"/>
                </a:solidFill>
                <a:latin typeface="Calibri"/>
              </a:rPr>
              <a:t>🔮 requires regulatory reform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698480" y="640080"/>
            <a:ext cx="457200" cy="219456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29800" y="1508760"/>
            <a:ext cx="2194560" cy="457200"/>
          </a:xfrm>
          <a:prstGeom prst="rect">
            <a:avLst/>
          </a:prstGeom>
          <a:solidFill>
            <a:srgbClr val="126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4000" b="1" i="0" u="none">
                <a:solidFill>
                  <a:srgbClr val="B5D334"/>
                </a:solidFill>
                <a:latin typeface="Calibri Light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246120"/>
            <a:ext cx="822960" cy="54864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3400" b="1" i="0" u="none">
                <a:solidFill>
                  <a:srgbClr val="FFFFFF"/>
                </a:solidFill>
                <a:latin typeface="Calibri"/>
              </a:rPr>
              <a:t>From strategy to the touchpoint — seven UX pillars, proven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720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 u="none">
                <a:solidFill>
                  <a:srgbClr val="BFE3CF"/>
                </a:solidFill>
                <a:latin typeface="Calibri"/>
              </a:rPr>
              <a:t>How the experience must behave, and where each behaviour has already worked abroad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BFE3CF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seven UX pillars — the design constitution for every touchpoint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deliverables/_shared/pillars.md · design-kit/templates/future-state-principles · wiki/global-benchmarks/patterns-to-borrow-and-cautions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Channel ladder: WhatsApp-first &amp; data-frugal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 u="none">
                <a:solidFill>
                  <a:srgbClr val="52525B"/>
                </a:solidFill>
                <a:latin typeface="Calibri"/>
              </a:rPr>
              <a:t>WhatsApp/USSD/SMS first, app as enhancement; low-data, async, resumable, idempotent by default.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2535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37127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41215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Never leave them guessing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5415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 u="none">
                <a:solidFill>
                  <a:srgbClr val="52525B"/>
                </a:solidFill>
                <a:latin typeface="Calibri"/>
              </a:rPr>
              <a:t>Honest real-time status at every step; the silent wait and unexplained rejection are the primary pains.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6431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61023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5111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Give me all the variables upfront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 u="none">
                <a:solidFill>
                  <a:srgbClr val="52525B"/>
                </a:solidFill>
                <a:latin typeface="Calibri"/>
              </a:rPr>
              <a:t>Surface everything that materially affects the decision before commitment — cost, cover, stock, timing/ETA, alternatives; never spring a surprise (money is the sharpest case, not the whole of it).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0327" y="2240280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4919" y="2404872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89007" y="2386584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Design for graceful failure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3207" y="2916936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 u="none">
                <a:solidFill>
                  <a:srgbClr val="52525B"/>
                </a:solidFill>
                <a:latin typeface="Calibri"/>
              </a:rPr>
              <a:t>Plain-language recovery, never a dead end, always a route to a pharmacist.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014216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13232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160520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Dignity, privacy &amp; language by default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690872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 u="none">
                <a:solidFill>
                  <a:srgbClr val="52525B"/>
                </a:solidFill>
                <a:latin typeface="Calibri"/>
              </a:rPr>
              <a:t>Stigma-aware, discreet, multilingual, POPIA-grade consent; caregivers/proxies are first-class users.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372535" y="4014216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537127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41215" y="4160520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Reduce the journey, don't just digitise 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5415" y="4690872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 u="none">
                <a:solidFill>
                  <a:srgbClr val="52525B"/>
                </a:solidFill>
                <a:latin typeface="Calibri"/>
              </a:rPr>
              <a:t>Eliminate steps and re-keying; one profile across channels; measure friction removed, not features shipped.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6431" y="4014216"/>
            <a:ext cx="2622727" cy="1572768"/>
          </a:xfrm>
          <a:prstGeom prst="roundRect">
            <a:avLst/>
          </a:prstGeom>
          <a:solidFill>
            <a:srgbClr val="F4F8F5"/>
          </a:solidFill>
          <a:ln w="12700">
            <a:solidFill>
              <a:srgbClr val="D7DDD9"/>
            </a:solidFill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61023" y="4178808"/>
            <a:ext cx="566928" cy="38404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65111" y="4160520"/>
            <a:ext cx="1616887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5000"/>
              </a:lnSpc>
            </a:pPr>
            <a:r>
              <a:rPr sz="1100" b="1" i="0" u="none">
                <a:solidFill>
                  <a:srgbClr val="1D1D1D"/>
                </a:solidFill>
                <a:latin typeface="Calibri"/>
              </a:rPr>
              <a:t>Adherence-as-design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9311" y="4690872"/>
            <a:ext cx="2256967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0" u="none">
                <a:solidFill>
                  <a:srgbClr val="52525B"/>
                </a:solidFill>
                <a:latin typeface="Calibri"/>
              </a:rPr>
              <a:t>Effectiveness is lost after dispensing; design the schedule/label and refill loop as a behaviour-change surface.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UX · THE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Every pillar is already buildable — each behaviour maps to a pattern that has shipped abroad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We are not inventing experience principles, we are importing proven mechanisms — so each UX pillar can point to working journey moments and a real overseas precedent, not aspiration.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deliverables/_shared/06-anim-data.js · wiki/global-benchmarks/patterns-to-borrow-and-cautions · wiki/global-benchmarks/australia-chemist-warehouse-escript · wiki/global-benchmarks/amazon-pharmacy-pillpack-deepdive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39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240280"/>
            <a:ext cx="4206240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QR e-script token, scan anywhere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99816"/>
            <a:ext cx="4206240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New token per repeat (anti-double-dispense)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59352"/>
            <a:ext cx="4206240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Nominated pharmacy / Active Script List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818888"/>
            <a:ext cx="4206240" cy="45720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Real-time order tracking (NHS-App style)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32120"/>
            <a:ext cx="4206240" cy="4572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Auto-refill / med-sync default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32120"/>
            <a:ext cx="4206240" cy="4572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Dose-by-time packaging + app (PillPack)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532120"/>
            <a:ext cx="4206240" cy="45720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Price transparency at point of commit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240280"/>
            <a:ext cx="4206240" cy="45720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U1 — Channel ladder (WhatsApp-first)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3099816"/>
            <a:ext cx="4206240" cy="45720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U2 — Never leave them guessing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959352"/>
            <a:ext cx="4206240" cy="45720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U3 — All the variables upfront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0" y="4818888"/>
            <a:ext cx="4206240" cy="45720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U4 — Design for graceful failure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5532120"/>
            <a:ext cx="4206240" cy="4572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U5 — Dignity, privacy &amp; language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42448" y="5742432"/>
            <a:ext cx="987552" cy="329184"/>
          </a:xfrm>
          <a:prstGeom prst="round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0972" bIns="10972">
            <a:no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126E35"/>
                </a:solidFill>
                <a:latin typeface="Calibri"/>
              </a:rPr>
              <a:t>SA-specific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532120"/>
            <a:ext cx="4206240" cy="4572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U6 — Reduce the journey, don't just digitise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5532120"/>
            <a:ext cx="4206240" cy="45720"/>
          </a:xfrm>
          <a:prstGeom prst="roundRect">
            <a:avLst/>
          </a:prstGeom>
          <a:solidFill>
            <a:srgbClr val="BFE3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126E35"/>
                </a:solidFill>
                <a:latin typeface="Calibri"/>
              </a:rPr>
              <a:t>U7 — Adherence-as-design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846320" y="2468880"/>
            <a:ext cx="2468880" cy="306324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846320" y="2468880"/>
            <a:ext cx="2468880" cy="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846320" y="3328416"/>
            <a:ext cx="2468880" cy="1719072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846320" y="4187952"/>
            <a:ext cx="2468880" cy="1344168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4846320" y="3328416"/>
            <a:ext cx="2468880" cy="1719072"/>
          </a:xfrm>
          <a:prstGeom prst="bentConnector3">
            <a:avLst/>
          </a:prstGeom>
          <a:ln w="25400">
            <a:solidFill>
              <a:srgbClr val="126E3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846320" y="5532120"/>
            <a:ext cx="2468880" cy="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846320" y="5532120"/>
            <a:ext cx="2468880" cy="0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4846320" y="4187952"/>
            <a:ext cx="2468880" cy="1344168"/>
          </a:xfrm>
          <a:prstGeom prst="bentConnector3">
            <a:avLst/>
          </a:prstGeom>
          <a:ln w="12700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48640" y="52120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Borrowed mechanisms map onto the UX constitution; U5 (dignity/POPIA) is the SA-specific layer no benchmark supplied.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UX · HERO PILLAR (RENAMED)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u3-variables-upfront-hero — U3 — Give me all the variables upfront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Surface everything that materially affects the decision BEFORE commitment — cost, funding/cover, stock availability, timing/ETA, alternatives, and anything else that would change the choice — never spring a surprise at the till.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wiki/global-benchmarks/amazon-pharmacy-pillpack-deepdive · wiki/global-benchmarks/usa-cvs-walgreens-amazon · wiki/sa-regulatory/sep-dispensing-fee · deliverables/_shared/06-anim-data.js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60604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 i="0" u="none">
                <a:solidFill>
                  <a:srgbClr val="1D1D1D"/>
                </a:solidFill>
                <a:latin typeface="Calibri"/>
              </a:rPr>
              <a:t>Money is the sharpest case, not the whole of it — the trust-breaker is any hidden variable revealed too late (an out-of-stock after the trip, an ETA that slips, a co-pay at the counter), so legibility before commit is the single highest-trust design move and SEP makes the price half of it free.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51960"/>
            <a:ext cx="11091672" cy="13716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D7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26E35"/>
                </a:solidFill>
                <a:latin typeface="Calibri"/>
              </a:rPr>
              <a:t>In practice:  </a:t>
            </a:r>
            <a:r>
              <a:rPr sz="1200" b="0" i="0">
                <a:solidFill>
                  <a:srgbClr val="1D1D1D"/>
                </a:solidFill>
                <a:latin typeface="Calibri"/>
              </a:rPr>
              <a:t>Amazon PillPack / Amazon Pharmacy shows insured copay vs cash price side-by-side, the delivery date, and generic alternatives upfront at checkout; Mark Cuban Cost Plus shows a fully itemised cost + markup + fees — both make the variables legible before you pay.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UX · HERO PILLAR (RENAMED)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U3 — Give me all the variables upfront — the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Surface everything that materially affects the decision BEFORE commitment — cost, funding/cover, stock availability, timing/ETA, alternatives, and anything else that would change the choice 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wiki/global-benchmarks/amazon-pharmacy-pillpack-deepdive · wiki/global-benchmarks/usa-cvs-walgreens-amazon · wiki/sa-regulatory/sep-dispensing-fee · deliverables/_shared/06-anim-data.js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41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10328" y="2651760"/>
            <a:ext cx="2377440" cy="1188720"/>
          </a:xfrm>
          <a:prstGeom prst="round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Give me all the variables upfront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0328" y="2651760"/>
            <a:ext cx="2377440" cy="91440"/>
          </a:xfrm>
          <a:prstGeom prst="rect">
            <a:avLst/>
          </a:prstGeom>
          <a:solidFill>
            <a:srgbClr val="B5D3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6099048" y="2569464"/>
            <a:ext cx="0" cy="676656"/>
          </a:xfrm>
          <a:prstGeom prst="bentConnector3">
            <a:avLst/>
          </a:prstGeom>
          <a:ln w="15875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956048" y="2194560"/>
            <a:ext cx="2286000" cy="74980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Cost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SEP + dispensing fee, before the till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099048" y="3026664"/>
            <a:ext cx="2743200" cy="219456"/>
          </a:xfrm>
          <a:prstGeom prst="bentConnector3">
            <a:avLst/>
          </a:prstGeom>
          <a:ln w="15875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99248" y="2651760"/>
            <a:ext cx="2286000" cy="74980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Funding / cover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scheme benefit, co-pay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99048" y="3246120"/>
            <a:ext cx="2743200" cy="1243584"/>
          </a:xfrm>
          <a:prstGeom prst="bentConnector3">
            <a:avLst/>
          </a:prstGeom>
          <a:ln w="15875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699248" y="4114800"/>
            <a:ext cx="2286000" cy="74980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Stock availability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is it actually here?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3355848" y="3246120"/>
            <a:ext cx="2743200" cy="1243584"/>
          </a:xfrm>
          <a:prstGeom prst="bentConnector3">
            <a:avLst/>
          </a:prstGeom>
          <a:ln w="15875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212848" y="4114800"/>
            <a:ext cx="2286000" cy="74980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Timing / ETA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when can I have it?</a:t>
            </a:r>
          </a:p>
        </p:txBody>
      </p:sp>
      <p:cxnSp>
        <p:nvCxnSpPr>
          <p:cNvPr id="22" name="Connector 21"/>
          <p:cNvCxnSpPr/>
          <p:nvPr/>
        </p:nvCxnSpPr>
        <p:spPr>
          <a:xfrm flipH="1" flipV="1">
            <a:off x="3355848" y="3026664"/>
            <a:ext cx="2743200" cy="219456"/>
          </a:xfrm>
          <a:prstGeom prst="bentConnector3">
            <a:avLst/>
          </a:prstGeom>
          <a:ln w="15875">
            <a:solidFill>
              <a:srgbClr val="1A9B4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212848" y="2651760"/>
            <a:ext cx="2286000" cy="74980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38404" bIns="38404">
            <a:noAutofit/>
          </a:bodyPr>
          <a:lstStyle/>
          <a:p>
            <a:pPr algn="ctr">
              <a:lnSpc>
                <a:spcPct val="100000"/>
              </a:lnSpc>
            </a:pPr>
            <a:r>
              <a:rPr sz="1000" b="1" i="0">
                <a:solidFill>
                  <a:srgbClr val="126E35"/>
                </a:solidFill>
                <a:latin typeface="Calibri"/>
              </a:rPr>
              <a:t>Alternatives</a:t>
            </a:r>
          </a:p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126E35"/>
                </a:solidFill>
                <a:latin typeface="Calibri"/>
              </a:rPr>
              <a:t>generic / substitute options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663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52525B"/>
                </a:solidFill>
                <a:latin typeface="Calibri"/>
              </a:rPr>
              <a:t>Money is the sharpest case, not the whole of it — never spring a surprise at the till.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UX · GROUNDED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Each pillar earns its place — one proven org example apiece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81328"/>
            <a:ext cx="82296" cy="47548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0936" y="1481328"/>
            <a:ext cx="11009376" cy="475488"/>
          </a:xfrm>
          <a:prstGeom prst="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87782" bIns="87782">
            <a:no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26E35"/>
                </a:solidFill>
                <a:latin typeface="Calibri"/>
              </a:rPr>
              <a:t>So what:  </a:t>
            </a:r>
            <a:r>
              <a:rPr sz="1250" b="0" i="0">
                <a:solidFill>
                  <a:srgbClr val="1D1D1D"/>
                </a:solidFill>
                <a:latin typeface="Calibri"/>
              </a:rPr>
              <a:t>Every UX pillar already has a working real-world implementation we can point to, so the design constitution is defensible to a sceptical executive, not a designer's wish-list.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wiki/consumer-context/digital-access-and-whatsapp · wiki/global-benchmarks/uk-boots-pharmacy2u-nhs-eps · wiki/global-benchmarks/patterns-to-borrow-and-cautions · wiki/global-benchmarks/australia-chemist-warehouse-escript · wiki/global-benchmarks/amazon-pharmacy-pillpack-deepdive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402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U1 — WhatsApp is SA's default channel (#1 app, ~99% mobile coverage); USSD/SMS for the low end; India/China platform loops prove the model at scale.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U2 — NHS App: &gt;39m users, real-time "Amazon-style" status (ordered → ready → collected) cuts call-centre load and anxiety.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70332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U4 — Dual prescription verification (India) + AI-triage-before-human with hard guardrails (China bans AI-generated scripts) = graceful, safe failure.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3484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U5 — Australia eScript token is an SMS the patient can forward to a carer; nominated/ASL consent is per-pharmacy and revocable — proxy/caregiver as a first-class user.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U6 — MedAdvisor: a digital script wallet + "tap to refill" so medicine is prepared and ready; new-token-per-repeat removes the re-submit step.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7498079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</a:pPr>
            <a:r>
              <a:rPr sz="1350" b="1" i="0" u="none">
                <a:solidFill>
                  <a:srgbClr val="1A9B4A"/>
                </a:solidFill>
                <a:latin typeface="Calibri"/>
              </a:rPr>
              <a:t>▸ </a:t>
            </a:r>
            <a:r>
              <a:rPr sz="1350" b="0" i="0" u="none">
                <a:solidFill>
                  <a:srgbClr val="1D1D1D"/>
                </a:solidFill>
                <a:latin typeface="Calibri"/>
              </a:rPr>
              <a:t>U7 — PillPack pre-sorts daily medicines into per-dose sachets labelled by date and time — the dose, not the bottle, is the unit patients manage.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99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The bets — and the honest open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800" b="0" i="1" u="none">
                <a:solidFill>
                  <a:srgbClr val="52525B"/>
                </a:solidFill>
                <a:latin typeface="Calibri"/>
              </a:rPr>
              <a:t>Source: </a:t>
            </a:r>
            <a:r>
              <a:rPr sz="800" b="0" i="1" u="none">
                <a:solidFill>
                  <a:srgbClr val="126E35"/>
                </a:solidFill>
                <a:latin typeface="Calibri"/>
              </a:rPr>
              <a:t>wiki/concepts/chronic-medicine-flywheel · wiki/dischem/pharmacy-complaints-pain-points · wiki/digital-transformation/interoperability-identity-records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43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286000"/>
            <a:ext cx="11091672" cy="3767328"/>
          </a:xfrm>
          <a:prstGeom prst="roundRect">
            <a:avLst/>
          </a:prstGeom>
          <a:solidFill>
            <a:srgbClr val="1A9B4A"/>
          </a:solidFill>
          <a:ln>
            <a:noFill/>
          </a:ln>
          <a:effectLst>
            <a:outerShdw blurRad="60000" dist="25000" dir="5400000" rotWithShape="0">
              <a:srgbClr val="1D1D1D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96896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Bet 1 — Build one spine, two journeys (S1): a first-class cash path beside the scheme path, never card-only, price legible before commit.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90088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Bet 2 — Own the chronic flywheel (S4): proactive register-once → auto-dispense → refill loop, wired into scheme/DSP rails; out-compete the couriers on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3280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Bet 3 — Compete on service (S3): the Jan-2025 complaints are fix-the-seams problems — re-order state, closed-loop tracking, claim transparency, handover checks.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76472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Bet 4 — Free the pharmacist (S5): automate the toil, push to top-of-licence, make the store + clinic estate the health front door (S2).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69663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The big bet — Orchestration (S6): absorb the coordination the patient does today into one system; from dispensing a script to owning the treatment journey.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62855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🔮 Needs reform: pharmacist-initiated renewal · scheme claim-continuity automation · locker dispensing of scheduled meds · SAPC clarity on remote verification.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7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⚠️ Verify before building: vendor-reported adherence/automation figures (Accenture ~50% lift, ~70% Danish robots); insured % base/year; NHI status (in court).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49239"/>
            <a:ext cx="10332720" cy="3931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050" b="1" i="0" u="none">
                <a:solidFill>
                  <a:srgbClr val="B5D334"/>
                </a:solidFill>
                <a:latin typeface="Calibri"/>
              </a:rPr>
              <a:t>▸ </a:t>
            </a:r>
            <a:r>
              <a:rPr sz="1050" b="0" i="0" u="none">
                <a:solidFill>
                  <a:srgbClr val="FFFFFF"/>
                </a:solidFill>
                <a:latin typeface="Calibri"/>
              </a:rPr>
              <a:t>Open questions: complaint denominators (rates, not just rankings); SA identity/consent model for an e-script; will NHI adopt FHIR? Build internal EMPI/FHIR regardless.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9963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900" b="0" i="1" u="none">
                <a:solidFill>
                  <a:srgbClr val="B06A00"/>
                </a:solidFill>
                <a:latin typeface="Calibri"/>
              </a:rPr>
              <a:t>🔮 requires regulatory reform</a:t>
            </a:r>
            <a:r>
              <a:rPr sz="900" b="0" i="0" u="none">
                <a:solidFill>
                  <a:srgbClr val="52525B"/>
                </a:solidFill>
                <a:latin typeface="Calibri"/>
              </a:rPr>
              <a:t>    </a:t>
            </a:r>
            <a:r>
              <a:rPr sz="900" b="0" i="1" u="none">
                <a:solidFill>
                  <a:srgbClr val="B06A00"/>
                </a:solidFill>
                <a:latin typeface="Calibri"/>
              </a:rPr>
              <a:t>⚠ vendor-reported / extract-only (unverified)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A9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1100" b="1" i="0" u="none">
                <a:solidFill>
                  <a:srgbClr val="1A9B4A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2700" b="1" i="0" u="none">
                <a:solidFill>
                  <a:srgbClr val="1D1D1D"/>
                </a:solidFill>
                <a:latin typeface="Calibri"/>
              </a:rPr>
              <a:t>Where this comes from — the vault behind the deck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9525"/>
          </a:xfrm>
          <a:prstGeom prst="rect">
            <a:avLst/>
          </a:prstGeom>
          <a:solidFill>
            <a:srgbClr val="D7DD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620256"/>
            <a:ext cx="1005840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</a:pPr>
            <a:r>
              <a:rPr sz="750" b="0" i="0" u="none">
                <a:solidFill>
                  <a:srgbClr val="52525B"/>
                </a:solidFill>
                <a:latin typeface="Calibri"/>
              </a:rPr>
              <a:t>Concept for review — not an official Dis-Chem artefact  ·  Bigly Labs × Dis-Chem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20256"/>
            <a:ext cx="640080" cy="21945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</a:pPr>
            <a:r>
              <a:rPr sz="800" b="1" i="0" u="none">
                <a:solidFill>
                  <a:srgbClr val="126E35"/>
                </a:solidFill>
                <a:latin typeface="Calibri"/>
              </a:rPr>
              <a:t>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wiki/dischem/dischem-rx-current-journey — the as-is prescription journey (S6)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52093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wiki/dischem/pharmacy-complaints-pain-points — Jan-2025 complaints, segmented (S3, S6)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4730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wiki/consumer-context/two-economy-affordability — the ~16/~84 split (S1)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73671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wiki/medical-schemes/cash-uninsured-pathway — what a cash patient pays (S1)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500041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wiki/medical-schemes/courier-chronic-pharmacy-models — the SA chronic loop + CCMDD (S4)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26412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wiki/concepts/chronic-medicine-flywheel — the retention engine (S4)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52782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wiki/sa-regulatory/sep-dispensing-fee — SEP + capped dispensing fee (S3)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79153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wiki/ux-service-design/consultancy-pharmacy-research — McKinsey/Bain/Oliver Wyman/Deloitte/EY (S2, S5)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05523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wiki/digital-transformation/telepharmacy-and-omnichannel — remote verification, one profile (S5, S6)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31894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wiki/digital-transformation/interoperability-identity-records — internal EMPI + FHIR (S6)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58264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wiki/concepts/omnichannel-fulfilment — one order, one profile, store-as-node (S6)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84635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wiki/global-benchmarks/patterns-to-borrow-and-cautions — what transfers to SA (S4, S6)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11005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src-gbl-australia-escript — Australia eScript token + ASL, MedAdvisor, Chemist Warehouse (A) [Part 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19456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src-gbl-india-epharmacy — India e-pharmacy: PharmEasy, Apollo, Tata 1mg, Netmeds (B) [Part 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2093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src-gbl-apollo-247-results — Apollo HealthCo / Apollo 24|7 listed-company disclosures (A) [Part 3]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847300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src-gbl-china-internet-hospitals — China internet hospitals: Ping An / Alibaba / JD Health (B) [Part 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173671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src-gbl-china-eprescription-policy — China AI ban, prescription-first policy (B) [Part 3]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3500041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src-con-icasa-ict-2025 — ICASA State of the ICT Sector 2025 (2024 figures) (A) [Part 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826412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src-con-ramp-data-prices — RAMP data-price index &amp; SA data-cost trend (B) [Part 4]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4152782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src-con-loadshedding — load-shedding scale &amp; network/cold-chain impact (B) [Part 4]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4479153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src-reg-gray-pricing-2026 — Andy Gray on SA medicine pricing (SEP/SEPA, Feb 2026) (B) [Part 4]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805523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wiki/medical-schemes/* — CMS schemes &amp; two-economy split, PMB/CDL, DSPs, claims switching, CCMDD [Part 4]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131894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wiki/sa-regulatory/* — SEP/§22G, scheduling, e-Rx / telehealth / POPIA [Part 4]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5458264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src-dc-complaints-jan2025 — Dis-Chem C4C dataset, n=360 (B-tier, single month)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5784635"/>
            <a:ext cx="5486400" cy="32637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98000"/>
              </a:lnSpc>
            </a:pPr>
            <a:r>
              <a:rPr sz="900" b="1" i="0" u="none">
                <a:solidFill>
                  <a:srgbClr val="1A9B4A"/>
                </a:solidFill>
                <a:latin typeface="Calibri"/>
              </a:rPr>
              <a:t>• </a:t>
            </a:r>
            <a:r>
              <a:rPr sz="950" b="0" i="0" u="none">
                <a:solidFill>
                  <a:srgbClr val="1D1D1D"/>
                </a:solidFill>
                <a:latin typeface="Calibri"/>
              </a:rPr>
              <a:t>src-gbl-medadvisor — Australia adherence-app benchmark (B-tier)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