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notes for The Household Medicine Cabinet: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notes for Real-Time Transparency: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notes for The Pharmacy in the Room: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notes for CarerConsent: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notes for Auto-Refill: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notes for Script Sync: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notes for Script Renew: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notes for The Named Check: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notes for The 30/60 Fill: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notes for Express Collect: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notes for Made-for-Me Medicine: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notes for The Pharmacist Who Stays: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notes for The Pharmacy That Notices: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notes for The Standing Order: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notes for Core service: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feature catalogue · draft for review · 2026-10-08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6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feature catalogue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customer-facing feature, grouped under the concept that makes it work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D3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for review · 2026-10-08 · 70 features across 15 groups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catalogue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69494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first. Features are listed under the concepts in deliverables/08-concepts.html. The journeys are the check, not the source.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home per feature: the concept that makes it work. Where the customer sees a feature somewhere else, that concept lists it under Uses, not as its own. So one business unit runs cover status everywhere, instead of two teams running two versions.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thing. A feature name is what a product team would call it - something you could point at on a screen, in a store or in a parcel. Then one line: what the customer can do with it. No slogans.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What, not how. No technology or process in the name or the line, unless the route is obvious.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Customer-visible only. Backstage work (automated picking, the central script registry, the due-date calculation) belongs in the work-to-be-done catalogue.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is a column, not a feature. SMS, USSD and paper fallbacks are channels on an existing feature, not new features.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is left blank for Tamsin to complete.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0" y="1280160"/>
            <a:ext cx="3931920" cy="4937760"/>
          </a:xfrm>
          <a:prstGeom prst="roundRect">
            <a:avLst>
              <a:gd name="adj" fmla="val 2326"/>
            </a:avLst>
          </a:prstGeom>
          <a:solidFill>
            <a:srgbClr val="F4F8F5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0" y="1463040"/>
            <a:ext cx="3474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WA (WhatsApp) · Store · Portal (the doctor's prescribing screen) · Paper · Phone · SMS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needs regulatory change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open question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 concept relies on but another concept owns. Listed under each table so nothing is counted twice.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blank for you to fill 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made in this pass - please check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ownership rule you agreed: each feature lives with the concept that makes it 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1A9B4A"/>
          </a:solidFill>
          <a:ln w="12700">
            <a:solidFill>
              <a:srgbClr val="1A9B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00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Made-for-Me Packaging is merged into Made-for-Me Medicine. The two cards describe the same dose pack, labels and printed schedule. Made-for-Me Medicine is the newer, broader card.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1A9B4A"/>
          </a:solidFill>
          <a:ln w="12700">
            <a:solidFill>
              <a:srgbClr val="1A9B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514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 about a medicine lives in Made-for-Me Medicine: what it's for, how to take it, what to expect, pill photos. One content library feeds the cabinet, the pack, the check-ins and the collection notes.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1A9B4A"/>
          </a:solidFill>
          <a:ln w="12700">
            <a:solidFill>
              <a:srgbClr val="1A9B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429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 concepts (Snap-a-Script, E-Script Token) have no features of their own. Their promises already moved to other concepts. Sending a photo of a script sits in Core service, because it already exists in the app.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1A9B4A"/>
          </a:solidFill>
          <a:ln w="12700">
            <a:solidFill>
              <a:srgbClr val="1A9B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343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features have one home: messaging a pharmacist and booking a doctor sit with The Pharmacist Who Stays; the collect-for-me code sits with CarerConsent.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5303520"/>
            <a:ext cx="457200" cy="457200"/>
          </a:xfrm>
          <a:prstGeom prst="ellipse">
            <a:avLst/>
          </a:prstGeom>
          <a:solidFill>
            <a:srgbClr val="1A9B4A"/>
          </a:solidFill>
          <a:ln w="12700">
            <a:solidFill>
              <a:srgbClr val="1A9B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Backstage work is left out (last slide) and belongs in the work-to-be-done catalogue.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groups 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each concept owns, in the order they appear in this deck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8F5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544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Medicine Cabinet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10128" y="15544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8F5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7288" y="1554480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178808" y="15544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Transparency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63056" y="15544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8F5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0216" y="1554480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031736" y="15544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in the Room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15984" y="15544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8F5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53144" y="1554480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884664" y="15544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CarerConsent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761488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8F5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761488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761488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Auto-Refill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10128" y="2761488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8F5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47288" y="2761488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4178808" y="2761488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Sync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63056" y="2761488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8F5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00216" y="2761488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7031736" y="2761488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Renew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15984" y="2761488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8F5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53144" y="2761488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9884664" y="2761488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Check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968496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8F5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968496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3968496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30/60 Fill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310128" y="3968496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8F5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47288" y="3968496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33" name="Text 31"/>
          <p:cNvSpPr txBox="1"/>
          <p:nvPr/>
        </p:nvSpPr>
        <p:spPr>
          <a:xfrm>
            <a:off x="4178808" y="3968496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Collect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63056" y="3968496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8F5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00216" y="3968496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36" name="Text 34"/>
          <p:cNvSpPr txBox="1"/>
          <p:nvPr/>
        </p:nvSpPr>
        <p:spPr>
          <a:xfrm>
            <a:off x="7031736" y="3968496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Made-for-Me Medicine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015984" y="3968496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8F5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53144" y="3968496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39" name="Text 37"/>
          <p:cNvSpPr txBox="1"/>
          <p:nvPr/>
        </p:nvSpPr>
        <p:spPr>
          <a:xfrm>
            <a:off x="9884664" y="3968496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Who Stays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57200" y="5175504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8F5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4360" y="5175504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42" name="Text 40"/>
          <p:cNvSpPr txBox="1"/>
          <p:nvPr/>
        </p:nvSpPr>
        <p:spPr>
          <a:xfrm>
            <a:off x="1325880" y="5175504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That Notices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310128" y="5175504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8F5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447288" y="5175504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45" name="Text 43"/>
          <p:cNvSpPr txBox="1"/>
          <p:nvPr/>
        </p:nvSpPr>
        <p:spPr>
          <a:xfrm>
            <a:off x="4178808" y="5175504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Order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163056" y="5175504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E8F5EC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00216" y="5175504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600" dirty="0"/>
          </a:p>
        </p:txBody>
      </p:sp>
      <p:sp>
        <p:nvSpPr>
          <p:cNvPr id="48" name="Text 46"/>
          <p:cNvSpPr txBox="1"/>
          <p:nvPr/>
        </p:nvSpPr>
        <p:spPr>
          <a:xfrm>
            <a:off x="7031736" y="5175504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Household Medicine Cabinet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family's medicine, in one place.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86000"/>
                <a:gridCol w="5349240"/>
                <a:gridCol w="132588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customer can…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HMC-01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member profiles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each person (themselves, a partner, a child, a parent) under one account, without a separate login for each.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HMC-02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everyone's medicine together, or switch to one person.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HMC-03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 list per person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every medicine each person is on, current and past.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HMC-04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medicine from elsewhere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medicine bought somewhere else by scanning its barcode or taking a photo.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HMC-05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medicines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a medicine private and choose who sees it. To everyone else it doesn't appear in any view, reminder or message. The pharmacist's safety check still sees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HMC-06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Dose reminders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a reminder for each dose, at times that fit their day. Reminders go to the person taking the medicine, or to the carer for a child, and stop when a course ends.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HMC-07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Dose check-off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 a dose off as taken.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HMC-08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week at a glance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how the week's doses are going.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cover status per medicine (RTT-01) · what's due, per person (AR-01) · reorder (SO-03) · sharing the week with a carer (CC-04) · what each medicine is for and pill photos (MFM-04, MFM-05).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Transparency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your medicine, as clear as buying your groceries.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86000"/>
                <a:gridCol w="5349240"/>
                <a:gridCol w="132588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customer can…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RTT-01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 cover and co-pay quote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what the medical scheme will pay and what they will pay, before they commit.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WA, Portal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RTT-02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Itemised cash 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the cash price up front: the medicine plus the set dispensing fee.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WA, Portal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RTT-03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alternative offer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offered a cheaper or funded generic whenever one exists.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WA, Portal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RTT-04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stock by store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which nearby stores have the medicine in stock before they order, not a yes or no for one store.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WA, Portal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RTT-05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read-back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what was read from a photographed script, in plain words, before any price is quoted.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RTT-06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Can't-read alert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 straight away when a script can't be read, with what happens next and who is looking at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RTT-07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status tracking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 each step (received, checked, ready, on the way), with a "received ✓" the moment the pharmacy has the script.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WA, SMS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RTT-08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order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the total update each time an item is added.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Pharmacy in the Room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doctor and your pharmacy, finally in the same room.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86000"/>
                <a:gridCol w="5349240"/>
                <a:gridCol w="132588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customer can…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script from the consult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the doctor send the script straight to Dis-Chem from the consulting room, with no paper to carry.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shared with the doctor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the doctor see their allergies, current medicine and cover for this consult only, by approving a one-time code.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Portal, SMS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cover, cash price, generic and stock shown on the doctor's screen (RTT-01 to RTT-04) · received ✓ (RTT-07).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CarerConsent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manage their medicine. This makes it official.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86000"/>
                <a:gridCol w="5349240"/>
                <a:gridCol w="132588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customer can…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Carer permission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someone recorded permission to manage their medicine, so the carer acts for them without re-proving their authority.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WA,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 settings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what the permission covers (ordering, paying, collecting), and narrow or withdraw it at any time.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WA,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Collect-for-me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a code to someone they trust, who collects with only a parcel name and the code, never the medicines or history.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my week with a carer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a carer see how the week's doses went, only if they choose to.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who did what on their account, and when.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the pharmacist's check on each person's script (NC-01).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Auto-Refill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repeat should just repeat.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86000"/>
                <a:gridCol w="5349240"/>
                <a:gridCol w="132588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customer can…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Refill-due message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a message a week before they run out, and confirm "same as last month" in one tap.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WA, SMS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Change, skip or snooze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Change, skip or snooze any month's refill.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order status tracking (RTT-07) · collect or deliver choice (F30-01).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Sync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date, one pickup - the whole family's repeats together.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86000"/>
                <a:gridCol w="5349240"/>
                <a:gridCol w="132588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customer can…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refill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every repeat in the household lined up to one date, in one order, through a plan a pharmacist signs off. Medicines that can't move (fixed cycles, month-by-month scheduled medicine, clinic programmes) stay put.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Top-up fill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 a short top-up of any out-of-step medicine to bring it into line.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WA,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the family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offered the family date for a new medicine once its dose has settled.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refill-due message, one per household (AR-01).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Renew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script expires, we deal with the doctor.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86000"/>
                <a:gridCol w="5349240"/>
                <a:gridCol w="132588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customer can…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expiry alert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told before a script or its last repeat runs out.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WA, SMS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request to my doctor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 once, and Dis-Chem asks their doctor for the new script, with recent history attached.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doctor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a partner doctor review and re-issue the script when they don't have a doctor to hand.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Bridging supply ⚠️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 a short supply from the pharmacist if the script lapses while the renewal is sorted.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SR-04: an emergency supply is lawful only within limits. Schedules 2-4 on a non-recurring basis; Schedules 5-6 up to a 48-hour quantity src-reg-medicines-act-101-1965 (prescription-requirements-repeats). "Bridging" a monthly repeat may exceed that.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doctor appointment booking, when the doctor wants a review (PWS-04).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Named Check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script checked by a pharmacist with a name.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86000"/>
                <a:gridCol w="5349240"/>
                <a:gridCol w="132588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customer can…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pharmacist sign-off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the name of the pharmacist who checked their script ("Checked by Naledi ✓").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WA, 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dose check by 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 a child's dose was checked against the child's weight.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message a pharmacist (PWS-01).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30/60 Fill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before you get there. Or home before you are.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86000"/>
                <a:gridCol w="5349240"/>
                <a:gridCol w="132588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customer can…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F30-01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or deliver choice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collection or delivery, and how the pack is handed over (pharmacist at the counter, or express collect).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F30-02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in 30 minutes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from a store within 30 minutes of the script arriving.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F30-03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within the hour 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the script delivered to their door within the hour.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F30-04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delivery map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the driver on a map, with a real arrival time and proof of delivery.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F30-05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area and hours shown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where and when the 30- and 60-minute promises apply, before they choose.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F30-03: delivering an acute script is restricted by SAPC rule 1.9.7(e). Whether Dis-Chem's own same-metro delivery counts as "mail/courier" needs a legal read (punchlist 10(k)).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order status tracking (RTT-07) · live stock by store (RTT-04).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Collect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 is there if you want it. Most days you won't.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86000"/>
                <a:gridCol w="5349240"/>
                <a:gridCol w="132588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customer can…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collect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a code and take their pack, already waiting under their name, without queuing or speaking to anyone.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After-hours collection 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from the unit on the store's outside wall after the store has closed.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printed at the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the counselling notes at the unit, or have them sent instead.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EC-02: unattended after-hours release of scheduled medicine needs a pharmacist-oversight model (unmanned-collection-points).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collect-for-me code (CC-03) · message a pharmacist and call-back (PWS-01, PWS-02) · when-and-how guide (MFM-03).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Made-for-Me Medicine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to be taken right. Absorbs Made-for-Me Packaging.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86000"/>
                <a:gridCol w="5349240"/>
                <a:gridCol w="132588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customer can…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MFM-01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Dose sachets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 in to medicine packed into sachets by day and time, ready to open and take. A paid extra.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Store, delivery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MFM-02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Plain-language labels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every label at a glance: icons and large plain text, in their own language. Free on every script.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MFM-03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When-and-how guide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 when and how to take each medicine: with food or without, morning or evening, what to do if they miss one.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WA, 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MFM-04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it's for, and what to expect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what each medicine is for, the side effects worth knowing and the leaflet's need-to-knows, in plain words.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WA, 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MFM-05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 photos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a picture of each pill or pack, so it's recognisable at a glance.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MFM-06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Printed schedule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the schedule and guide on paper, with no screen or data needed.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Pharmacist Who Stays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pharmacist stays until you are better.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86000"/>
                <a:gridCol w="5349240"/>
                <a:gridCol w="132588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customer can…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PWS-01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a pharmacist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a pharmacist at any point, ideally the one who checked their medicine, and get an answer.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PWS-02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Pharmacist call-back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for a pharmacist to phone them, including after hours.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PWS-03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check-ins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check-ins that follow their course ("day three: you should be feeling better - tell us if not"), ending when the course does.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WA, SMS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PWS-04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appointment booking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 teleconsult or a Dis-Chem clinic slot inside the same conversation, with the price shown before they agree.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PWS-05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Not-better follow-up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helped back to a doctor if they aren't better by the day they should be.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WA, 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dose reminders that stop when the course ends (HMC-06) · what to expect (MFM-04).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Pharmacy That Notices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notices when the same thing keeps coming back.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86000"/>
                <a:gridCol w="5349240"/>
                <a:gridCol w="132588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customer can…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PTN-01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Recurring-problem check-in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told when the same problem keeps coming back, and be offered a check-in they can decline.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PTN-02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chronic medicine collection 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state-funded chronic medicine at a nearby Dis-Chem, where the family qualifies.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doctor appointment booking (PWS-04) · script expiry alert (SR-01) · message preferences (CORE-08).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Standing Order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is already coming. Add to it.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86000"/>
                <a:gridCol w="5349240"/>
                <a:gridCol w="132588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customer can…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order window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items to each repeat order until a stated cut-off.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Suggestions from my shopping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offered their usual buys, seasonal buys and current specials when the window opens.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to my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any item to the order. Added items travel with the medicine and never hold it up.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Symptom-relief suggestions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offered priced products that ease the symptoms of an acute condition, alongside the medicine. From 10: Acute; not on the concept card.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running order total (RTT-08).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service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86000"/>
                <a:gridCol w="5349240"/>
                <a:gridCol w="132588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customer can…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E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a photo of a 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a photo of a paper script. Already live in the app.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Go-ahead to dispense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an explicit yes before medicine is made up in a person's name.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confirmation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one confirmation of method, store or slot, ready time, address and total.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WA, SMS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 counter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from a separate counter where a pharmacist hands over and explains the medicine.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slots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a delivery slot from the times available.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until packing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the slot or address until packing starts, and see when that cut-off is.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 point options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an off-site collection point. Told upfront what each point can carry (some take medicine only).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preferences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their channel and language, and switch any nudge off.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 addresses and stores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their address and usual store filled in.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with a saved card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with a saved card, charged when the order is packed.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once at collection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one total at the counter: the quoted price plus anything added.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the journeys need that no concept owns. First pass only, from 10: Acute Choosing how I get it and 09: Repeat. The full journey walk will add to this group.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out on purpose, and still open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4F8F5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4846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Backstage - not in this catalogue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appear on concept cards but no customer touches them. They belong in the work-to-be-done catalogue: automated picking and counting · the central script registry (fill once, at any store) · refill due-date calculation · the automated keying of scripts.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210312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SR-04: what exactly can a pharmacist supply while a renewal is sorted? Check against the emergency-supply limits.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F30-03, EC-02, PTN-02: regulatory flags carried from the journeys.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 is incomplete until all four journeys are walked.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feature catalogue - review</dc:title>
  <dc:subject>PptxGenJS Presentation</dc:subject>
  <dc:creator>PptxGenJS</dc:creator>
  <cp:lastModifiedBy>PptxGenJS</cp:lastModifiedBy>
  <cp:revision>1</cp:revision>
  <dcterms:created xsi:type="dcterms:W3CDTF">2026-10-08T12:16:07Z</dcterms:created>
  <dcterms:modified xsi:type="dcterms:W3CDTF">2026-10-08T12:16:07Z</dcterms:modified>
</cp:coreProperties>
</file>