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4a46a53-d7d3-5350-205b-23b468daf41b}">
          <p14:sldIdLst>
            <p14:sldId id="256"/>
            <p14:sldId id="257"/>
            <p14:sldId id="258"/>
            <p14:sldId id="259"/>
            <p14:sldId id="260"/>
            <p14:sldId id="261"/>
            <p14:sldId id="262"/>
          </p14:sldIdLst>
        </p14:section>
        <p14:section name="The work, by capability" id="{80cae3df-9aed-be57-55d3-4dab5890375d}">
          <p14:sldIdLst>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Appendix" id="{ed19b60f-e5df-1853-31f1-8968e8b8f212}">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Items</c:v>
                </c:pt>
              </c:strCache>
            </c:strRef>
          </c:tx>
          <c:spPr>
            <a:solidFill>
              <a:srgbClr val="1A9B4A"/>
            </a:solidFill>
            <a:effectLst/>
          </c:spPr>
          <c:invertIfNegative val="0"/>
          <c:dLbls>
            <c:numFmt formatCode="#,##0" sourceLinked="0"/>
            <c:txPr>
              <a:bodyPr/>
              <a:lstStyle/>
              <a:p>
                <a:pPr>
                  <a:defRPr b="0" i="0" strike="noStrike" sz="1400" u="none">
                    <a:solidFill>
                      <a:srgbClr val="1D1D1D"/>
                    </a:solidFill>
                    <a:latin typeface="Calibri"/>
                  </a:defRPr>
                </a:pPr>
              </a:p>
            </c:txPr>
            <c:showLegendKey val="0"/>
            <c:showVal val="1"/>
            <c:showCatName val="0"/>
            <c:showSerName val="0"/>
            <c:showPercent val="0"/>
            <c:showBubbleSize val="0"/>
            <c:showLeaderLines val="0"/>
          </c:dLbls>
          <c:dPt>
            <c:idx val="0"/>
            <c:invertIfNegative val="0"/>
            <c:bubble3D val="0"/>
            <c:spPr>
              <a:solidFill>
                <a:srgbClr val="1A9B4A"/>
              </a:solidFill>
              <a:effectLst/>
            </c:spPr>
          </c:dPt>
          <c:dPt>
            <c:idx val="1"/>
            <c:invertIfNegative val="0"/>
            <c:bubble3D val="0"/>
            <c:spPr>
              <a:solidFill>
                <a:srgbClr val="1A9B4A"/>
              </a:solidFill>
              <a:effectLst/>
            </c:spPr>
          </c:dPt>
          <c:dPt>
            <c:idx val="2"/>
            <c:invertIfNegative val="0"/>
            <c:bubble3D val="0"/>
            <c:spPr>
              <a:solidFill>
                <a:srgbClr val="1A9B4A"/>
              </a:solidFill>
              <a:effectLst/>
            </c:spPr>
          </c:dPt>
          <c:dPt>
            <c:idx val="3"/>
            <c:invertIfNegative val="0"/>
            <c:bubble3D val="0"/>
            <c:spPr>
              <a:solidFill>
                <a:srgbClr val="B5D334"/>
              </a:solidFill>
              <a:effectLst/>
            </c:spPr>
          </c:dPt>
          <c:cat>
            <c:multiLvlStrRef>
              <c:f>Sheet1!$A$2:$A$5</c:f>
              <c:multiLvlStrCache>
                <c:ptCount val="4"/>
                <c:lvl>
                  <c:pt idx="0">
                    <c:v>HSQ: Health Squad map</c:v>
                  </c:pt>
                  <c:pt idx="1">
                    <c:v>ECM: Enterprise model</c:v>
                  </c:pt>
                  <c:pt idx="2">
                    <c:v>FUL: Fulfilment compendium</c:v>
                  </c:pt>
                  <c:pt idx="3">
                    <c:v>In no catalogue</c:v>
                  </c:pt>
                </c:lvl>
              </c:multiLvlStrCache>
            </c:multiLvlStrRef>
          </c:cat>
          <c:val>
            <c:numRef>
              <c:f>Sheet1!$B$2:$B$5</c:f>
              <c:numCache>
                <c:formatCode>General</c:formatCode>
                <c:ptCount val="4"/>
                <c:pt idx="0">
                  <c:v>28</c:v>
                </c:pt>
                <c:pt idx="1">
                  <c:v>21</c:v>
                </c:pt>
                <c:pt idx="2">
                  <c:v>27</c:v>
                </c:pt>
                <c:pt idx="3">
                  <c:v>37</c:v>
                </c:pt>
              </c:numCache>
            </c:numRef>
          </c:val>
        </c:ser>
        <c:dLbls>
          <c:numFmt formatCode="#,##0" sourceLinked="0"/>
          <c:txPr>
            <a:bodyPr/>
            <a:lstStyle/>
            <a:p>
              <a:pPr>
                <a:defRPr b="0" i="0" strike="noStrike" sz="1400" u="none">
                  <a:solidFill>
                    <a:srgbClr val="1D1D1D"/>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D1D1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Depended on by</c:v>
                </c:pt>
              </c:strCache>
            </c:strRef>
          </c:tx>
          <c:spPr>
            <a:solidFill>
              <a:srgbClr val="126E35"/>
            </a:solidFill>
            <a:effectLst/>
          </c:spPr>
          <c:invertIfNegative val="0"/>
          <c:dLbls>
            <c:numFmt formatCode="#,##0" sourceLinked="0"/>
            <c:txPr>
              <a:bodyPr/>
              <a:lstStyle/>
              <a:p>
                <a:pPr>
                  <a:defRPr b="0" i="0" strike="noStrike" sz="1400" u="none">
                    <a:solidFill>
                      <a:srgbClr val="1D1D1D"/>
                    </a:solidFill>
                    <a:latin typeface="Calibri"/>
                  </a:defRPr>
                </a:pPr>
              </a:p>
            </c:txPr>
            <c:showLegendKey val="0"/>
            <c:showVal val="1"/>
            <c:showCatName val="0"/>
            <c:showSerName val="0"/>
            <c:showPercent val="0"/>
            <c:showBubbleSize val="0"/>
            <c:showLeaderLines val="0"/>
          </c:dLbls>
          <c:cat>
            <c:multiLvlStrRef>
              <c:f>Sheet1!$A$2:$A$9</c:f>
              <c:multiLvlStrCache>
                <c:ptCount val="8"/>
                <c:lvl>
                  <c:pt idx="0">
                    <c:v>Household profile  BLD-7-01</c:v>
                  </c:pt>
                  <c:pt idx="1">
                    <c:v>One order workflow (BRiX)  BLD-7-15</c:v>
                  </c:pt>
                  <c:pt idx="2">
                    <c:v>One customer record  BLD-7-02</c:v>
                  </c:pt>
                  <c:pt idx="3">
                    <c:v>Refill prediction  BLD-7-22</c:v>
                  </c:pt>
                  <c:pt idx="4">
                    <c:v>Schedule-aware repeat rules  BLD-7-07</c:v>
                  </c:pt>
                  <c:pt idx="5">
                    <c:v>Scheme check before the notice  BLD-7-09</c:v>
                  </c:pt>
                  <c:pt idx="6">
                    <c:v>One medicine price engine  BLD-7-10</c:v>
                  </c:pt>
                  <c:pt idx="7">
                    <c:v>Live stock visibility  BLD-7-13</c:v>
                  </c:pt>
                </c:lvl>
              </c:multiLvlStrCache>
            </c:multiLvlStrRef>
          </c:cat>
          <c:val>
            <c:numRef>
              <c:f>Sheet1!$B$2:$B$9</c:f>
              <c:numCache>
                <c:formatCode>General</c:formatCode>
                <c:ptCount val="8"/>
                <c:pt idx="0">
                  <c:v>5</c:v>
                </c:pt>
                <c:pt idx="1">
                  <c:v>5</c:v>
                </c:pt>
                <c:pt idx="2">
                  <c:v>4</c:v>
                </c:pt>
                <c:pt idx="3">
                  <c:v>4</c:v>
                </c:pt>
                <c:pt idx="4">
                  <c:v>3</c:v>
                </c:pt>
                <c:pt idx="5">
                  <c:v>3</c:v>
                </c:pt>
                <c:pt idx="6">
                  <c:v>3</c:v>
                </c:pt>
                <c:pt idx="7">
                  <c:v>3</c:v>
                </c:pt>
              </c:numCache>
            </c:numRef>
          </c:val>
        </c:ser>
        <c:dLbls>
          <c:numFmt formatCode="#,##0" sourceLinked="0"/>
          <c:txPr>
            <a:bodyPr/>
            <a:lstStyle/>
            <a:p>
              <a:pPr>
                <a:defRPr b="0" i="0" strike="noStrike" sz="1400" u="none">
                  <a:solidFill>
                    <a:srgbClr val="1D1D1D"/>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D1D1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built from journey 09: Repeat only, so Tamsin can react to the frame, the item wording and the slide treatment before 10: Acute, 11: Repeat WhatsApp and 12: Acute WhatsApp are harvested.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count is for one journey. Items will be shared across journeys, so the full catalogue will be larger but not four times larger. Status counts come from cross-checking the Health Squad map (HSQ), the enterprise capability model (ECM) and the McKinsey fulfilment compendium (FUL).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Tie-break rule: what does the work produce? Evidence goes to Learn, permission to Permit, a thing to Build, a changed behaviour to Run. Feature vs platform: if two or more features or journeys need it, it is a platform. Content vs feature: the instruction library is content; the screen that shows it is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capabilities, named without saying how they are delivered, following business-capability-map practice and drawing on HSQ and ECM names. Rule for cross-cutting items: file under the capability the item unlocks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for 09: Repeat as a tile, by capability row, coloured by status. Detail for each tile is on the capability slides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item can be seen in more than one catalogue. HSQ is customer-facing only, so it names none of the staff tools, operations, regulation or content items. ECM names capabilities, not status. FUL covers fulfilment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Dependency counts are within 09: Repeat only and will grow as 10, 11 and 12 are added. Stock is the thinnest row on the grid (4 items), yet live stock visibility is one of the foundations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BLD-7-01  Household profile
Enables: 09: Repeat · Signing up; 09: Repeat · Repeats are due; 09: Repeat · Taking it
Concepts: Household Medicine Cabinet
Depends on: BLD-7-02 One customer record; BLD-7-03 Carer consent that travels
Status note: HSQ: dependant profiles Planned in app and web, Gap on WhatsApp and in-store.
Evidence: wiki/concepts/identity-and-consent
BLD-7-02  One customer record
Enables: 09: Repeat · Signing up
Status note: FUL s22: profiles cleaned and centralised through BRiX in the target state; MLP no change. FUL s40 lists centralised profiles as an unlock.
Evidence: wiki/dischem/dischem-social-sentiment-trust-journey
BLD-7-03  Carer consent that travels
Enables: 09: Repeat · Signing up; 09: Repeat · Taking it
Concepts: CarerConsent
Depends on: BLD-7-01 Household profile
Status note: HSQ: proxy assignment Planned, but "acting for a dependant" is a Gap - the permission exists and does not propagate.
Evidence: wiki/concepts/identity-and-consent
BLD-7-04  Preferences honoured everywhere
Enables: 09: Repeat · Signing up; 09: Repeat · Repeats are due; 09: Repeat · Taking it
Depends on: BLD-7-01 Household profile
Status note: HSQ: contact preference settings Gap; language and accessibility preference Gap.
BLD-7-05  Verified identity on WhatsApp
Enables: 09: Repeat · Signing up
Depends on: BLD-7-02 One customer record
Status note: HSQ: WhatsApp has no profile ("phone number only"); in-context ID check at high-risk actions is a Gap on WhatsApp.
Evidence: wiki/consumer-context/digital-access-and-whatsapp
BLD-7-06  Suggestions from buying history
Enables: 09: Repeat · Adding to the order
Concepts: The Standing Order
Depends on: BLD-7-02 One customer record
Status note: Design assumption in 09 (punchlist item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PRM-4-01  Carer authority policy
Enables: 09: Repeat · Signing up; 09: Repeat · Taking it
Concepts: CarerConsent
Status note: Not in any catalogue. Related HSQ Gap: sensitivity-graded consent (current model is single-tier).
Evidence: wiki/concepts/identity-and-consent
Open question: Can a carer collect an adult's Schedule 6 medicine, and what ID check applies?
LRN-1-01  Household manager research
Enables: 09: Repeat · Signing up; 09: Repeat · Repeats are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BLD-7-07  Schedule-aware repeat rules
Enables: 09: Repeat · Signing up; 09: Repeat · When something breaks
Status note: HSQ shows repeat requests as Live, but nothing schedule-aware for a standing service.
Evidence: wiki/sa-regulatory/prescription-requirements-repeats
PRM-3-01  Repeats for chronic Schedule 6
Enables: 09: Repeat · Signing up; 09: Repeat · When something breaks
Flag: requires regulatory reform
Evidence: wiki/sa-regulatory/prescription-requirements-repeats; wiki/sa-regulatory/medicines-act-scheduling
BLD-7-08  Proactive script renewal
Enables: 09: Repeat · When something breaks; 09: Repeat · Taking it
Concepts: Script Renew
Depends on: BLD-7-07 Schedule-aware repeat rules
Status note: HSQ: proactive renewal (provider-initiated, ~6 weeks ahead) is a Gap on every channel.
Evidence: wiki/sa-regulatory/prescription-requirements-repeats
BLD-5-01  Renewal status for customers
Enables: 09: Repeat · When something breaks
Concepts: Script Renew
Depends on: BLD-7-08 Proactive script renewal
Status note: HSQ: proactive renewal Gap.
RUN-11-01  Prescriber renewal link
Enables: 09: Repeat · When something breaks
Depends on: BLD-7-08 Proactive script renewal
Status note: FUL s18: target state is verified email or a GP submission platform, all scripts to the Adherence Centre.
LRN-1-02  Bridging supply rules
Enables: 09: Repeat · When something breaks
Status note: Vault flags emergency-supply provisions as unverified (meta/open-questions.md).
Evidence: wiki/sa-regulatory/prescription-requirements-repeats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BLD-7-09  Scheme check before the notice
Enables: 09: Repeat · Repeats are due; 09: Repeat · When something breaks
Status note: HSQ: prospective eligibility check Live in app, Gap on WhatsApp; nothing runs it ahead of a repeat.
Evidence: wiki/medical-schemes/realtime-claims-switching
BLD-7-10  One medicine price engine
Enables: 09: Repeat · Repeats are due; 09: Repeat · Adding to the order
Status note: HSQ: upfront cost estimate and price comparison are Gaps. ECM names Pricing &amp; Cost Modelling.
Evidence: wiki/sa-regulatory/sep-dispensing-fee; wiki/dischem/pharmacy-complaints-pain-points
BLD-5-02  Itemised household cost
Enables: 09: Repeat · Repeats are due
Concepts: Real-Time Transparency
Depends on: BLD-7-09 Scheme check before the notice; BLD-7-10 One medicine price engine
Status note: HSQ: upfront cost estimate Gap.
BLD-7-11  Several schemes, one order
Enables: 09: Repeat · Signing up; 09: Repeat · Repeats are due
Depends on: BLD-7-09 Scheme check before the notice; BLD-7-01 Household profile
Status note: FUL s22: one submission across multiple funders in the target state (MLP no change). HSQ: split payment Planned.
BLD-5-03  Saved payment and decline rule
Enables: 09: Repeat · Signing up; 09: Repeat · When something breaks
Status note: HSQ: in-app payment Planned.
BLD-5-04  Decline choices message
Enables: 09: Repeat · When something breaks
Depends on: BLD-7-09 Scheme check before the notice; BLD-5-03 Saved payment and decline rule
Evidence: wiki/dischem/pharmacy-complaints-pain-points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RUN-11-02  Cash payment at a bank partner
Enables: 09: Repeat · Signing up; 09: Repeat · In hand
Status note: Design assumption in 09. Dis-Chem and Capitec already partner on rewards.
Evidence: sources/src-capitec-dischem-better-rewards-2025
BLD-7-12  Payment switches on collection
Enables: 09: Repeat · In hand
Depends on: RUN-11-02 Cash payment at a bank partner; BLD-7-18 Closed-loop handover code
LRN-2-01  Repeat service commercial model
Enables: 09: Repeat · Signing up; 09: Repeat · Taking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BLD-7-13  Live stock visibility
Enables: 09: Repeat · Repeats are due; 09: Repeat · When something breaks
Status note: FUL s21: stock updates nightly and miscounts part packs; target is real-time, but the MLP is "no change". FUL s40 unlock.
BLD-7-14  Stock held for predicted repeats
Enables: 09: Repeat · Repeats are due; 09: Repeat · When something breaks
Depends on: BLD-7-13 Live stock visibility; BLD-7-22 Refill prediction
RUN-9-01  Stock recorded as it moves
Enables: 09: Repeat · Repeats are due; 09: Repeat · When something breaks
Depends on: BLD-7-13 Live stock visibility
Status note: FUL s21 and s52: inaccurate stock data sets off a domino effect across the process.
BLD-5-05  Out-of-stock choices
Enables: 09: Repeat · When something breaks
Depends on: BLD-7-13 Live stock visibility; BLD-7-20 Split delivery on stock-out
Status note: FUL s20: out-of-stock comms by app, call or WhatsApp; MLP no change vs.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BLD-7-15  One order workflow (BRiX)
Enables: 09: Repeat · Repeats are due; 09: Repeat · Checked and packed; 09: Repeat · In hand
Status note: BRiX launches early 2027 (programme update, 2026-10-04). FUL s21, s40.
Evidence: wiki/digital-transformation/dischem-scripting-tech-roadmap
BLD-7-16  Repeats prepare themselves
Enables: 09: Repeat · Repeats are due
Depends on: BLD-7-15 One order workflow (BRiX); BLD-7-22 Refill prediction; PRM-4-03 Auto-refill eligibility policy
Status note: FUL s17: eligible repeats auto-dispensed without PBQ review in the target state.
BLD-6-01  AI check assistant
Enables: 09: Repeat · Checked and packed
Depends on: BLD-7-15 One order workflow (BRiX)
Status note: FUL s20: AI tools assist validation (overdose check). HSQ: pre-dispensing safety questionnaire Gap.
Evidence: wiki/digital-transformation/ai-in-pharmacy
PRM-3-02  Rules for AI-assisted checking
Enables: 09: Repeat · Checked and packed
Flag: requires regulatory reform
Evidence: wiki/digital-transformation/ai-in-pharmacy; wiki/sa-regulatory/pharmacy-act-sapc-gpp
BLD-6-02  Named sign-off record
Enables: 09: Repeat · Checked and packed
Depends on: BLD-7-15 One order workflow (BRiX)
Status note: FUL s34: pharmacists review every order once, with input and validation tracked end-to-end.
BLD-5-06  Checked-and-packed status
Enables: 09: Repeat · Checked and packed
Concepts: The Named Check
Depends on: BLD-6-02 Named sign-off record
Status note: Not in any catalogue. HSQ has script status tracking (Live), but not the itemised, named version.
Evidence: wiki/dischem/dischem-social-sentiment-trust-journey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PRM-4-02  Naming the pharmacist
Enables: 09: Repeat · Checked and packed
Concepts: The Named Check
BLD-6-03  Automated picking (ROWA)
Enables: 09: Repeat · Checked and packed
Status note: First ROWA goes in mid-2027 (programme update, 2026-10-04). FUL s21, s40.
Evidence: wiki/digital-transformation/pharmacy-automation-and-robotics
BLD-6-04  Pick verification
Enables: 09: Repeat · Checked and packed
Status note: FUL s17: scan to confirm the correct packaged medication.
Evidence: wiki/dispensing-practice/error-prevention-and-safety
RUN-9-02  Explained generic switch
Enables: 09: Repeat · When something breaks
Status note: HSQ: approved generic substitution shown at dispense Live in app. ECM: Medication Substitution &amp; Cost Optimisation.
Evidence: wiki/dischem/dischem-social-sentiment-trust-journey
BLD-5-07  Pharmacist in the thread
Enables: 09: Repeat · Taking it; 09: Repeat · When something breaks
Depends on: BLD-6-06 Conversation console; RUN-10-01 Remote pharmacist service
Status note: HSQ: two-way pharmacist messaging Gap on app, web and WhatsApp.
RUN-10-01  Remote pharmacist service
Enables: 09: Repeat · Taking it; 09: Repeat · When something breaks
Status note: HSQ: two-way pharmacist messaging Gap. ECM: Virtual Pharmacy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RUN-10-02  Adherence Centre capacity
Enables: 09: Repeat · Repeats are due; 09: Repeat · Checked and packed
Status note: FUL s43-45 staffing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BLD-5-08  Open order window
Enables: 09: Repeat · Adding to the order
Concepts: The Standing Order
Depends on: BLD-7-17 One household parcel
Status note: Design assumption in 09 (punchlist item 9).
BLD-7-17  One household parcel
Enables: 09: Repeat · Adding to the order; 09: Repeat · Checked and packed; 09: Repeat · In hand
Depends on: BLD-7-15 One order workflow (BRiX)
Status note: FUL s17, s21: combined script and e-commerce orders in the target state. Roadmap: consolidation hub (PICCUP).
Evidence: wiki/digital-transformation/dischem-scripting-tech-roadmap
RUN-9-03  Combined pick and pack
Enables: 09: Repeat · Checked and packed
Depends on: BLD-7-17 One household parcel
Status note: FUL s17.
BLD-5-09  Flexible delivery plans
Enables: 09: Repeat · Checked and packed
BLD-5-10  Live delivery tracking
Enables: 09: Repeat · In hand
Status note: FUL s19 driver orchestration; s40 unlock.
Evidence: wiki/dischem/pharmacy-complaints-pain-points
BLD-7-18  Closed-loop handover code
Enables: 09: Repeat · In hand; 09: Repeat · When something breaks
Status note: Roadmap: driver proof of delivery (PICCUP). Locker and counter use of the same code is new.
Evidence: wiki/digital-transformation/dischem-scripting-tech-roadmap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BLD-7-19  Failed delivery re-planned
Enables: 09: Repeat · When something breaks
Depends on: BLD-7-18 Closed-loop handover code; RUN-9-04 Collect any order at any counter
Status note: FUL s40: unified collections across store types.
BLD-7-20  Split delivery on stock-out
Enables: 09: Repeat · When something breaks
Depends on: BLD-7-17 One household parcel
Status note: Design assumption in 09 (punchlist item 9).
RUN-9-04  Collect any order at any counter
Enables: 09: Repeat · When something breaks
Status note: FUL s19 unified collections; s40 unlock.
RUN-11-03  Near-home locker network
Enables: 09: Repeat · Signing up; 09: Repeat · In hand
Status note: Design assumption in 09.
Evidence: wiki/consumer-context/last-mile-addressing-logistics; wiki/concepts/remote-collection-points
BLD-7-21  Locker integration
Enables: 09: Repeat · In hand; 09: Repeat · When something breaks
Depends on: RUN-11-03 Near-home locker network; BLD-7-12 Payment switches on collection
PRM-3-03  Scheduled medicine from lockers
Enables: 09: Repeat · In hand
Flag: requires regulatory reform
Evidence: wiki/sa-regulatory/courier-online-pharmacy-rules; wiki/concepts/unmanned-collection-points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RUN-9-05  Medicine courier compliance
Enables: 09: Repeat · In hand
Evidence: wiki/sa-regulatory/courier-online-pharmacy-rules; wiki/dispensing-practice/inventory-coldchain-controlled
BLD-5-11  Contents check with photo help
Enables: 09: Repeat · In hand
Depends on: BLD-5-19 Call me back
Status note: Design assumption in 09. Related HSQ Gap: context-carrying handoff.
LRN-2-02  Delivery promise standard
Enables: 09: Repeat · Repeats are due; 09: Repeat · In hand
Status note: FUL s20: follow-up when a promise is missed is TBD. FUL s61: slots calibrated to dispensary times.
Evidence: wiki/dischem/store-of-the-future-customer-voice
LRN-2-03  What rides with medicine
Enables: 09: Repeat · Adding to the order
LRN-1-03  Cash customer proposition test
Enables: 09: Repeat · Signing up; 09: Repeat ·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BLD-5-12  Repeat service sign-up
Enables: 09: Repeat · Signing up
Concepts: Auto-Refill
Depends on: BLD-7-01 Household profile; BLD-7-04 Preferences honoured everywhere; BLD-7-07 Schedule-aware repeat rules
Status note: HSQ has repeat requests (Live), not a standing service.
BLD-7-22  Refill prediction
Enables: 09: Repeat · Repeats are due
Status note: FUL s17: refill notices 3-6 days ahead. HSQ: refill reminder Live in app, Gap on WhatsApp.
Evidence: wiki/digital-transformation/adherence-tech-and-digital-therapeutics
BLD-7-23  Script Sync engine
Enables: 09: Repeat · Signing up
Concepts: Script Sync
Depends on: BLD-7-22 Refill prediction; BLD-7-07 Schedule-aware repeat rules; BLD-7-10 One medicine price engine
LRN-1-04  Scheme rules for part-fills
Enables: 09: Repeat · Signing up
Concepts: Script Sync
Status note: Unsourced in the vault (punchlist).
PRM-4-03  Auto-refill eligibility policy
Enables: 09: Repeat · Repeats are due
Concepts: Auto-Refill
Status note: FUL s17: "eligible repeat orders (e.g., long-term)"; eligibility not yet defined.
BLD-5-13  Monthly repeat notice
Enables: 09: Repeat · Repeats are due
Concepts: Auto-Refill
Depends on: BLD-7-22 Refill prediction; BLD-5-02 Itemised household cost
Status note: FUL s17: refill notification 3-6 days ahead. HSQ: status alerts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BLD-5-14  Standing order controls
Enables: 09: Repeat · Repeats are due
Status note: HSQ: pause/resume a medication subscription Gap.
LRN-1-05  Validate Auto-Refill
Enables: 09: Repeat · Repeats are due
Concepts: Auto-Refill
LRN-1-06  Repeat service value proposition
Enables: 09: Repeat · Signing up; 09: Repeat · Repeats are due
Evidence: wiki/medical-schemes/courier-chronic-pharmacy-models
RUN-9-06  Dose-pack production
Enables: 09: Repeat · Checked and packed; 09: Repeat · Taking it
Concepts: Made-for-Me Medicine
Status note: HSQ: adherence packaging subscription Gap. ECM: Automated Dispensing Enablement.
Evidence: wiki/dispensing-practice/adherence-packaging
LRN-1-07  Dose-pack proposition
Enables: 09: Repeat · Signing up; 09: Repeat · Taking it
Concepts: Made-for-Me Medicine
BLD-5-15  Patient-controlled reminders
Enables: 09: Repeat · Taking it
Depends on: BLD-7-04 Preferences honoured everywhere; PRM-4-04 Contact and opt-out policy
Status note: HSQ: check-in reminders Gap. ECM: Automated Engagement &amp; Nudge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PRM-4-04  Contact and opt-out policy
Enables: 09: Repeat · Repeats are due; 09: Repeat · Taking it
Status note: HSQ: contact preference settings Gap.
Evidence: wiki/dischem/dischem-social-sentiment-trust-journey
RUN-11-04  Government programme link
Enables: 09: Repeat · Signing up; 09: Repeat · Repeats are due
Flag: requires regulatory reform
Evidence: wiki/medical-schemes/courier-chronic-pharmacy-models
BLD-5-16  Household medicine cabinet
Enables: 09: Repeat · Taking it
Concepts: Household Medicine Cabinet
Depends on: BLD-8-01 Usage instruction library; BLD-7-01 Household profile
Status note: HSQ: medication list Live in app, Gap on WhatsApp; content tied to an active script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BLD-8-01  Usage instruction library
Enables: 09: Repeat · Taking it
Status note: HSQ: content tied to an active script Gap ("printed leaflet only today"). ECM: Patient Education.
Evidence: wiki/dispensing-practice/counselling-and-health-literacy
BLD-8-02  Label design system
Enables: 09: Repeat · Taking it
Concepts: Made-for-Me Medicine
Evidence: wiki/dispensing-practice/counselling-and-health-literacy
BLD-8-03  Instructions in SA languages
Enables: 09: Repeat · Signing up; 09: Repeat · Taking it
Depends on: BLD-8-01 Usage instruction library
Status note: HSQ: language preference Gap.
BLD-8-04  Service message library
Enables: 09: Repeat · Repeats are due; 09: Repeat · Checked and packed; 09: Repeat · In hand; 09: Repeat · When something breaks
BLD-6-05  Per-person label printing
Enables: 09: Repeat · Taking it
Depends on: BLD-8-02 Label design system; BLD-8-03 Instructions in SA languages
Evidence: wiki/digital-transformation/dischem-scripting-tech-roadmap
LRN-1-08  Labelling rules check
Enables: 09: Repeat · Taking it
Evidence: wiki/dispensing-practice/dispensing-process-steps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BLD-7-24  WhatsApp service platform
Enables: 09: Repeat · Signing up; 09: Repeat · Repeats are due; 09: Repeat · Adding to the order; 09: Repeat · In hand; 09: Repeat · Taking it; 09: Repeat · When something breaks
Status note: HSQ: most medicine capabilities are Gap on WhatsApp. ECM names WhatsApp as the primary SA messaging channel.
Evidence: wiki/consumer-context/digital-access-and-whatsapp
BLD-5-17  Chat ordering on WhatsApp
Enables: 09: Repeat · Adding to the order
Depends on: BLD-7-24 WhatsApp service platform; BLD-7-10 One medicine price engine
BLD-5-18  Status at every stage
Enables: 09: Repeat · Checked and packed; 09: Repeat · In hand
Depends on: BLD-7-15 One order workflow (BRiX); BLD-8-04 Service message library
Status note: FUL s20: one-way comms at each stage; s40 unlock real-time notifications. HSQ: status alerts Live.
BLD-5-19  Call me back
Enables: 09: Repeat · Repeats are due; 09: Repeat · In hand; 09: Repeat · When something breaks
Depends on: BLD-6-06 Conversation console; RUN-10-03 Multilingual call-back team
Status note: HSQ: context-carrying handoff Gap.
BLD-6-06  Conversation console
Enables: 09: Repeat · Taking it; 09: Repeat · When something breaks
Depends on: BLD-7-02 One customer record
Status note: HSQ: context-carrying handoff Gap. ECM: Contact centre.
RUN-10-03  Multilingual call-back team
Enables: 09: Repeat · When something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RUN-9-07  One owner per problem
Enables: 09: Repeat · When something breaks
Status note: Roadmap: Virtual Manager (SLA oversight). FUL s20: ownership of missed promises TBD.
Evidence: wiki/digital-transformation/dischem-scripting-tech-roadmap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Tier 2 "Enables" field. Shared items will gain 10, 11 and 12 entries as those journeys are harvested.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 Bigly blueprint board (sources/src-bigly-blueprint-board-style.md). Counts show how many 09 items carry each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D1D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0058400" cy="1280160"/>
          </a:xfrm>
          <a:prstGeom prst="rect">
            <a:avLst/>
          </a:prstGeom>
          <a:noFill/>
          <a:ln/>
        </p:spPr>
        <p:txBody>
          <a:bodyPr wrap="square" rtlCol="0"/>
          <a:lstStyle>
            <a:lvl1pPr indent="0" marL="0">
              <a:buNone/>
              <a:defRPr lang="en-US" sz="4800" b="1" dirty="0">
                <a:solidFill>
                  <a:srgbClr val="FFFFFF"/>
                </a:solidFill>
              </a:defRPr>
            </a:lvl1pPr>
          </a:lstStyle>
          <a:p>
            <a:pPr indent="0" marL="0">
              <a:buNone/>
            </a:pPr>
            <a:endParaRPr lang="en-US" sz="4800" dirty="0"/>
          </a:p>
        </p:txBody>
      </p:sp>
      <p:sp>
        <p:nvSpPr>
          <p:cNvPr id="3" name="Text 0"/>
          <p:cNvSpPr/>
          <p:nvPr>
            <p:ph idx="101" type="body" hasCustomPrompt="1"/>
          </p:nvPr>
        </p:nvSpPr>
        <p:spPr>
          <a:xfrm>
            <a:off x="548640" y="3520440"/>
            <a:ext cx="10058400" cy="1463040"/>
          </a:xfrm>
          <a:prstGeom prst="rect">
            <a:avLst/>
          </a:prstGeom>
          <a:noFill/>
          <a:ln/>
        </p:spPr>
        <p:txBody>
          <a:bodyPr wrap="square" rtlCol="0"/>
          <a:lstStyle>
            <a:lvl1pPr indent="0" marL="0">
              <a:buNone/>
              <a:defRPr lang="en-US" sz="1800" dirty="0">
                <a:solidFill>
                  <a:srgbClr val="BFE3CF"/>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indent="0" marL="0">
              <a:buNone/>
              <a:defRPr lang="en-US" sz="2800" b="1" dirty="0">
                <a:solidFill>
                  <a:srgbClr val="1D1D1D"/>
                </a:solidFill>
              </a:defRPr>
            </a:lvl1pPr>
          </a:lstStyle>
          <a:p>
            <a:pPr indent="0" marL="0">
              <a:buNone/>
            </a:pPr>
            <a:endParaRPr lang="en-US" sz="2800" dirty="0"/>
          </a:p>
        </p:txBody>
      </p:sp>
      <p:sp>
        <p:nvSpPr>
          <p:cNvPr id="3" name="Text 0"/>
          <p:cNvSpPr/>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8A8F8C"/>
                </a:solidFill>
              </a:rPr>
              <a:t>Work-to-be-done catalogue · Sample: 09: Repeat · Draft for review</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0058400" cy="1280160"/>
          </a:xfrm>
          <a:prstGeom prst="rect">
            <a:avLst/>
          </a:prstGeom>
          <a:noFill/>
          <a:ln/>
        </p:spPr>
        <p:txBody>
          <a:bodyPr wrap="square" lIns="0" tIns="0" rIns="0" bIns="0" rtlCol="0" anchor="b"/>
          <a:lstStyle/>
          <a:p>
            <a:pPr indent="0" marL="0">
              <a:buNone/>
            </a:pPr>
            <a:r>
              <a:rPr lang="en-US" sz="4800" b="1" dirty="0">
                <a:solidFill>
                  <a:srgbClr val="FFFFFF"/>
                </a:solidFill>
              </a:rPr>
              <a:t>Work to be done</a:t>
            </a:r>
            <a:endParaRPr lang="en-US" sz="4800" dirty="0"/>
          </a:p>
        </p:txBody>
      </p:sp>
      <p:sp>
        <p:nvSpPr>
          <p:cNvPr id="3" name="Text 0"/>
          <p:cNvSpPr/>
          <p:nvPr>
            <p:ph idx="101" type="body" hasCustomPrompt="1"/>
          </p:nvPr>
        </p:nvSpPr>
        <p:spPr>
          <a:xfrm>
            <a:off x="548640" y="3520440"/>
            <a:ext cx="10058400" cy="1463040"/>
          </a:xfrm>
          <a:prstGeom prst="rect">
            <a:avLst/>
          </a:prstGeom>
          <a:noFill/>
          <a:ln/>
        </p:spPr>
        <p:txBody>
          <a:bodyPr wrap="square" lIns="0" tIns="0" rIns="0" bIns="0" rtlCol="0" anchor="t"/>
          <a:lstStyle/>
          <a:p>
            <a:pPr indent="0" marL="0">
              <a:buNone/>
            </a:pPr>
            <a:r>
              <a:rPr lang="en-US" sz="1800" dirty="0">
                <a:solidFill>
                  <a:srgbClr val="BFE3CF"/>
                </a:solidFill>
              </a:rPr>
              <a:t>Catalogue sample: 09: Repeat</a:t>
            </a:r>
            <a:endParaRPr lang="en-US" sz="1800" dirty="0"/>
          </a:p>
          <a:p>
            <a:pPr indent="0" marL="0">
              <a:buNone/>
            </a:pPr>
            <a:r>
              <a:rPr lang="en-US" sz="1800" dirty="0">
                <a:solidFill>
                  <a:srgbClr val="BFE3CF"/>
                </a:solidFill>
              </a:rPr>
              <a:t>Draft for review, 4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One journey needs 85 pieces of work</a:t>
            </a:r>
            <a:endParaRPr lang="en-US" sz="2800" dirty="0"/>
          </a:p>
        </p:txBody>
      </p:sp>
      <p:sp>
        <p:nvSpPr>
          <p:cNvPr id="3" name="Text 1"/>
          <p:cNvSpPr txBox="1"/>
          <p:nvPr/>
        </p:nvSpPr>
        <p:spPr>
          <a:xfrm>
            <a:off x="548640" y="960120"/>
            <a:ext cx="11094415" cy="457200"/>
          </a:xfrm>
          <a:prstGeom prst="rect">
            <a:avLst/>
          </a:prstGeom>
          <a:noFill/>
          <a:ln/>
        </p:spPr>
        <p:txBody>
          <a:bodyPr wrap="square" lIns="0" tIns="0" rIns="0" bIns="0" rtlCol="0" anchor="t"/>
          <a:lstStyle/>
          <a:p>
            <a:pPr indent="0" marL="0">
              <a:buNone/>
            </a:pPr>
            <a:r>
              <a:rPr lang="en-US" sz="1400" dirty="0">
                <a:solidFill>
                  <a:srgbClr val="52525B"/>
                </a:solidFill>
              </a:rPr>
              <a:t>Everything Dis-Chem must learn, be allowed to do, build or run differently to make the household repeat journey real.</a:t>
            </a:r>
            <a:endParaRPr lang="en-US" sz="1400" dirty="0"/>
          </a:p>
        </p:txBody>
      </p:sp>
      <p:sp>
        <p:nvSpPr>
          <p:cNvPr id="5" name="Text 2"/>
          <p:cNvSpPr txBox="1"/>
          <p:nvPr/>
        </p:nvSpPr>
        <p:spPr>
          <a:xfrm>
            <a:off x="548640" y="1463040"/>
            <a:ext cx="2926080" cy="1920240"/>
          </a:xfrm>
          <a:prstGeom prst="rect">
            <a:avLst/>
          </a:prstGeom>
          <a:noFill/>
          <a:ln/>
        </p:spPr>
        <p:txBody>
          <a:bodyPr wrap="square" lIns="0" tIns="0" rIns="0" bIns="0" rtlCol="0" anchor="ctr"/>
          <a:lstStyle/>
          <a:p>
            <a:pPr indent="0" marL="0">
              <a:buNone/>
            </a:pPr>
            <a:r>
              <a:rPr lang="en-US" sz="12000" b="1" dirty="0">
                <a:solidFill>
                  <a:srgbClr val="1A9B4A"/>
                </a:solidFill>
              </a:rPr>
              <a:t>85</a:t>
            </a:r>
            <a:endParaRPr lang="en-US" sz="12000" dirty="0"/>
          </a:p>
        </p:txBody>
      </p:sp>
      <p:sp>
        <p:nvSpPr>
          <p:cNvPr id="6" name="Text 3"/>
          <p:cNvSpPr txBox="1"/>
          <p:nvPr/>
        </p:nvSpPr>
        <p:spPr>
          <a:xfrm>
            <a:off x="548640" y="3291840"/>
            <a:ext cx="2926080" cy="365760"/>
          </a:xfrm>
          <a:prstGeom prst="rect">
            <a:avLst/>
          </a:prstGeom>
          <a:noFill/>
          <a:ln/>
        </p:spPr>
        <p:txBody>
          <a:bodyPr wrap="square" lIns="0" tIns="0" rIns="0" bIns="0" rtlCol="0" anchor="ctr"/>
          <a:lstStyle/>
          <a:p>
            <a:pPr indent="0" marL="0">
              <a:buNone/>
            </a:pPr>
            <a:r>
              <a:rPr lang="en-US" sz="1600" dirty="0">
                <a:solidFill>
                  <a:srgbClr val="52525B"/>
                </a:solidFill>
              </a:rPr>
              <a:t>items for 09: Repeat</a:t>
            </a:r>
            <a:endParaRPr lang="en-US" sz="1600" dirty="0"/>
          </a:p>
        </p:txBody>
      </p:sp>
      <p:sp>
        <p:nvSpPr>
          <p:cNvPr id="7" name="Shape 4"/>
          <p:cNvSpPr/>
          <p:nvPr/>
        </p:nvSpPr>
        <p:spPr>
          <a:xfrm>
            <a:off x="3931920" y="1645920"/>
            <a:ext cx="1828800" cy="2011680"/>
          </a:xfrm>
          <a:prstGeom prst="rect">
            <a:avLst/>
          </a:prstGeom>
          <a:solidFill>
            <a:srgbClr val="F4F8F5"/>
          </a:solidFill>
          <a:ln w="9525">
            <a:solidFill>
              <a:srgbClr val="D7DDD9"/>
            </a:solidFill>
            <a:prstDash val="solid"/>
          </a:ln>
        </p:spPr>
      </p:sp>
      <p:sp>
        <p:nvSpPr>
          <p:cNvPr id="8" name="Text 5"/>
          <p:cNvSpPr txBox="1"/>
          <p:nvPr/>
        </p:nvSpPr>
        <p:spPr>
          <a:xfrm>
            <a:off x="4114800" y="1783080"/>
            <a:ext cx="1463040" cy="274320"/>
          </a:xfrm>
          <a:prstGeom prst="rect">
            <a:avLst/>
          </a:prstGeom>
          <a:noFill/>
          <a:ln/>
        </p:spPr>
        <p:txBody>
          <a:bodyPr wrap="square" lIns="0" tIns="0" rIns="0" bIns="0" rtlCol="0" anchor="ctr"/>
          <a:lstStyle/>
          <a:p>
            <a:pPr indent="0" marL="0">
              <a:buNone/>
            </a:pPr>
            <a:r>
              <a:rPr lang="en-US" sz="1200" b="1" spc="200" kern="0" dirty="0">
                <a:solidFill>
                  <a:srgbClr val="1A9B4A"/>
                </a:solidFill>
              </a:rPr>
              <a:t>LEARN</a:t>
            </a:r>
            <a:endParaRPr lang="en-US" sz="1200" dirty="0"/>
          </a:p>
        </p:txBody>
      </p:sp>
      <p:sp>
        <p:nvSpPr>
          <p:cNvPr id="9" name="Text 6"/>
          <p:cNvSpPr txBox="1"/>
          <p:nvPr/>
        </p:nvSpPr>
        <p:spPr>
          <a:xfrm>
            <a:off x="4114800" y="2103120"/>
            <a:ext cx="1463040" cy="822960"/>
          </a:xfrm>
          <a:prstGeom prst="rect">
            <a:avLst/>
          </a:prstGeom>
          <a:noFill/>
          <a:ln/>
        </p:spPr>
        <p:txBody>
          <a:bodyPr wrap="square" lIns="0" tIns="0" rIns="0" bIns="0" rtlCol="0" anchor="ctr"/>
          <a:lstStyle/>
          <a:p>
            <a:pPr indent="0" marL="0">
              <a:buNone/>
            </a:pPr>
            <a:r>
              <a:rPr lang="en-US" sz="4800" b="1" dirty="0">
                <a:solidFill>
                  <a:srgbClr val="1D1D1D"/>
                </a:solidFill>
              </a:rPr>
              <a:t>11</a:t>
            </a:r>
            <a:endParaRPr lang="en-US" sz="4800" dirty="0"/>
          </a:p>
        </p:txBody>
      </p:sp>
      <p:sp>
        <p:nvSpPr>
          <p:cNvPr id="10" name="Text 7"/>
          <p:cNvSpPr txBox="1"/>
          <p:nvPr/>
        </p:nvSpPr>
        <p:spPr>
          <a:xfrm>
            <a:off x="4114800" y="2926080"/>
            <a:ext cx="1463040" cy="594360"/>
          </a:xfrm>
          <a:prstGeom prst="rect">
            <a:avLst/>
          </a:prstGeom>
          <a:noFill/>
          <a:ln/>
        </p:spPr>
        <p:txBody>
          <a:bodyPr wrap="square" lIns="0" tIns="0" rIns="0" bIns="0" rtlCol="0" anchor="t"/>
          <a:lstStyle/>
          <a:p>
            <a:pPr indent="0" marL="0">
              <a:buNone/>
            </a:pPr>
            <a:r>
              <a:rPr lang="en-US" sz="1100" dirty="0">
                <a:solidFill>
                  <a:srgbClr val="52525B"/>
                </a:solidFill>
              </a:rPr>
              <a:t>What we must know or choose first</a:t>
            </a:r>
            <a:endParaRPr lang="en-US" sz="1100" dirty="0"/>
          </a:p>
        </p:txBody>
      </p:sp>
      <p:sp>
        <p:nvSpPr>
          <p:cNvPr id="11" name="Shape 8"/>
          <p:cNvSpPr/>
          <p:nvPr/>
        </p:nvSpPr>
        <p:spPr>
          <a:xfrm>
            <a:off x="5943600" y="1645920"/>
            <a:ext cx="1828800" cy="2011680"/>
          </a:xfrm>
          <a:prstGeom prst="rect">
            <a:avLst/>
          </a:prstGeom>
          <a:solidFill>
            <a:srgbClr val="F4F8F5"/>
          </a:solidFill>
          <a:ln w="9525">
            <a:solidFill>
              <a:srgbClr val="D7DDD9"/>
            </a:solidFill>
            <a:prstDash val="solid"/>
          </a:ln>
        </p:spPr>
      </p:sp>
      <p:sp>
        <p:nvSpPr>
          <p:cNvPr id="12" name="Text 9"/>
          <p:cNvSpPr txBox="1"/>
          <p:nvPr/>
        </p:nvSpPr>
        <p:spPr>
          <a:xfrm>
            <a:off x="6126480" y="1783080"/>
            <a:ext cx="1463040" cy="274320"/>
          </a:xfrm>
          <a:prstGeom prst="rect">
            <a:avLst/>
          </a:prstGeom>
          <a:noFill/>
          <a:ln/>
        </p:spPr>
        <p:txBody>
          <a:bodyPr wrap="square" lIns="0" tIns="0" rIns="0" bIns="0" rtlCol="0" anchor="ctr"/>
          <a:lstStyle/>
          <a:p>
            <a:pPr indent="0" marL="0">
              <a:buNone/>
            </a:pPr>
            <a:r>
              <a:rPr lang="en-US" sz="1200" b="1" spc="200" kern="0" dirty="0">
                <a:solidFill>
                  <a:srgbClr val="1A9B4A"/>
                </a:solidFill>
              </a:rPr>
              <a:t>PERMIT</a:t>
            </a:r>
            <a:endParaRPr lang="en-US" sz="1200" dirty="0"/>
          </a:p>
        </p:txBody>
      </p:sp>
      <p:sp>
        <p:nvSpPr>
          <p:cNvPr id="13" name="Text 10"/>
          <p:cNvSpPr txBox="1"/>
          <p:nvPr/>
        </p:nvSpPr>
        <p:spPr>
          <a:xfrm>
            <a:off x="6126480" y="2103120"/>
            <a:ext cx="1463040" cy="822960"/>
          </a:xfrm>
          <a:prstGeom prst="rect">
            <a:avLst/>
          </a:prstGeom>
          <a:noFill/>
          <a:ln/>
        </p:spPr>
        <p:txBody>
          <a:bodyPr wrap="square" lIns="0" tIns="0" rIns="0" bIns="0" rtlCol="0" anchor="ctr"/>
          <a:lstStyle/>
          <a:p>
            <a:pPr indent="0" marL="0">
              <a:buNone/>
            </a:pPr>
            <a:r>
              <a:rPr lang="en-US" sz="4800" b="1" dirty="0">
                <a:solidFill>
                  <a:srgbClr val="1D1D1D"/>
                </a:solidFill>
              </a:rPr>
              <a:t>7</a:t>
            </a:r>
            <a:endParaRPr lang="en-US" sz="4800" dirty="0"/>
          </a:p>
        </p:txBody>
      </p:sp>
      <p:sp>
        <p:nvSpPr>
          <p:cNvPr id="14" name="Text 11"/>
          <p:cNvSpPr txBox="1"/>
          <p:nvPr/>
        </p:nvSpPr>
        <p:spPr>
          <a:xfrm>
            <a:off x="6126480" y="2926080"/>
            <a:ext cx="1463040" cy="594360"/>
          </a:xfrm>
          <a:prstGeom prst="rect">
            <a:avLst/>
          </a:prstGeom>
          <a:noFill/>
          <a:ln/>
        </p:spPr>
        <p:txBody>
          <a:bodyPr wrap="square" lIns="0" tIns="0" rIns="0" bIns="0" rtlCol="0" anchor="t"/>
          <a:lstStyle/>
          <a:p>
            <a:pPr indent="0" marL="0">
              <a:buNone/>
            </a:pPr>
            <a:r>
              <a:rPr lang="en-US" sz="1100" dirty="0">
                <a:solidFill>
                  <a:srgbClr val="52525B"/>
                </a:solidFill>
              </a:rPr>
              <a:t>What we must be allowed to do</a:t>
            </a:r>
            <a:endParaRPr lang="en-US" sz="1100" dirty="0"/>
          </a:p>
        </p:txBody>
      </p:sp>
      <p:sp>
        <p:nvSpPr>
          <p:cNvPr id="15" name="Shape 12"/>
          <p:cNvSpPr/>
          <p:nvPr/>
        </p:nvSpPr>
        <p:spPr>
          <a:xfrm>
            <a:off x="7955280" y="1645920"/>
            <a:ext cx="1828800" cy="2011680"/>
          </a:xfrm>
          <a:prstGeom prst="rect">
            <a:avLst/>
          </a:prstGeom>
          <a:solidFill>
            <a:srgbClr val="F4F8F5"/>
          </a:solidFill>
          <a:ln w="9525">
            <a:solidFill>
              <a:srgbClr val="D7DDD9"/>
            </a:solidFill>
            <a:prstDash val="solid"/>
          </a:ln>
        </p:spPr>
      </p:sp>
      <p:sp>
        <p:nvSpPr>
          <p:cNvPr id="16" name="Text 13"/>
          <p:cNvSpPr txBox="1"/>
          <p:nvPr/>
        </p:nvSpPr>
        <p:spPr>
          <a:xfrm>
            <a:off x="8138160" y="1783080"/>
            <a:ext cx="1463040" cy="274320"/>
          </a:xfrm>
          <a:prstGeom prst="rect">
            <a:avLst/>
          </a:prstGeom>
          <a:noFill/>
          <a:ln/>
        </p:spPr>
        <p:txBody>
          <a:bodyPr wrap="square" lIns="0" tIns="0" rIns="0" bIns="0" rtlCol="0" anchor="ctr"/>
          <a:lstStyle/>
          <a:p>
            <a:pPr indent="0" marL="0">
              <a:buNone/>
            </a:pPr>
            <a:r>
              <a:rPr lang="en-US" sz="1200" b="1" spc="200" kern="0" dirty="0">
                <a:solidFill>
                  <a:srgbClr val="1A9B4A"/>
                </a:solidFill>
              </a:rPr>
              <a:t>BUILD</a:t>
            </a:r>
            <a:endParaRPr lang="en-US" sz="1200" dirty="0"/>
          </a:p>
        </p:txBody>
      </p:sp>
      <p:sp>
        <p:nvSpPr>
          <p:cNvPr id="17" name="Text 14"/>
          <p:cNvSpPr txBox="1"/>
          <p:nvPr/>
        </p:nvSpPr>
        <p:spPr>
          <a:xfrm>
            <a:off x="8138160" y="2103120"/>
            <a:ext cx="1463040" cy="822960"/>
          </a:xfrm>
          <a:prstGeom prst="rect">
            <a:avLst/>
          </a:prstGeom>
          <a:noFill/>
          <a:ln/>
        </p:spPr>
        <p:txBody>
          <a:bodyPr wrap="square" lIns="0" tIns="0" rIns="0" bIns="0" rtlCol="0" anchor="ctr"/>
          <a:lstStyle/>
          <a:p>
            <a:pPr indent="0" marL="0">
              <a:buNone/>
            </a:pPr>
            <a:r>
              <a:rPr lang="en-US" sz="4800" b="1" dirty="0">
                <a:solidFill>
                  <a:srgbClr val="1D1D1D"/>
                </a:solidFill>
              </a:rPr>
              <a:t>53</a:t>
            </a:r>
            <a:endParaRPr lang="en-US" sz="4800" dirty="0"/>
          </a:p>
        </p:txBody>
      </p:sp>
      <p:sp>
        <p:nvSpPr>
          <p:cNvPr id="18" name="Text 15"/>
          <p:cNvSpPr txBox="1"/>
          <p:nvPr/>
        </p:nvSpPr>
        <p:spPr>
          <a:xfrm>
            <a:off x="8138160" y="2926080"/>
            <a:ext cx="1463040" cy="594360"/>
          </a:xfrm>
          <a:prstGeom prst="rect">
            <a:avLst/>
          </a:prstGeom>
          <a:noFill/>
          <a:ln/>
        </p:spPr>
        <p:txBody>
          <a:bodyPr wrap="square" lIns="0" tIns="0" rIns="0" bIns="0" rtlCol="0" anchor="t"/>
          <a:lstStyle/>
          <a:p>
            <a:pPr indent="0" marL="0">
              <a:buNone/>
            </a:pPr>
            <a:r>
              <a:rPr lang="en-US" sz="1100" dirty="0">
                <a:solidFill>
                  <a:srgbClr val="52525B"/>
                </a:solidFill>
              </a:rPr>
              <a:t>What we must create</a:t>
            </a:r>
            <a:endParaRPr lang="en-US" sz="1100" dirty="0"/>
          </a:p>
        </p:txBody>
      </p:sp>
      <p:sp>
        <p:nvSpPr>
          <p:cNvPr id="19" name="Shape 16"/>
          <p:cNvSpPr/>
          <p:nvPr/>
        </p:nvSpPr>
        <p:spPr>
          <a:xfrm>
            <a:off x="9966960" y="1645920"/>
            <a:ext cx="1828800" cy="2011680"/>
          </a:xfrm>
          <a:prstGeom prst="rect">
            <a:avLst/>
          </a:prstGeom>
          <a:solidFill>
            <a:srgbClr val="F4F8F5"/>
          </a:solidFill>
          <a:ln w="9525">
            <a:solidFill>
              <a:srgbClr val="D7DDD9"/>
            </a:solidFill>
            <a:prstDash val="solid"/>
          </a:ln>
        </p:spPr>
      </p:sp>
      <p:sp>
        <p:nvSpPr>
          <p:cNvPr id="20" name="Text 17"/>
          <p:cNvSpPr txBox="1"/>
          <p:nvPr/>
        </p:nvSpPr>
        <p:spPr>
          <a:xfrm>
            <a:off x="10149840" y="1783080"/>
            <a:ext cx="1463040" cy="274320"/>
          </a:xfrm>
          <a:prstGeom prst="rect">
            <a:avLst/>
          </a:prstGeom>
          <a:noFill/>
          <a:ln/>
        </p:spPr>
        <p:txBody>
          <a:bodyPr wrap="square" lIns="0" tIns="0" rIns="0" bIns="0" rtlCol="0" anchor="ctr"/>
          <a:lstStyle/>
          <a:p>
            <a:pPr indent="0" marL="0">
              <a:buNone/>
            </a:pPr>
            <a:r>
              <a:rPr lang="en-US" sz="1200" b="1" spc="200" kern="0" dirty="0">
                <a:solidFill>
                  <a:srgbClr val="1A9B4A"/>
                </a:solidFill>
              </a:rPr>
              <a:t>RUN</a:t>
            </a:r>
            <a:endParaRPr lang="en-US" sz="1200" dirty="0"/>
          </a:p>
        </p:txBody>
      </p:sp>
      <p:sp>
        <p:nvSpPr>
          <p:cNvPr id="21" name="Text 18"/>
          <p:cNvSpPr txBox="1"/>
          <p:nvPr/>
        </p:nvSpPr>
        <p:spPr>
          <a:xfrm>
            <a:off x="10149840" y="2103120"/>
            <a:ext cx="1463040" cy="822960"/>
          </a:xfrm>
          <a:prstGeom prst="rect">
            <a:avLst/>
          </a:prstGeom>
          <a:noFill/>
          <a:ln/>
        </p:spPr>
        <p:txBody>
          <a:bodyPr wrap="square" lIns="0" tIns="0" rIns="0" bIns="0" rtlCol="0" anchor="ctr"/>
          <a:lstStyle/>
          <a:p>
            <a:pPr indent="0" marL="0">
              <a:buNone/>
            </a:pPr>
            <a:r>
              <a:rPr lang="en-US" sz="4800" b="1" dirty="0">
                <a:solidFill>
                  <a:srgbClr val="1D1D1D"/>
                </a:solidFill>
              </a:rPr>
              <a:t>14</a:t>
            </a:r>
            <a:endParaRPr lang="en-US" sz="4800" dirty="0"/>
          </a:p>
        </p:txBody>
      </p:sp>
      <p:sp>
        <p:nvSpPr>
          <p:cNvPr id="22" name="Text 19"/>
          <p:cNvSpPr txBox="1"/>
          <p:nvPr/>
        </p:nvSpPr>
        <p:spPr>
          <a:xfrm>
            <a:off x="10149840" y="2926080"/>
            <a:ext cx="1463040" cy="594360"/>
          </a:xfrm>
          <a:prstGeom prst="rect">
            <a:avLst/>
          </a:prstGeom>
          <a:noFill/>
          <a:ln/>
        </p:spPr>
        <p:txBody>
          <a:bodyPr wrap="square" lIns="0" tIns="0" rIns="0" bIns="0" rtlCol="0" anchor="t"/>
          <a:lstStyle/>
          <a:p>
            <a:pPr indent="0" marL="0">
              <a:buNone/>
            </a:pPr>
            <a:r>
              <a:rPr lang="en-US" sz="1100" dirty="0">
                <a:solidFill>
                  <a:srgbClr val="52525B"/>
                </a:solidFill>
              </a:rPr>
              <a:t>How we must operate</a:t>
            </a:r>
            <a:endParaRPr lang="en-US" sz="1100" dirty="0"/>
          </a:p>
        </p:txBody>
      </p:sp>
      <p:sp>
        <p:nvSpPr>
          <p:cNvPr id="23" name="Text 20"/>
          <p:cNvSpPr txBox="1"/>
          <p:nvPr/>
        </p:nvSpPr>
        <p:spPr>
          <a:xfrm>
            <a:off x="548640" y="3977640"/>
            <a:ext cx="5486400" cy="274320"/>
          </a:xfrm>
          <a:prstGeom prst="rect">
            <a:avLst/>
          </a:prstGeom>
          <a:noFill/>
          <a:ln/>
        </p:spPr>
        <p:txBody>
          <a:bodyPr wrap="square" lIns="0" tIns="0" rIns="0" bIns="0" rtlCol="0" anchor="ctr"/>
          <a:lstStyle/>
          <a:p>
            <a:pPr indent="0" marL="0">
              <a:buNone/>
            </a:pPr>
            <a:r>
              <a:rPr lang="en-US" sz="1300" b="1" dirty="0">
                <a:solidFill>
                  <a:srgbClr val="1D1D1D"/>
                </a:solidFill>
              </a:rPr>
              <a:t>Where each item stands today</a:t>
            </a:r>
            <a:endParaRPr lang="en-US" sz="1300" dirty="0"/>
          </a:p>
        </p:txBody>
      </p:sp>
      <p:sp>
        <p:nvSpPr>
          <p:cNvPr id="24" name="Shape 21"/>
          <p:cNvSpPr/>
          <p:nvPr/>
        </p:nvSpPr>
        <p:spPr>
          <a:xfrm>
            <a:off x="548640" y="4343400"/>
            <a:ext cx="261045" cy="548640"/>
          </a:xfrm>
          <a:prstGeom prst="rect">
            <a:avLst/>
          </a:prstGeom>
          <a:solidFill>
            <a:srgbClr val="126E35"/>
          </a:solidFill>
          <a:ln w="12700">
            <a:solidFill>
              <a:srgbClr val="FFFFFF"/>
            </a:solidFill>
            <a:prstDash val="solid"/>
          </a:ln>
        </p:spPr>
      </p:sp>
      <p:sp>
        <p:nvSpPr>
          <p:cNvPr id="25" name="Text 22"/>
          <p:cNvSpPr txBox="1"/>
          <p:nvPr/>
        </p:nvSpPr>
        <p:spPr>
          <a:xfrm>
            <a:off x="548640" y="4343400"/>
            <a:ext cx="261045"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6" name="Shape 23"/>
          <p:cNvSpPr/>
          <p:nvPr/>
        </p:nvSpPr>
        <p:spPr>
          <a:xfrm>
            <a:off x="809685" y="4343400"/>
            <a:ext cx="2740973" cy="548640"/>
          </a:xfrm>
          <a:prstGeom prst="rect">
            <a:avLst/>
          </a:prstGeom>
          <a:solidFill>
            <a:srgbClr val="7FC79A"/>
          </a:solidFill>
          <a:ln w="12700">
            <a:solidFill>
              <a:srgbClr val="FFFFFF"/>
            </a:solidFill>
            <a:prstDash val="solid"/>
          </a:ln>
        </p:spPr>
      </p:sp>
      <p:sp>
        <p:nvSpPr>
          <p:cNvPr id="27" name="Text 24"/>
          <p:cNvSpPr txBox="1"/>
          <p:nvPr/>
        </p:nvSpPr>
        <p:spPr>
          <a:xfrm>
            <a:off x="809685" y="4343400"/>
            <a:ext cx="2740973" cy="548640"/>
          </a:xfrm>
          <a:prstGeom prst="rect">
            <a:avLst/>
          </a:prstGeom>
          <a:noFill/>
          <a:ln/>
        </p:spPr>
        <p:txBody>
          <a:bodyPr wrap="square" lIns="0" tIns="0" rIns="0" bIns="0" rtlCol="0" anchor="ctr"/>
          <a:lstStyle/>
          <a:p>
            <a:pPr algn="ctr" indent="0" marL="0">
              <a:buNone/>
            </a:pPr>
            <a:r>
              <a:rPr lang="en-US" sz="1800" b="1" dirty="0">
                <a:solidFill>
                  <a:srgbClr val="1D1D1D"/>
                </a:solidFill>
              </a:rPr>
              <a:t>21</a:t>
            </a:r>
            <a:endParaRPr lang="en-US" sz="1800" dirty="0"/>
          </a:p>
        </p:txBody>
      </p:sp>
      <p:sp>
        <p:nvSpPr>
          <p:cNvPr id="28" name="Shape 25"/>
          <p:cNvSpPr/>
          <p:nvPr/>
        </p:nvSpPr>
        <p:spPr>
          <a:xfrm>
            <a:off x="3550658" y="4343400"/>
            <a:ext cx="3263063" cy="548640"/>
          </a:xfrm>
          <a:prstGeom prst="rect">
            <a:avLst/>
          </a:prstGeom>
          <a:solidFill>
            <a:srgbClr val="B06A00"/>
          </a:solidFill>
          <a:ln w="12700">
            <a:solidFill>
              <a:srgbClr val="FFFFFF"/>
            </a:solidFill>
            <a:prstDash val="solid"/>
          </a:ln>
        </p:spPr>
      </p:sp>
      <p:sp>
        <p:nvSpPr>
          <p:cNvPr id="29" name="Text 26"/>
          <p:cNvSpPr txBox="1"/>
          <p:nvPr/>
        </p:nvSpPr>
        <p:spPr>
          <a:xfrm>
            <a:off x="3550658" y="4343400"/>
            <a:ext cx="3263063" cy="548640"/>
          </a:xfrm>
          <a:prstGeom prst="rect">
            <a:avLst/>
          </a:prstGeom>
          <a:noFill/>
          <a:ln/>
        </p:spPr>
        <p:txBody>
          <a:bodyPr wrap="square" lIns="0" tIns="0" rIns="0" bIns="0" rtlCol="0" anchor="ctr"/>
          <a:lstStyle/>
          <a:p>
            <a:pPr algn="ctr" indent="0" marL="0">
              <a:buNone/>
            </a:pPr>
            <a:r>
              <a:rPr lang="en-US" sz="1800" b="1" dirty="0">
                <a:solidFill>
                  <a:srgbClr val="FFFFFF"/>
                </a:solidFill>
              </a:rPr>
              <a:t>25</a:t>
            </a:r>
            <a:endParaRPr lang="en-US" sz="1800" dirty="0"/>
          </a:p>
        </p:txBody>
      </p:sp>
      <p:sp>
        <p:nvSpPr>
          <p:cNvPr id="30" name="Shape 27"/>
          <p:cNvSpPr/>
          <p:nvPr/>
        </p:nvSpPr>
        <p:spPr>
          <a:xfrm>
            <a:off x="6813722" y="4343400"/>
            <a:ext cx="4829334" cy="548640"/>
          </a:xfrm>
          <a:prstGeom prst="rect">
            <a:avLst/>
          </a:prstGeom>
          <a:solidFill>
            <a:srgbClr val="B5D334"/>
          </a:solidFill>
          <a:ln w="12700">
            <a:solidFill>
              <a:srgbClr val="FFFFFF"/>
            </a:solidFill>
            <a:prstDash val="solid"/>
          </a:ln>
        </p:spPr>
      </p:sp>
      <p:sp>
        <p:nvSpPr>
          <p:cNvPr id="31" name="Text 28"/>
          <p:cNvSpPr txBox="1"/>
          <p:nvPr/>
        </p:nvSpPr>
        <p:spPr>
          <a:xfrm>
            <a:off x="6813722" y="4343400"/>
            <a:ext cx="4829334" cy="548640"/>
          </a:xfrm>
          <a:prstGeom prst="rect">
            <a:avLst/>
          </a:prstGeom>
          <a:noFill/>
          <a:ln/>
        </p:spPr>
        <p:txBody>
          <a:bodyPr wrap="square" lIns="0" tIns="0" rIns="0" bIns="0" rtlCol="0" anchor="ctr"/>
          <a:lstStyle/>
          <a:p>
            <a:pPr algn="ctr" indent="0" marL="0">
              <a:buNone/>
            </a:pPr>
            <a:r>
              <a:rPr lang="en-US" sz="1800" b="1" dirty="0">
                <a:solidFill>
                  <a:srgbClr val="1D1D1D"/>
                </a:solidFill>
              </a:rPr>
              <a:t>37</a:t>
            </a:r>
            <a:endParaRPr lang="en-US" sz="1800" dirty="0"/>
          </a:p>
        </p:txBody>
      </p:sp>
      <p:sp>
        <p:nvSpPr>
          <p:cNvPr id="32" name="Shape 29"/>
          <p:cNvSpPr/>
          <p:nvPr/>
        </p:nvSpPr>
        <p:spPr>
          <a:xfrm>
            <a:off x="548640" y="5120640"/>
            <a:ext cx="914400" cy="237744"/>
          </a:xfrm>
          <a:prstGeom prst="roundRect">
            <a:avLst>
              <a:gd name="adj" fmla="val 50000"/>
            </a:avLst>
          </a:prstGeom>
          <a:solidFill>
            <a:srgbClr val="126E35"/>
          </a:solidFill>
          <a:ln w="12700">
            <a:solidFill>
              <a:srgbClr val="126E35"/>
            </a:solidFill>
            <a:prstDash val="solid"/>
          </a:ln>
        </p:spPr>
      </p:sp>
      <p:sp>
        <p:nvSpPr>
          <p:cNvPr id="33" name="Text 30"/>
          <p:cNvSpPr txBox="1"/>
          <p:nvPr/>
        </p:nvSpPr>
        <p:spPr>
          <a:xfrm>
            <a:off x="548640" y="512064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In flight</a:t>
            </a:r>
            <a:endParaRPr lang="en-US" sz="900" dirty="0"/>
          </a:p>
        </p:txBody>
      </p:sp>
      <p:sp>
        <p:nvSpPr>
          <p:cNvPr id="34" name="Text 31"/>
          <p:cNvSpPr txBox="1"/>
          <p:nvPr/>
        </p:nvSpPr>
        <p:spPr>
          <a:xfrm>
            <a:off x="1536192" y="5084064"/>
            <a:ext cx="1737360" cy="310896"/>
          </a:xfrm>
          <a:prstGeom prst="rect">
            <a:avLst/>
          </a:prstGeom>
          <a:noFill/>
          <a:ln/>
        </p:spPr>
        <p:txBody>
          <a:bodyPr wrap="square" lIns="0" tIns="0" rIns="0" bIns="0" rtlCol="0" anchor="ctr"/>
          <a:lstStyle/>
          <a:p>
            <a:pPr indent="0" marL="0">
              <a:buNone/>
            </a:pPr>
            <a:r>
              <a:rPr lang="en-US" sz="900" dirty="0">
                <a:solidFill>
                  <a:srgbClr val="52525B"/>
                </a:solidFill>
              </a:rPr>
              <a:t>Being delivered now, with a date</a:t>
            </a:r>
            <a:endParaRPr lang="en-US" sz="900" dirty="0"/>
          </a:p>
        </p:txBody>
      </p:sp>
      <p:sp>
        <p:nvSpPr>
          <p:cNvPr id="35" name="Shape 32"/>
          <p:cNvSpPr/>
          <p:nvPr/>
        </p:nvSpPr>
        <p:spPr>
          <a:xfrm>
            <a:off x="3337560" y="5120640"/>
            <a:ext cx="914400" cy="237744"/>
          </a:xfrm>
          <a:prstGeom prst="roundRect">
            <a:avLst>
              <a:gd name="adj" fmla="val 50000"/>
            </a:avLst>
          </a:prstGeom>
          <a:solidFill>
            <a:srgbClr val="7FC79A"/>
          </a:solidFill>
          <a:ln w="12700">
            <a:solidFill>
              <a:srgbClr val="7FC79A"/>
            </a:solidFill>
            <a:prstDash val="solid"/>
          </a:ln>
        </p:spPr>
      </p:sp>
      <p:sp>
        <p:nvSpPr>
          <p:cNvPr id="36" name="Text 33"/>
          <p:cNvSpPr txBox="1"/>
          <p:nvPr/>
        </p:nvSpPr>
        <p:spPr>
          <a:xfrm>
            <a:off x="3337560" y="512064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37" name="Text 34"/>
          <p:cNvSpPr txBox="1"/>
          <p:nvPr/>
        </p:nvSpPr>
        <p:spPr>
          <a:xfrm>
            <a:off x="4325112" y="5084064"/>
            <a:ext cx="1737360" cy="310896"/>
          </a:xfrm>
          <a:prstGeom prst="rect">
            <a:avLst/>
          </a:prstGeom>
          <a:noFill/>
          <a:ln/>
        </p:spPr>
        <p:txBody>
          <a:bodyPr wrap="square" lIns="0" tIns="0" rIns="0" bIns="0" rtlCol="0" anchor="ctr"/>
          <a:lstStyle/>
          <a:p>
            <a:pPr indent="0" marL="0">
              <a:buNone/>
            </a:pPr>
            <a:r>
              <a:rPr lang="en-US" sz="900" dirty="0">
                <a:solidFill>
                  <a:srgbClr val="52525B"/>
                </a:solidFill>
              </a:rPr>
              <a:t>In an existing plan or target state</a:t>
            </a:r>
            <a:endParaRPr lang="en-US" sz="900" dirty="0"/>
          </a:p>
        </p:txBody>
      </p:sp>
      <p:sp>
        <p:nvSpPr>
          <p:cNvPr id="38" name="Shape 35"/>
          <p:cNvSpPr/>
          <p:nvPr/>
        </p:nvSpPr>
        <p:spPr>
          <a:xfrm>
            <a:off x="6126480" y="5120640"/>
            <a:ext cx="914400" cy="237744"/>
          </a:xfrm>
          <a:prstGeom prst="roundRect">
            <a:avLst>
              <a:gd name="adj" fmla="val 50000"/>
            </a:avLst>
          </a:prstGeom>
          <a:solidFill>
            <a:srgbClr val="B06A00"/>
          </a:solidFill>
          <a:ln w="12700">
            <a:solidFill>
              <a:srgbClr val="B06A00"/>
            </a:solidFill>
            <a:prstDash val="solid"/>
          </a:ln>
        </p:spPr>
      </p:sp>
      <p:sp>
        <p:nvSpPr>
          <p:cNvPr id="39" name="Text 36"/>
          <p:cNvSpPr txBox="1"/>
          <p:nvPr/>
        </p:nvSpPr>
        <p:spPr>
          <a:xfrm>
            <a:off x="6126480" y="512064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40" name="Text 37"/>
          <p:cNvSpPr txBox="1"/>
          <p:nvPr/>
        </p:nvSpPr>
        <p:spPr>
          <a:xfrm>
            <a:off x="7114032" y="5084064"/>
            <a:ext cx="1737360" cy="310896"/>
          </a:xfrm>
          <a:prstGeom prst="rect">
            <a:avLst/>
          </a:prstGeom>
          <a:noFill/>
          <a:ln/>
        </p:spPr>
        <p:txBody>
          <a:bodyPr wrap="square" lIns="0" tIns="0" rIns="0" bIns="0" rtlCol="0" anchor="ctr"/>
          <a:lstStyle/>
          <a:p>
            <a:pPr indent="0" marL="0">
              <a:buNone/>
            </a:pPr>
            <a:r>
              <a:rPr lang="en-US" sz="900" dirty="0">
                <a:solidFill>
                  <a:srgbClr val="52525B"/>
                </a:solidFill>
              </a:rPr>
              <a:t>Named in a catalogue, nobody solving it yet</a:t>
            </a:r>
            <a:endParaRPr lang="en-US" sz="900" dirty="0"/>
          </a:p>
        </p:txBody>
      </p:sp>
      <p:sp>
        <p:nvSpPr>
          <p:cNvPr id="41" name="Shape 38"/>
          <p:cNvSpPr/>
          <p:nvPr/>
        </p:nvSpPr>
        <p:spPr>
          <a:xfrm>
            <a:off x="8915400" y="5120640"/>
            <a:ext cx="914400" cy="237744"/>
          </a:xfrm>
          <a:prstGeom prst="roundRect">
            <a:avLst>
              <a:gd name="adj" fmla="val 50000"/>
            </a:avLst>
          </a:prstGeom>
          <a:solidFill>
            <a:srgbClr val="B5D334"/>
          </a:solidFill>
          <a:ln w="12700">
            <a:solidFill>
              <a:srgbClr val="B5D334"/>
            </a:solidFill>
            <a:prstDash val="solid"/>
          </a:ln>
        </p:spPr>
      </p:sp>
      <p:sp>
        <p:nvSpPr>
          <p:cNvPr id="42" name="Text 39"/>
          <p:cNvSpPr txBox="1"/>
          <p:nvPr/>
        </p:nvSpPr>
        <p:spPr>
          <a:xfrm>
            <a:off x="8915400" y="512064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3" name="Text 40"/>
          <p:cNvSpPr txBox="1"/>
          <p:nvPr/>
        </p:nvSpPr>
        <p:spPr>
          <a:xfrm>
            <a:off x="9902952" y="5084064"/>
            <a:ext cx="1737360" cy="310896"/>
          </a:xfrm>
          <a:prstGeom prst="rect">
            <a:avLst/>
          </a:prstGeom>
          <a:noFill/>
          <a:ln/>
        </p:spPr>
        <p:txBody>
          <a:bodyPr wrap="square" lIns="0" tIns="0" rIns="0" bIns="0" rtlCol="0" anchor="ctr"/>
          <a:lstStyle/>
          <a:p>
            <a:pPr indent="0" marL="0">
              <a:buNone/>
            </a:pPr>
            <a:r>
              <a:rPr lang="en-US" sz="900" dirty="0">
                <a:solidFill>
                  <a:srgbClr val="52525B"/>
                </a:solidFill>
              </a:rPr>
              <a:t>Surfaced only by our journeys</a:t>
            </a:r>
            <a:endParaRPr lang="en-US" sz="900" dirty="0"/>
          </a:p>
        </p:txBody>
      </p:sp>
      <p:sp>
        <p:nvSpPr>
          <p:cNvPr id="44" name="Text 41"/>
          <p:cNvSpPr txBox="1"/>
          <p:nvPr/>
        </p:nvSpPr>
        <p:spPr>
          <a:xfrm>
            <a:off x="548640" y="5623560"/>
            <a:ext cx="11094415" cy="502920"/>
          </a:xfrm>
          <a:prstGeom prst="rect">
            <a:avLst/>
          </a:prstGeom>
          <a:noFill/>
          <a:ln/>
        </p:spPr>
        <p:txBody>
          <a:bodyPr wrap="square" lIns="0" tIns="0" rIns="0" bIns="0" rtlCol="0" anchor="t"/>
          <a:lstStyle/>
          <a:p>
            <a:pPr indent="0" marL="0">
              <a:buNone/>
            </a:pPr>
            <a:r>
              <a:rPr lang="en-US" sz="1300" b="1" dirty="0">
                <a:solidFill>
                  <a:srgbClr val="1D1D1D"/>
                </a:solidFill>
              </a:rPr>
              <a:t>48 items are already known </a:t>
            </a:r>
            <a:pPr indent="0" marL="0">
              <a:buNone/>
            </a:pPr>
            <a:r>
              <a:rPr lang="en-US" sz="1300" dirty="0">
                <a:solidFill>
                  <a:srgbClr val="1D1D1D"/>
                </a:solidFill>
              </a:rPr>
              <a:t>to an existing Dis-Chem plan or catalogue, so this builds on work under way. </a:t>
            </a:r>
            <a:pPr indent="0" marL="0">
              <a:buNone/>
            </a:pPr>
            <a:r>
              <a:rPr lang="en-US" sz="1300" b="1" dirty="0">
                <a:solidFill>
                  <a:srgbClr val="1D1D1D"/>
                </a:solidFill>
              </a:rPr>
              <a:t>37 are new: </a:t>
            </a:r>
            <a:pPr indent="0" marL="0">
              <a:buNone/>
            </a:pPr>
            <a:r>
              <a:rPr lang="en-US" sz="1300" dirty="0">
                <a:solidFill>
                  <a:srgbClr val="1D1D1D"/>
                </a:solidFill>
              </a:rPr>
              <a:t>they only show up when you design the journey end to end.</a:t>
            </a:r>
            <a:endParaRPr lang="en-US" sz="13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Four kinds of work, eleven types</a:t>
            </a:r>
            <a:endParaRPr lang="en-US" sz="2800" dirty="0"/>
          </a:p>
        </p:txBody>
      </p:sp>
      <p:sp>
        <p:nvSpPr>
          <p:cNvPr id="3" name="Text 1"/>
          <p:cNvSpPr txBox="1"/>
          <p:nvPr/>
        </p:nvSpPr>
        <p:spPr>
          <a:xfrm>
            <a:off x="548640" y="960120"/>
            <a:ext cx="11094415" cy="457200"/>
          </a:xfrm>
          <a:prstGeom prst="rect">
            <a:avLst/>
          </a:prstGeom>
          <a:noFill/>
          <a:ln/>
        </p:spPr>
        <p:txBody>
          <a:bodyPr wrap="square" lIns="0" tIns="0" rIns="0" bIns="0" rtlCol="0" anchor="t"/>
          <a:lstStyle/>
          <a:p>
            <a:pPr indent="0" marL="0">
              <a:buNone/>
            </a:pPr>
            <a:r>
              <a:rPr lang="en-US" sz="1400" dirty="0">
                <a:solidFill>
                  <a:srgbClr val="52525B"/>
                </a:solidFill>
              </a:rPr>
              <a:t>Every item is one of these. The four groups also read as a rough order: learn and get permission before you build and run.</a:t>
            </a:r>
            <a:endParaRPr lang="en-US" sz="1400" dirty="0"/>
          </a:p>
        </p:txBody>
      </p:sp>
      <p:sp>
        <p:nvSpPr>
          <p:cNvPr id="5" name="Shape 2"/>
          <p:cNvSpPr/>
          <p:nvPr/>
        </p:nvSpPr>
        <p:spPr>
          <a:xfrm>
            <a:off x="548640" y="1600200"/>
            <a:ext cx="2602154" cy="777240"/>
          </a:xfrm>
          <a:prstGeom prst="rect">
            <a:avLst/>
          </a:prstGeom>
          <a:solidFill>
            <a:srgbClr val="126E35"/>
          </a:solidFill>
          <a:ln w="12700">
            <a:solidFill>
              <a:srgbClr val="126E35"/>
            </a:solidFill>
            <a:prstDash val="solid"/>
          </a:ln>
        </p:spPr>
      </p:sp>
      <p:sp>
        <p:nvSpPr>
          <p:cNvPr id="6" name="Text 3"/>
          <p:cNvSpPr txBox="1"/>
          <p:nvPr/>
        </p:nvSpPr>
        <p:spPr>
          <a:xfrm>
            <a:off x="685800" y="1600200"/>
            <a:ext cx="2327834" cy="777240"/>
          </a:xfrm>
          <a:prstGeom prst="rect">
            <a:avLst/>
          </a:prstGeom>
          <a:noFill/>
          <a:ln/>
        </p:spPr>
        <p:txBody>
          <a:bodyPr wrap="square" lIns="0" tIns="0" rIns="0" bIns="0" rtlCol="0" anchor="ctr"/>
          <a:lstStyle/>
          <a:p>
            <a:pPr indent="0" marL="0">
              <a:buNone/>
            </a:pPr>
            <a:r>
              <a:rPr lang="en-US" sz="1600" b="1" spc="200" kern="0" dirty="0">
                <a:solidFill>
                  <a:srgbClr val="FFFFFF"/>
                </a:solidFill>
              </a:rPr>
              <a:t>LEARN</a:t>
            </a:r>
            <a:endParaRPr lang="en-US" sz="1600" dirty="0"/>
          </a:p>
          <a:p>
            <a:pPr indent="0" marL="0">
              <a:buNone/>
            </a:pPr>
            <a:r>
              <a:rPr lang="en-US" sz="1100" dirty="0">
                <a:solidFill>
                  <a:srgbClr val="BFE3CF"/>
                </a:solidFill>
              </a:rPr>
              <a:t>What we must know or choose first</a:t>
            </a:r>
            <a:endParaRPr lang="en-US" sz="1600" dirty="0"/>
          </a:p>
        </p:txBody>
      </p:sp>
      <p:sp>
        <p:nvSpPr>
          <p:cNvPr id="7" name="Shape 4"/>
          <p:cNvSpPr/>
          <p:nvPr/>
        </p:nvSpPr>
        <p:spPr>
          <a:xfrm>
            <a:off x="548640" y="2514600"/>
            <a:ext cx="2602154" cy="809244"/>
          </a:xfrm>
          <a:prstGeom prst="rect">
            <a:avLst/>
          </a:prstGeom>
          <a:solidFill>
            <a:srgbClr val="F4F8F5"/>
          </a:solidFill>
          <a:ln w="9525">
            <a:solidFill>
              <a:srgbClr val="D7DDD9"/>
            </a:solidFill>
            <a:prstDash val="solid"/>
          </a:ln>
        </p:spPr>
      </p:sp>
      <p:sp>
        <p:nvSpPr>
          <p:cNvPr id="8" name="Text 5"/>
          <p:cNvSpPr txBox="1"/>
          <p:nvPr/>
        </p:nvSpPr>
        <p:spPr>
          <a:xfrm>
            <a:off x="685800" y="2606040"/>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1  Research &amp; validation</a:t>
            </a:r>
            <a:endParaRPr lang="en-US" sz="1100" dirty="0"/>
          </a:p>
        </p:txBody>
      </p:sp>
      <p:sp>
        <p:nvSpPr>
          <p:cNvPr id="9" name="Text 6"/>
          <p:cNvSpPr txBox="1"/>
          <p:nvPr/>
        </p:nvSpPr>
        <p:spPr>
          <a:xfrm>
            <a:off x="2785034" y="2587752"/>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8</a:t>
            </a:r>
            <a:endParaRPr lang="en-US" sz="1600" dirty="0"/>
          </a:p>
        </p:txBody>
      </p:sp>
      <p:sp>
        <p:nvSpPr>
          <p:cNvPr id="10" name="Text 7"/>
          <p:cNvSpPr txBox="1"/>
          <p:nvPr/>
        </p:nvSpPr>
        <p:spPr>
          <a:xfrm>
            <a:off x="685800" y="2907792"/>
            <a:ext cx="2327834" cy="352044"/>
          </a:xfrm>
          <a:prstGeom prst="rect">
            <a:avLst/>
          </a:prstGeom>
          <a:noFill/>
          <a:ln/>
        </p:spPr>
        <p:txBody>
          <a:bodyPr wrap="square" lIns="0" tIns="0" rIns="0" bIns="0" rtlCol="0" anchor="t"/>
          <a:lstStyle/>
          <a:p>
            <a:pPr indent="0" marL="0">
              <a:buNone/>
            </a:pPr>
            <a:r>
              <a:rPr lang="en-US" sz="1100" i="1" dirty="0">
                <a:solidFill>
                  <a:srgbClr val="52525B"/>
                </a:solidFill>
              </a:rPr>
              <a:t>Do we need evidence before we build this?</a:t>
            </a:r>
            <a:endParaRPr lang="en-US" sz="1100" dirty="0"/>
          </a:p>
        </p:txBody>
      </p:sp>
      <p:sp>
        <p:nvSpPr>
          <p:cNvPr id="11" name="Shape 8"/>
          <p:cNvSpPr/>
          <p:nvPr/>
        </p:nvSpPr>
        <p:spPr>
          <a:xfrm>
            <a:off x="548640" y="3433572"/>
            <a:ext cx="2602154" cy="809244"/>
          </a:xfrm>
          <a:prstGeom prst="rect">
            <a:avLst/>
          </a:prstGeom>
          <a:solidFill>
            <a:srgbClr val="F4F8F5"/>
          </a:solidFill>
          <a:ln w="9525">
            <a:solidFill>
              <a:srgbClr val="D7DDD9"/>
            </a:solidFill>
            <a:prstDash val="solid"/>
          </a:ln>
        </p:spPr>
      </p:sp>
      <p:sp>
        <p:nvSpPr>
          <p:cNvPr id="12" name="Text 9"/>
          <p:cNvSpPr txBox="1"/>
          <p:nvPr/>
        </p:nvSpPr>
        <p:spPr>
          <a:xfrm>
            <a:off x="685800" y="3525012"/>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2  Decisions to take</a:t>
            </a:r>
            <a:endParaRPr lang="en-US" sz="1100" dirty="0"/>
          </a:p>
        </p:txBody>
      </p:sp>
      <p:sp>
        <p:nvSpPr>
          <p:cNvPr id="13" name="Text 10"/>
          <p:cNvSpPr txBox="1"/>
          <p:nvPr/>
        </p:nvSpPr>
        <p:spPr>
          <a:xfrm>
            <a:off x="2785034" y="3506724"/>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3</a:t>
            </a:r>
            <a:endParaRPr lang="en-US" sz="1600" dirty="0"/>
          </a:p>
        </p:txBody>
      </p:sp>
      <p:sp>
        <p:nvSpPr>
          <p:cNvPr id="14" name="Text 11"/>
          <p:cNvSpPr txBox="1"/>
          <p:nvPr/>
        </p:nvSpPr>
        <p:spPr>
          <a:xfrm>
            <a:off x="685800" y="3826764"/>
            <a:ext cx="2327834" cy="352044"/>
          </a:xfrm>
          <a:prstGeom prst="rect">
            <a:avLst/>
          </a:prstGeom>
          <a:noFill/>
          <a:ln/>
        </p:spPr>
        <p:txBody>
          <a:bodyPr wrap="square" lIns="0" tIns="0" rIns="0" bIns="0" rtlCol="0" anchor="t"/>
          <a:lstStyle/>
          <a:p>
            <a:pPr indent="0" marL="0">
              <a:buNone/>
            </a:pPr>
            <a:r>
              <a:rPr lang="en-US" sz="1100" i="1" dirty="0">
                <a:solidFill>
                  <a:srgbClr val="52525B"/>
                </a:solidFill>
              </a:rPr>
              <a:t>Does someone senior have to choose a direction first?</a:t>
            </a:r>
            <a:endParaRPr lang="en-US" sz="1100" dirty="0"/>
          </a:p>
        </p:txBody>
      </p:sp>
      <p:sp>
        <p:nvSpPr>
          <p:cNvPr id="15" name="Shape 12"/>
          <p:cNvSpPr/>
          <p:nvPr/>
        </p:nvSpPr>
        <p:spPr>
          <a:xfrm>
            <a:off x="3379394" y="1600200"/>
            <a:ext cx="2602154" cy="777240"/>
          </a:xfrm>
          <a:prstGeom prst="rect">
            <a:avLst/>
          </a:prstGeom>
          <a:solidFill>
            <a:srgbClr val="126E35"/>
          </a:solidFill>
          <a:ln w="12700">
            <a:solidFill>
              <a:srgbClr val="126E35"/>
            </a:solidFill>
            <a:prstDash val="solid"/>
          </a:ln>
        </p:spPr>
      </p:sp>
      <p:sp>
        <p:nvSpPr>
          <p:cNvPr id="16" name="Text 13"/>
          <p:cNvSpPr txBox="1"/>
          <p:nvPr/>
        </p:nvSpPr>
        <p:spPr>
          <a:xfrm>
            <a:off x="3516554" y="1600200"/>
            <a:ext cx="2327834" cy="777240"/>
          </a:xfrm>
          <a:prstGeom prst="rect">
            <a:avLst/>
          </a:prstGeom>
          <a:noFill/>
          <a:ln/>
        </p:spPr>
        <p:txBody>
          <a:bodyPr wrap="square" lIns="0" tIns="0" rIns="0" bIns="0" rtlCol="0" anchor="ctr"/>
          <a:lstStyle/>
          <a:p>
            <a:pPr indent="0" marL="0">
              <a:buNone/>
            </a:pPr>
            <a:r>
              <a:rPr lang="en-US" sz="1600" b="1" spc="200" kern="0" dirty="0">
                <a:solidFill>
                  <a:srgbClr val="FFFFFF"/>
                </a:solidFill>
              </a:rPr>
              <a:t>PERMIT</a:t>
            </a:r>
            <a:endParaRPr lang="en-US" sz="1600" dirty="0"/>
          </a:p>
          <a:p>
            <a:pPr indent="0" marL="0">
              <a:buNone/>
            </a:pPr>
            <a:r>
              <a:rPr lang="en-US" sz="1100" dirty="0">
                <a:solidFill>
                  <a:srgbClr val="BFE3CF"/>
                </a:solidFill>
              </a:rPr>
              <a:t>What we must be allowed to do</a:t>
            </a:r>
            <a:endParaRPr lang="en-US" sz="1600" dirty="0"/>
          </a:p>
        </p:txBody>
      </p:sp>
      <p:sp>
        <p:nvSpPr>
          <p:cNvPr id="17" name="Shape 14"/>
          <p:cNvSpPr/>
          <p:nvPr/>
        </p:nvSpPr>
        <p:spPr>
          <a:xfrm>
            <a:off x="3379394" y="2514600"/>
            <a:ext cx="2602154" cy="809244"/>
          </a:xfrm>
          <a:prstGeom prst="rect">
            <a:avLst/>
          </a:prstGeom>
          <a:solidFill>
            <a:srgbClr val="F4F8F5"/>
          </a:solidFill>
          <a:ln w="9525">
            <a:solidFill>
              <a:srgbClr val="D7DDD9"/>
            </a:solidFill>
            <a:prstDash val="solid"/>
          </a:ln>
        </p:spPr>
      </p:sp>
      <p:sp>
        <p:nvSpPr>
          <p:cNvPr id="18" name="Text 15"/>
          <p:cNvSpPr txBox="1"/>
          <p:nvPr/>
        </p:nvSpPr>
        <p:spPr>
          <a:xfrm>
            <a:off x="3516554" y="2606040"/>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3  Regulatory reform</a:t>
            </a:r>
            <a:endParaRPr lang="en-US" sz="1100" dirty="0"/>
          </a:p>
        </p:txBody>
      </p:sp>
      <p:sp>
        <p:nvSpPr>
          <p:cNvPr id="19" name="Text 16"/>
          <p:cNvSpPr txBox="1"/>
          <p:nvPr/>
        </p:nvSpPr>
        <p:spPr>
          <a:xfrm>
            <a:off x="5615788" y="2587752"/>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3</a:t>
            </a:r>
            <a:endParaRPr lang="en-US" sz="1600" dirty="0"/>
          </a:p>
        </p:txBody>
      </p:sp>
      <p:sp>
        <p:nvSpPr>
          <p:cNvPr id="20" name="Text 17"/>
          <p:cNvSpPr txBox="1"/>
          <p:nvPr/>
        </p:nvSpPr>
        <p:spPr>
          <a:xfrm>
            <a:off x="3516554" y="2907792"/>
            <a:ext cx="2327834" cy="352044"/>
          </a:xfrm>
          <a:prstGeom prst="rect">
            <a:avLst/>
          </a:prstGeom>
          <a:noFill/>
          <a:ln/>
        </p:spPr>
        <p:txBody>
          <a:bodyPr wrap="square" lIns="0" tIns="0" rIns="0" bIns="0" rtlCol="0" anchor="t"/>
          <a:lstStyle/>
          <a:p>
            <a:pPr indent="0" marL="0">
              <a:buNone/>
            </a:pPr>
            <a:r>
              <a:rPr lang="en-US" sz="1100" i="1" dirty="0">
                <a:solidFill>
                  <a:srgbClr val="52525B"/>
                </a:solidFill>
              </a:rPr>
              <a:t>Does a law, regulator or council rule stand in the way?</a:t>
            </a:r>
            <a:endParaRPr lang="en-US" sz="1100" dirty="0"/>
          </a:p>
        </p:txBody>
      </p:sp>
      <p:sp>
        <p:nvSpPr>
          <p:cNvPr id="21" name="Shape 18"/>
          <p:cNvSpPr/>
          <p:nvPr/>
        </p:nvSpPr>
        <p:spPr>
          <a:xfrm>
            <a:off x="3379394" y="3433572"/>
            <a:ext cx="2602154" cy="809244"/>
          </a:xfrm>
          <a:prstGeom prst="rect">
            <a:avLst/>
          </a:prstGeom>
          <a:solidFill>
            <a:srgbClr val="F4F8F5"/>
          </a:solidFill>
          <a:ln w="9525">
            <a:solidFill>
              <a:srgbClr val="D7DDD9"/>
            </a:solidFill>
            <a:prstDash val="solid"/>
          </a:ln>
        </p:spPr>
      </p:sp>
      <p:sp>
        <p:nvSpPr>
          <p:cNvPr id="22" name="Text 19"/>
          <p:cNvSpPr txBox="1"/>
          <p:nvPr/>
        </p:nvSpPr>
        <p:spPr>
          <a:xfrm>
            <a:off x="3516554" y="3525012"/>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4  Internal policy change</a:t>
            </a:r>
            <a:endParaRPr lang="en-US" sz="1100" dirty="0"/>
          </a:p>
        </p:txBody>
      </p:sp>
      <p:sp>
        <p:nvSpPr>
          <p:cNvPr id="23" name="Text 20"/>
          <p:cNvSpPr txBox="1"/>
          <p:nvPr/>
        </p:nvSpPr>
        <p:spPr>
          <a:xfrm>
            <a:off x="5615788" y="3506724"/>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4</a:t>
            </a:r>
            <a:endParaRPr lang="en-US" sz="1600" dirty="0"/>
          </a:p>
        </p:txBody>
      </p:sp>
      <p:sp>
        <p:nvSpPr>
          <p:cNvPr id="24" name="Text 21"/>
          <p:cNvSpPr txBox="1"/>
          <p:nvPr/>
        </p:nvSpPr>
        <p:spPr>
          <a:xfrm>
            <a:off x="3516554" y="3826764"/>
            <a:ext cx="2327834" cy="352044"/>
          </a:xfrm>
          <a:prstGeom prst="rect">
            <a:avLst/>
          </a:prstGeom>
          <a:noFill/>
          <a:ln/>
        </p:spPr>
        <p:txBody>
          <a:bodyPr wrap="square" lIns="0" tIns="0" rIns="0" bIns="0" rtlCol="0" anchor="t"/>
          <a:lstStyle/>
          <a:p>
            <a:pPr indent="0" marL="0">
              <a:buNone/>
            </a:pPr>
            <a:r>
              <a:rPr lang="en-US" sz="1100" i="1" dirty="0">
                <a:solidFill>
                  <a:srgbClr val="52525B"/>
                </a:solidFill>
              </a:rPr>
              <a:t>Is it a Dis-Chem rule or SOP we could change ourselves?</a:t>
            </a:r>
            <a:endParaRPr lang="en-US" sz="1100" dirty="0"/>
          </a:p>
        </p:txBody>
      </p:sp>
      <p:sp>
        <p:nvSpPr>
          <p:cNvPr id="25" name="Shape 22"/>
          <p:cNvSpPr/>
          <p:nvPr/>
        </p:nvSpPr>
        <p:spPr>
          <a:xfrm>
            <a:off x="6210148" y="1600200"/>
            <a:ext cx="2602154" cy="777240"/>
          </a:xfrm>
          <a:prstGeom prst="rect">
            <a:avLst/>
          </a:prstGeom>
          <a:solidFill>
            <a:srgbClr val="126E35"/>
          </a:solidFill>
          <a:ln w="12700">
            <a:solidFill>
              <a:srgbClr val="126E35"/>
            </a:solidFill>
            <a:prstDash val="solid"/>
          </a:ln>
        </p:spPr>
      </p:sp>
      <p:sp>
        <p:nvSpPr>
          <p:cNvPr id="26" name="Text 23"/>
          <p:cNvSpPr txBox="1"/>
          <p:nvPr/>
        </p:nvSpPr>
        <p:spPr>
          <a:xfrm>
            <a:off x="6347308" y="1600200"/>
            <a:ext cx="2327834" cy="777240"/>
          </a:xfrm>
          <a:prstGeom prst="rect">
            <a:avLst/>
          </a:prstGeom>
          <a:noFill/>
          <a:ln/>
        </p:spPr>
        <p:txBody>
          <a:bodyPr wrap="square" lIns="0" tIns="0" rIns="0" bIns="0" rtlCol="0" anchor="ctr"/>
          <a:lstStyle/>
          <a:p>
            <a:pPr indent="0" marL="0">
              <a:buNone/>
            </a:pPr>
            <a:r>
              <a:rPr lang="en-US" sz="1600" b="1" spc="200" kern="0" dirty="0">
                <a:solidFill>
                  <a:srgbClr val="FFFFFF"/>
                </a:solidFill>
              </a:rPr>
              <a:t>BUILD</a:t>
            </a:r>
            <a:endParaRPr lang="en-US" sz="1600" dirty="0"/>
          </a:p>
          <a:p>
            <a:pPr indent="0" marL="0">
              <a:buNone/>
            </a:pPr>
            <a:r>
              <a:rPr lang="en-US" sz="1100" dirty="0">
                <a:solidFill>
                  <a:srgbClr val="BFE3CF"/>
                </a:solidFill>
              </a:rPr>
              <a:t>What we must create</a:t>
            </a:r>
            <a:endParaRPr lang="en-US" sz="1600" dirty="0"/>
          </a:p>
        </p:txBody>
      </p:sp>
      <p:sp>
        <p:nvSpPr>
          <p:cNvPr id="27" name="Shape 24"/>
          <p:cNvSpPr/>
          <p:nvPr/>
        </p:nvSpPr>
        <p:spPr>
          <a:xfrm>
            <a:off x="6210148" y="2514600"/>
            <a:ext cx="2602154" cy="809244"/>
          </a:xfrm>
          <a:prstGeom prst="rect">
            <a:avLst/>
          </a:prstGeom>
          <a:solidFill>
            <a:srgbClr val="F4F8F5"/>
          </a:solidFill>
          <a:ln w="9525">
            <a:solidFill>
              <a:srgbClr val="D7DDD9"/>
            </a:solidFill>
            <a:prstDash val="solid"/>
          </a:ln>
        </p:spPr>
      </p:sp>
      <p:sp>
        <p:nvSpPr>
          <p:cNvPr id="28" name="Text 25"/>
          <p:cNvSpPr txBox="1"/>
          <p:nvPr/>
        </p:nvSpPr>
        <p:spPr>
          <a:xfrm>
            <a:off x="6347308" y="2606040"/>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5  Customer-facing features</a:t>
            </a:r>
            <a:endParaRPr lang="en-US" sz="1100" dirty="0"/>
          </a:p>
        </p:txBody>
      </p:sp>
      <p:sp>
        <p:nvSpPr>
          <p:cNvPr id="29" name="Text 26"/>
          <p:cNvSpPr txBox="1"/>
          <p:nvPr/>
        </p:nvSpPr>
        <p:spPr>
          <a:xfrm>
            <a:off x="8446541" y="2587752"/>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19</a:t>
            </a:r>
            <a:endParaRPr lang="en-US" sz="1600" dirty="0"/>
          </a:p>
        </p:txBody>
      </p:sp>
      <p:sp>
        <p:nvSpPr>
          <p:cNvPr id="30" name="Text 27"/>
          <p:cNvSpPr txBox="1"/>
          <p:nvPr/>
        </p:nvSpPr>
        <p:spPr>
          <a:xfrm>
            <a:off x="6347308" y="2907792"/>
            <a:ext cx="2327834" cy="352044"/>
          </a:xfrm>
          <a:prstGeom prst="rect">
            <a:avLst/>
          </a:prstGeom>
          <a:noFill/>
          <a:ln/>
        </p:spPr>
        <p:txBody>
          <a:bodyPr wrap="square" lIns="0" tIns="0" rIns="0" bIns="0" rtlCol="0" anchor="t"/>
          <a:lstStyle/>
          <a:p>
            <a:pPr indent="0" marL="0">
              <a:buNone/>
            </a:pPr>
            <a:r>
              <a:rPr lang="en-US" sz="1100" i="1" dirty="0">
                <a:solidFill>
                  <a:srgbClr val="52525B"/>
                </a:solidFill>
              </a:rPr>
              <a:t>Will a customer touch it?</a:t>
            </a:r>
            <a:endParaRPr lang="en-US" sz="1100" dirty="0"/>
          </a:p>
        </p:txBody>
      </p:sp>
      <p:sp>
        <p:nvSpPr>
          <p:cNvPr id="31" name="Shape 28"/>
          <p:cNvSpPr/>
          <p:nvPr/>
        </p:nvSpPr>
        <p:spPr>
          <a:xfrm>
            <a:off x="6210148" y="3433572"/>
            <a:ext cx="2602154" cy="809244"/>
          </a:xfrm>
          <a:prstGeom prst="rect">
            <a:avLst/>
          </a:prstGeom>
          <a:solidFill>
            <a:srgbClr val="F4F8F5"/>
          </a:solidFill>
          <a:ln w="9525">
            <a:solidFill>
              <a:srgbClr val="D7DDD9"/>
            </a:solidFill>
            <a:prstDash val="solid"/>
          </a:ln>
        </p:spPr>
      </p:sp>
      <p:sp>
        <p:nvSpPr>
          <p:cNvPr id="32" name="Text 29"/>
          <p:cNvSpPr txBox="1"/>
          <p:nvPr/>
        </p:nvSpPr>
        <p:spPr>
          <a:xfrm>
            <a:off x="6347308" y="3525012"/>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6  Staff tools</a:t>
            </a:r>
            <a:endParaRPr lang="en-US" sz="1100" dirty="0"/>
          </a:p>
        </p:txBody>
      </p:sp>
      <p:sp>
        <p:nvSpPr>
          <p:cNvPr id="33" name="Text 30"/>
          <p:cNvSpPr txBox="1"/>
          <p:nvPr/>
        </p:nvSpPr>
        <p:spPr>
          <a:xfrm>
            <a:off x="8446541" y="3506724"/>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6</a:t>
            </a:r>
            <a:endParaRPr lang="en-US" sz="1600" dirty="0"/>
          </a:p>
        </p:txBody>
      </p:sp>
      <p:sp>
        <p:nvSpPr>
          <p:cNvPr id="34" name="Text 31"/>
          <p:cNvSpPr txBox="1"/>
          <p:nvPr/>
        </p:nvSpPr>
        <p:spPr>
          <a:xfrm>
            <a:off x="6347308" y="3826764"/>
            <a:ext cx="2327834" cy="352044"/>
          </a:xfrm>
          <a:prstGeom prst="rect">
            <a:avLst/>
          </a:prstGeom>
          <a:noFill/>
          <a:ln/>
        </p:spPr>
        <p:txBody>
          <a:bodyPr wrap="square" lIns="0" tIns="0" rIns="0" bIns="0" rtlCol="0" anchor="t"/>
          <a:lstStyle/>
          <a:p>
            <a:pPr indent="0" marL="0">
              <a:buNone/>
            </a:pPr>
            <a:r>
              <a:rPr lang="en-US" sz="1100" i="1" dirty="0">
                <a:solidFill>
                  <a:srgbClr val="52525B"/>
                </a:solidFill>
              </a:rPr>
              <a:t>Will a pharmacist, PBQ or store colleague use it?</a:t>
            </a:r>
            <a:endParaRPr lang="en-US" sz="1100" dirty="0"/>
          </a:p>
        </p:txBody>
      </p:sp>
      <p:sp>
        <p:nvSpPr>
          <p:cNvPr id="35" name="Shape 32"/>
          <p:cNvSpPr/>
          <p:nvPr/>
        </p:nvSpPr>
        <p:spPr>
          <a:xfrm>
            <a:off x="6210148" y="4352544"/>
            <a:ext cx="2602154" cy="809244"/>
          </a:xfrm>
          <a:prstGeom prst="rect">
            <a:avLst/>
          </a:prstGeom>
          <a:solidFill>
            <a:srgbClr val="F4F8F5"/>
          </a:solidFill>
          <a:ln w="9525">
            <a:solidFill>
              <a:srgbClr val="D7DDD9"/>
            </a:solidFill>
            <a:prstDash val="solid"/>
          </a:ln>
        </p:spPr>
      </p:sp>
      <p:sp>
        <p:nvSpPr>
          <p:cNvPr id="36" name="Text 33"/>
          <p:cNvSpPr txBox="1"/>
          <p:nvPr/>
        </p:nvSpPr>
        <p:spPr>
          <a:xfrm>
            <a:off x="6347308" y="4443984"/>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7  Platforms &amp; data</a:t>
            </a:r>
            <a:endParaRPr lang="en-US" sz="1100" dirty="0"/>
          </a:p>
        </p:txBody>
      </p:sp>
      <p:sp>
        <p:nvSpPr>
          <p:cNvPr id="37" name="Text 34"/>
          <p:cNvSpPr txBox="1"/>
          <p:nvPr/>
        </p:nvSpPr>
        <p:spPr>
          <a:xfrm>
            <a:off x="8446541" y="4425696"/>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24</a:t>
            </a:r>
            <a:endParaRPr lang="en-US" sz="1600" dirty="0"/>
          </a:p>
        </p:txBody>
      </p:sp>
      <p:sp>
        <p:nvSpPr>
          <p:cNvPr id="38" name="Text 35"/>
          <p:cNvSpPr txBox="1"/>
          <p:nvPr/>
        </p:nvSpPr>
        <p:spPr>
          <a:xfrm>
            <a:off x="6347308" y="4745736"/>
            <a:ext cx="2327834" cy="352044"/>
          </a:xfrm>
          <a:prstGeom prst="rect">
            <a:avLst/>
          </a:prstGeom>
          <a:noFill/>
          <a:ln/>
        </p:spPr>
        <p:txBody>
          <a:bodyPr wrap="square" lIns="0" tIns="0" rIns="0" bIns="0" rtlCol="0" anchor="t"/>
          <a:lstStyle/>
          <a:p>
            <a:pPr indent="0" marL="0">
              <a:buNone/>
            </a:pPr>
            <a:r>
              <a:rPr lang="en-US" sz="1100" i="1" dirty="0">
                <a:solidFill>
                  <a:srgbClr val="52525B"/>
                </a:solidFill>
              </a:rPr>
              <a:t>Does more than one feature or journey depend on it?</a:t>
            </a:r>
            <a:endParaRPr lang="en-US" sz="1100" dirty="0"/>
          </a:p>
        </p:txBody>
      </p:sp>
      <p:sp>
        <p:nvSpPr>
          <p:cNvPr id="39" name="Shape 36"/>
          <p:cNvSpPr/>
          <p:nvPr/>
        </p:nvSpPr>
        <p:spPr>
          <a:xfrm>
            <a:off x="6210148" y="5271516"/>
            <a:ext cx="2602154" cy="809244"/>
          </a:xfrm>
          <a:prstGeom prst="rect">
            <a:avLst/>
          </a:prstGeom>
          <a:solidFill>
            <a:srgbClr val="F4F8F5"/>
          </a:solidFill>
          <a:ln w="9525">
            <a:solidFill>
              <a:srgbClr val="D7DDD9"/>
            </a:solidFill>
            <a:prstDash val="solid"/>
          </a:ln>
        </p:spPr>
      </p:sp>
      <p:sp>
        <p:nvSpPr>
          <p:cNvPr id="40" name="Text 37"/>
          <p:cNvSpPr txBox="1"/>
          <p:nvPr/>
        </p:nvSpPr>
        <p:spPr>
          <a:xfrm>
            <a:off x="6347308" y="5362956"/>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8  Content &amp; standards</a:t>
            </a:r>
            <a:endParaRPr lang="en-US" sz="1100" dirty="0"/>
          </a:p>
        </p:txBody>
      </p:sp>
      <p:sp>
        <p:nvSpPr>
          <p:cNvPr id="41" name="Text 38"/>
          <p:cNvSpPr txBox="1"/>
          <p:nvPr/>
        </p:nvSpPr>
        <p:spPr>
          <a:xfrm>
            <a:off x="8446541" y="5344668"/>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4</a:t>
            </a:r>
            <a:endParaRPr lang="en-US" sz="1600" dirty="0"/>
          </a:p>
        </p:txBody>
      </p:sp>
      <p:sp>
        <p:nvSpPr>
          <p:cNvPr id="42" name="Text 39"/>
          <p:cNvSpPr txBox="1"/>
          <p:nvPr/>
        </p:nvSpPr>
        <p:spPr>
          <a:xfrm>
            <a:off x="6347308" y="5664708"/>
            <a:ext cx="2327834" cy="352044"/>
          </a:xfrm>
          <a:prstGeom prst="rect">
            <a:avLst/>
          </a:prstGeom>
          <a:noFill/>
          <a:ln/>
        </p:spPr>
        <p:txBody>
          <a:bodyPr wrap="square" lIns="0" tIns="0" rIns="0" bIns="0" rtlCol="0" anchor="t"/>
          <a:lstStyle/>
          <a:p>
            <a:pPr indent="0" marL="0">
              <a:buNone/>
            </a:pPr>
            <a:r>
              <a:rPr lang="en-US" sz="1100" i="1" dirty="0">
                <a:solidFill>
                  <a:srgbClr val="52525B"/>
                </a:solidFill>
              </a:rPr>
              <a:t>Is it information or a design rule every channel reuses?</a:t>
            </a:r>
            <a:endParaRPr lang="en-US" sz="1100" dirty="0"/>
          </a:p>
        </p:txBody>
      </p:sp>
      <p:sp>
        <p:nvSpPr>
          <p:cNvPr id="43" name="Shape 40"/>
          <p:cNvSpPr/>
          <p:nvPr/>
        </p:nvSpPr>
        <p:spPr>
          <a:xfrm>
            <a:off x="9040901" y="1600200"/>
            <a:ext cx="2602154" cy="777240"/>
          </a:xfrm>
          <a:prstGeom prst="rect">
            <a:avLst/>
          </a:prstGeom>
          <a:solidFill>
            <a:srgbClr val="126E35"/>
          </a:solidFill>
          <a:ln w="12700">
            <a:solidFill>
              <a:srgbClr val="126E35"/>
            </a:solidFill>
            <a:prstDash val="solid"/>
          </a:ln>
        </p:spPr>
      </p:sp>
      <p:sp>
        <p:nvSpPr>
          <p:cNvPr id="44" name="Text 41"/>
          <p:cNvSpPr txBox="1"/>
          <p:nvPr/>
        </p:nvSpPr>
        <p:spPr>
          <a:xfrm>
            <a:off x="9178061" y="1600200"/>
            <a:ext cx="2327834" cy="777240"/>
          </a:xfrm>
          <a:prstGeom prst="rect">
            <a:avLst/>
          </a:prstGeom>
          <a:noFill/>
          <a:ln/>
        </p:spPr>
        <p:txBody>
          <a:bodyPr wrap="square" lIns="0" tIns="0" rIns="0" bIns="0" rtlCol="0" anchor="ctr"/>
          <a:lstStyle/>
          <a:p>
            <a:pPr indent="0" marL="0">
              <a:buNone/>
            </a:pPr>
            <a:r>
              <a:rPr lang="en-US" sz="1600" b="1" spc="200" kern="0" dirty="0">
                <a:solidFill>
                  <a:srgbClr val="FFFFFF"/>
                </a:solidFill>
              </a:rPr>
              <a:t>RUN</a:t>
            </a:r>
            <a:endParaRPr lang="en-US" sz="1600" dirty="0"/>
          </a:p>
          <a:p>
            <a:pPr indent="0" marL="0">
              <a:buNone/>
            </a:pPr>
            <a:r>
              <a:rPr lang="en-US" sz="1100" dirty="0">
                <a:solidFill>
                  <a:srgbClr val="BFE3CF"/>
                </a:solidFill>
              </a:rPr>
              <a:t>How we must operate</a:t>
            </a:r>
            <a:endParaRPr lang="en-US" sz="1600" dirty="0"/>
          </a:p>
        </p:txBody>
      </p:sp>
      <p:sp>
        <p:nvSpPr>
          <p:cNvPr id="45" name="Shape 42"/>
          <p:cNvSpPr/>
          <p:nvPr/>
        </p:nvSpPr>
        <p:spPr>
          <a:xfrm>
            <a:off x="9040901" y="2514600"/>
            <a:ext cx="2602154" cy="809244"/>
          </a:xfrm>
          <a:prstGeom prst="rect">
            <a:avLst/>
          </a:prstGeom>
          <a:solidFill>
            <a:srgbClr val="F4F8F5"/>
          </a:solidFill>
          <a:ln w="9525">
            <a:solidFill>
              <a:srgbClr val="D7DDD9"/>
            </a:solidFill>
            <a:prstDash val="solid"/>
          </a:ln>
        </p:spPr>
      </p:sp>
      <p:sp>
        <p:nvSpPr>
          <p:cNvPr id="46" name="Text 43"/>
          <p:cNvSpPr txBox="1"/>
          <p:nvPr/>
        </p:nvSpPr>
        <p:spPr>
          <a:xfrm>
            <a:off x="9178061" y="2606040"/>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9  Processes &amp; ways of working</a:t>
            </a:r>
            <a:endParaRPr lang="en-US" sz="1100" dirty="0"/>
          </a:p>
        </p:txBody>
      </p:sp>
      <p:sp>
        <p:nvSpPr>
          <p:cNvPr id="47" name="Text 44"/>
          <p:cNvSpPr txBox="1"/>
          <p:nvPr/>
        </p:nvSpPr>
        <p:spPr>
          <a:xfrm>
            <a:off x="11277295" y="2587752"/>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7</a:t>
            </a:r>
            <a:endParaRPr lang="en-US" sz="1600" dirty="0"/>
          </a:p>
        </p:txBody>
      </p:sp>
      <p:sp>
        <p:nvSpPr>
          <p:cNvPr id="48" name="Text 45"/>
          <p:cNvSpPr txBox="1"/>
          <p:nvPr/>
        </p:nvSpPr>
        <p:spPr>
          <a:xfrm>
            <a:off x="9178061" y="2907792"/>
            <a:ext cx="2327834" cy="352044"/>
          </a:xfrm>
          <a:prstGeom prst="rect">
            <a:avLst/>
          </a:prstGeom>
          <a:noFill/>
          <a:ln/>
        </p:spPr>
        <p:txBody>
          <a:bodyPr wrap="square" lIns="0" tIns="0" rIns="0" bIns="0" rtlCol="0" anchor="t"/>
          <a:lstStyle/>
          <a:p>
            <a:pPr indent="0" marL="0">
              <a:buNone/>
            </a:pPr>
            <a:r>
              <a:rPr lang="en-US" sz="1100" i="1" dirty="0">
                <a:solidFill>
                  <a:srgbClr val="52525B"/>
                </a:solidFill>
              </a:rPr>
              <a:t>Does it change how a task is done day to day?</a:t>
            </a:r>
            <a:endParaRPr lang="en-US" sz="1100" dirty="0"/>
          </a:p>
        </p:txBody>
      </p:sp>
      <p:sp>
        <p:nvSpPr>
          <p:cNvPr id="49" name="Shape 46"/>
          <p:cNvSpPr/>
          <p:nvPr/>
        </p:nvSpPr>
        <p:spPr>
          <a:xfrm>
            <a:off x="9040901" y="3433572"/>
            <a:ext cx="2602154" cy="809244"/>
          </a:xfrm>
          <a:prstGeom prst="rect">
            <a:avLst/>
          </a:prstGeom>
          <a:solidFill>
            <a:srgbClr val="F4F8F5"/>
          </a:solidFill>
          <a:ln w="9525">
            <a:solidFill>
              <a:srgbClr val="D7DDD9"/>
            </a:solidFill>
            <a:prstDash val="solid"/>
          </a:ln>
        </p:spPr>
      </p:sp>
      <p:sp>
        <p:nvSpPr>
          <p:cNvPr id="50" name="Text 47"/>
          <p:cNvSpPr txBox="1"/>
          <p:nvPr/>
        </p:nvSpPr>
        <p:spPr>
          <a:xfrm>
            <a:off x="9178061" y="3525012"/>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10  People &amp; roles</a:t>
            </a:r>
            <a:endParaRPr lang="en-US" sz="1100" dirty="0"/>
          </a:p>
        </p:txBody>
      </p:sp>
      <p:sp>
        <p:nvSpPr>
          <p:cNvPr id="51" name="Text 48"/>
          <p:cNvSpPr txBox="1"/>
          <p:nvPr/>
        </p:nvSpPr>
        <p:spPr>
          <a:xfrm>
            <a:off x="11277295" y="3506724"/>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3</a:t>
            </a:r>
            <a:endParaRPr lang="en-US" sz="1600" dirty="0"/>
          </a:p>
        </p:txBody>
      </p:sp>
      <p:sp>
        <p:nvSpPr>
          <p:cNvPr id="52" name="Text 49"/>
          <p:cNvSpPr txBox="1"/>
          <p:nvPr/>
        </p:nvSpPr>
        <p:spPr>
          <a:xfrm>
            <a:off x="9178061" y="3826764"/>
            <a:ext cx="2327834" cy="352044"/>
          </a:xfrm>
          <a:prstGeom prst="rect">
            <a:avLst/>
          </a:prstGeom>
          <a:noFill/>
          <a:ln/>
        </p:spPr>
        <p:txBody>
          <a:bodyPr wrap="square" lIns="0" tIns="0" rIns="0" bIns="0" rtlCol="0" anchor="t"/>
          <a:lstStyle/>
          <a:p>
            <a:pPr indent="0" marL="0">
              <a:buNone/>
            </a:pPr>
            <a:r>
              <a:rPr lang="en-US" sz="1100" i="1" dirty="0">
                <a:solidFill>
                  <a:srgbClr val="52525B"/>
                </a:solidFill>
              </a:rPr>
              <a:t>Does it need new skills, roles, capacity or incentives?</a:t>
            </a:r>
            <a:endParaRPr lang="en-US" sz="1100" dirty="0"/>
          </a:p>
        </p:txBody>
      </p:sp>
      <p:sp>
        <p:nvSpPr>
          <p:cNvPr id="53" name="Shape 50"/>
          <p:cNvSpPr/>
          <p:nvPr/>
        </p:nvSpPr>
        <p:spPr>
          <a:xfrm>
            <a:off x="9040901" y="4352544"/>
            <a:ext cx="2602154" cy="809244"/>
          </a:xfrm>
          <a:prstGeom prst="rect">
            <a:avLst/>
          </a:prstGeom>
          <a:solidFill>
            <a:srgbClr val="F4F8F5"/>
          </a:solidFill>
          <a:ln w="9525">
            <a:solidFill>
              <a:srgbClr val="D7DDD9"/>
            </a:solidFill>
            <a:prstDash val="solid"/>
          </a:ln>
        </p:spPr>
      </p:sp>
      <p:sp>
        <p:nvSpPr>
          <p:cNvPr id="54" name="Text 51"/>
          <p:cNvSpPr txBox="1"/>
          <p:nvPr/>
        </p:nvSpPr>
        <p:spPr>
          <a:xfrm>
            <a:off x="9178061" y="4443984"/>
            <a:ext cx="2144954" cy="274320"/>
          </a:xfrm>
          <a:prstGeom prst="rect">
            <a:avLst/>
          </a:prstGeom>
          <a:noFill/>
          <a:ln/>
        </p:spPr>
        <p:txBody>
          <a:bodyPr wrap="square" lIns="0" tIns="0" rIns="0" bIns="0" rtlCol="0" anchor="ctr"/>
          <a:lstStyle/>
          <a:p>
            <a:pPr indent="0" marL="0">
              <a:buNone/>
            </a:pPr>
            <a:r>
              <a:rPr lang="en-US" sz="1100" b="1" dirty="0">
                <a:solidFill>
                  <a:srgbClr val="1D1D1D"/>
                </a:solidFill>
              </a:rPr>
              <a:t>11  Partnerships</a:t>
            </a:r>
            <a:endParaRPr lang="en-US" sz="1100" dirty="0"/>
          </a:p>
        </p:txBody>
      </p:sp>
      <p:sp>
        <p:nvSpPr>
          <p:cNvPr id="55" name="Text 52"/>
          <p:cNvSpPr txBox="1"/>
          <p:nvPr/>
        </p:nvSpPr>
        <p:spPr>
          <a:xfrm>
            <a:off x="11277295" y="4425696"/>
            <a:ext cx="274320" cy="310896"/>
          </a:xfrm>
          <a:prstGeom prst="rect">
            <a:avLst/>
          </a:prstGeom>
          <a:noFill/>
          <a:ln/>
        </p:spPr>
        <p:txBody>
          <a:bodyPr wrap="square" lIns="0" tIns="0" rIns="0" bIns="0" rtlCol="0" anchor="ctr"/>
          <a:lstStyle/>
          <a:p>
            <a:pPr algn="r" indent="0" marL="0">
              <a:buNone/>
            </a:pPr>
            <a:r>
              <a:rPr lang="en-US" sz="1600" b="1" dirty="0">
                <a:solidFill>
                  <a:srgbClr val="1A9B4A"/>
                </a:solidFill>
              </a:rPr>
              <a:t>4</a:t>
            </a:r>
            <a:endParaRPr lang="en-US" sz="1600" dirty="0"/>
          </a:p>
        </p:txBody>
      </p:sp>
      <p:sp>
        <p:nvSpPr>
          <p:cNvPr id="56" name="Text 53"/>
          <p:cNvSpPr txBox="1"/>
          <p:nvPr/>
        </p:nvSpPr>
        <p:spPr>
          <a:xfrm>
            <a:off x="9178061" y="4745736"/>
            <a:ext cx="2327834" cy="352044"/>
          </a:xfrm>
          <a:prstGeom prst="rect">
            <a:avLst/>
          </a:prstGeom>
          <a:noFill/>
          <a:ln/>
        </p:spPr>
        <p:txBody>
          <a:bodyPr wrap="square" lIns="0" tIns="0" rIns="0" bIns="0" rtlCol="0" anchor="t"/>
          <a:lstStyle/>
          <a:p>
            <a:pPr indent="0" marL="0">
              <a:buNone/>
            </a:pPr>
            <a:r>
              <a:rPr lang="en-US" sz="1100" i="1" dirty="0">
                <a:solidFill>
                  <a:srgbClr val="52525B"/>
                </a:solidFill>
              </a:rPr>
              <a:t>Do we need someone outside Dis-Chem to do something?</a:t>
            </a:r>
            <a:endParaRPr lang="en-US" sz="1100" dirty="0"/>
          </a:p>
        </p:txBody>
      </p:sp>
      <p:sp>
        <p:nvSpPr>
          <p:cNvPr id="57" name="Text 54"/>
          <p:cNvSpPr txBox="1"/>
          <p:nvPr/>
        </p:nvSpPr>
        <p:spPr>
          <a:xfrm>
            <a:off x="548640" y="6172200"/>
            <a:ext cx="11094415" cy="256032"/>
          </a:xfrm>
          <a:prstGeom prst="rect">
            <a:avLst/>
          </a:prstGeom>
          <a:noFill/>
          <a:ln/>
        </p:spPr>
        <p:txBody>
          <a:bodyPr wrap="square" lIns="0" tIns="0" rIns="0" bIns="0" rtlCol="0" anchor="ctr"/>
          <a:lstStyle/>
          <a:p>
            <a:pPr indent="0" marL="0">
              <a:buNone/>
            </a:pPr>
            <a:r>
              <a:rPr lang="en-US" sz="1000" dirty="0">
                <a:solidFill>
                  <a:srgbClr val="52525B"/>
                </a:solidFill>
              </a:rPr>
              <a:t>Seen in:  HSQ = App Health Squad capability map (2026)  ·  ECM = Enterprise capability model (2025)  ·  FUL = McKinsey fulfilment compendium (2026), by slide</a:t>
            </a:r>
            <a:endParaRPr lang="en-US" sz="10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Where the work sits</a:t>
            </a:r>
            <a:endParaRPr lang="en-US" sz="2800" dirty="0"/>
          </a:p>
        </p:txBody>
      </p:sp>
      <p:sp>
        <p:nvSpPr>
          <p:cNvPr id="3" name="Text 1"/>
          <p:cNvSpPr txBox="1"/>
          <p:nvPr/>
        </p:nvSpPr>
        <p:spPr>
          <a:xfrm>
            <a:off x="548640" y="960120"/>
            <a:ext cx="11094415" cy="457200"/>
          </a:xfrm>
          <a:prstGeom prst="rect">
            <a:avLst/>
          </a:prstGeom>
          <a:noFill/>
          <a:ln/>
        </p:spPr>
        <p:txBody>
          <a:bodyPr wrap="square" lIns="0" tIns="0" rIns="0" bIns="0" rtlCol="0" anchor="t"/>
          <a:lstStyle/>
          <a:p>
            <a:pPr indent="0" marL="0">
              <a:buNone/>
            </a:pPr>
            <a:r>
              <a:rPr lang="en-US" sz="1400" dirty="0">
                <a:solidFill>
                  <a:srgbClr val="52525B"/>
                </a:solidFill>
              </a:rPr>
              <a:t>Eight things Dis-Chem must be able to do, by the four kinds of work. Darker cells hold more items; the bar shows their status.</a:t>
            </a:r>
            <a:endParaRPr lang="en-US" sz="1400" dirty="0"/>
          </a:p>
        </p:txBody>
      </p:sp>
      <p:sp>
        <p:nvSpPr>
          <p:cNvPr id="5" name="Text 2"/>
          <p:cNvSpPr txBox="1"/>
          <p:nvPr/>
        </p:nvSpPr>
        <p:spPr>
          <a:xfrm>
            <a:off x="3840480" y="1463040"/>
            <a:ext cx="1667180" cy="274320"/>
          </a:xfrm>
          <a:prstGeom prst="rect">
            <a:avLst/>
          </a:prstGeom>
          <a:noFill/>
          <a:ln/>
        </p:spPr>
        <p:txBody>
          <a:bodyPr wrap="square" lIns="0" tIns="0" rIns="0" bIns="0" rtlCol="0" anchor="ctr"/>
          <a:lstStyle/>
          <a:p>
            <a:pPr algn="ctr" indent="0" marL="0">
              <a:buNone/>
            </a:pPr>
            <a:r>
              <a:rPr lang="en-US" sz="1200" b="1" spc="200" kern="0" dirty="0">
                <a:solidFill>
                  <a:srgbClr val="1A9B4A"/>
                </a:solidFill>
              </a:rPr>
              <a:t>LEARN</a:t>
            </a:r>
            <a:endParaRPr lang="en-US" sz="1200" dirty="0"/>
          </a:p>
        </p:txBody>
      </p:sp>
      <p:sp>
        <p:nvSpPr>
          <p:cNvPr id="6" name="Text 3"/>
          <p:cNvSpPr txBox="1"/>
          <p:nvPr/>
        </p:nvSpPr>
        <p:spPr>
          <a:xfrm>
            <a:off x="5580812" y="1463040"/>
            <a:ext cx="1667180" cy="274320"/>
          </a:xfrm>
          <a:prstGeom prst="rect">
            <a:avLst/>
          </a:prstGeom>
          <a:noFill/>
          <a:ln/>
        </p:spPr>
        <p:txBody>
          <a:bodyPr wrap="square" lIns="0" tIns="0" rIns="0" bIns="0" rtlCol="0" anchor="ctr"/>
          <a:lstStyle/>
          <a:p>
            <a:pPr algn="ctr" indent="0" marL="0">
              <a:buNone/>
            </a:pPr>
            <a:r>
              <a:rPr lang="en-US" sz="1200" b="1" spc="200" kern="0" dirty="0">
                <a:solidFill>
                  <a:srgbClr val="1A9B4A"/>
                </a:solidFill>
              </a:rPr>
              <a:t>PERMIT</a:t>
            </a:r>
            <a:endParaRPr lang="en-US" sz="1200" dirty="0"/>
          </a:p>
        </p:txBody>
      </p:sp>
      <p:sp>
        <p:nvSpPr>
          <p:cNvPr id="7" name="Text 4"/>
          <p:cNvSpPr txBox="1"/>
          <p:nvPr/>
        </p:nvSpPr>
        <p:spPr>
          <a:xfrm>
            <a:off x="7321144" y="1463040"/>
            <a:ext cx="1667180" cy="274320"/>
          </a:xfrm>
          <a:prstGeom prst="rect">
            <a:avLst/>
          </a:prstGeom>
          <a:noFill/>
          <a:ln/>
        </p:spPr>
        <p:txBody>
          <a:bodyPr wrap="square" lIns="0" tIns="0" rIns="0" bIns="0" rtlCol="0" anchor="ctr"/>
          <a:lstStyle/>
          <a:p>
            <a:pPr algn="ctr" indent="0" marL="0">
              <a:buNone/>
            </a:pPr>
            <a:r>
              <a:rPr lang="en-US" sz="1200" b="1" spc="200" kern="0" dirty="0">
                <a:solidFill>
                  <a:srgbClr val="1A9B4A"/>
                </a:solidFill>
              </a:rPr>
              <a:t>BUILD</a:t>
            </a:r>
            <a:endParaRPr lang="en-US" sz="1200" dirty="0"/>
          </a:p>
        </p:txBody>
      </p:sp>
      <p:sp>
        <p:nvSpPr>
          <p:cNvPr id="8" name="Text 5"/>
          <p:cNvSpPr txBox="1"/>
          <p:nvPr/>
        </p:nvSpPr>
        <p:spPr>
          <a:xfrm>
            <a:off x="9061475" y="1463040"/>
            <a:ext cx="1667180" cy="274320"/>
          </a:xfrm>
          <a:prstGeom prst="rect">
            <a:avLst/>
          </a:prstGeom>
          <a:noFill/>
          <a:ln/>
        </p:spPr>
        <p:txBody>
          <a:bodyPr wrap="square" lIns="0" tIns="0" rIns="0" bIns="0" rtlCol="0" anchor="ctr"/>
          <a:lstStyle/>
          <a:p>
            <a:pPr algn="ctr" indent="0" marL="0">
              <a:buNone/>
            </a:pPr>
            <a:r>
              <a:rPr lang="en-US" sz="1200" b="1" spc="200" kern="0" dirty="0">
                <a:solidFill>
                  <a:srgbClr val="1A9B4A"/>
                </a:solidFill>
              </a:rPr>
              <a:t>RUN</a:t>
            </a:r>
            <a:endParaRPr lang="en-US" sz="1200" dirty="0"/>
          </a:p>
        </p:txBody>
      </p:sp>
      <p:sp>
        <p:nvSpPr>
          <p:cNvPr id="9" name="Text 6"/>
          <p:cNvSpPr txBox="1"/>
          <p:nvPr/>
        </p:nvSpPr>
        <p:spPr>
          <a:xfrm>
            <a:off x="10820095" y="1463040"/>
            <a:ext cx="822960" cy="274320"/>
          </a:xfrm>
          <a:prstGeom prst="rect">
            <a:avLst/>
          </a:prstGeom>
          <a:noFill/>
          <a:ln/>
        </p:spPr>
        <p:txBody>
          <a:bodyPr wrap="square" lIns="0" tIns="0" rIns="0" bIns="0" rtlCol="0" anchor="ctr"/>
          <a:lstStyle/>
          <a:p>
            <a:pPr algn="ctr" indent="0" marL="0">
              <a:buNone/>
            </a:pPr>
            <a:r>
              <a:rPr lang="en-US" sz="1200" b="1" spc="200" kern="0" dirty="0">
                <a:solidFill>
                  <a:srgbClr val="1A9B4A"/>
                </a:solidFill>
              </a:rPr>
              <a:t>TOTAL</a:t>
            </a:r>
            <a:endParaRPr lang="en-US" sz="1200" dirty="0"/>
          </a:p>
        </p:txBody>
      </p:sp>
      <p:sp>
        <p:nvSpPr>
          <p:cNvPr id="10" name="Text 7"/>
          <p:cNvSpPr txBox="1"/>
          <p:nvPr/>
        </p:nvSpPr>
        <p:spPr>
          <a:xfrm>
            <a:off x="548640" y="1828800"/>
            <a:ext cx="3200400" cy="475488"/>
          </a:xfrm>
          <a:prstGeom prst="rect">
            <a:avLst/>
          </a:prstGeom>
          <a:noFill/>
          <a:ln/>
        </p:spPr>
        <p:txBody>
          <a:bodyPr wrap="square" lIns="0" tIns="0" rIns="0" bIns="0" rtlCol="0" anchor="ctr"/>
          <a:lstStyle/>
          <a:p>
            <a:pPr indent="0" marL="0">
              <a:buNone/>
            </a:pPr>
            <a:r>
              <a:rPr lang="en-US" sz="1200" b="1" dirty="0">
                <a:solidFill>
                  <a:srgbClr val="1D1D1D"/>
                </a:solidFill>
              </a:rPr>
              <a:t>1  Knowing the customer and their household</a:t>
            </a:r>
            <a:endParaRPr lang="en-US" sz="1200" dirty="0"/>
          </a:p>
        </p:txBody>
      </p:sp>
      <p:sp>
        <p:nvSpPr>
          <p:cNvPr id="11" name="Shape 8"/>
          <p:cNvSpPr/>
          <p:nvPr/>
        </p:nvSpPr>
        <p:spPr>
          <a:xfrm>
            <a:off x="3840480" y="1828800"/>
            <a:ext cx="1667180" cy="475488"/>
          </a:xfrm>
          <a:prstGeom prst="rect">
            <a:avLst/>
          </a:prstGeom>
          <a:solidFill>
            <a:srgbClr val="1A9B4A">
              <a:alpha val="23000"/>
            </a:srgbClr>
          </a:solidFill>
          <a:ln w="6350">
            <a:solidFill>
              <a:srgbClr val="D7DDD9"/>
            </a:solidFill>
            <a:prstDash val="solid"/>
          </a:ln>
        </p:spPr>
      </p:sp>
      <p:sp>
        <p:nvSpPr>
          <p:cNvPr id="12" name="Text 9"/>
          <p:cNvSpPr txBox="1"/>
          <p:nvPr/>
        </p:nvSpPr>
        <p:spPr>
          <a:xfrm>
            <a:off x="3931920" y="1828800"/>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13" name="Shape 10"/>
          <p:cNvSpPr/>
          <p:nvPr/>
        </p:nvSpPr>
        <p:spPr>
          <a:xfrm>
            <a:off x="4526280" y="2002536"/>
            <a:ext cx="844220" cy="128016"/>
          </a:xfrm>
          <a:prstGeom prst="rect">
            <a:avLst/>
          </a:prstGeom>
          <a:solidFill>
            <a:srgbClr val="B5D334"/>
          </a:solidFill>
          <a:ln w="6350">
            <a:solidFill>
              <a:srgbClr val="FFFFFF"/>
            </a:solidFill>
            <a:prstDash val="solid"/>
          </a:ln>
        </p:spPr>
      </p:sp>
      <p:sp>
        <p:nvSpPr>
          <p:cNvPr id="14" name="Shape 11"/>
          <p:cNvSpPr/>
          <p:nvPr/>
        </p:nvSpPr>
        <p:spPr>
          <a:xfrm>
            <a:off x="5580812" y="1828800"/>
            <a:ext cx="1667180" cy="475488"/>
          </a:xfrm>
          <a:prstGeom prst="rect">
            <a:avLst/>
          </a:prstGeom>
          <a:solidFill>
            <a:srgbClr val="1A9B4A">
              <a:alpha val="23000"/>
            </a:srgbClr>
          </a:solidFill>
          <a:ln w="6350">
            <a:solidFill>
              <a:srgbClr val="D7DDD9"/>
            </a:solidFill>
            <a:prstDash val="solid"/>
          </a:ln>
        </p:spPr>
      </p:sp>
      <p:sp>
        <p:nvSpPr>
          <p:cNvPr id="15" name="Text 12"/>
          <p:cNvSpPr txBox="1"/>
          <p:nvPr/>
        </p:nvSpPr>
        <p:spPr>
          <a:xfrm>
            <a:off x="5672252" y="1828800"/>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16" name="Shape 13"/>
          <p:cNvSpPr/>
          <p:nvPr/>
        </p:nvSpPr>
        <p:spPr>
          <a:xfrm>
            <a:off x="6266612" y="2002536"/>
            <a:ext cx="844220" cy="128016"/>
          </a:xfrm>
          <a:prstGeom prst="rect">
            <a:avLst/>
          </a:prstGeom>
          <a:solidFill>
            <a:srgbClr val="B5D334"/>
          </a:solidFill>
          <a:ln w="6350">
            <a:solidFill>
              <a:srgbClr val="FFFFFF"/>
            </a:solidFill>
            <a:prstDash val="solid"/>
          </a:ln>
        </p:spPr>
      </p:sp>
      <p:sp>
        <p:nvSpPr>
          <p:cNvPr id="17" name="Shape 14"/>
          <p:cNvSpPr/>
          <p:nvPr/>
        </p:nvSpPr>
        <p:spPr>
          <a:xfrm>
            <a:off x="7321144" y="1828800"/>
            <a:ext cx="1667180" cy="475488"/>
          </a:xfrm>
          <a:prstGeom prst="rect">
            <a:avLst/>
          </a:prstGeom>
          <a:solidFill>
            <a:srgbClr val="1A9B4A">
              <a:alpha val="66000"/>
            </a:srgbClr>
          </a:solidFill>
          <a:ln w="6350">
            <a:solidFill>
              <a:srgbClr val="D7DDD9"/>
            </a:solidFill>
            <a:prstDash val="solid"/>
          </a:ln>
        </p:spPr>
      </p:sp>
      <p:sp>
        <p:nvSpPr>
          <p:cNvPr id="18" name="Text 15"/>
          <p:cNvSpPr txBox="1"/>
          <p:nvPr/>
        </p:nvSpPr>
        <p:spPr>
          <a:xfrm>
            <a:off x="7412584" y="1828800"/>
            <a:ext cx="548640" cy="347472"/>
          </a:xfrm>
          <a:prstGeom prst="rect">
            <a:avLst/>
          </a:prstGeom>
          <a:noFill/>
          <a:ln/>
        </p:spPr>
        <p:txBody>
          <a:bodyPr wrap="square" lIns="0" tIns="0" rIns="0" bIns="0" rtlCol="0" anchor="ctr"/>
          <a:lstStyle/>
          <a:p>
            <a:pPr indent="0" marL="0">
              <a:buNone/>
            </a:pPr>
            <a:r>
              <a:rPr lang="en-US" sz="1800" b="1" dirty="0">
                <a:solidFill>
                  <a:srgbClr val="FFFFFF"/>
                </a:solidFill>
              </a:rPr>
              <a:t>6</a:t>
            </a:r>
            <a:endParaRPr lang="en-US" sz="1800" dirty="0"/>
          </a:p>
        </p:txBody>
      </p:sp>
      <p:sp>
        <p:nvSpPr>
          <p:cNvPr id="19" name="Shape 16"/>
          <p:cNvSpPr/>
          <p:nvPr/>
        </p:nvSpPr>
        <p:spPr>
          <a:xfrm>
            <a:off x="8006944" y="2002536"/>
            <a:ext cx="281407" cy="128016"/>
          </a:xfrm>
          <a:prstGeom prst="rect">
            <a:avLst/>
          </a:prstGeom>
          <a:solidFill>
            <a:srgbClr val="7FC79A"/>
          </a:solidFill>
          <a:ln w="6350">
            <a:solidFill>
              <a:srgbClr val="FFFFFF"/>
            </a:solidFill>
            <a:prstDash val="solid"/>
          </a:ln>
        </p:spPr>
      </p:sp>
      <p:sp>
        <p:nvSpPr>
          <p:cNvPr id="20" name="Shape 17"/>
          <p:cNvSpPr/>
          <p:nvPr/>
        </p:nvSpPr>
        <p:spPr>
          <a:xfrm>
            <a:off x="8288350" y="2002536"/>
            <a:ext cx="422110" cy="128016"/>
          </a:xfrm>
          <a:prstGeom prst="rect">
            <a:avLst/>
          </a:prstGeom>
          <a:solidFill>
            <a:srgbClr val="B06A00"/>
          </a:solidFill>
          <a:ln w="6350">
            <a:solidFill>
              <a:srgbClr val="FFFFFF"/>
            </a:solidFill>
            <a:prstDash val="solid"/>
          </a:ln>
        </p:spPr>
      </p:sp>
      <p:sp>
        <p:nvSpPr>
          <p:cNvPr id="21" name="Shape 18"/>
          <p:cNvSpPr/>
          <p:nvPr/>
        </p:nvSpPr>
        <p:spPr>
          <a:xfrm>
            <a:off x="8710460" y="2002536"/>
            <a:ext cx="140703" cy="128016"/>
          </a:xfrm>
          <a:prstGeom prst="rect">
            <a:avLst/>
          </a:prstGeom>
          <a:solidFill>
            <a:srgbClr val="B5D334"/>
          </a:solidFill>
          <a:ln w="6350">
            <a:solidFill>
              <a:srgbClr val="FFFFFF"/>
            </a:solidFill>
            <a:prstDash val="solid"/>
          </a:ln>
        </p:spPr>
      </p:sp>
      <p:sp>
        <p:nvSpPr>
          <p:cNvPr id="22" name="Shape 19"/>
          <p:cNvSpPr/>
          <p:nvPr/>
        </p:nvSpPr>
        <p:spPr>
          <a:xfrm>
            <a:off x="9061475" y="1828800"/>
            <a:ext cx="1667180" cy="475488"/>
          </a:xfrm>
          <a:prstGeom prst="rect">
            <a:avLst/>
          </a:prstGeom>
          <a:solidFill>
            <a:srgbClr val="FAFBFA"/>
          </a:solidFill>
          <a:ln w="6350">
            <a:solidFill>
              <a:srgbClr val="D7DDD9"/>
            </a:solidFill>
            <a:prstDash val="solid"/>
          </a:ln>
        </p:spPr>
      </p:sp>
      <p:sp>
        <p:nvSpPr>
          <p:cNvPr id="23" name="Text 20"/>
          <p:cNvSpPr txBox="1"/>
          <p:nvPr/>
        </p:nvSpPr>
        <p:spPr>
          <a:xfrm>
            <a:off x="9152915" y="1828800"/>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a:t>
            </a:r>
            <a:endParaRPr lang="en-US" sz="1800" dirty="0"/>
          </a:p>
        </p:txBody>
      </p:sp>
      <p:sp>
        <p:nvSpPr>
          <p:cNvPr id="24" name="Text 21"/>
          <p:cNvSpPr txBox="1"/>
          <p:nvPr/>
        </p:nvSpPr>
        <p:spPr>
          <a:xfrm>
            <a:off x="10820095" y="1828800"/>
            <a:ext cx="822960" cy="475488"/>
          </a:xfrm>
          <a:prstGeom prst="rect">
            <a:avLst/>
          </a:prstGeom>
          <a:noFill/>
          <a:ln/>
        </p:spPr>
        <p:txBody>
          <a:bodyPr wrap="square" lIns="0" tIns="0" rIns="0" bIns="0" rtlCol="0" anchor="ctr"/>
          <a:lstStyle/>
          <a:p>
            <a:pPr algn="ctr" indent="0" marL="0">
              <a:buNone/>
            </a:pPr>
            <a:r>
              <a:rPr lang="en-US" sz="1800" b="1" dirty="0">
                <a:solidFill>
                  <a:srgbClr val="1D1D1D"/>
                </a:solidFill>
              </a:rPr>
              <a:t>8</a:t>
            </a:r>
            <a:endParaRPr lang="en-US" sz="1800" dirty="0"/>
          </a:p>
        </p:txBody>
      </p:sp>
      <p:sp>
        <p:nvSpPr>
          <p:cNvPr id="25" name="Text 22"/>
          <p:cNvSpPr txBox="1"/>
          <p:nvPr/>
        </p:nvSpPr>
        <p:spPr>
          <a:xfrm>
            <a:off x="548640" y="2359152"/>
            <a:ext cx="3200400" cy="475488"/>
          </a:xfrm>
          <a:prstGeom prst="rect">
            <a:avLst/>
          </a:prstGeom>
          <a:noFill/>
          <a:ln/>
        </p:spPr>
        <p:txBody>
          <a:bodyPr wrap="square" lIns="0" tIns="0" rIns="0" bIns="0" rtlCol="0" anchor="ctr"/>
          <a:lstStyle/>
          <a:p>
            <a:pPr indent="0" marL="0">
              <a:buNone/>
            </a:pPr>
            <a:r>
              <a:rPr lang="en-US" sz="1200" b="1" dirty="0">
                <a:solidFill>
                  <a:srgbClr val="1D1D1D"/>
                </a:solidFill>
              </a:rPr>
              <a:t>2  Receiving and validating prescriptions</a:t>
            </a:r>
            <a:endParaRPr lang="en-US" sz="1200" dirty="0"/>
          </a:p>
        </p:txBody>
      </p:sp>
      <p:sp>
        <p:nvSpPr>
          <p:cNvPr id="26" name="Shape 23"/>
          <p:cNvSpPr/>
          <p:nvPr/>
        </p:nvSpPr>
        <p:spPr>
          <a:xfrm>
            <a:off x="3840480" y="2359152"/>
            <a:ext cx="1667180" cy="475488"/>
          </a:xfrm>
          <a:prstGeom prst="rect">
            <a:avLst/>
          </a:prstGeom>
          <a:solidFill>
            <a:srgbClr val="1A9B4A">
              <a:alpha val="23000"/>
            </a:srgbClr>
          </a:solidFill>
          <a:ln w="6350">
            <a:solidFill>
              <a:srgbClr val="D7DDD9"/>
            </a:solidFill>
            <a:prstDash val="solid"/>
          </a:ln>
        </p:spPr>
      </p:sp>
      <p:sp>
        <p:nvSpPr>
          <p:cNvPr id="27" name="Text 24"/>
          <p:cNvSpPr txBox="1"/>
          <p:nvPr/>
        </p:nvSpPr>
        <p:spPr>
          <a:xfrm>
            <a:off x="3931920" y="2359152"/>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28" name="Shape 25"/>
          <p:cNvSpPr/>
          <p:nvPr/>
        </p:nvSpPr>
        <p:spPr>
          <a:xfrm>
            <a:off x="4526280" y="2532888"/>
            <a:ext cx="844220" cy="128016"/>
          </a:xfrm>
          <a:prstGeom prst="rect">
            <a:avLst/>
          </a:prstGeom>
          <a:solidFill>
            <a:srgbClr val="B5D334"/>
          </a:solidFill>
          <a:ln w="6350">
            <a:solidFill>
              <a:srgbClr val="FFFFFF"/>
            </a:solidFill>
            <a:prstDash val="solid"/>
          </a:ln>
        </p:spPr>
      </p:sp>
      <p:sp>
        <p:nvSpPr>
          <p:cNvPr id="29" name="Shape 26"/>
          <p:cNvSpPr/>
          <p:nvPr/>
        </p:nvSpPr>
        <p:spPr>
          <a:xfrm>
            <a:off x="5580812" y="2359152"/>
            <a:ext cx="1667180" cy="475488"/>
          </a:xfrm>
          <a:prstGeom prst="rect">
            <a:avLst/>
          </a:prstGeom>
          <a:solidFill>
            <a:srgbClr val="1A9B4A">
              <a:alpha val="23000"/>
            </a:srgbClr>
          </a:solidFill>
          <a:ln w="6350">
            <a:solidFill>
              <a:srgbClr val="D7DDD9"/>
            </a:solidFill>
            <a:prstDash val="solid"/>
          </a:ln>
        </p:spPr>
      </p:sp>
      <p:sp>
        <p:nvSpPr>
          <p:cNvPr id="30" name="Text 27"/>
          <p:cNvSpPr txBox="1"/>
          <p:nvPr/>
        </p:nvSpPr>
        <p:spPr>
          <a:xfrm>
            <a:off x="5672252" y="2359152"/>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31" name="Shape 28"/>
          <p:cNvSpPr/>
          <p:nvPr/>
        </p:nvSpPr>
        <p:spPr>
          <a:xfrm>
            <a:off x="6266612" y="2532888"/>
            <a:ext cx="844220" cy="128016"/>
          </a:xfrm>
          <a:prstGeom prst="rect">
            <a:avLst/>
          </a:prstGeom>
          <a:solidFill>
            <a:srgbClr val="B5D334"/>
          </a:solidFill>
          <a:ln w="6350">
            <a:solidFill>
              <a:srgbClr val="FFFFFF"/>
            </a:solidFill>
            <a:prstDash val="solid"/>
          </a:ln>
        </p:spPr>
      </p:sp>
      <p:sp>
        <p:nvSpPr>
          <p:cNvPr id="32" name="Shape 29"/>
          <p:cNvSpPr/>
          <p:nvPr/>
        </p:nvSpPr>
        <p:spPr>
          <a:xfrm>
            <a:off x="7321144" y="2359152"/>
            <a:ext cx="1667180" cy="475488"/>
          </a:xfrm>
          <a:prstGeom prst="rect">
            <a:avLst/>
          </a:prstGeom>
          <a:solidFill>
            <a:srgbClr val="1A9B4A">
              <a:alpha val="40000"/>
            </a:srgbClr>
          </a:solidFill>
          <a:ln w="6350">
            <a:solidFill>
              <a:srgbClr val="D7DDD9"/>
            </a:solidFill>
            <a:prstDash val="solid"/>
          </a:ln>
        </p:spPr>
      </p:sp>
      <p:sp>
        <p:nvSpPr>
          <p:cNvPr id="33" name="Text 30"/>
          <p:cNvSpPr txBox="1"/>
          <p:nvPr/>
        </p:nvSpPr>
        <p:spPr>
          <a:xfrm>
            <a:off x="7412584" y="2359152"/>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3</a:t>
            </a:r>
            <a:endParaRPr lang="en-US" sz="1800" dirty="0"/>
          </a:p>
        </p:txBody>
      </p:sp>
      <p:sp>
        <p:nvSpPr>
          <p:cNvPr id="34" name="Shape 31"/>
          <p:cNvSpPr/>
          <p:nvPr/>
        </p:nvSpPr>
        <p:spPr>
          <a:xfrm>
            <a:off x="8006944" y="2532888"/>
            <a:ext cx="562813" cy="128016"/>
          </a:xfrm>
          <a:prstGeom prst="rect">
            <a:avLst/>
          </a:prstGeom>
          <a:solidFill>
            <a:srgbClr val="B06A00"/>
          </a:solidFill>
          <a:ln w="6350">
            <a:solidFill>
              <a:srgbClr val="FFFFFF"/>
            </a:solidFill>
            <a:prstDash val="solid"/>
          </a:ln>
        </p:spPr>
      </p:sp>
      <p:sp>
        <p:nvSpPr>
          <p:cNvPr id="35" name="Shape 32"/>
          <p:cNvSpPr/>
          <p:nvPr/>
        </p:nvSpPr>
        <p:spPr>
          <a:xfrm>
            <a:off x="8569757" y="2532888"/>
            <a:ext cx="281407" cy="128016"/>
          </a:xfrm>
          <a:prstGeom prst="rect">
            <a:avLst/>
          </a:prstGeom>
          <a:solidFill>
            <a:srgbClr val="B5D334"/>
          </a:solidFill>
          <a:ln w="6350">
            <a:solidFill>
              <a:srgbClr val="FFFFFF"/>
            </a:solidFill>
            <a:prstDash val="solid"/>
          </a:ln>
        </p:spPr>
      </p:sp>
      <p:sp>
        <p:nvSpPr>
          <p:cNvPr id="36" name="Shape 33"/>
          <p:cNvSpPr/>
          <p:nvPr/>
        </p:nvSpPr>
        <p:spPr>
          <a:xfrm>
            <a:off x="9061475" y="2359152"/>
            <a:ext cx="1667180" cy="475488"/>
          </a:xfrm>
          <a:prstGeom prst="rect">
            <a:avLst/>
          </a:prstGeom>
          <a:solidFill>
            <a:srgbClr val="1A9B4A">
              <a:alpha val="23000"/>
            </a:srgbClr>
          </a:solidFill>
          <a:ln w="6350">
            <a:solidFill>
              <a:srgbClr val="D7DDD9"/>
            </a:solidFill>
            <a:prstDash val="solid"/>
          </a:ln>
        </p:spPr>
      </p:sp>
      <p:sp>
        <p:nvSpPr>
          <p:cNvPr id="37" name="Text 34"/>
          <p:cNvSpPr txBox="1"/>
          <p:nvPr/>
        </p:nvSpPr>
        <p:spPr>
          <a:xfrm>
            <a:off x="9152915" y="2359152"/>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38" name="Shape 35"/>
          <p:cNvSpPr/>
          <p:nvPr/>
        </p:nvSpPr>
        <p:spPr>
          <a:xfrm>
            <a:off x="9747275" y="2532888"/>
            <a:ext cx="844220" cy="128016"/>
          </a:xfrm>
          <a:prstGeom prst="rect">
            <a:avLst/>
          </a:prstGeom>
          <a:solidFill>
            <a:srgbClr val="7FC79A"/>
          </a:solidFill>
          <a:ln w="6350">
            <a:solidFill>
              <a:srgbClr val="FFFFFF"/>
            </a:solidFill>
            <a:prstDash val="solid"/>
          </a:ln>
        </p:spPr>
      </p:sp>
      <p:sp>
        <p:nvSpPr>
          <p:cNvPr id="39" name="Text 36"/>
          <p:cNvSpPr txBox="1"/>
          <p:nvPr/>
        </p:nvSpPr>
        <p:spPr>
          <a:xfrm>
            <a:off x="10820095" y="2359152"/>
            <a:ext cx="822960" cy="475488"/>
          </a:xfrm>
          <a:prstGeom prst="rect">
            <a:avLst/>
          </a:prstGeom>
          <a:noFill/>
          <a:ln/>
        </p:spPr>
        <p:txBody>
          <a:bodyPr wrap="square" lIns="0" tIns="0" rIns="0" bIns="0" rtlCol="0" anchor="ctr"/>
          <a:lstStyle/>
          <a:p>
            <a:pPr algn="ctr" indent="0" marL="0">
              <a:buNone/>
            </a:pPr>
            <a:r>
              <a:rPr lang="en-US" sz="1800" b="1" dirty="0">
                <a:solidFill>
                  <a:srgbClr val="1D1D1D"/>
                </a:solidFill>
              </a:rPr>
              <a:t>6</a:t>
            </a:r>
            <a:endParaRPr lang="en-US" sz="1800" dirty="0"/>
          </a:p>
        </p:txBody>
      </p:sp>
      <p:sp>
        <p:nvSpPr>
          <p:cNvPr id="40" name="Text 37"/>
          <p:cNvSpPr txBox="1"/>
          <p:nvPr/>
        </p:nvSpPr>
        <p:spPr>
          <a:xfrm>
            <a:off x="548640" y="2889504"/>
            <a:ext cx="3200400" cy="475488"/>
          </a:xfrm>
          <a:prstGeom prst="rect">
            <a:avLst/>
          </a:prstGeom>
          <a:noFill/>
          <a:ln/>
        </p:spPr>
        <p:txBody>
          <a:bodyPr wrap="square" lIns="0" tIns="0" rIns="0" bIns="0" rtlCol="0" anchor="ctr"/>
          <a:lstStyle/>
          <a:p>
            <a:pPr indent="0" marL="0">
              <a:buNone/>
            </a:pPr>
            <a:r>
              <a:rPr lang="en-US" sz="1200" b="1" dirty="0">
                <a:solidFill>
                  <a:srgbClr val="1D1D1D"/>
                </a:solidFill>
              </a:rPr>
              <a:t>3  Pricing, funding and payment</a:t>
            </a:r>
            <a:endParaRPr lang="en-US" sz="1200" dirty="0"/>
          </a:p>
        </p:txBody>
      </p:sp>
      <p:sp>
        <p:nvSpPr>
          <p:cNvPr id="41" name="Shape 38"/>
          <p:cNvSpPr/>
          <p:nvPr/>
        </p:nvSpPr>
        <p:spPr>
          <a:xfrm>
            <a:off x="3840480" y="2889504"/>
            <a:ext cx="1667180" cy="475488"/>
          </a:xfrm>
          <a:prstGeom prst="rect">
            <a:avLst/>
          </a:prstGeom>
          <a:solidFill>
            <a:srgbClr val="1A9B4A">
              <a:alpha val="23000"/>
            </a:srgbClr>
          </a:solidFill>
          <a:ln w="6350">
            <a:solidFill>
              <a:srgbClr val="D7DDD9"/>
            </a:solidFill>
            <a:prstDash val="solid"/>
          </a:ln>
        </p:spPr>
      </p:sp>
      <p:sp>
        <p:nvSpPr>
          <p:cNvPr id="42" name="Text 39"/>
          <p:cNvSpPr txBox="1"/>
          <p:nvPr/>
        </p:nvSpPr>
        <p:spPr>
          <a:xfrm>
            <a:off x="3931920" y="2889504"/>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43" name="Shape 40"/>
          <p:cNvSpPr/>
          <p:nvPr/>
        </p:nvSpPr>
        <p:spPr>
          <a:xfrm>
            <a:off x="4526280" y="3063240"/>
            <a:ext cx="844220" cy="128016"/>
          </a:xfrm>
          <a:prstGeom prst="rect">
            <a:avLst/>
          </a:prstGeom>
          <a:solidFill>
            <a:srgbClr val="B5D334"/>
          </a:solidFill>
          <a:ln w="6350">
            <a:solidFill>
              <a:srgbClr val="FFFFFF"/>
            </a:solidFill>
            <a:prstDash val="solid"/>
          </a:ln>
        </p:spPr>
      </p:sp>
      <p:sp>
        <p:nvSpPr>
          <p:cNvPr id="44" name="Shape 41"/>
          <p:cNvSpPr/>
          <p:nvPr/>
        </p:nvSpPr>
        <p:spPr>
          <a:xfrm>
            <a:off x="5580812" y="2889504"/>
            <a:ext cx="1667180" cy="475488"/>
          </a:xfrm>
          <a:prstGeom prst="rect">
            <a:avLst/>
          </a:prstGeom>
          <a:solidFill>
            <a:srgbClr val="FAFBFA"/>
          </a:solidFill>
          <a:ln w="6350">
            <a:solidFill>
              <a:srgbClr val="D7DDD9"/>
            </a:solidFill>
            <a:prstDash val="solid"/>
          </a:ln>
        </p:spPr>
      </p:sp>
      <p:sp>
        <p:nvSpPr>
          <p:cNvPr id="45" name="Text 42"/>
          <p:cNvSpPr txBox="1"/>
          <p:nvPr/>
        </p:nvSpPr>
        <p:spPr>
          <a:xfrm>
            <a:off x="5672252" y="2889504"/>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a:t>
            </a:r>
            <a:endParaRPr lang="en-US" sz="1800" dirty="0"/>
          </a:p>
        </p:txBody>
      </p:sp>
      <p:sp>
        <p:nvSpPr>
          <p:cNvPr id="46" name="Shape 43"/>
          <p:cNvSpPr/>
          <p:nvPr/>
        </p:nvSpPr>
        <p:spPr>
          <a:xfrm>
            <a:off x="7321144" y="2889504"/>
            <a:ext cx="1667180" cy="475488"/>
          </a:xfrm>
          <a:prstGeom prst="rect">
            <a:avLst/>
          </a:prstGeom>
          <a:solidFill>
            <a:srgbClr val="1A9B4A">
              <a:alpha val="74000"/>
            </a:srgbClr>
          </a:solidFill>
          <a:ln w="6350">
            <a:solidFill>
              <a:srgbClr val="D7DDD9"/>
            </a:solidFill>
            <a:prstDash val="solid"/>
          </a:ln>
        </p:spPr>
      </p:sp>
      <p:sp>
        <p:nvSpPr>
          <p:cNvPr id="47" name="Text 44"/>
          <p:cNvSpPr txBox="1"/>
          <p:nvPr/>
        </p:nvSpPr>
        <p:spPr>
          <a:xfrm>
            <a:off x="7412584" y="2889504"/>
            <a:ext cx="548640" cy="347472"/>
          </a:xfrm>
          <a:prstGeom prst="rect">
            <a:avLst/>
          </a:prstGeom>
          <a:noFill/>
          <a:ln/>
        </p:spPr>
        <p:txBody>
          <a:bodyPr wrap="square" lIns="0" tIns="0" rIns="0" bIns="0" rtlCol="0" anchor="ctr"/>
          <a:lstStyle/>
          <a:p>
            <a:pPr indent="0" marL="0">
              <a:buNone/>
            </a:pPr>
            <a:r>
              <a:rPr lang="en-US" sz="1800" b="1" dirty="0">
                <a:solidFill>
                  <a:srgbClr val="FFFFFF"/>
                </a:solidFill>
              </a:rPr>
              <a:t>7</a:t>
            </a:r>
            <a:endParaRPr lang="en-US" sz="1800" dirty="0"/>
          </a:p>
        </p:txBody>
      </p:sp>
      <p:sp>
        <p:nvSpPr>
          <p:cNvPr id="48" name="Shape 45"/>
          <p:cNvSpPr/>
          <p:nvPr/>
        </p:nvSpPr>
        <p:spPr>
          <a:xfrm>
            <a:off x="8006944" y="3063240"/>
            <a:ext cx="241206" cy="128016"/>
          </a:xfrm>
          <a:prstGeom prst="rect">
            <a:avLst/>
          </a:prstGeom>
          <a:solidFill>
            <a:srgbClr val="7FC79A"/>
          </a:solidFill>
          <a:ln w="6350">
            <a:solidFill>
              <a:srgbClr val="FFFFFF"/>
            </a:solidFill>
            <a:prstDash val="solid"/>
          </a:ln>
        </p:spPr>
      </p:sp>
      <p:sp>
        <p:nvSpPr>
          <p:cNvPr id="49" name="Shape 46"/>
          <p:cNvSpPr/>
          <p:nvPr/>
        </p:nvSpPr>
        <p:spPr>
          <a:xfrm>
            <a:off x="8248149" y="3063240"/>
            <a:ext cx="361808" cy="128016"/>
          </a:xfrm>
          <a:prstGeom prst="rect">
            <a:avLst/>
          </a:prstGeom>
          <a:solidFill>
            <a:srgbClr val="B06A00"/>
          </a:solidFill>
          <a:ln w="6350">
            <a:solidFill>
              <a:srgbClr val="FFFFFF"/>
            </a:solidFill>
            <a:prstDash val="solid"/>
          </a:ln>
        </p:spPr>
      </p:sp>
      <p:sp>
        <p:nvSpPr>
          <p:cNvPr id="50" name="Shape 47"/>
          <p:cNvSpPr/>
          <p:nvPr/>
        </p:nvSpPr>
        <p:spPr>
          <a:xfrm>
            <a:off x="8609958" y="3063240"/>
            <a:ext cx="241206" cy="128016"/>
          </a:xfrm>
          <a:prstGeom prst="rect">
            <a:avLst/>
          </a:prstGeom>
          <a:solidFill>
            <a:srgbClr val="B5D334"/>
          </a:solidFill>
          <a:ln w="6350">
            <a:solidFill>
              <a:srgbClr val="FFFFFF"/>
            </a:solidFill>
            <a:prstDash val="solid"/>
          </a:ln>
        </p:spPr>
      </p:sp>
      <p:sp>
        <p:nvSpPr>
          <p:cNvPr id="51" name="Shape 48"/>
          <p:cNvSpPr/>
          <p:nvPr/>
        </p:nvSpPr>
        <p:spPr>
          <a:xfrm>
            <a:off x="9061475" y="2889504"/>
            <a:ext cx="1667180" cy="475488"/>
          </a:xfrm>
          <a:prstGeom prst="rect">
            <a:avLst/>
          </a:prstGeom>
          <a:solidFill>
            <a:srgbClr val="1A9B4A">
              <a:alpha val="23000"/>
            </a:srgbClr>
          </a:solidFill>
          <a:ln w="6350">
            <a:solidFill>
              <a:srgbClr val="D7DDD9"/>
            </a:solidFill>
            <a:prstDash val="solid"/>
          </a:ln>
        </p:spPr>
      </p:sp>
      <p:sp>
        <p:nvSpPr>
          <p:cNvPr id="52" name="Text 49"/>
          <p:cNvSpPr txBox="1"/>
          <p:nvPr/>
        </p:nvSpPr>
        <p:spPr>
          <a:xfrm>
            <a:off x="9152915" y="2889504"/>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53" name="Shape 50"/>
          <p:cNvSpPr/>
          <p:nvPr/>
        </p:nvSpPr>
        <p:spPr>
          <a:xfrm>
            <a:off x="9747275" y="3063240"/>
            <a:ext cx="844220" cy="128016"/>
          </a:xfrm>
          <a:prstGeom prst="rect">
            <a:avLst/>
          </a:prstGeom>
          <a:solidFill>
            <a:srgbClr val="B5D334"/>
          </a:solidFill>
          <a:ln w="6350">
            <a:solidFill>
              <a:srgbClr val="FFFFFF"/>
            </a:solidFill>
            <a:prstDash val="solid"/>
          </a:ln>
        </p:spPr>
      </p:sp>
      <p:sp>
        <p:nvSpPr>
          <p:cNvPr id="54" name="Text 51"/>
          <p:cNvSpPr txBox="1"/>
          <p:nvPr/>
        </p:nvSpPr>
        <p:spPr>
          <a:xfrm>
            <a:off x="10820095" y="2889504"/>
            <a:ext cx="822960" cy="475488"/>
          </a:xfrm>
          <a:prstGeom prst="rect">
            <a:avLst/>
          </a:prstGeom>
          <a:noFill/>
          <a:ln/>
        </p:spPr>
        <p:txBody>
          <a:bodyPr wrap="square" lIns="0" tIns="0" rIns="0" bIns="0" rtlCol="0" anchor="ctr"/>
          <a:lstStyle/>
          <a:p>
            <a:pPr algn="ctr" indent="0" marL="0">
              <a:buNone/>
            </a:pPr>
            <a:r>
              <a:rPr lang="en-US" sz="1800" b="1" dirty="0">
                <a:solidFill>
                  <a:srgbClr val="1D1D1D"/>
                </a:solidFill>
              </a:rPr>
              <a:t>9</a:t>
            </a:r>
            <a:endParaRPr lang="en-US" sz="1800" dirty="0"/>
          </a:p>
        </p:txBody>
      </p:sp>
      <p:sp>
        <p:nvSpPr>
          <p:cNvPr id="55" name="Text 52"/>
          <p:cNvSpPr txBox="1"/>
          <p:nvPr/>
        </p:nvSpPr>
        <p:spPr>
          <a:xfrm>
            <a:off x="548640" y="3419856"/>
            <a:ext cx="3200400" cy="475488"/>
          </a:xfrm>
          <a:prstGeom prst="rect">
            <a:avLst/>
          </a:prstGeom>
          <a:noFill/>
          <a:ln/>
        </p:spPr>
        <p:txBody>
          <a:bodyPr wrap="square" lIns="0" tIns="0" rIns="0" bIns="0" rtlCol="0" anchor="ctr"/>
          <a:lstStyle/>
          <a:p>
            <a:pPr indent="0" marL="0">
              <a:buNone/>
            </a:pPr>
            <a:r>
              <a:rPr lang="en-US" sz="1200" b="1" dirty="0">
                <a:solidFill>
                  <a:srgbClr val="1D1D1D"/>
                </a:solidFill>
              </a:rPr>
              <a:t>4  Knowing and managing stock</a:t>
            </a:r>
            <a:endParaRPr lang="en-US" sz="1200" dirty="0"/>
          </a:p>
        </p:txBody>
      </p:sp>
      <p:sp>
        <p:nvSpPr>
          <p:cNvPr id="56" name="Shape 53"/>
          <p:cNvSpPr/>
          <p:nvPr/>
        </p:nvSpPr>
        <p:spPr>
          <a:xfrm>
            <a:off x="3840480" y="3419856"/>
            <a:ext cx="1667180" cy="475488"/>
          </a:xfrm>
          <a:prstGeom prst="rect">
            <a:avLst/>
          </a:prstGeom>
          <a:solidFill>
            <a:srgbClr val="FAFBFA"/>
          </a:solidFill>
          <a:ln w="6350">
            <a:solidFill>
              <a:srgbClr val="D7DDD9"/>
            </a:solidFill>
            <a:prstDash val="solid"/>
          </a:ln>
        </p:spPr>
      </p:sp>
      <p:sp>
        <p:nvSpPr>
          <p:cNvPr id="57" name="Text 54"/>
          <p:cNvSpPr txBox="1"/>
          <p:nvPr/>
        </p:nvSpPr>
        <p:spPr>
          <a:xfrm>
            <a:off x="3931920" y="3419856"/>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a:t>
            </a:r>
            <a:endParaRPr lang="en-US" sz="1800" dirty="0"/>
          </a:p>
        </p:txBody>
      </p:sp>
      <p:sp>
        <p:nvSpPr>
          <p:cNvPr id="58" name="Shape 55"/>
          <p:cNvSpPr/>
          <p:nvPr/>
        </p:nvSpPr>
        <p:spPr>
          <a:xfrm>
            <a:off x="5580812" y="3419856"/>
            <a:ext cx="1667180" cy="475488"/>
          </a:xfrm>
          <a:prstGeom prst="rect">
            <a:avLst/>
          </a:prstGeom>
          <a:solidFill>
            <a:srgbClr val="FAFBFA"/>
          </a:solidFill>
          <a:ln w="6350">
            <a:solidFill>
              <a:srgbClr val="D7DDD9"/>
            </a:solidFill>
            <a:prstDash val="solid"/>
          </a:ln>
        </p:spPr>
      </p:sp>
      <p:sp>
        <p:nvSpPr>
          <p:cNvPr id="59" name="Text 56"/>
          <p:cNvSpPr txBox="1"/>
          <p:nvPr/>
        </p:nvSpPr>
        <p:spPr>
          <a:xfrm>
            <a:off x="5672252" y="3419856"/>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a:t>
            </a:r>
            <a:endParaRPr lang="en-US" sz="1800" dirty="0"/>
          </a:p>
        </p:txBody>
      </p:sp>
      <p:sp>
        <p:nvSpPr>
          <p:cNvPr id="60" name="Shape 57"/>
          <p:cNvSpPr/>
          <p:nvPr/>
        </p:nvSpPr>
        <p:spPr>
          <a:xfrm>
            <a:off x="7321144" y="3419856"/>
            <a:ext cx="1667180" cy="475488"/>
          </a:xfrm>
          <a:prstGeom prst="rect">
            <a:avLst/>
          </a:prstGeom>
          <a:solidFill>
            <a:srgbClr val="1A9B4A">
              <a:alpha val="40000"/>
            </a:srgbClr>
          </a:solidFill>
          <a:ln w="6350">
            <a:solidFill>
              <a:srgbClr val="D7DDD9"/>
            </a:solidFill>
            <a:prstDash val="solid"/>
          </a:ln>
        </p:spPr>
      </p:sp>
      <p:sp>
        <p:nvSpPr>
          <p:cNvPr id="61" name="Text 58"/>
          <p:cNvSpPr txBox="1"/>
          <p:nvPr/>
        </p:nvSpPr>
        <p:spPr>
          <a:xfrm>
            <a:off x="7412584" y="3419856"/>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3</a:t>
            </a:r>
            <a:endParaRPr lang="en-US" sz="1800" dirty="0"/>
          </a:p>
        </p:txBody>
      </p:sp>
      <p:sp>
        <p:nvSpPr>
          <p:cNvPr id="62" name="Shape 59"/>
          <p:cNvSpPr/>
          <p:nvPr/>
        </p:nvSpPr>
        <p:spPr>
          <a:xfrm>
            <a:off x="8006944" y="3593592"/>
            <a:ext cx="562813" cy="128016"/>
          </a:xfrm>
          <a:prstGeom prst="rect">
            <a:avLst/>
          </a:prstGeom>
          <a:solidFill>
            <a:srgbClr val="B06A00"/>
          </a:solidFill>
          <a:ln w="6350">
            <a:solidFill>
              <a:srgbClr val="FFFFFF"/>
            </a:solidFill>
            <a:prstDash val="solid"/>
          </a:ln>
        </p:spPr>
      </p:sp>
      <p:sp>
        <p:nvSpPr>
          <p:cNvPr id="63" name="Shape 60"/>
          <p:cNvSpPr/>
          <p:nvPr/>
        </p:nvSpPr>
        <p:spPr>
          <a:xfrm>
            <a:off x="8569757" y="3593592"/>
            <a:ext cx="281407" cy="128016"/>
          </a:xfrm>
          <a:prstGeom prst="rect">
            <a:avLst/>
          </a:prstGeom>
          <a:solidFill>
            <a:srgbClr val="B5D334"/>
          </a:solidFill>
          <a:ln w="6350">
            <a:solidFill>
              <a:srgbClr val="FFFFFF"/>
            </a:solidFill>
            <a:prstDash val="solid"/>
          </a:ln>
        </p:spPr>
      </p:sp>
      <p:sp>
        <p:nvSpPr>
          <p:cNvPr id="64" name="Shape 61"/>
          <p:cNvSpPr/>
          <p:nvPr/>
        </p:nvSpPr>
        <p:spPr>
          <a:xfrm>
            <a:off x="9061475" y="3419856"/>
            <a:ext cx="1667180" cy="475488"/>
          </a:xfrm>
          <a:prstGeom prst="rect">
            <a:avLst/>
          </a:prstGeom>
          <a:solidFill>
            <a:srgbClr val="1A9B4A">
              <a:alpha val="23000"/>
            </a:srgbClr>
          </a:solidFill>
          <a:ln w="6350">
            <a:solidFill>
              <a:srgbClr val="D7DDD9"/>
            </a:solidFill>
            <a:prstDash val="solid"/>
          </a:ln>
        </p:spPr>
      </p:sp>
      <p:sp>
        <p:nvSpPr>
          <p:cNvPr id="65" name="Text 62"/>
          <p:cNvSpPr txBox="1"/>
          <p:nvPr/>
        </p:nvSpPr>
        <p:spPr>
          <a:xfrm>
            <a:off x="9152915" y="3419856"/>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66" name="Shape 63"/>
          <p:cNvSpPr/>
          <p:nvPr/>
        </p:nvSpPr>
        <p:spPr>
          <a:xfrm>
            <a:off x="9747275" y="3593592"/>
            <a:ext cx="844220" cy="128016"/>
          </a:xfrm>
          <a:prstGeom prst="rect">
            <a:avLst/>
          </a:prstGeom>
          <a:solidFill>
            <a:srgbClr val="B06A00"/>
          </a:solidFill>
          <a:ln w="6350">
            <a:solidFill>
              <a:srgbClr val="FFFFFF"/>
            </a:solidFill>
            <a:prstDash val="solid"/>
          </a:ln>
        </p:spPr>
      </p:sp>
      <p:sp>
        <p:nvSpPr>
          <p:cNvPr id="67" name="Text 64"/>
          <p:cNvSpPr txBox="1"/>
          <p:nvPr/>
        </p:nvSpPr>
        <p:spPr>
          <a:xfrm>
            <a:off x="10820095" y="3419856"/>
            <a:ext cx="822960" cy="475488"/>
          </a:xfrm>
          <a:prstGeom prst="rect">
            <a:avLst/>
          </a:prstGeom>
          <a:noFill/>
          <a:ln/>
        </p:spPr>
        <p:txBody>
          <a:bodyPr wrap="square" lIns="0" tIns="0" rIns="0" bIns="0" rtlCol="0" anchor="ctr"/>
          <a:lstStyle/>
          <a:p>
            <a:pPr algn="ctr" indent="0" marL="0">
              <a:buNone/>
            </a:pPr>
            <a:r>
              <a:rPr lang="en-US" sz="1800" b="1" dirty="0">
                <a:solidFill>
                  <a:srgbClr val="1D1D1D"/>
                </a:solidFill>
              </a:rPr>
              <a:t>4</a:t>
            </a:r>
            <a:endParaRPr lang="en-US" sz="1800" dirty="0"/>
          </a:p>
        </p:txBody>
      </p:sp>
      <p:sp>
        <p:nvSpPr>
          <p:cNvPr id="68" name="Text 65"/>
          <p:cNvSpPr txBox="1"/>
          <p:nvPr/>
        </p:nvSpPr>
        <p:spPr>
          <a:xfrm>
            <a:off x="548640" y="3950208"/>
            <a:ext cx="3200400" cy="475488"/>
          </a:xfrm>
          <a:prstGeom prst="rect">
            <a:avLst/>
          </a:prstGeom>
          <a:noFill/>
          <a:ln/>
        </p:spPr>
        <p:txBody>
          <a:bodyPr wrap="square" lIns="0" tIns="0" rIns="0" bIns="0" rtlCol="0" anchor="ctr"/>
          <a:lstStyle/>
          <a:p>
            <a:pPr indent="0" marL="0">
              <a:buNone/>
            </a:pPr>
            <a:r>
              <a:rPr lang="en-US" sz="1200" b="1" dirty="0">
                <a:solidFill>
                  <a:srgbClr val="1D1D1D"/>
                </a:solidFill>
              </a:rPr>
              <a:t>5  Dispensing and pharmacist care</a:t>
            </a:r>
            <a:endParaRPr lang="en-US" sz="1200" dirty="0"/>
          </a:p>
        </p:txBody>
      </p:sp>
      <p:sp>
        <p:nvSpPr>
          <p:cNvPr id="69" name="Shape 66"/>
          <p:cNvSpPr/>
          <p:nvPr/>
        </p:nvSpPr>
        <p:spPr>
          <a:xfrm>
            <a:off x="3840480" y="3950208"/>
            <a:ext cx="1667180" cy="475488"/>
          </a:xfrm>
          <a:prstGeom prst="rect">
            <a:avLst/>
          </a:prstGeom>
          <a:solidFill>
            <a:srgbClr val="FAFBFA"/>
          </a:solidFill>
          <a:ln w="6350">
            <a:solidFill>
              <a:srgbClr val="D7DDD9"/>
            </a:solidFill>
            <a:prstDash val="solid"/>
          </a:ln>
        </p:spPr>
      </p:sp>
      <p:sp>
        <p:nvSpPr>
          <p:cNvPr id="70" name="Text 67"/>
          <p:cNvSpPr txBox="1"/>
          <p:nvPr/>
        </p:nvSpPr>
        <p:spPr>
          <a:xfrm>
            <a:off x="3931920" y="3950208"/>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a:t>
            </a:r>
            <a:endParaRPr lang="en-US" sz="1800" dirty="0"/>
          </a:p>
        </p:txBody>
      </p:sp>
      <p:sp>
        <p:nvSpPr>
          <p:cNvPr id="71" name="Shape 68"/>
          <p:cNvSpPr/>
          <p:nvPr/>
        </p:nvSpPr>
        <p:spPr>
          <a:xfrm>
            <a:off x="5580812" y="3950208"/>
            <a:ext cx="1667180" cy="475488"/>
          </a:xfrm>
          <a:prstGeom prst="rect">
            <a:avLst/>
          </a:prstGeom>
          <a:solidFill>
            <a:srgbClr val="1A9B4A">
              <a:alpha val="32000"/>
            </a:srgbClr>
          </a:solidFill>
          <a:ln w="6350">
            <a:solidFill>
              <a:srgbClr val="D7DDD9"/>
            </a:solidFill>
            <a:prstDash val="solid"/>
          </a:ln>
        </p:spPr>
      </p:sp>
      <p:sp>
        <p:nvSpPr>
          <p:cNvPr id="72" name="Text 69"/>
          <p:cNvSpPr txBox="1"/>
          <p:nvPr/>
        </p:nvSpPr>
        <p:spPr>
          <a:xfrm>
            <a:off x="5672252" y="3950208"/>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2</a:t>
            </a:r>
            <a:endParaRPr lang="en-US" sz="1800" dirty="0"/>
          </a:p>
        </p:txBody>
      </p:sp>
      <p:sp>
        <p:nvSpPr>
          <p:cNvPr id="73" name="Shape 70"/>
          <p:cNvSpPr/>
          <p:nvPr/>
        </p:nvSpPr>
        <p:spPr>
          <a:xfrm>
            <a:off x="6266612" y="4123944"/>
            <a:ext cx="844220" cy="128016"/>
          </a:xfrm>
          <a:prstGeom prst="rect">
            <a:avLst/>
          </a:prstGeom>
          <a:solidFill>
            <a:srgbClr val="B5D334"/>
          </a:solidFill>
          <a:ln w="6350">
            <a:solidFill>
              <a:srgbClr val="FFFFFF"/>
            </a:solidFill>
            <a:prstDash val="solid"/>
          </a:ln>
        </p:spPr>
      </p:sp>
      <p:sp>
        <p:nvSpPr>
          <p:cNvPr id="74" name="Shape 71"/>
          <p:cNvSpPr/>
          <p:nvPr/>
        </p:nvSpPr>
        <p:spPr>
          <a:xfrm>
            <a:off x="7321144" y="3950208"/>
            <a:ext cx="1667180" cy="475488"/>
          </a:xfrm>
          <a:prstGeom prst="rect">
            <a:avLst/>
          </a:prstGeom>
          <a:solidFill>
            <a:srgbClr val="1A9B4A">
              <a:alpha val="83000"/>
            </a:srgbClr>
          </a:solidFill>
          <a:ln w="6350">
            <a:solidFill>
              <a:srgbClr val="D7DDD9"/>
            </a:solidFill>
            <a:prstDash val="solid"/>
          </a:ln>
        </p:spPr>
      </p:sp>
      <p:sp>
        <p:nvSpPr>
          <p:cNvPr id="75" name="Text 72"/>
          <p:cNvSpPr txBox="1"/>
          <p:nvPr/>
        </p:nvSpPr>
        <p:spPr>
          <a:xfrm>
            <a:off x="7412584" y="3950208"/>
            <a:ext cx="548640" cy="347472"/>
          </a:xfrm>
          <a:prstGeom prst="rect">
            <a:avLst/>
          </a:prstGeom>
          <a:noFill/>
          <a:ln/>
        </p:spPr>
        <p:txBody>
          <a:bodyPr wrap="square" lIns="0" tIns="0" rIns="0" bIns="0" rtlCol="0" anchor="ctr"/>
          <a:lstStyle/>
          <a:p>
            <a:pPr indent="0" marL="0">
              <a:buNone/>
            </a:pPr>
            <a:r>
              <a:rPr lang="en-US" sz="1800" b="1" dirty="0">
                <a:solidFill>
                  <a:srgbClr val="FFFFFF"/>
                </a:solidFill>
              </a:rPr>
              <a:t>8</a:t>
            </a:r>
            <a:endParaRPr lang="en-US" sz="1800" dirty="0"/>
          </a:p>
        </p:txBody>
      </p:sp>
      <p:sp>
        <p:nvSpPr>
          <p:cNvPr id="76" name="Shape 73"/>
          <p:cNvSpPr/>
          <p:nvPr/>
        </p:nvSpPr>
        <p:spPr>
          <a:xfrm>
            <a:off x="8006944" y="4123944"/>
            <a:ext cx="211055" cy="128016"/>
          </a:xfrm>
          <a:prstGeom prst="rect">
            <a:avLst/>
          </a:prstGeom>
          <a:solidFill>
            <a:srgbClr val="126E35"/>
          </a:solidFill>
          <a:ln w="6350">
            <a:solidFill>
              <a:srgbClr val="FFFFFF"/>
            </a:solidFill>
            <a:prstDash val="solid"/>
          </a:ln>
        </p:spPr>
      </p:sp>
      <p:sp>
        <p:nvSpPr>
          <p:cNvPr id="77" name="Shape 74"/>
          <p:cNvSpPr/>
          <p:nvPr/>
        </p:nvSpPr>
        <p:spPr>
          <a:xfrm>
            <a:off x="8217999" y="4123944"/>
            <a:ext cx="422110" cy="128016"/>
          </a:xfrm>
          <a:prstGeom prst="rect">
            <a:avLst/>
          </a:prstGeom>
          <a:solidFill>
            <a:srgbClr val="7FC79A"/>
          </a:solidFill>
          <a:ln w="6350">
            <a:solidFill>
              <a:srgbClr val="FFFFFF"/>
            </a:solidFill>
            <a:prstDash val="solid"/>
          </a:ln>
        </p:spPr>
      </p:sp>
      <p:sp>
        <p:nvSpPr>
          <p:cNvPr id="78" name="Shape 75"/>
          <p:cNvSpPr/>
          <p:nvPr/>
        </p:nvSpPr>
        <p:spPr>
          <a:xfrm>
            <a:off x="8640108" y="4123944"/>
            <a:ext cx="105527" cy="128016"/>
          </a:xfrm>
          <a:prstGeom prst="rect">
            <a:avLst/>
          </a:prstGeom>
          <a:solidFill>
            <a:srgbClr val="B06A00"/>
          </a:solidFill>
          <a:ln w="6350">
            <a:solidFill>
              <a:srgbClr val="FFFFFF"/>
            </a:solidFill>
            <a:prstDash val="solid"/>
          </a:ln>
        </p:spPr>
      </p:sp>
      <p:sp>
        <p:nvSpPr>
          <p:cNvPr id="79" name="Shape 76"/>
          <p:cNvSpPr/>
          <p:nvPr/>
        </p:nvSpPr>
        <p:spPr>
          <a:xfrm>
            <a:off x="8745636" y="4123944"/>
            <a:ext cx="105527" cy="128016"/>
          </a:xfrm>
          <a:prstGeom prst="rect">
            <a:avLst/>
          </a:prstGeom>
          <a:solidFill>
            <a:srgbClr val="B5D334"/>
          </a:solidFill>
          <a:ln w="6350">
            <a:solidFill>
              <a:srgbClr val="FFFFFF"/>
            </a:solidFill>
            <a:prstDash val="solid"/>
          </a:ln>
        </p:spPr>
      </p:sp>
      <p:sp>
        <p:nvSpPr>
          <p:cNvPr id="80" name="Shape 77"/>
          <p:cNvSpPr/>
          <p:nvPr/>
        </p:nvSpPr>
        <p:spPr>
          <a:xfrm>
            <a:off x="9061475" y="3950208"/>
            <a:ext cx="1667180" cy="475488"/>
          </a:xfrm>
          <a:prstGeom prst="rect">
            <a:avLst/>
          </a:prstGeom>
          <a:solidFill>
            <a:srgbClr val="1A9B4A">
              <a:alpha val="40000"/>
            </a:srgbClr>
          </a:solidFill>
          <a:ln w="6350">
            <a:solidFill>
              <a:srgbClr val="D7DDD9"/>
            </a:solidFill>
            <a:prstDash val="solid"/>
          </a:ln>
        </p:spPr>
      </p:sp>
      <p:sp>
        <p:nvSpPr>
          <p:cNvPr id="81" name="Text 78"/>
          <p:cNvSpPr txBox="1"/>
          <p:nvPr/>
        </p:nvSpPr>
        <p:spPr>
          <a:xfrm>
            <a:off x="9152915" y="3950208"/>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3</a:t>
            </a:r>
            <a:endParaRPr lang="en-US" sz="1800" dirty="0"/>
          </a:p>
        </p:txBody>
      </p:sp>
      <p:sp>
        <p:nvSpPr>
          <p:cNvPr id="82" name="Shape 79"/>
          <p:cNvSpPr/>
          <p:nvPr/>
        </p:nvSpPr>
        <p:spPr>
          <a:xfrm>
            <a:off x="9747275" y="4123944"/>
            <a:ext cx="562813" cy="128016"/>
          </a:xfrm>
          <a:prstGeom prst="rect">
            <a:avLst/>
          </a:prstGeom>
          <a:solidFill>
            <a:srgbClr val="7FC79A"/>
          </a:solidFill>
          <a:ln w="6350">
            <a:solidFill>
              <a:srgbClr val="FFFFFF"/>
            </a:solidFill>
            <a:prstDash val="solid"/>
          </a:ln>
        </p:spPr>
      </p:sp>
      <p:sp>
        <p:nvSpPr>
          <p:cNvPr id="83" name="Shape 80"/>
          <p:cNvSpPr/>
          <p:nvPr/>
        </p:nvSpPr>
        <p:spPr>
          <a:xfrm>
            <a:off x="10310089" y="4123944"/>
            <a:ext cx="281407" cy="128016"/>
          </a:xfrm>
          <a:prstGeom prst="rect">
            <a:avLst/>
          </a:prstGeom>
          <a:solidFill>
            <a:srgbClr val="B06A00"/>
          </a:solidFill>
          <a:ln w="6350">
            <a:solidFill>
              <a:srgbClr val="FFFFFF"/>
            </a:solidFill>
            <a:prstDash val="solid"/>
          </a:ln>
        </p:spPr>
      </p:sp>
      <p:sp>
        <p:nvSpPr>
          <p:cNvPr id="84" name="Text 81"/>
          <p:cNvSpPr txBox="1"/>
          <p:nvPr/>
        </p:nvSpPr>
        <p:spPr>
          <a:xfrm>
            <a:off x="10820095" y="3950208"/>
            <a:ext cx="822960" cy="475488"/>
          </a:xfrm>
          <a:prstGeom prst="rect">
            <a:avLst/>
          </a:prstGeom>
          <a:noFill/>
          <a:ln/>
        </p:spPr>
        <p:txBody>
          <a:bodyPr wrap="square" lIns="0" tIns="0" rIns="0" bIns="0" rtlCol="0" anchor="ctr"/>
          <a:lstStyle/>
          <a:p>
            <a:pPr algn="ctr" indent="0" marL="0">
              <a:buNone/>
            </a:pPr>
            <a:r>
              <a:rPr lang="en-US" sz="1800" b="1" dirty="0">
                <a:solidFill>
                  <a:srgbClr val="1D1D1D"/>
                </a:solidFill>
              </a:rPr>
              <a:t>13</a:t>
            </a:r>
            <a:endParaRPr lang="en-US" sz="1800" dirty="0"/>
          </a:p>
        </p:txBody>
      </p:sp>
      <p:sp>
        <p:nvSpPr>
          <p:cNvPr id="85" name="Text 82"/>
          <p:cNvSpPr txBox="1"/>
          <p:nvPr/>
        </p:nvSpPr>
        <p:spPr>
          <a:xfrm>
            <a:off x="548640" y="4480560"/>
            <a:ext cx="3200400" cy="475488"/>
          </a:xfrm>
          <a:prstGeom prst="rect">
            <a:avLst/>
          </a:prstGeom>
          <a:noFill/>
          <a:ln/>
        </p:spPr>
        <p:txBody>
          <a:bodyPr wrap="square" lIns="0" tIns="0" rIns="0" bIns="0" rtlCol="0" anchor="ctr"/>
          <a:lstStyle/>
          <a:p>
            <a:pPr indent="0" marL="0">
              <a:buNone/>
            </a:pPr>
            <a:r>
              <a:rPr lang="en-US" sz="1200" b="1" dirty="0">
                <a:solidFill>
                  <a:srgbClr val="1D1D1D"/>
                </a:solidFill>
              </a:rPr>
              <a:t>6  Collection and delivery</a:t>
            </a:r>
            <a:endParaRPr lang="en-US" sz="1200" dirty="0"/>
          </a:p>
        </p:txBody>
      </p:sp>
      <p:sp>
        <p:nvSpPr>
          <p:cNvPr id="86" name="Shape 83"/>
          <p:cNvSpPr/>
          <p:nvPr/>
        </p:nvSpPr>
        <p:spPr>
          <a:xfrm>
            <a:off x="3840480" y="4480560"/>
            <a:ext cx="1667180" cy="475488"/>
          </a:xfrm>
          <a:prstGeom prst="rect">
            <a:avLst/>
          </a:prstGeom>
          <a:solidFill>
            <a:srgbClr val="1A9B4A">
              <a:alpha val="40000"/>
            </a:srgbClr>
          </a:solidFill>
          <a:ln w="6350">
            <a:solidFill>
              <a:srgbClr val="D7DDD9"/>
            </a:solidFill>
            <a:prstDash val="solid"/>
          </a:ln>
        </p:spPr>
      </p:sp>
      <p:sp>
        <p:nvSpPr>
          <p:cNvPr id="87" name="Text 84"/>
          <p:cNvSpPr txBox="1"/>
          <p:nvPr/>
        </p:nvSpPr>
        <p:spPr>
          <a:xfrm>
            <a:off x="3931920" y="4480560"/>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3</a:t>
            </a:r>
            <a:endParaRPr lang="en-US" sz="1800" dirty="0"/>
          </a:p>
        </p:txBody>
      </p:sp>
      <p:sp>
        <p:nvSpPr>
          <p:cNvPr id="88" name="Shape 85"/>
          <p:cNvSpPr/>
          <p:nvPr/>
        </p:nvSpPr>
        <p:spPr>
          <a:xfrm>
            <a:off x="4526280" y="4654296"/>
            <a:ext cx="281407" cy="128016"/>
          </a:xfrm>
          <a:prstGeom prst="rect">
            <a:avLst/>
          </a:prstGeom>
          <a:solidFill>
            <a:srgbClr val="B06A00"/>
          </a:solidFill>
          <a:ln w="6350">
            <a:solidFill>
              <a:srgbClr val="FFFFFF"/>
            </a:solidFill>
            <a:prstDash val="solid"/>
          </a:ln>
        </p:spPr>
      </p:sp>
      <p:sp>
        <p:nvSpPr>
          <p:cNvPr id="89" name="Shape 86"/>
          <p:cNvSpPr/>
          <p:nvPr/>
        </p:nvSpPr>
        <p:spPr>
          <a:xfrm>
            <a:off x="4807687" y="4654296"/>
            <a:ext cx="562813" cy="128016"/>
          </a:xfrm>
          <a:prstGeom prst="rect">
            <a:avLst/>
          </a:prstGeom>
          <a:solidFill>
            <a:srgbClr val="B5D334"/>
          </a:solidFill>
          <a:ln w="6350">
            <a:solidFill>
              <a:srgbClr val="FFFFFF"/>
            </a:solidFill>
            <a:prstDash val="solid"/>
          </a:ln>
        </p:spPr>
      </p:sp>
      <p:sp>
        <p:nvSpPr>
          <p:cNvPr id="90" name="Shape 87"/>
          <p:cNvSpPr/>
          <p:nvPr/>
        </p:nvSpPr>
        <p:spPr>
          <a:xfrm>
            <a:off x="5580812" y="4480560"/>
            <a:ext cx="1667180" cy="475488"/>
          </a:xfrm>
          <a:prstGeom prst="rect">
            <a:avLst/>
          </a:prstGeom>
          <a:solidFill>
            <a:srgbClr val="1A9B4A">
              <a:alpha val="23000"/>
            </a:srgbClr>
          </a:solidFill>
          <a:ln w="6350">
            <a:solidFill>
              <a:srgbClr val="D7DDD9"/>
            </a:solidFill>
            <a:prstDash val="solid"/>
          </a:ln>
        </p:spPr>
      </p:sp>
      <p:sp>
        <p:nvSpPr>
          <p:cNvPr id="91" name="Text 88"/>
          <p:cNvSpPr txBox="1"/>
          <p:nvPr/>
        </p:nvSpPr>
        <p:spPr>
          <a:xfrm>
            <a:off x="5672252" y="4480560"/>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92" name="Shape 89"/>
          <p:cNvSpPr/>
          <p:nvPr/>
        </p:nvSpPr>
        <p:spPr>
          <a:xfrm>
            <a:off x="6266612" y="4654296"/>
            <a:ext cx="844220" cy="128016"/>
          </a:xfrm>
          <a:prstGeom prst="rect">
            <a:avLst/>
          </a:prstGeom>
          <a:solidFill>
            <a:srgbClr val="B5D334"/>
          </a:solidFill>
          <a:ln w="6350">
            <a:solidFill>
              <a:srgbClr val="FFFFFF"/>
            </a:solidFill>
            <a:prstDash val="solid"/>
          </a:ln>
        </p:spPr>
      </p:sp>
      <p:sp>
        <p:nvSpPr>
          <p:cNvPr id="93" name="Shape 90"/>
          <p:cNvSpPr/>
          <p:nvPr/>
        </p:nvSpPr>
        <p:spPr>
          <a:xfrm>
            <a:off x="7321144" y="4480560"/>
            <a:ext cx="1667180" cy="475488"/>
          </a:xfrm>
          <a:prstGeom prst="rect">
            <a:avLst/>
          </a:prstGeom>
          <a:solidFill>
            <a:srgbClr val="1A9B4A">
              <a:alpha val="91000"/>
            </a:srgbClr>
          </a:solidFill>
          <a:ln w="6350">
            <a:solidFill>
              <a:srgbClr val="D7DDD9"/>
            </a:solidFill>
            <a:prstDash val="solid"/>
          </a:ln>
        </p:spPr>
      </p:sp>
      <p:sp>
        <p:nvSpPr>
          <p:cNvPr id="94" name="Text 91"/>
          <p:cNvSpPr txBox="1"/>
          <p:nvPr/>
        </p:nvSpPr>
        <p:spPr>
          <a:xfrm>
            <a:off x="7412584" y="4480560"/>
            <a:ext cx="548640" cy="347472"/>
          </a:xfrm>
          <a:prstGeom prst="rect">
            <a:avLst/>
          </a:prstGeom>
          <a:noFill/>
          <a:ln/>
        </p:spPr>
        <p:txBody>
          <a:bodyPr wrap="square" lIns="0" tIns="0" rIns="0" bIns="0" rtlCol="0" anchor="ctr"/>
          <a:lstStyle/>
          <a:p>
            <a:pPr indent="0" marL="0">
              <a:buNone/>
            </a:pPr>
            <a:r>
              <a:rPr lang="en-US" sz="1800" b="1" dirty="0">
                <a:solidFill>
                  <a:srgbClr val="FFFFFF"/>
                </a:solidFill>
              </a:rPr>
              <a:t>9</a:t>
            </a:r>
            <a:endParaRPr lang="en-US" sz="1800" dirty="0"/>
          </a:p>
        </p:txBody>
      </p:sp>
      <p:sp>
        <p:nvSpPr>
          <p:cNvPr id="95" name="Shape 92"/>
          <p:cNvSpPr/>
          <p:nvPr/>
        </p:nvSpPr>
        <p:spPr>
          <a:xfrm>
            <a:off x="8006944" y="4654296"/>
            <a:ext cx="281407" cy="128016"/>
          </a:xfrm>
          <a:prstGeom prst="rect">
            <a:avLst/>
          </a:prstGeom>
          <a:solidFill>
            <a:srgbClr val="7FC79A"/>
          </a:solidFill>
          <a:ln w="6350">
            <a:solidFill>
              <a:srgbClr val="FFFFFF"/>
            </a:solidFill>
            <a:prstDash val="solid"/>
          </a:ln>
        </p:spPr>
      </p:sp>
      <p:sp>
        <p:nvSpPr>
          <p:cNvPr id="96" name="Shape 93"/>
          <p:cNvSpPr/>
          <p:nvPr/>
        </p:nvSpPr>
        <p:spPr>
          <a:xfrm>
            <a:off x="8288350" y="4654296"/>
            <a:ext cx="93802" cy="128016"/>
          </a:xfrm>
          <a:prstGeom prst="rect">
            <a:avLst/>
          </a:prstGeom>
          <a:solidFill>
            <a:srgbClr val="B06A00"/>
          </a:solidFill>
          <a:ln w="6350">
            <a:solidFill>
              <a:srgbClr val="FFFFFF"/>
            </a:solidFill>
            <a:prstDash val="solid"/>
          </a:ln>
        </p:spPr>
      </p:sp>
      <p:sp>
        <p:nvSpPr>
          <p:cNvPr id="97" name="Shape 94"/>
          <p:cNvSpPr/>
          <p:nvPr/>
        </p:nvSpPr>
        <p:spPr>
          <a:xfrm>
            <a:off x="8382152" y="4654296"/>
            <a:ext cx="469011" cy="128016"/>
          </a:xfrm>
          <a:prstGeom prst="rect">
            <a:avLst/>
          </a:prstGeom>
          <a:solidFill>
            <a:srgbClr val="B5D334"/>
          </a:solidFill>
          <a:ln w="6350">
            <a:solidFill>
              <a:srgbClr val="FFFFFF"/>
            </a:solidFill>
            <a:prstDash val="solid"/>
          </a:ln>
        </p:spPr>
      </p:sp>
      <p:sp>
        <p:nvSpPr>
          <p:cNvPr id="98" name="Shape 95"/>
          <p:cNvSpPr/>
          <p:nvPr/>
        </p:nvSpPr>
        <p:spPr>
          <a:xfrm>
            <a:off x="9061475" y="4480560"/>
            <a:ext cx="1667180" cy="475488"/>
          </a:xfrm>
          <a:prstGeom prst="rect">
            <a:avLst/>
          </a:prstGeom>
          <a:solidFill>
            <a:srgbClr val="1A9B4A">
              <a:alpha val="49000"/>
            </a:srgbClr>
          </a:solidFill>
          <a:ln w="6350">
            <a:solidFill>
              <a:srgbClr val="D7DDD9"/>
            </a:solidFill>
            <a:prstDash val="solid"/>
          </a:ln>
        </p:spPr>
      </p:sp>
      <p:sp>
        <p:nvSpPr>
          <p:cNvPr id="99" name="Text 96"/>
          <p:cNvSpPr txBox="1"/>
          <p:nvPr/>
        </p:nvSpPr>
        <p:spPr>
          <a:xfrm>
            <a:off x="9152915" y="4480560"/>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4</a:t>
            </a:r>
            <a:endParaRPr lang="en-US" sz="1800" dirty="0"/>
          </a:p>
        </p:txBody>
      </p:sp>
      <p:sp>
        <p:nvSpPr>
          <p:cNvPr id="100" name="Shape 97"/>
          <p:cNvSpPr/>
          <p:nvPr/>
        </p:nvSpPr>
        <p:spPr>
          <a:xfrm>
            <a:off x="9747275" y="4654296"/>
            <a:ext cx="422110" cy="128016"/>
          </a:xfrm>
          <a:prstGeom prst="rect">
            <a:avLst/>
          </a:prstGeom>
          <a:solidFill>
            <a:srgbClr val="7FC79A"/>
          </a:solidFill>
          <a:ln w="6350">
            <a:solidFill>
              <a:srgbClr val="FFFFFF"/>
            </a:solidFill>
            <a:prstDash val="solid"/>
          </a:ln>
        </p:spPr>
      </p:sp>
      <p:sp>
        <p:nvSpPr>
          <p:cNvPr id="101" name="Shape 98"/>
          <p:cNvSpPr/>
          <p:nvPr/>
        </p:nvSpPr>
        <p:spPr>
          <a:xfrm>
            <a:off x="10169385" y="4654296"/>
            <a:ext cx="422110" cy="128016"/>
          </a:xfrm>
          <a:prstGeom prst="rect">
            <a:avLst/>
          </a:prstGeom>
          <a:solidFill>
            <a:srgbClr val="B5D334"/>
          </a:solidFill>
          <a:ln w="6350">
            <a:solidFill>
              <a:srgbClr val="FFFFFF"/>
            </a:solidFill>
            <a:prstDash val="solid"/>
          </a:ln>
        </p:spPr>
      </p:sp>
      <p:sp>
        <p:nvSpPr>
          <p:cNvPr id="102" name="Text 99"/>
          <p:cNvSpPr txBox="1"/>
          <p:nvPr/>
        </p:nvSpPr>
        <p:spPr>
          <a:xfrm>
            <a:off x="10820095" y="4480560"/>
            <a:ext cx="822960" cy="475488"/>
          </a:xfrm>
          <a:prstGeom prst="rect">
            <a:avLst/>
          </a:prstGeom>
          <a:noFill/>
          <a:ln/>
        </p:spPr>
        <p:txBody>
          <a:bodyPr wrap="square" lIns="0" tIns="0" rIns="0" bIns="0" rtlCol="0" anchor="ctr"/>
          <a:lstStyle/>
          <a:p>
            <a:pPr algn="ctr" indent="0" marL="0">
              <a:buNone/>
            </a:pPr>
            <a:r>
              <a:rPr lang="en-US" sz="1800" b="1" dirty="0">
                <a:solidFill>
                  <a:srgbClr val="1D1D1D"/>
                </a:solidFill>
              </a:rPr>
              <a:t>17</a:t>
            </a:r>
            <a:endParaRPr lang="en-US" sz="1800" dirty="0"/>
          </a:p>
        </p:txBody>
      </p:sp>
      <p:sp>
        <p:nvSpPr>
          <p:cNvPr id="103" name="Text 100"/>
          <p:cNvSpPr txBox="1"/>
          <p:nvPr/>
        </p:nvSpPr>
        <p:spPr>
          <a:xfrm>
            <a:off x="548640" y="5010912"/>
            <a:ext cx="3200400" cy="475488"/>
          </a:xfrm>
          <a:prstGeom prst="rect">
            <a:avLst/>
          </a:prstGeom>
          <a:noFill/>
          <a:ln/>
        </p:spPr>
        <p:txBody>
          <a:bodyPr wrap="square" lIns="0" tIns="0" rIns="0" bIns="0" rtlCol="0" anchor="ctr"/>
          <a:lstStyle/>
          <a:p>
            <a:pPr indent="0" marL="0">
              <a:buNone/>
            </a:pPr>
            <a:r>
              <a:rPr lang="en-US" sz="1200" b="1" dirty="0">
                <a:solidFill>
                  <a:srgbClr val="1D1D1D"/>
                </a:solidFill>
              </a:rPr>
              <a:t>7  Adherence and refills</a:t>
            </a:r>
            <a:endParaRPr lang="en-US" sz="1200" dirty="0"/>
          </a:p>
        </p:txBody>
      </p:sp>
      <p:sp>
        <p:nvSpPr>
          <p:cNvPr id="104" name="Shape 101"/>
          <p:cNvSpPr/>
          <p:nvPr/>
        </p:nvSpPr>
        <p:spPr>
          <a:xfrm>
            <a:off x="3840480" y="5010912"/>
            <a:ext cx="1667180" cy="475488"/>
          </a:xfrm>
          <a:prstGeom prst="rect">
            <a:avLst/>
          </a:prstGeom>
          <a:solidFill>
            <a:srgbClr val="1A9B4A">
              <a:alpha val="49000"/>
            </a:srgbClr>
          </a:solidFill>
          <a:ln w="6350">
            <a:solidFill>
              <a:srgbClr val="D7DDD9"/>
            </a:solidFill>
            <a:prstDash val="solid"/>
          </a:ln>
        </p:spPr>
      </p:sp>
      <p:sp>
        <p:nvSpPr>
          <p:cNvPr id="105" name="Text 102"/>
          <p:cNvSpPr txBox="1"/>
          <p:nvPr/>
        </p:nvSpPr>
        <p:spPr>
          <a:xfrm>
            <a:off x="3931920" y="5010912"/>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4</a:t>
            </a:r>
            <a:endParaRPr lang="en-US" sz="1800" dirty="0"/>
          </a:p>
        </p:txBody>
      </p:sp>
      <p:sp>
        <p:nvSpPr>
          <p:cNvPr id="106" name="Shape 103"/>
          <p:cNvSpPr/>
          <p:nvPr/>
        </p:nvSpPr>
        <p:spPr>
          <a:xfrm>
            <a:off x="4526280" y="5184648"/>
            <a:ext cx="844220" cy="128016"/>
          </a:xfrm>
          <a:prstGeom prst="rect">
            <a:avLst/>
          </a:prstGeom>
          <a:solidFill>
            <a:srgbClr val="B5D334"/>
          </a:solidFill>
          <a:ln w="6350">
            <a:solidFill>
              <a:srgbClr val="FFFFFF"/>
            </a:solidFill>
            <a:prstDash val="solid"/>
          </a:ln>
        </p:spPr>
      </p:sp>
      <p:sp>
        <p:nvSpPr>
          <p:cNvPr id="107" name="Shape 104"/>
          <p:cNvSpPr/>
          <p:nvPr/>
        </p:nvSpPr>
        <p:spPr>
          <a:xfrm>
            <a:off x="5580812" y="5010912"/>
            <a:ext cx="1667180" cy="475488"/>
          </a:xfrm>
          <a:prstGeom prst="rect">
            <a:avLst/>
          </a:prstGeom>
          <a:solidFill>
            <a:srgbClr val="1A9B4A">
              <a:alpha val="32000"/>
            </a:srgbClr>
          </a:solidFill>
          <a:ln w="6350">
            <a:solidFill>
              <a:srgbClr val="D7DDD9"/>
            </a:solidFill>
            <a:prstDash val="solid"/>
          </a:ln>
        </p:spPr>
      </p:sp>
      <p:sp>
        <p:nvSpPr>
          <p:cNvPr id="108" name="Text 105"/>
          <p:cNvSpPr txBox="1"/>
          <p:nvPr/>
        </p:nvSpPr>
        <p:spPr>
          <a:xfrm>
            <a:off x="5672252" y="5010912"/>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2</a:t>
            </a:r>
            <a:endParaRPr lang="en-US" sz="1800" dirty="0"/>
          </a:p>
        </p:txBody>
      </p:sp>
      <p:sp>
        <p:nvSpPr>
          <p:cNvPr id="109" name="Shape 106"/>
          <p:cNvSpPr/>
          <p:nvPr/>
        </p:nvSpPr>
        <p:spPr>
          <a:xfrm>
            <a:off x="6266612" y="5184648"/>
            <a:ext cx="422110" cy="128016"/>
          </a:xfrm>
          <a:prstGeom prst="rect">
            <a:avLst/>
          </a:prstGeom>
          <a:solidFill>
            <a:srgbClr val="7FC79A"/>
          </a:solidFill>
          <a:ln w="6350">
            <a:solidFill>
              <a:srgbClr val="FFFFFF"/>
            </a:solidFill>
            <a:prstDash val="solid"/>
          </a:ln>
        </p:spPr>
      </p:sp>
      <p:sp>
        <p:nvSpPr>
          <p:cNvPr id="110" name="Shape 107"/>
          <p:cNvSpPr/>
          <p:nvPr/>
        </p:nvSpPr>
        <p:spPr>
          <a:xfrm>
            <a:off x="6688722" y="5184648"/>
            <a:ext cx="422110" cy="128016"/>
          </a:xfrm>
          <a:prstGeom prst="rect">
            <a:avLst/>
          </a:prstGeom>
          <a:solidFill>
            <a:srgbClr val="B06A00"/>
          </a:solidFill>
          <a:ln w="6350">
            <a:solidFill>
              <a:srgbClr val="FFFFFF"/>
            </a:solidFill>
            <a:prstDash val="solid"/>
          </a:ln>
        </p:spPr>
      </p:sp>
      <p:sp>
        <p:nvSpPr>
          <p:cNvPr id="111" name="Shape 108"/>
          <p:cNvSpPr/>
          <p:nvPr/>
        </p:nvSpPr>
        <p:spPr>
          <a:xfrm>
            <a:off x="7321144" y="5010912"/>
            <a:ext cx="1667180" cy="475488"/>
          </a:xfrm>
          <a:prstGeom prst="rect">
            <a:avLst/>
          </a:prstGeom>
          <a:solidFill>
            <a:srgbClr val="1A9B4A">
              <a:alpha val="74000"/>
            </a:srgbClr>
          </a:solidFill>
          <a:ln w="6350">
            <a:solidFill>
              <a:srgbClr val="D7DDD9"/>
            </a:solidFill>
            <a:prstDash val="solid"/>
          </a:ln>
        </p:spPr>
      </p:sp>
      <p:sp>
        <p:nvSpPr>
          <p:cNvPr id="112" name="Text 109"/>
          <p:cNvSpPr txBox="1"/>
          <p:nvPr/>
        </p:nvSpPr>
        <p:spPr>
          <a:xfrm>
            <a:off x="7412584" y="5010912"/>
            <a:ext cx="548640" cy="347472"/>
          </a:xfrm>
          <a:prstGeom prst="rect">
            <a:avLst/>
          </a:prstGeom>
          <a:noFill/>
          <a:ln/>
        </p:spPr>
        <p:txBody>
          <a:bodyPr wrap="square" lIns="0" tIns="0" rIns="0" bIns="0" rtlCol="0" anchor="ctr"/>
          <a:lstStyle/>
          <a:p>
            <a:pPr indent="0" marL="0">
              <a:buNone/>
            </a:pPr>
            <a:r>
              <a:rPr lang="en-US" sz="1800" b="1" dirty="0">
                <a:solidFill>
                  <a:srgbClr val="FFFFFF"/>
                </a:solidFill>
              </a:rPr>
              <a:t>7</a:t>
            </a:r>
            <a:endParaRPr lang="en-US" sz="1800" dirty="0"/>
          </a:p>
        </p:txBody>
      </p:sp>
      <p:sp>
        <p:nvSpPr>
          <p:cNvPr id="113" name="Shape 110"/>
          <p:cNvSpPr/>
          <p:nvPr/>
        </p:nvSpPr>
        <p:spPr>
          <a:xfrm>
            <a:off x="8006944" y="5184648"/>
            <a:ext cx="241206" cy="128016"/>
          </a:xfrm>
          <a:prstGeom prst="rect">
            <a:avLst/>
          </a:prstGeom>
          <a:solidFill>
            <a:srgbClr val="7FC79A"/>
          </a:solidFill>
          <a:ln w="6350">
            <a:solidFill>
              <a:srgbClr val="FFFFFF"/>
            </a:solidFill>
            <a:prstDash val="solid"/>
          </a:ln>
        </p:spPr>
      </p:sp>
      <p:sp>
        <p:nvSpPr>
          <p:cNvPr id="114" name="Shape 111"/>
          <p:cNvSpPr/>
          <p:nvPr/>
        </p:nvSpPr>
        <p:spPr>
          <a:xfrm>
            <a:off x="8248149" y="5184648"/>
            <a:ext cx="361808" cy="128016"/>
          </a:xfrm>
          <a:prstGeom prst="rect">
            <a:avLst/>
          </a:prstGeom>
          <a:solidFill>
            <a:srgbClr val="B06A00"/>
          </a:solidFill>
          <a:ln w="6350">
            <a:solidFill>
              <a:srgbClr val="FFFFFF"/>
            </a:solidFill>
            <a:prstDash val="solid"/>
          </a:ln>
        </p:spPr>
      </p:sp>
      <p:sp>
        <p:nvSpPr>
          <p:cNvPr id="115" name="Shape 112"/>
          <p:cNvSpPr/>
          <p:nvPr/>
        </p:nvSpPr>
        <p:spPr>
          <a:xfrm>
            <a:off x="8609958" y="5184648"/>
            <a:ext cx="241206" cy="128016"/>
          </a:xfrm>
          <a:prstGeom prst="rect">
            <a:avLst/>
          </a:prstGeom>
          <a:solidFill>
            <a:srgbClr val="B5D334"/>
          </a:solidFill>
          <a:ln w="6350">
            <a:solidFill>
              <a:srgbClr val="FFFFFF"/>
            </a:solidFill>
            <a:prstDash val="solid"/>
          </a:ln>
        </p:spPr>
      </p:sp>
      <p:sp>
        <p:nvSpPr>
          <p:cNvPr id="116" name="Shape 113"/>
          <p:cNvSpPr/>
          <p:nvPr/>
        </p:nvSpPr>
        <p:spPr>
          <a:xfrm>
            <a:off x="9061475" y="5010912"/>
            <a:ext cx="1667180" cy="475488"/>
          </a:xfrm>
          <a:prstGeom prst="rect">
            <a:avLst/>
          </a:prstGeom>
          <a:solidFill>
            <a:srgbClr val="1A9B4A">
              <a:alpha val="32000"/>
            </a:srgbClr>
          </a:solidFill>
          <a:ln w="6350">
            <a:solidFill>
              <a:srgbClr val="D7DDD9"/>
            </a:solidFill>
            <a:prstDash val="solid"/>
          </a:ln>
        </p:spPr>
      </p:sp>
      <p:sp>
        <p:nvSpPr>
          <p:cNvPr id="117" name="Text 114"/>
          <p:cNvSpPr txBox="1"/>
          <p:nvPr/>
        </p:nvSpPr>
        <p:spPr>
          <a:xfrm>
            <a:off x="9152915" y="5010912"/>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2</a:t>
            </a:r>
            <a:endParaRPr lang="en-US" sz="1800" dirty="0"/>
          </a:p>
        </p:txBody>
      </p:sp>
      <p:sp>
        <p:nvSpPr>
          <p:cNvPr id="118" name="Shape 115"/>
          <p:cNvSpPr/>
          <p:nvPr/>
        </p:nvSpPr>
        <p:spPr>
          <a:xfrm>
            <a:off x="9747275" y="5184648"/>
            <a:ext cx="422110" cy="128016"/>
          </a:xfrm>
          <a:prstGeom prst="rect">
            <a:avLst/>
          </a:prstGeom>
          <a:solidFill>
            <a:srgbClr val="B06A00"/>
          </a:solidFill>
          <a:ln w="6350">
            <a:solidFill>
              <a:srgbClr val="FFFFFF"/>
            </a:solidFill>
            <a:prstDash val="solid"/>
          </a:ln>
        </p:spPr>
      </p:sp>
      <p:sp>
        <p:nvSpPr>
          <p:cNvPr id="119" name="Shape 116"/>
          <p:cNvSpPr/>
          <p:nvPr/>
        </p:nvSpPr>
        <p:spPr>
          <a:xfrm>
            <a:off x="10169385" y="5184648"/>
            <a:ext cx="422110" cy="128016"/>
          </a:xfrm>
          <a:prstGeom prst="rect">
            <a:avLst/>
          </a:prstGeom>
          <a:solidFill>
            <a:srgbClr val="B5D334"/>
          </a:solidFill>
          <a:ln w="6350">
            <a:solidFill>
              <a:srgbClr val="FFFFFF"/>
            </a:solidFill>
            <a:prstDash val="solid"/>
          </a:ln>
        </p:spPr>
      </p:sp>
      <p:sp>
        <p:nvSpPr>
          <p:cNvPr id="120" name="Text 117"/>
          <p:cNvSpPr txBox="1"/>
          <p:nvPr/>
        </p:nvSpPr>
        <p:spPr>
          <a:xfrm>
            <a:off x="10820095" y="5010912"/>
            <a:ext cx="822960" cy="475488"/>
          </a:xfrm>
          <a:prstGeom prst="rect">
            <a:avLst/>
          </a:prstGeom>
          <a:noFill/>
          <a:ln/>
        </p:spPr>
        <p:txBody>
          <a:bodyPr wrap="square" lIns="0" tIns="0" rIns="0" bIns="0" rtlCol="0" anchor="ctr"/>
          <a:lstStyle/>
          <a:p>
            <a:pPr algn="ctr" indent="0" marL="0">
              <a:buNone/>
            </a:pPr>
            <a:r>
              <a:rPr lang="en-US" sz="1800" b="1" dirty="0">
                <a:solidFill>
                  <a:srgbClr val="1D1D1D"/>
                </a:solidFill>
              </a:rPr>
              <a:t>15</a:t>
            </a:r>
            <a:endParaRPr lang="en-US" sz="1800" dirty="0"/>
          </a:p>
        </p:txBody>
      </p:sp>
      <p:sp>
        <p:nvSpPr>
          <p:cNvPr id="121" name="Text 118"/>
          <p:cNvSpPr txBox="1"/>
          <p:nvPr/>
        </p:nvSpPr>
        <p:spPr>
          <a:xfrm>
            <a:off x="548640" y="5541264"/>
            <a:ext cx="3200400" cy="475488"/>
          </a:xfrm>
          <a:prstGeom prst="rect">
            <a:avLst/>
          </a:prstGeom>
          <a:noFill/>
          <a:ln/>
        </p:spPr>
        <p:txBody>
          <a:bodyPr wrap="square" lIns="0" tIns="0" rIns="0" bIns="0" rtlCol="0" anchor="ctr"/>
          <a:lstStyle/>
          <a:p>
            <a:pPr indent="0" marL="0">
              <a:buNone/>
            </a:pPr>
            <a:r>
              <a:rPr lang="en-US" sz="1200" b="1" dirty="0">
                <a:solidFill>
                  <a:srgbClr val="1D1D1D"/>
                </a:solidFill>
              </a:rPr>
              <a:t>8  Communicating with customers</a:t>
            </a:r>
            <a:endParaRPr lang="en-US" sz="1200" dirty="0"/>
          </a:p>
        </p:txBody>
      </p:sp>
      <p:sp>
        <p:nvSpPr>
          <p:cNvPr id="122" name="Shape 119"/>
          <p:cNvSpPr/>
          <p:nvPr/>
        </p:nvSpPr>
        <p:spPr>
          <a:xfrm>
            <a:off x="3840480" y="5541264"/>
            <a:ext cx="1667180" cy="475488"/>
          </a:xfrm>
          <a:prstGeom prst="rect">
            <a:avLst/>
          </a:prstGeom>
          <a:solidFill>
            <a:srgbClr val="1A9B4A">
              <a:alpha val="23000"/>
            </a:srgbClr>
          </a:solidFill>
          <a:ln w="6350">
            <a:solidFill>
              <a:srgbClr val="D7DDD9"/>
            </a:solidFill>
            <a:prstDash val="solid"/>
          </a:ln>
        </p:spPr>
      </p:sp>
      <p:sp>
        <p:nvSpPr>
          <p:cNvPr id="123" name="Text 120"/>
          <p:cNvSpPr txBox="1"/>
          <p:nvPr/>
        </p:nvSpPr>
        <p:spPr>
          <a:xfrm>
            <a:off x="3931920" y="5541264"/>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1</a:t>
            </a:r>
            <a:endParaRPr lang="en-US" sz="1800" dirty="0"/>
          </a:p>
        </p:txBody>
      </p:sp>
      <p:sp>
        <p:nvSpPr>
          <p:cNvPr id="124" name="Shape 121"/>
          <p:cNvSpPr/>
          <p:nvPr/>
        </p:nvSpPr>
        <p:spPr>
          <a:xfrm>
            <a:off x="4526280" y="5715000"/>
            <a:ext cx="844220" cy="128016"/>
          </a:xfrm>
          <a:prstGeom prst="rect">
            <a:avLst/>
          </a:prstGeom>
          <a:solidFill>
            <a:srgbClr val="B5D334"/>
          </a:solidFill>
          <a:ln w="6350">
            <a:solidFill>
              <a:srgbClr val="FFFFFF"/>
            </a:solidFill>
            <a:prstDash val="solid"/>
          </a:ln>
        </p:spPr>
      </p:sp>
      <p:sp>
        <p:nvSpPr>
          <p:cNvPr id="125" name="Shape 122"/>
          <p:cNvSpPr/>
          <p:nvPr/>
        </p:nvSpPr>
        <p:spPr>
          <a:xfrm>
            <a:off x="5580812" y="5541264"/>
            <a:ext cx="1667180" cy="475488"/>
          </a:xfrm>
          <a:prstGeom prst="rect">
            <a:avLst/>
          </a:prstGeom>
          <a:solidFill>
            <a:srgbClr val="FAFBFA"/>
          </a:solidFill>
          <a:ln w="6350">
            <a:solidFill>
              <a:srgbClr val="D7DDD9"/>
            </a:solidFill>
            <a:prstDash val="solid"/>
          </a:ln>
        </p:spPr>
      </p:sp>
      <p:sp>
        <p:nvSpPr>
          <p:cNvPr id="126" name="Text 123"/>
          <p:cNvSpPr txBox="1"/>
          <p:nvPr/>
        </p:nvSpPr>
        <p:spPr>
          <a:xfrm>
            <a:off x="5672252" y="5541264"/>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a:t>
            </a:r>
            <a:endParaRPr lang="en-US" sz="1800" dirty="0"/>
          </a:p>
        </p:txBody>
      </p:sp>
      <p:sp>
        <p:nvSpPr>
          <p:cNvPr id="127" name="Shape 124"/>
          <p:cNvSpPr/>
          <p:nvPr/>
        </p:nvSpPr>
        <p:spPr>
          <a:xfrm>
            <a:off x="7321144" y="5541264"/>
            <a:ext cx="1667180" cy="475488"/>
          </a:xfrm>
          <a:prstGeom prst="rect">
            <a:avLst/>
          </a:prstGeom>
          <a:solidFill>
            <a:srgbClr val="1A9B4A"/>
          </a:solidFill>
          <a:ln w="6350">
            <a:solidFill>
              <a:srgbClr val="D7DDD9"/>
            </a:solidFill>
            <a:prstDash val="solid"/>
          </a:ln>
        </p:spPr>
      </p:sp>
      <p:sp>
        <p:nvSpPr>
          <p:cNvPr id="128" name="Text 125"/>
          <p:cNvSpPr txBox="1"/>
          <p:nvPr/>
        </p:nvSpPr>
        <p:spPr>
          <a:xfrm>
            <a:off x="7412584" y="5541264"/>
            <a:ext cx="548640" cy="347472"/>
          </a:xfrm>
          <a:prstGeom prst="rect">
            <a:avLst/>
          </a:prstGeom>
          <a:noFill/>
          <a:ln/>
        </p:spPr>
        <p:txBody>
          <a:bodyPr wrap="square" lIns="0" tIns="0" rIns="0" bIns="0" rtlCol="0" anchor="ctr"/>
          <a:lstStyle/>
          <a:p>
            <a:pPr indent="0" marL="0">
              <a:buNone/>
            </a:pPr>
            <a:r>
              <a:rPr lang="en-US" sz="1800" b="1" dirty="0">
                <a:solidFill>
                  <a:srgbClr val="FFFFFF"/>
                </a:solidFill>
              </a:rPr>
              <a:t>10</a:t>
            </a:r>
            <a:endParaRPr lang="en-US" sz="1800" dirty="0"/>
          </a:p>
        </p:txBody>
      </p:sp>
      <p:sp>
        <p:nvSpPr>
          <p:cNvPr id="129" name="Shape 126"/>
          <p:cNvSpPr/>
          <p:nvPr/>
        </p:nvSpPr>
        <p:spPr>
          <a:xfrm>
            <a:off x="8006944" y="5715000"/>
            <a:ext cx="84422" cy="128016"/>
          </a:xfrm>
          <a:prstGeom prst="rect">
            <a:avLst/>
          </a:prstGeom>
          <a:solidFill>
            <a:srgbClr val="7FC79A"/>
          </a:solidFill>
          <a:ln w="6350">
            <a:solidFill>
              <a:srgbClr val="FFFFFF"/>
            </a:solidFill>
            <a:prstDash val="solid"/>
          </a:ln>
        </p:spPr>
      </p:sp>
      <p:sp>
        <p:nvSpPr>
          <p:cNvPr id="130" name="Shape 127"/>
          <p:cNvSpPr/>
          <p:nvPr/>
        </p:nvSpPr>
        <p:spPr>
          <a:xfrm>
            <a:off x="8091366" y="5715000"/>
            <a:ext cx="422110" cy="128016"/>
          </a:xfrm>
          <a:prstGeom prst="rect">
            <a:avLst/>
          </a:prstGeom>
          <a:solidFill>
            <a:srgbClr val="B06A00"/>
          </a:solidFill>
          <a:ln w="6350">
            <a:solidFill>
              <a:srgbClr val="FFFFFF"/>
            </a:solidFill>
            <a:prstDash val="solid"/>
          </a:ln>
        </p:spPr>
      </p:sp>
      <p:sp>
        <p:nvSpPr>
          <p:cNvPr id="131" name="Shape 128"/>
          <p:cNvSpPr/>
          <p:nvPr/>
        </p:nvSpPr>
        <p:spPr>
          <a:xfrm>
            <a:off x="8513475" y="5715000"/>
            <a:ext cx="337688" cy="128016"/>
          </a:xfrm>
          <a:prstGeom prst="rect">
            <a:avLst/>
          </a:prstGeom>
          <a:solidFill>
            <a:srgbClr val="B5D334"/>
          </a:solidFill>
          <a:ln w="6350">
            <a:solidFill>
              <a:srgbClr val="FFFFFF"/>
            </a:solidFill>
            <a:prstDash val="solid"/>
          </a:ln>
        </p:spPr>
      </p:sp>
      <p:sp>
        <p:nvSpPr>
          <p:cNvPr id="132" name="Shape 129"/>
          <p:cNvSpPr/>
          <p:nvPr/>
        </p:nvSpPr>
        <p:spPr>
          <a:xfrm>
            <a:off x="9061475" y="5541264"/>
            <a:ext cx="1667180" cy="475488"/>
          </a:xfrm>
          <a:prstGeom prst="rect">
            <a:avLst/>
          </a:prstGeom>
          <a:solidFill>
            <a:srgbClr val="1A9B4A">
              <a:alpha val="32000"/>
            </a:srgbClr>
          </a:solidFill>
          <a:ln w="6350">
            <a:solidFill>
              <a:srgbClr val="D7DDD9"/>
            </a:solidFill>
            <a:prstDash val="solid"/>
          </a:ln>
        </p:spPr>
      </p:sp>
      <p:sp>
        <p:nvSpPr>
          <p:cNvPr id="133" name="Text 130"/>
          <p:cNvSpPr txBox="1"/>
          <p:nvPr/>
        </p:nvSpPr>
        <p:spPr>
          <a:xfrm>
            <a:off x="9152915" y="5541264"/>
            <a:ext cx="548640" cy="347472"/>
          </a:xfrm>
          <a:prstGeom prst="rect">
            <a:avLst/>
          </a:prstGeom>
          <a:noFill/>
          <a:ln/>
        </p:spPr>
        <p:txBody>
          <a:bodyPr wrap="square" lIns="0" tIns="0" rIns="0" bIns="0" rtlCol="0" anchor="ctr"/>
          <a:lstStyle/>
          <a:p>
            <a:pPr indent="0" marL="0">
              <a:buNone/>
            </a:pPr>
            <a:r>
              <a:rPr lang="en-US" sz="1800" b="1" dirty="0">
                <a:solidFill>
                  <a:srgbClr val="1D1D1D"/>
                </a:solidFill>
              </a:rPr>
              <a:t>2</a:t>
            </a:r>
            <a:endParaRPr lang="en-US" sz="1800" dirty="0"/>
          </a:p>
        </p:txBody>
      </p:sp>
      <p:sp>
        <p:nvSpPr>
          <p:cNvPr id="134" name="Shape 131"/>
          <p:cNvSpPr/>
          <p:nvPr/>
        </p:nvSpPr>
        <p:spPr>
          <a:xfrm>
            <a:off x="9747275" y="5715000"/>
            <a:ext cx="422110" cy="128016"/>
          </a:xfrm>
          <a:prstGeom prst="rect">
            <a:avLst/>
          </a:prstGeom>
          <a:solidFill>
            <a:srgbClr val="7FC79A"/>
          </a:solidFill>
          <a:ln w="6350">
            <a:solidFill>
              <a:srgbClr val="FFFFFF"/>
            </a:solidFill>
            <a:prstDash val="solid"/>
          </a:ln>
        </p:spPr>
      </p:sp>
      <p:sp>
        <p:nvSpPr>
          <p:cNvPr id="135" name="Shape 132"/>
          <p:cNvSpPr/>
          <p:nvPr/>
        </p:nvSpPr>
        <p:spPr>
          <a:xfrm>
            <a:off x="10169385" y="5715000"/>
            <a:ext cx="422110" cy="128016"/>
          </a:xfrm>
          <a:prstGeom prst="rect">
            <a:avLst/>
          </a:prstGeom>
          <a:solidFill>
            <a:srgbClr val="B5D334"/>
          </a:solidFill>
          <a:ln w="6350">
            <a:solidFill>
              <a:srgbClr val="FFFFFF"/>
            </a:solidFill>
            <a:prstDash val="solid"/>
          </a:ln>
        </p:spPr>
      </p:sp>
      <p:sp>
        <p:nvSpPr>
          <p:cNvPr id="136" name="Text 133"/>
          <p:cNvSpPr txBox="1"/>
          <p:nvPr/>
        </p:nvSpPr>
        <p:spPr>
          <a:xfrm>
            <a:off x="10820095" y="5541264"/>
            <a:ext cx="822960" cy="475488"/>
          </a:xfrm>
          <a:prstGeom prst="rect">
            <a:avLst/>
          </a:prstGeom>
          <a:noFill/>
          <a:ln/>
        </p:spPr>
        <p:txBody>
          <a:bodyPr wrap="square" lIns="0" tIns="0" rIns="0" bIns="0" rtlCol="0" anchor="ctr"/>
          <a:lstStyle/>
          <a:p>
            <a:pPr algn="ctr" indent="0" marL="0">
              <a:buNone/>
            </a:pPr>
            <a:r>
              <a:rPr lang="en-US" sz="1800" b="1" dirty="0">
                <a:solidFill>
                  <a:srgbClr val="1D1D1D"/>
                </a:solidFill>
              </a:rPr>
              <a:t>13</a:t>
            </a:r>
            <a:endParaRPr lang="en-US" sz="1800" dirty="0"/>
          </a:p>
        </p:txBody>
      </p:sp>
      <p:sp>
        <p:nvSpPr>
          <p:cNvPr id="137" name="Shape 134"/>
          <p:cNvSpPr/>
          <p:nvPr/>
        </p:nvSpPr>
        <p:spPr>
          <a:xfrm>
            <a:off x="548640" y="6144768"/>
            <a:ext cx="914400" cy="237744"/>
          </a:xfrm>
          <a:prstGeom prst="roundRect">
            <a:avLst>
              <a:gd name="adj" fmla="val 50000"/>
            </a:avLst>
          </a:prstGeom>
          <a:solidFill>
            <a:srgbClr val="126E35"/>
          </a:solidFill>
          <a:ln w="12700">
            <a:solidFill>
              <a:srgbClr val="126E35"/>
            </a:solidFill>
            <a:prstDash val="solid"/>
          </a:ln>
        </p:spPr>
      </p:sp>
      <p:sp>
        <p:nvSpPr>
          <p:cNvPr id="138" name="Text 135"/>
          <p:cNvSpPr txBox="1"/>
          <p:nvPr/>
        </p:nvSpPr>
        <p:spPr>
          <a:xfrm>
            <a:off x="548640" y="6144768"/>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In flight</a:t>
            </a:r>
            <a:endParaRPr lang="en-US" sz="900" dirty="0"/>
          </a:p>
        </p:txBody>
      </p:sp>
      <p:sp>
        <p:nvSpPr>
          <p:cNvPr id="139" name="Text 136"/>
          <p:cNvSpPr txBox="1"/>
          <p:nvPr/>
        </p:nvSpPr>
        <p:spPr>
          <a:xfrm>
            <a:off x="1536192" y="6108192"/>
            <a:ext cx="1737360" cy="310896"/>
          </a:xfrm>
          <a:prstGeom prst="rect">
            <a:avLst/>
          </a:prstGeom>
          <a:noFill/>
          <a:ln/>
        </p:spPr>
        <p:txBody>
          <a:bodyPr wrap="square" lIns="0" tIns="0" rIns="0" bIns="0" rtlCol="0" anchor="ctr"/>
          <a:lstStyle/>
          <a:p>
            <a:pPr indent="0" marL="0">
              <a:buNone/>
            </a:pPr>
            <a:r>
              <a:rPr lang="en-US" sz="900" dirty="0">
                <a:solidFill>
                  <a:srgbClr val="52525B"/>
                </a:solidFill>
              </a:rPr>
              <a:t>Being delivered now, with a date</a:t>
            </a:r>
            <a:endParaRPr lang="en-US" sz="900" dirty="0"/>
          </a:p>
        </p:txBody>
      </p:sp>
      <p:sp>
        <p:nvSpPr>
          <p:cNvPr id="140" name="Shape 137"/>
          <p:cNvSpPr/>
          <p:nvPr/>
        </p:nvSpPr>
        <p:spPr>
          <a:xfrm>
            <a:off x="3337560" y="6144768"/>
            <a:ext cx="914400" cy="237744"/>
          </a:xfrm>
          <a:prstGeom prst="roundRect">
            <a:avLst>
              <a:gd name="adj" fmla="val 50000"/>
            </a:avLst>
          </a:prstGeom>
          <a:solidFill>
            <a:srgbClr val="7FC79A"/>
          </a:solidFill>
          <a:ln w="12700">
            <a:solidFill>
              <a:srgbClr val="7FC79A"/>
            </a:solidFill>
            <a:prstDash val="solid"/>
          </a:ln>
        </p:spPr>
      </p:sp>
      <p:sp>
        <p:nvSpPr>
          <p:cNvPr id="141" name="Text 138"/>
          <p:cNvSpPr txBox="1"/>
          <p:nvPr/>
        </p:nvSpPr>
        <p:spPr>
          <a:xfrm>
            <a:off x="3337560" y="6144768"/>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142" name="Text 139"/>
          <p:cNvSpPr txBox="1"/>
          <p:nvPr/>
        </p:nvSpPr>
        <p:spPr>
          <a:xfrm>
            <a:off x="4325112" y="6108192"/>
            <a:ext cx="1737360" cy="310896"/>
          </a:xfrm>
          <a:prstGeom prst="rect">
            <a:avLst/>
          </a:prstGeom>
          <a:noFill/>
          <a:ln/>
        </p:spPr>
        <p:txBody>
          <a:bodyPr wrap="square" lIns="0" tIns="0" rIns="0" bIns="0" rtlCol="0" anchor="ctr"/>
          <a:lstStyle/>
          <a:p>
            <a:pPr indent="0" marL="0">
              <a:buNone/>
            </a:pPr>
            <a:r>
              <a:rPr lang="en-US" sz="900" dirty="0">
                <a:solidFill>
                  <a:srgbClr val="52525B"/>
                </a:solidFill>
              </a:rPr>
              <a:t>In an existing plan or target state</a:t>
            </a:r>
            <a:endParaRPr lang="en-US" sz="900" dirty="0"/>
          </a:p>
        </p:txBody>
      </p:sp>
      <p:sp>
        <p:nvSpPr>
          <p:cNvPr id="143" name="Shape 140"/>
          <p:cNvSpPr/>
          <p:nvPr/>
        </p:nvSpPr>
        <p:spPr>
          <a:xfrm>
            <a:off x="6126480" y="6144768"/>
            <a:ext cx="914400" cy="237744"/>
          </a:xfrm>
          <a:prstGeom prst="roundRect">
            <a:avLst>
              <a:gd name="adj" fmla="val 50000"/>
            </a:avLst>
          </a:prstGeom>
          <a:solidFill>
            <a:srgbClr val="B06A00"/>
          </a:solidFill>
          <a:ln w="12700">
            <a:solidFill>
              <a:srgbClr val="B06A00"/>
            </a:solidFill>
            <a:prstDash val="solid"/>
          </a:ln>
        </p:spPr>
      </p:sp>
      <p:sp>
        <p:nvSpPr>
          <p:cNvPr id="144" name="Text 141"/>
          <p:cNvSpPr txBox="1"/>
          <p:nvPr/>
        </p:nvSpPr>
        <p:spPr>
          <a:xfrm>
            <a:off x="6126480" y="6144768"/>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145" name="Text 142"/>
          <p:cNvSpPr txBox="1"/>
          <p:nvPr/>
        </p:nvSpPr>
        <p:spPr>
          <a:xfrm>
            <a:off x="7114032" y="6108192"/>
            <a:ext cx="1737360" cy="310896"/>
          </a:xfrm>
          <a:prstGeom prst="rect">
            <a:avLst/>
          </a:prstGeom>
          <a:noFill/>
          <a:ln/>
        </p:spPr>
        <p:txBody>
          <a:bodyPr wrap="square" lIns="0" tIns="0" rIns="0" bIns="0" rtlCol="0" anchor="ctr"/>
          <a:lstStyle/>
          <a:p>
            <a:pPr indent="0" marL="0">
              <a:buNone/>
            </a:pPr>
            <a:r>
              <a:rPr lang="en-US" sz="900" dirty="0">
                <a:solidFill>
                  <a:srgbClr val="52525B"/>
                </a:solidFill>
              </a:rPr>
              <a:t>Named in a catalogue, nobody solving it yet</a:t>
            </a:r>
            <a:endParaRPr lang="en-US" sz="900" dirty="0"/>
          </a:p>
        </p:txBody>
      </p:sp>
      <p:sp>
        <p:nvSpPr>
          <p:cNvPr id="146" name="Shape 143"/>
          <p:cNvSpPr/>
          <p:nvPr/>
        </p:nvSpPr>
        <p:spPr>
          <a:xfrm>
            <a:off x="8915400" y="6144768"/>
            <a:ext cx="914400" cy="237744"/>
          </a:xfrm>
          <a:prstGeom prst="roundRect">
            <a:avLst>
              <a:gd name="adj" fmla="val 50000"/>
            </a:avLst>
          </a:prstGeom>
          <a:solidFill>
            <a:srgbClr val="B5D334"/>
          </a:solidFill>
          <a:ln w="12700">
            <a:solidFill>
              <a:srgbClr val="B5D334"/>
            </a:solidFill>
            <a:prstDash val="solid"/>
          </a:ln>
        </p:spPr>
      </p:sp>
      <p:sp>
        <p:nvSpPr>
          <p:cNvPr id="147" name="Text 144"/>
          <p:cNvSpPr txBox="1"/>
          <p:nvPr/>
        </p:nvSpPr>
        <p:spPr>
          <a:xfrm>
            <a:off x="8915400" y="6144768"/>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48" name="Text 145"/>
          <p:cNvSpPr txBox="1"/>
          <p:nvPr/>
        </p:nvSpPr>
        <p:spPr>
          <a:xfrm>
            <a:off x="9902952" y="6108192"/>
            <a:ext cx="1737360" cy="310896"/>
          </a:xfrm>
          <a:prstGeom prst="rect">
            <a:avLst/>
          </a:prstGeom>
          <a:noFill/>
          <a:ln/>
        </p:spPr>
        <p:txBody>
          <a:bodyPr wrap="square" lIns="0" tIns="0" rIns="0" bIns="0" rtlCol="0" anchor="ctr"/>
          <a:lstStyle/>
          <a:p>
            <a:pPr indent="0" marL="0">
              <a:buNone/>
            </a:pPr>
            <a:r>
              <a:rPr lang="en-US" sz="900" dirty="0">
                <a:solidFill>
                  <a:srgbClr val="52525B"/>
                </a:solidFill>
              </a:rPr>
              <a:t>Surfaced only by our journeys</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All 85 items on one page</a:t>
            </a:r>
            <a:endParaRPr lang="en-US" sz="2800" dirty="0"/>
          </a:p>
        </p:txBody>
      </p:sp>
      <p:sp>
        <p:nvSpPr>
          <p:cNvPr id="4" name="Text 1"/>
          <p:cNvSpPr txBox="1"/>
          <p:nvPr/>
        </p:nvSpPr>
        <p:spPr>
          <a:xfrm>
            <a:off x="548640" y="1097280"/>
            <a:ext cx="2240280" cy="292608"/>
          </a:xfrm>
          <a:prstGeom prst="rect">
            <a:avLst/>
          </a:prstGeom>
          <a:noFill/>
          <a:ln/>
        </p:spPr>
        <p:txBody>
          <a:bodyPr wrap="square" lIns="0" tIns="0" rIns="0" bIns="0" rtlCol="0" anchor="ctr"/>
          <a:lstStyle/>
          <a:p>
            <a:pPr indent="0" marL="0">
              <a:buNone/>
            </a:pPr>
            <a:r>
              <a:rPr lang="en-US" sz="900" b="1" dirty="0">
                <a:solidFill>
                  <a:srgbClr val="1D1D1D"/>
                </a:solidFill>
              </a:rPr>
              <a:t>Knowing the customer and their household</a:t>
            </a:r>
            <a:endParaRPr lang="en-US" sz="900" dirty="0"/>
          </a:p>
        </p:txBody>
      </p:sp>
      <p:sp>
        <p:nvSpPr>
          <p:cNvPr id="5" name="Shape 2"/>
          <p:cNvSpPr/>
          <p:nvPr/>
        </p:nvSpPr>
        <p:spPr>
          <a:xfrm>
            <a:off x="2880360" y="1097280"/>
            <a:ext cx="932993" cy="292608"/>
          </a:xfrm>
          <a:prstGeom prst="rect">
            <a:avLst/>
          </a:prstGeom>
          <a:solidFill>
            <a:srgbClr val="7FC79A"/>
          </a:solidFill>
          <a:ln w="6350">
            <a:solidFill>
              <a:srgbClr val="FFFFFF"/>
            </a:solidFill>
            <a:prstDash val="solid"/>
          </a:ln>
        </p:spPr>
      </p:sp>
      <p:sp>
        <p:nvSpPr>
          <p:cNvPr id="6" name="Text 3"/>
          <p:cNvSpPr txBox="1"/>
          <p:nvPr/>
        </p:nvSpPr>
        <p:spPr>
          <a:xfrm>
            <a:off x="2916936" y="1097280"/>
            <a:ext cx="859841" cy="292608"/>
          </a:xfrm>
          <a:prstGeom prst="rect">
            <a:avLst/>
          </a:prstGeom>
          <a:noFill/>
          <a:ln/>
        </p:spPr>
        <p:txBody>
          <a:bodyPr wrap="square" lIns="0" tIns="0" rIns="0" bIns="0" rtlCol="0" anchor="ctr"/>
          <a:lstStyle/>
          <a:p>
            <a:pPr indent="0" marL="0">
              <a:buNone/>
            </a:pPr>
            <a:r>
              <a:rPr lang="en-US" sz="700" dirty="0">
                <a:solidFill>
                  <a:srgbClr val="1D1D1D"/>
                </a:solidFill>
              </a:rPr>
              <a:t>Household profile</a:t>
            </a:r>
            <a:endParaRPr lang="en-US" sz="700" dirty="0"/>
          </a:p>
        </p:txBody>
      </p:sp>
      <p:sp>
        <p:nvSpPr>
          <p:cNvPr id="7" name="Shape 4"/>
          <p:cNvSpPr/>
          <p:nvPr/>
        </p:nvSpPr>
        <p:spPr>
          <a:xfrm>
            <a:off x="3859073" y="1097280"/>
            <a:ext cx="932993" cy="292608"/>
          </a:xfrm>
          <a:prstGeom prst="rect">
            <a:avLst/>
          </a:prstGeom>
          <a:solidFill>
            <a:srgbClr val="7FC79A"/>
          </a:solidFill>
          <a:ln w="6350">
            <a:solidFill>
              <a:srgbClr val="FFFFFF"/>
            </a:solidFill>
            <a:prstDash val="solid"/>
          </a:ln>
        </p:spPr>
      </p:sp>
      <p:sp>
        <p:nvSpPr>
          <p:cNvPr id="8" name="Text 5"/>
          <p:cNvSpPr txBox="1"/>
          <p:nvPr/>
        </p:nvSpPr>
        <p:spPr>
          <a:xfrm>
            <a:off x="3895649" y="1097280"/>
            <a:ext cx="859841" cy="292608"/>
          </a:xfrm>
          <a:prstGeom prst="rect">
            <a:avLst/>
          </a:prstGeom>
          <a:noFill/>
          <a:ln/>
        </p:spPr>
        <p:txBody>
          <a:bodyPr wrap="square" lIns="0" tIns="0" rIns="0" bIns="0" rtlCol="0" anchor="ctr"/>
          <a:lstStyle/>
          <a:p>
            <a:pPr indent="0" marL="0">
              <a:buNone/>
            </a:pPr>
            <a:r>
              <a:rPr lang="en-US" sz="700" dirty="0">
                <a:solidFill>
                  <a:srgbClr val="1D1D1D"/>
                </a:solidFill>
              </a:rPr>
              <a:t>One customer record</a:t>
            </a:r>
            <a:endParaRPr lang="en-US" sz="700" dirty="0"/>
          </a:p>
        </p:txBody>
      </p:sp>
      <p:sp>
        <p:nvSpPr>
          <p:cNvPr id="9" name="Shape 6"/>
          <p:cNvSpPr/>
          <p:nvPr/>
        </p:nvSpPr>
        <p:spPr>
          <a:xfrm>
            <a:off x="4837786" y="1097280"/>
            <a:ext cx="932993" cy="292608"/>
          </a:xfrm>
          <a:prstGeom prst="rect">
            <a:avLst/>
          </a:prstGeom>
          <a:solidFill>
            <a:srgbClr val="B06A00"/>
          </a:solidFill>
          <a:ln w="6350">
            <a:solidFill>
              <a:srgbClr val="FFFFFF"/>
            </a:solidFill>
            <a:prstDash val="solid"/>
          </a:ln>
        </p:spPr>
      </p:sp>
      <p:sp>
        <p:nvSpPr>
          <p:cNvPr id="10" name="Text 7"/>
          <p:cNvSpPr txBox="1"/>
          <p:nvPr/>
        </p:nvSpPr>
        <p:spPr>
          <a:xfrm>
            <a:off x="4874362" y="1097280"/>
            <a:ext cx="859841" cy="292608"/>
          </a:xfrm>
          <a:prstGeom prst="rect">
            <a:avLst/>
          </a:prstGeom>
          <a:noFill/>
          <a:ln/>
        </p:spPr>
        <p:txBody>
          <a:bodyPr wrap="square" lIns="0" tIns="0" rIns="0" bIns="0" rtlCol="0" anchor="ctr"/>
          <a:lstStyle/>
          <a:p>
            <a:pPr indent="0" marL="0">
              <a:buNone/>
            </a:pPr>
            <a:r>
              <a:rPr lang="en-US" sz="700" dirty="0">
                <a:solidFill>
                  <a:srgbClr val="FFFFFF"/>
                </a:solidFill>
              </a:rPr>
              <a:t>Carer consent that travels</a:t>
            </a:r>
            <a:endParaRPr lang="en-US" sz="700" dirty="0"/>
          </a:p>
        </p:txBody>
      </p:sp>
      <p:sp>
        <p:nvSpPr>
          <p:cNvPr id="11" name="Shape 8"/>
          <p:cNvSpPr/>
          <p:nvPr/>
        </p:nvSpPr>
        <p:spPr>
          <a:xfrm>
            <a:off x="5816498" y="1097280"/>
            <a:ext cx="932993" cy="292608"/>
          </a:xfrm>
          <a:prstGeom prst="rect">
            <a:avLst/>
          </a:prstGeom>
          <a:solidFill>
            <a:srgbClr val="B06A00"/>
          </a:solidFill>
          <a:ln w="6350">
            <a:solidFill>
              <a:srgbClr val="FFFFFF"/>
            </a:solidFill>
            <a:prstDash val="solid"/>
          </a:ln>
        </p:spPr>
      </p:sp>
      <p:sp>
        <p:nvSpPr>
          <p:cNvPr id="12" name="Text 9"/>
          <p:cNvSpPr txBox="1"/>
          <p:nvPr/>
        </p:nvSpPr>
        <p:spPr>
          <a:xfrm>
            <a:off x="5853074" y="1097280"/>
            <a:ext cx="859841" cy="292608"/>
          </a:xfrm>
          <a:prstGeom prst="rect">
            <a:avLst/>
          </a:prstGeom>
          <a:noFill/>
          <a:ln/>
        </p:spPr>
        <p:txBody>
          <a:bodyPr wrap="square" lIns="0" tIns="0" rIns="0" bIns="0" rtlCol="0" anchor="ctr"/>
          <a:lstStyle/>
          <a:p>
            <a:pPr indent="0" marL="0">
              <a:buNone/>
            </a:pPr>
            <a:r>
              <a:rPr lang="en-US" sz="700" dirty="0">
                <a:solidFill>
                  <a:srgbClr val="FFFFFF"/>
                </a:solidFill>
              </a:rPr>
              <a:t>Preferences honoured everywhere</a:t>
            </a:r>
            <a:endParaRPr lang="en-US" sz="700" dirty="0"/>
          </a:p>
        </p:txBody>
      </p:sp>
      <p:sp>
        <p:nvSpPr>
          <p:cNvPr id="13" name="Shape 10"/>
          <p:cNvSpPr/>
          <p:nvPr/>
        </p:nvSpPr>
        <p:spPr>
          <a:xfrm>
            <a:off x="6795211" y="1097280"/>
            <a:ext cx="932993" cy="292608"/>
          </a:xfrm>
          <a:prstGeom prst="rect">
            <a:avLst/>
          </a:prstGeom>
          <a:solidFill>
            <a:srgbClr val="B06A00"/>
          </a:solidFill>
          <a:ln w="6350">
            <a:solidFill>
              <a:srgbClr val="FFFFFF"/>
            </a:solidFill>
            <a:prstDash val="solid"/>
          </a:ln>
        </p:spPr>
      </p:sp>
      <p:sp>
        <p:nvSpPr>
          <p:cNvPr id="14" name="Text 11"/>
          <p:cNvSpPr txBox="1"/>
          <p:nvPr/>
        </p:nvSpPr>
        <p:spPr>
          <a:xfrm>
            <a:off x="6831787" y="1097280"/>
            <a:ext cx="859841" cy="292608"/>
          </a:xfrm>
          <a:prstGeom prst="rect">
            <a:avLst/>
          </a:prstGeom>
          <a:noFill/>
          <a:ln/>
        </p:spPr>
        <p:txBody>
          <a:bodyPr wrap="square" lIns="0" tIns="0" rIns="0" bIns="0" rtlCol="0" anchor="ctr"/>
          <a:lstStyle/>
          <a:p>
            <a:pPr indent="0" marL="0">
              <a:buNone/>
            </a:pPr>
            <a:r>
              <a:rPr lang="en-US" sz="700" dirty="0">
                <a:solidFill>
                  <a:srgbClr val="FFFFFF"/>
                </a:solidFill>
              </a:rPr>
              <a:t>Verified identity on WhatsApp</a:t>
            </a:r>
            <a:endParaRPr lang="en-US" sz="700" dirty="0"/>
          </a:p>
        </p:txBody>
      </p:sp>
      <p:sp>
        <p:nvSpPr>
          <p:cNvPr id="15" name="Shape 12"/>
          <p:cNvSpPr/>
          <p:nvPr/>
        </p:nvSpPr>
        <p:spPr>
          <a:xfrm>
            <a:off x="7773924" y="1097280"/>
            <a:ext cx="932993" cy="292608"/>
          </a:xfrm>
          <a:prstGeom prst="rect">
            <a:avLst/>
          </a:prstGeom>
          <a:solidFill>
            <a:srgbClr val="B5D334"/>
          </a:solidFill>
          <a:ln w="6350">
            <a:solidFill>
              <a:srgbClr val="FFFFFF"/>
            </a:solidFill>
            <a:prstDash val="solid"/>
          </a:ln>
        </p:spPr>
      </p:sp>
      <p:sp>
        <p:nvSpPr>
          <p:cNvPr id="16" name="Text 13"/>
          <p:cNvSpPr txBox="1"/>
          <p:nvPr/>
        </p:nvSpPr>
        <p:spPr>
          <a:xfrm>
            <a:off x="7810500" y="1097280"/>
            <a:ext cx="859841" cy="292608"/>
          </a:xfrm>
          <a:prstGeom prst="rect">
            <a:avLst/>
          </a:prstGeom>
          <a:noFill/>
          <a:ln/>
        </p:spPr>
        <p:txBody>
          <a:bodyPr wrap="square" lIns="0" tIns="0" rIns="0" bIns="0" rtlCol="0" anchor="ctr"/>
          <a:lstStyle/>
          <a:p>
            <a:pPr indent="0" marL="0">
              <a:buNone/>
            </a:pPr>
            <a:r>
              <a:rPr lang="en-US" sz="700" dirty="0">
                <a:solidFill>
                  <a:srgbClr val="1D1D1D"/>
                </a:solidFill>
              </a:rPr>
              <a:t>Suggestions from buying history</a:t>
            </a:r>
            <a:endParaRPr lang="en-US" sz="700" dirty="0"/>
          </a:p>
        </p:txBody>
      </p:sp>
      <p:sp>
        <p:nvSpPr>
          <p:cNvPr id="17" name="Shape 14"/>
          <p:cNvSpPr/>
          <p:nvPr/>
        </p:nvSpPr>
        <p:spPr>
          <a:xfrm>
            <a:off x="8752637" y="1097280"/>
            <a:ext cx="932993" cy="292608"/>
          </a:xfrm>
          <a:prstGeom prst="rect">
            <a:avLst/>
          </a:prstGeom>
          <a:solidFill>
            <a:srgbClr val="B5D334"/>
          </a:solidFill>
          <a:ln w="6350">
            <a:solidFill>
              <a:srgbClr val="FFFFFF"/>
            </a:solidFill>
            <a:prstDash val="solid"/>
          </a:ln>
        </p:spPr>
      </p:sp>
      <p:sp>
        <p:nvSpPr>
          <p:cNvPr id="18" name="Text 15"/>
          <p:cNvSpPr txBox="1"/>
          <p:nvPr/>
        </p:nvSpPr>
        <p:spPr>
          <a:xfrm>
            <a:off x="8789213" y="1097280"/>
            <a:ext cx="859841" cy="292608"/>
          </a:xfrm>
          <a:prstGeom prst="rect">
            <a:avLst/>
          </a:prstGeom>
          <a:noFill/>
          <a:ln/>
        </p:spPr>
        <p:txBody>
          <a:bodyPr wrap="square" lIns="0" tIns="0" rIns="0" bIns="0" rtlCol="0" anchor="ctr"/>
          <a:lstStyle/>
          <a:p>
            <a:pPr indent="0" marL="0">
              <a:buNone/>
            </a:pPr>
            <a:r>
              <a:rPr lang="en-US" sz="700" dirty="0">
                <a:solidFill>
                  <a:srgbClr val="1D1D1D"/>
                </a:solidFill>
              </a:rPr>
              <a:t>Carer authority policy</a:t>
            </a:r>
            <a:endParaRPr lang="en-US" sz="700" dirty="0"/>
          </a:p>
        </p:txBody>
      </p:sp>
      <p:sp>
        <p:nvSpPr>
          <p:cNvPr id="19" name="Shape 16"/>
          <p:cNvSpPr/>
          <p:nvPr/>
        </p:nvSpPr>
        <p:spPr>
          <a:xfrm>
            <a:off x="9731350" y="1097280"/>
            <a:ext cx="932993" cy="292608"/>
          </a:xfrm>
          <a:prstGeom prst="rect">
            <a:avLst/>
          </a:prstGeom>
          <a:solidFill>
            <a:srgbClr val="B5D334"/>
          </a:solidFill>
          <a:ln w="6350">
            <a:solidFill>
              <a:srgbClr val="FFFFFF"/>
            </a:solidFill>
            <a:prstDash val="solid"/>
          </a:ln>
        </p:spPr>
      </p:sp>
      <p:sp>
        <p:nvSpPr>
          <p:cNvPr id="20" name="Text 17"/>
          <p:cNvSpPr txBox="1"/>
          <p:nvPr/>
        </p:nvSpPr>
        <p:spPr>
          <a:xfrm>
            <a:off x="9767926" y="1097280"/>
            <a:ext cx="859841" cy="292608"/>
          </a:xfrm>
          <a:prstGeom prst="rect">
            <a:avLst/>
          </a:prstGeom>
          <a:noFill/>
          <a:ln/>
        </p:spPr>
        <p:txBody>
          <a:bodyPr wrap="square" lIns="0" tIns="0" rIns="0" bIns="0" rtlCol="0" anchor="ctr"/>
          <a:lstStyle/>
          <a:p>
            <a:pPr indent="0" marL="0">
              <a:buNone/>
            </a:pPr>
            <a:r>
              <a:rPr lang="en-US" sz="700" dirty="0">
                <a:solidFill>
                  <a:srgbClr val="1D1D1D"/>
                </a:solidFill>
              </a:rPr>
              <a:t>Household manager research</a:t>
            </a:r>
            <a:endParaRPr lang="en-US" sz="700" dirty="0"/>
          </a:p>
        </p:txBody>
      </p:sp>
      <p:sp>
        <p:nvSpPr>
          <p:cNvPr id="21" name="Text 18"/>
          <p:cNvSpPr txBox="1"/>
          <p:nvPr/>
        </p:nvSpPr>
        <p:spPr>
          <a:xfrm>
            <a:off x="548640" y="1517904"/>
            <a:ext cx="2240280" cy="292608"/>
          </a:xfrm>
          <a:prstGeom prst="rect">
            <a:avLst/>
          </a:prstGeom>
          <a:noFill/>
          <a:ln/>
        </p:spPr>
        <p:txBody>
          <a:bodyPr wrap="square" lIns="0" tIns="0" rIns="0" bIns="0" rtlCol="0" anchor="ctr"/>
          <a:lstStyle/>
          <a:p>
            <a:pPr indent="0" marL="0">
              <a:buNone/>
            </a:pPr>
            <a:r>
              <a:rPr lang="en-US" sz="900" b="1" dirty="0">
                <a:solidFill>
                  <a:srgbClr val="1D1D1D"/>
                </a:solidFill>
              </a:rPr>
              <a:t>Receiving and validating prescriptions</a:t>
            </a:r>
            <a:endParaRPr lang="en-US" sz="900" dirty="0"/>
          </a:p>
        </p:txBody>
      </p:sp>
      <p:sp>
        <p:nvSpPr>
          <p:cNvPr id="22" name="Shape 19"/>
          <p:cNvSpPr/>
          <p:nvPr/>
        </p:nvSpPr>
        <p:spPr>
          <a:xfrm>
            <a:off x="2880360" y="1517904"/>
            <a:ext cx="932993" cy="292608"/>
          </a:xfrm>
          <a:prstGeom prst="rect">
            <a:avLst/>
          </a:prstGeom>
          <a:solidFill>
            <a:srgbClr val="B5D334"/>
          </a:solidFill>
          <a:ln w="6350">
            <a:solidFill>
              <a:srgbClr val="FFFFFF"/>
            </a:solidFill>
            <a:prstDash val="solid"/>
          </a:ln>
        </p:spPr>
      </p:sp>
      <p:sp>
        <p:nvSpPr>
          <p:cNvPr id="23" name="Text 20"/>
          <p:cNvSpPr txBox="1"/>
          <p:nvPr/>
        </p:nvSpPr>
        <p:spPr>
          <a:xfrm>
            <a:off x="2916936" y="1517904"/>
            <a:ext cx="859841" cy="292608"/>
          </a:xfrm>
          <a:prstGeom prst="rect">
            <a:avLst/>
          </a:prstGeom>
          <a:noFill/>
          <a:ln/>
        </p:spPr>
        <p:txBody>
          <a:bodyPr wrap="square" lIns="0" tIns="0" rIns="0" bIns="0" rtlCol="0" anchor="ctr"/>
          <a:lstStyle/>
          <a:p>
            <a:pPr indent="0" marL="0">
              <a:buNone/>
            </a:pPr>
            <a:r>
              <a:rPr lang="en-US" sz="700" dirty="0">
                <a:solidFill>
                  <a:srgbClr val="1D1D1D"/>
                </a:solidFill>
              </a:rPr>
              <a:t>Schedule-aware repeat rules</a:t>
            </a:r>
            <a:endParaRPr lang="en-US" sz="700" dirty="0"/>
          </a:p>
        </p:txBody>
      </p:sp>
      <p:sp>
        <p:nvSpPr>
          <p:cNvPr id="24" name="Shape 21"/>
          <p:cNvSpPr/>
          <p:nvPr/>
        </p:nvSpPr>
        <p:spPr>
          <a:xfrm>
            <a:off x="3859073" y="1517904"/>
            <a:ext cx="932993" cy="292608"/>
          </a:xfrm>
          <a:prstGeom prst="rect">
            <a:avLst/>
          </a:prstGeom>
          <a:solidFill>
            <a:srgbClr val="B5D334"/>
          </a:solidFill>
          <a:ln w="6350">
            <a:solidFill>
              <a:srgbClr val="FFFFFF"/>
            </a:solidFill>
            <a:prstDash val="solid"/>
          </a:ln>
        </p:spPr>
      </p:sp>
      <p:sp>
        <p:nvSpPr>
          <p:cNvPr id="25" name="Text 22"/>
          <p:cNvSpPr txBox="1"/>
          <p:nvPr/>
        </p:nvSpPr>
        <p:spPr>
          <a:xfrm>
            <a:off x="3895649" y="1517904"/>
            <a:ext cx="859841" cy="292608"/>
          </a:xfrm>
          <a:prstGeom prst="rect">
            <a:avLst/>
          </a:prstGeom>
          <a:noFill/>
          <a:ln/>
        </p:spPr>
        <p:txBody>
          <a:bodyPr wrap="square" lIns="0" tIns="0" rIns="0" bIns="0" rtlCol="0" anchor="ctr"/>
          <a:lstStyle/>
          <a:p>
            <a:pPr indent="0" marL="0">
              <a:buNone/>
            </a:pPr>
            <a:r>
              <a:rPr lang="en-US" sz="700" dirty="0">
                <a:solidFill>
                  <a:srgbClr val="1D1D1D"/>
                </a:solidFill>
              </a:rPr>
              <a:t>Repeats for chronic Schedule 6</a:t>
            </a:r>
            <a:endParaRPr lang="en-US" sz="700" dirty="0"/>
          </a:p>
        </p:txBody>
      </p:sp>
      <p:sp>
        <p:nvSpPr>
          <p:cNvPr id="26" name="Shape 23"/>
          <p:cNvSpPr/>
          <p:nvPr/>
        </p:nvSpPr>
        <p:spPr>
          <a:xfrm>
            <a:off x="4837786" y="1517904"/>
            <a:ext cx="932993" cy="292608"/>
          </a:xfrm>
          <a:prstGeom prst="rect">
            <a:avLst/>
          </a:prstGeom>
          <a:solidFill>
            <a:srgbClr val="B06A00"/>
          </a:solidFill>
          <a:ln w="6350">
            <a:solidFill>
              <a:srgbClr val="FFFFFF"/>
            </a:solidFill>
            <a:prstDash val="solid"/>
          </a:ln>
        </p:spPr>
      </p:sp>
      <p:sp>
        <p:nvSpPr>
          <p:cNvPr id="27" name="Text 24"/>
          <p:cNvSpPr txBox="1"/>
          <p:nvPr/>
        </p:nvSpPr>
        <p:spPr>
          <a:xfrm>
            <a:off x="4874362" y="1517904"/>
            <a:ext cx="859841" cy="292608"/>
          </a:xfrm>
          <a:prstGeom prst="rect">
            <a:avLst/>
          </a:prstGeom>
          <a:noFill/>
          <a:ln/>
        </p:spPr>
        <p:txBody>
          <a:bodyPr wrap="square" lIns="0" tIns="0" rIns="0" bIns="0" rtlCol="0" anchor="ctr"/>
          <a:lstStyle/>
          <a:p>
            <a:pPr indent="0" marL="0">
              <a:buNone/>
            </a:pPr>
            <a:r>
              <a:rPr lang="en-US" sz="700" dirty="0">
                <a:solidFill>
                  <a:srgbClr val="FFFFFF"/>
                </a:solidFill>
              </a:rPr>
              <a:t>Proactive script renewal</a:t>
            </a:r>
            <a:endParaRPr lang="en-US" sz="700" dirty="0"/>
          </a:p>
        </p:txBody>
      </p:sp>
      <p:sp>
        <p:nvSpPr>
          <p:cNvPr id="28" name="Shape 25"/>
          <p:cNvSpPr/>
          <p:nvPr/>
        </p:nvSpPr>
        <p:spPr>
          <a:xfrm>
            <a:off x="5816498" y="1517904"/>
            <a:ext cx="932993" cy="292608"/>
          </a:xfrm>
          <a:prstGeom prst="rect">
            <a:avLst/>
          </a:prstGeom>
          <a:solidFill>
            <a:srgbClr val="B06A00"/>
          </a:solidFill>
          <a:ln w="6350">
            <a:solidFill>
              <a:srgbClr val="FFFFFF"/>
            </a:solidFill>
            <a:prstDash val="solid"/>
          </a:ln>
        </p:spPr>
      </p:sp>
      <p:sp>
        <p:nvSpPr>
          <p:cNvPr id="29" name="Text 26"/>
          <p:cNvSpPr txBox="1"/>
          <p:nvPr/>
        </p:nvSpPr>
        <p:spPr>
          <a:xfrm>
            <a:off x="5853074" y="1517904"/>
            <a:ext cx="859841" cy="292608"/>
          </a:xfrm>
          <a:prstGeom prst="rect">
            <a:avLst/>
          </a:prstGeom>
          <a:noFill/>
          <a:ln/>
        </p:spPr>
        <p:txBody>
          <a:bodyPr wrap="square" lIns="0" tIns="0" rIns="0" bIns="0" rtlCol="0" anchor="ctr"/>
          <a:lstStyle/>
          <a:p>
            <a:pPr indent="0" marL="0">
              <a:buNone/>
            </a:pPr>
            <a:r>
              <a:rPr lang="en-US" sz="700" dirty="0">
                <a:solidFill>
                  <a:srgbClr val="FFFFFF"/>
                </a:solidFill>
              </a:rPr>
              <a:t>Renewal status for customers</a:t>
            </a:r>
            <a:endParaRPr lang="en-US" sz="700" dirty="0"/>
          </a:p>
        </p:txBody>
      </p:sp>
      <p:sp>
        <p:nvSpPr>
          <p:cNvPr id="30" name="Shape 27"/>
          <p:cNvSpPr/>
          <p:nvPr/>
        </p:nvSpPr>
        <p:spPr>
          <a:xfrm>
            <a:off x="6795211" y="1517904"/>
            <a:ext cx="932993" cy="292608"/>
          </a:xfrm>
          <a:prstGeom prst="rect">
            <a:avLst/>
          </a:prstGeom>
          <a:solidFill>
            <a:srgbClr val="7FC79A"/>
          </a:solidFill>
          <a:ln w="6350">
            <a:solidFill>
              <a:srgbClr val="FFFFFF"/>
            </a:solidFill>
            <a:prstDash val="solid"/>
          </a:ln>
        </p:spPr>
      </p:sp>
      <p:sp>
        <p:nvSpPr>
          <p:cNvPr id="31" name="Text 28"/>
          <p:cNvSpPr txBox="1"/>
          <p:nvPr/>
        </p:nvSpPr>
        <p:spPr>
          <a:xfrm>
            <a:off x="6831787" y="1517904"/>
            <a:ext cx="859841" cy="292608"/>
          </a:xfrm>
          <a:prstGeom prst="rect">
            <a:avLst/>
          </a:prstGeom>
          <a:noFill/>
          <a:ln/>
        </p:spPr>
        <p:txBody>
          <a:bodyPr wrap="square" lIns="0" tIns="0" rIns="0" bIns="0" rtlCol="0" anchor="ctr"/>
          <a:lstStyle/>
          <a:p>
            <a:pPr indent="0" marL="0">
              <a:buNone/>
            </a:pPr>
            <a:r>
              <a:rPr lang="en-US" sz="700" dirty="0">
                <a:solidFill>
                  <a:srgbClr val="1D1D1D"/>
                </a:solidFill>
              </a:rPr>
              <a:t>Prescriber renewal link</a:t>
            </a:r>
            <a:endParaRPr lang="en-US" sz="700" dirty="0"/>
          </a:p>
        </p:txBody>
      </p:sp>
      <p:sp>
        <p:nvSpPr>
          <p:cNvPr id="32" name="Shape 29"/>
          <p:cNvSpPr/>
          <p:nvPr/>
        </p:nvSpPr>
        <p:spPr>
          <a:xfrm>
            <a:off x="7773924" y="1517904"/>
            <a:ext cx="932993" cy="292608"/>
          </a:xfrm>
          <a:prstGeom prst="rect">
            <a:avLst/>
          </a:prstGeom>
          <a:solidFill>
            <a:srgbClr val="B5D334"/>
          </a:solidFill>
          <a:ln w="6350">
            <a:solidFill>
              <a:srgbClr val="FFFFFF"/>
            </a:solidFill>
            <a:prstDash val="solid"/>
          </a:ln>
        </p:spPr>
      </p:sp>
      <p:sp>
        <p:nvSpPr>
          <p:cNvPr id="33" name="Text 30"/>
          <p:cNvSpPr txBox="1"/>
          <p:nvPr/>
        </p:nvSpPr>
        <p:spPr>
          <a:xfrm>
            <a:off x="7810500" y="1517904"/>
            <a:ext cx="859841" cy="292608"/>
          </a:xfrm>
          <a:prstGeom prst="rect">
            <a:avLst/>
          </a:prstGeom>
          <a:noFill/>
          <a:ln/>
        </p:spPr>
        <p:txBody>
          <a:bodyPr wrap="square" lIns="0" tIns="0" rIns="0" bIns="0" rtlCol="0" anchor="ctr"/>
          <a:lstStyle/>
          <a:p>
            <a:pPr indent="0" marL="0">
              <a:buNone/>
            </a:pPr>
            <a:r>
              <a:rPr lang="en-US" sz="700" dirty="0">
                <a:solidFill>
                  <a:srgbClr val="1D1D1D"/>
                </a:solidFill>
              </a:rPr>
              <a:t>Bridging supply rules</a:t>
            </a:r>
            <a:endParaRPr lang="en-US" sz="700" dirty="0"/>
          </a:p>
        </p:txBody>
      </p:sp>
      <p:sp>
        <p:nvSpPr>
          <p:cNvPr id="34" name="Text 31"/>
          <p:cNvSpPr txBox="1"/>
          <p:nvPr/>
        </p:nvSpPr>
        <p:spPr>
          <a:xfrm>
            <a:off x="548640" y="1938528"/>
            <a:ext cx="2240280" cy="292608"/>
          </a:xfrm>
          <a:prstGeom prst="rect">
            <a:avLst/>
          </a:prstGeom>
          <a:noFill/>
          <a:ln/>
        </p:spPr>
        <p:txBody>
          <a:bodyPr wrap="square" lIns="0" tIns="0" rIns="0" bIns="0" rtlCol="0" anchor="ctr"/>
          <a:lstStyle/>
          <a:p>
            <a:pPr indent="0" marL="0">
              <a:buNone/>
            </a:pPr>
            <a:r>
              <a:rPr lang="en-US" sz="900" b="1" dirty="0">
                <a:solidFill>
                  <a:srgbClr val="1D1D1D"/>
                </a:solidFill>
              </a:rPr>
              <a:t>Pricing, funding and payment</a:t>
            </a:r>
            <a:endParaRPr lang="en-US" sz="900" dirty="0"/>
          </a:p>
        </p:txBody>
      </p:sp>
      <p:sp>
        <p:nvSpPr>
          <p:cNvPr id="35" name="Shape 32"/>
          <p:cNvSpPr/>
          <p:nvPr/>
        </p:nvSpPr>
        <p:spPr>
          <a:xfrm>
            <a:off x="2880360" y="1938528"/>
            <a:ext cx="932993" cy="292608"/>
          </a:xfrm>
          <a:prstGeom prst="rect">
            <a:avLst/>
          </a:prstGeom>
          <a:solidFill>
            <a:srgbClr val="B06A00"/>
          </a:solidFill>
          <a:ln w="6350">
            <a:solidFill>
              <a:srgbClr val="FFFFFF"/>
            </a:solidFill>
            <a:prstDash val="solid"/>
          </a:ln>
        </p:spPr>
      </p:sp>
      <p:sp>
        <p:nvSpPr>
          <p:cNvPr id="36" name="Text 33"/>
          <p:cNvSpPr txBox="1"/>
          <p:nvPr/>
        </p:nvSpPr>
        <p:spPr>
          <a:xfrm>
            <a:off x="2916936" y="1938528"/>
            <a:ext cx="859841" cy="292608"/>
          </a:xfrm>
          <a:prstGeom prst="rect">
            <a:avLst/>
          </a:prstGeom>
          <a:noFill/>
          <a:ln/>
        </p:spPr>
        <p:txBody>
          <a:bodyPr wrap="square" lIns="0" tIns="0" rIns="0" bIns="0" rtlCol="0" anchor="ctr"/>
          <a:lstStyle/>
          <a:p>
            <a:pPr indent="0" marL="0">
              <a:buNone/>
            </a:pPr>
            <a:r>
              <a:rPr lang="en-US" sz="700" dirty="0">
                <a:solidFill>
                  <a:srgbClr val="FFFFFF"/>
                </a:solidFill>
              </a:rPr>
              <a:t>Scheme check before the notice</a:t>
            </a:r>
            <a:endParaRPr lang="en-US" sz="700" dirty="0"/>
          </a:p>
        </p:txBody>
      </p:sp>
      <p:sp>
        <p:nvSpPr>
          <p:cNvPr id="37" name="Shape 34"/>
          <p:cNvSpPr/>
          <p:nvPr/>
        </p:nvSpPr>
        <p:spPr>
          <a:xfrm>
            <a:off x="3859073" y="1938528"/>
            <a:ext cx="932993" cy="292608"/>
          </a:xfrm>
          <a:prstGeom prst="rect">
            <a:avLst/>
          </a:prstGeom>
          <a:solidFill>
            <a:srgbClr val="B06A00"/>
          </a:solidFill>
          <a:ln w="6350">
            <a:solidFill>
              <a:srgbClr val="FFFFFF"/>
            </a:solidFill>
            <a:prstDash val="solid"/>
          </a:ln>
        </p:spPr>
      </p:sp>
      <p:sp>
        <p:nvSpPr>
          <p:cNvPr id="38" name="Text 35"/>
          <p:cNvSpPr txBox="1"/>
          <p:nvPr/>
        </p:nvSpPr>
        <p:spPr>
          <a:xfrm>
            <a:off x="3895649" y="1938528"/>
            <a:ext cx="859841" cy="292608"/>
          </a:xfrm>
          <a:prstGeom prst="rect">
            <a:avLst/>
          </a:prstGeom>
          <a:noFill/>
          <a:ln/>
        </p:spPr>
        <p:txBody>
          <a:bodyPr wrap="square" lIns="0" tIns="0" rIns="0" bIns="0" rtlCol="0" anchor="ctr"/>
          <a:lstStyle/>
          <a:p>
            <a:pPr indent="0" marL="0">
              <a:buNone/>
            </a:pPr>
            <a:r>
              <a:rPr lang="en-US" sz="700" dirty="0">
                <a:solidFill>
                  <a:srgbClr val="FFFFFF"/>
                </a:solidFill>
              </a:rPr>
              <a:t>One medicine price engine</a:t>
            </a:r>
            <a:endParaRPr lang="en-US" sz="700" dirty="0"/>
          </a:p>
        </p:txBody>
      </p:sp>
      <p:sp>
        <p:nvSpPr>
          <p:cNvPr id="39" name="Shape 36"/>
          <p:cNvSpPr/>
          <p:nvPr/>
        </p:nvSpPr>
        <p:spPr>
          <a:xfrm>
            <a:off x="4837786" y="1938528"/>
            <a:ext cx="932993" cy="292608"/>
          </a:xfrm>
          <a:prstGeom prst="rect">
            <a:avLst/>
          </a:prstGeom>
          <a:solidFill>
            <a:srgbClr val="B06A00"/>
          </a:solidFill>
          <a:ln w="6350">
            <a:solidFill>
              <a:srgbClr val="FFFFFF"/>
            </a:solidFill>
            <a:prstDash val="solid"/>
          </a:ln>
        </p:spPr>
      </p:sp>
      <p:sp>
        <p:nvSpPr>
          <p:cNvPr id="40" name="Text 37"/>
          <p:cNvSpPr txBox="1"/>
          <p:nvPr/>
        </p:nvSpPr>
        <p:spPr>
          <a:xfrm>
            <a:off x="4874362" y="1938528"/>
            <a:ext cx="859841" cy="292608"/>
          </a:xfrm>
          <a:prstGeom prst="rect">
            <a:avLst/>
          </a:prstGeom>
          <a:noFill/>
          <a:ln/>
        </p:spPr>
        <p:txBody>
          <a:bodyPr wrap="square" lIns="0" tIns="0" rIns="0" bIns="0" rtlCol="0" anchor="ctr"/>
          <a:lstStyle/>
          <a:p>
            <a:pPr indent="0" marL="0">
              <a:buNone/>
            </a:pPr>
            <a:r>
              <a:rPr lang="en-US" sz="700" dirty="0">
                <a:solidFill>
                  <a:srgbClr val="FFFFFF"/>
                </a:solidFill>
              </a:rPr>
              <a:t>Itemised household cost</a:t>
            </a:r>
            <a:endParaRPr lang="en-US" sz="700" dirty="0"/>
          </a:p>
        </p:txBody>
      </p:sp>
      <p:sp>
        <p:nvSpPr>
          <p:cNvPr id="41" name="Shape 38"/>
          <p:cNvSpPr/>
          <p:nvPr/>
        </p:nvSpPr>
        <p:spPr>
          <a:xfrm>
            <a:off x="5816498" y="1938528"/>
            <a:ext cx="932993" cy="292608"/>
          </a:xfrm>
          <a:prstGeom prst="rect">
            <a:avLst/>
          </a:prstGeom>
          <a:solidFill>
            <a:srgbClr val="7FC79A"/>
          </a:solidFill>
          <a:ln w="6350">
            <a:solidFill>
              <a:srgbClr val="FFFFFF"/>
            </a:solidFill>
            <a:prstDash val="solid"/>
          </a:ln>
        </p:spPr>
      </p:sp>
      <p:sp>
        <p:nvSpPr>
          <p:cNvPr id="42" name="Text 39"/>
          <p:cNvSpPr txBox="1"/>
          <p:nvPr/>
        </p:nvSpPr>
        <p:spPr>
          <a:xfrm>
            <a:off x="5853074" y="1938528"/>
            <a:ext cx="859841" cy="292608"/>
          </a:xfrm>
          <a:prstGeom prst="rect">
            <a:avLst/>
          </a:prstGeom>
          <a:noFill/>
          <a:ln/>
        </p:spPr>
        <p:txBody>
          <a:bodyPr wrap="square" lIns="0" tIns="0" rIns="0" bIns="0" rtlCol="0" anchor="ctr"/>
          <a:lstStyle/>
          <a:p>
            <a:pPr indent="0" marL="0">
              <a:buNone/>
            </a:pPr>
            <a:r>
              <a:rPr lang="en-US" sz="700" dirty="0">
                <a:solidFill>
                  <a:srgbClr val="1D1D1D"/>
                </a:solidFill>
              </a:rPr>
              <a:t>Several schemes, one order</a:t>
            </a:r>
            <a:endParaRPr lang="en-US" sz="700" dirty="0"/>
          </a:p>
        </p:txBody>
      </p:sp>
      <p:sp>
        <p:nvSpPr>
          <p:cNvPr id="43" name="Shape 40"/>
          <p:cNvSpPr/>
          <p:nvPr/>
        </p:nvSpPr>
        <p:spPr>
          <a:xfrm>
            <a:off x="6795211" y="1938528"/>
            <a:ext cx="932993" cy="292608"/>
          </a:xfrm>
          <a:prstGeom prst="rect">
            <a:avLst/>
          </a:prstGeom>
          <a:solidFill>
            <a:srgbClr val="7FC79A"/>
          </a:solidFill>
          <a:ln w="6350">
            <a:solidFill>
              <a:srgbClr val="FFFFFF"/>
            </a:solidFill>
            <a:prstDash val="solid"/>
          </a:ln>
        </p:spPr>
      </p:sp>
      <p:sp>
        <p:nvSpPr>
          <p:cNvPr id="44" name="Text 41"/>
          <p:cNvSpPr txBox="1"/>
          <p:nvPr/>
        </p:nvSpPr>
        <p:spPr>
          <a:xfrm>
            <a:off x="6831787" y="1938528"/>
            <a:ext cx="859841" cy="292608"/>
          </a:xfrm>
          <a:prstGeom prst="rect">
            <a:avLst/>
          </a:prstGeom>
          <a:noFill/>
          <a:ln/>
        </p:spPr>
        <p:txBody>
          <a:bodyPr wrap="square" lIns="0" tIns="0" rIns="0" bIns="0" rtlCol="0" anchor="ctr"/>
          <a:lstStyle/>
          <a:p>
            <a:pPr indent="0" marL="0">
              <a:buNone/>
            </a:pPr>
            <a:r>
              <a:rPr lang="en-US" sz="700" dirty="0">
                <a:solidFill>
                  <a:srgbClr val="1D1D1D"/>
                </a:solidFill>
              </a:rPr>
              <a:t>Saved payment and decline rule</a:t>
            </a:r>
            <a:endParaRPr lang="en-US" sz="700" dirty="0"/>
          </a:p>
        </p:txBody>
      </p:sp>
      <p:sp>
        <p:nvSpPr>
          <p:cNvPr id="45" name="Shape 42"/>
          <p:cNvSpPr/>
          <p:nvPr/>
        </p:nvSpPr>
        <p:spPr>
          <a:xfrm>
            <a:off x="7773924" y="1938528"/>
            <a:ext cx="932993" cy="292608"/>
          </a:xfrm>
          <a:prstGeom prst="rect">
            <a:avLst/>
          </a:prstGeom>
          <a:solidFill>
            <a:srgbClr val="B5D334"/>
          </a:solidFill>
          <a:ln w="6350">
            <a:solidFill>
              <a:srgbClr val="FFFFFF"/>
            </a:solidFill>
            <a:prstDash val="solid"/>
          </a:ln>
        </p:spPr>
      </p:sp>
      <p:sp>
        <p:nvSpPr>
          <p:cNvPr id="46" name="Text 43"/>
          <p:cNvSpPr txBox="1"/>
          <p:nvPr/>
        </p:nvSpPr>
        <p:spPr>
          <a:xfrm>
            <a:off x="7810500" y="1938528"/>
            <a:ext cx="859841" cy="292608"/>
          </a:xfrm>
          <a:prstGeom prst="rect">
            <a:avLst/>
          </a:prstGeom>
          <a:noFill/>
          <a:ln/>
        </p:spPr>
        <p:txBody>
          <a:bodyPr wrap="square" lIns="0" tIns="0" rIns="0" bIns="0" rtlCol="0" anchor="ctr"/>
          <a:lstStyle/>
          <a:p>
            <a:pPr indent="0" marL="0">
              <a:buNone/>
            </a:pPr>
            <a:r>
              <a:rPr lang="en-US" sz="700" dirty="0">
                <a:solidFill>
                  <a:srgbClr val="1D1D1D"/>
                </a:solidFill>
              </a:rPr>
              <a:t>Decline choices message</a:t>
            </a:r>
            <a:endParaRPr lang="en-US" sz="700" dirty="0"/>
          </a:p>
        </p:txBody>
      </p:sp>
      <p:sp>
        <p:nvSpPr>
          <p:cNvPr id="47" name="Shape 44"/>
          <p:cNvSpPr/>
          <p:nvPr/>
        </p:nvSpPr>
        <p:spPr>
          <a:xfrm>
            <a:off x="8752637" y="1938528"/>
            <a:ext cx="932993" cy="292608"/>
          </a:xfrm>
          <a:prstGeom prst="rect">
            <a:avLst/>
          </a:prstGeom>
          <a:solidFill>
            <a:srgbClr val="B5D334"/>
          </a:solidFill>
          <a:ln w="6350">
            <a:solidFill>
              <a:srgbClr val="FFFFFF"/>
            </a:solidFill>
            <a:prstDash val="solid"/>
          </a:ln>
        </p:spPr>
      </p:sp>
      <p:sp>
        <p:nvSpPr>
          <p:cNvPr id="48" name="Text 45"/>
          <p:cNvSpPr txBox="1"/>
          <p:nvPr/>
        </p:nvSpPr>
        <p:spPr>
          <a:xfrm>
            <a:off x="8789213" y="1938528"/>
            <a:ext cx="859841" cy="292608"/>
          </a:xfrm>
          <a:prstGeom prst="rect">
            <a:avLst/>
          </a:prstGeom>
          <a:noFill/>
          <a:ln/>
        </p:spPr>
        <p:txBody>
          <a:bodyPr wrap="square" lIns="0" tIns="0" rIns="0" bIns="0" rtlCol="0" anchor="ctr"/>
          <a:lstStyle/>
          <a:p>
            <a:pPr indent="0" marL="0">
              <a:buNone/>
            </a:pPr>
            <a:r>
              <a:rPr lang="en-US" sz="700" dirty="0">
                <a:solidFill>
                  <a:srgbClr val="1D1D1D"/>
                </a:solidFill>
              </a:rPr>
              <a:t>Cash payment at a bank partner</a:t>
            </a:r>
            <a:endParaRPr lang="en-US" sz="700" dirty="0"/>
          </a:p>
        </p:txBody>
      </p:sp>
      <p:sp>
        <p:nvSpPr>
          <p:cNvPr id="49" name="Shape 46"/>
          <p:cNvSpPr/>
          <p:nvPr/>
        </p:nvSpPr>
        <p:spPr>
          <a:xfrm>
            <a:off x="9731350" y="1938528"/>
            <a:ext cx="932993" cy="292608"/>
          </a:xfrm>
          <a:prstGeom prst="rect">
            <a:avLst/>
          </a:prstGeom>
          <a:solidFill>
            <a:srgbClr val="B5D334"/>
          </a:solidFill>
          <a:ln w="6350">
            <a:solidFill>
              <a:srgbClr val="FFFFFF"/>
            </a:solidFill>
            <a:prstDash val="solid"/>
          </a:ln>
        </p:spPr>
      </p:sp>
      <p:sp>
        <p:nvSpPr>
          <p:cNvPr id="50" name="Text 47"/>
          <p:cNvSpPr txBox="1"/>
          <p:nvPr/>
        </p:nvSpPr>
        <p:spPr>
          <a:xfrm>
            <a:off x="9767926" y="1938528"/>
            <a:ext cx="859841" cy="292608"/>
          </a:xfrm>
          <a:prstGeom prst="rect">
            <a:avLst/>
          </a:prstGeom>
          <a:noFill/>
          <a:ln/>
        </p:spPr>
        <p:txBody>
          <a:bodyPr wrap="square" lIns="0" tIns="0" rIns="0" bIns="0" rtlCol="0" anchor="ctr"/>
          <a:lstStyle/>
          <a:p>
            <a:pPr indent="0" marL="0">
              <a:buNone/>
            </a:pPr>
            <a:r>
              <a:rPr lang="en-US" sz="700" dirty="0">
                <a:solidFill>
                  <a:srgbClr val="1D1D1D"/>
                </a:solidFill>
              </a:rPr>
              <a:t>Payment switches on collection</a:t>
            </a:r>
            <a:endParaRPr lang="en-US" sz="700" dirty="0"/>
          </a:p>
        </p:txBody>
      </p:sp>
      <p:sp>
        <p:nvSpPr>
          <p:cNvPr id="51" name="Shape 48"/>
          <p:cNvSpPr/>
          <p:nvPr/>
        </p:nvSpPr>
        <p:spPr>
          <a:xfrm>
            <a:off x="10710062" y="1938528"/>
            <a:ext cx="932993" cy="292608"/>
          </a:xfrm>
          <a:prstGeom prst="rect">
            <a:avLst/>
          </a:prstGeom>
          <a:solidFill>
            <a:srgbClr val="B5D334"/>
          </a:solidFill>
          <a:ln w="6350">
            <a:solidFill>
              <a:srgbClr val="FFFFFF"/>
            </a:solidFill>
            <a:prstDash val="solid"/>
          </a:ln>
        </p:spPr>
      </p:sp>
      <p:sp>
        <p:nvSpPr>
          <p:cNvPr id="52" name="Text 49"/>
          <p:cNvSpPr txBox="1"/>
          <p:nvPr/>
        </p:nvSpPr>
        <p:spPr>
          <a:xfrm>
            <a:off x="10746638" y="1938528"/>
            <a:ext cx="859841" cy="292608"/>
          </a:xfrm>
          <a:prstGeom prst="rect">
            <a:avLst/>
          </a:prstGeom>
          <a:noFill/>
          <a:ln/>
        </p:spPr>
        <p:txBody>
          <a:bodyPr wrap="square" lIns="0" tIns="0" rIns="0" bIns="0" rtlCol="0" anchor="ctr"/>
          <a:lstStyle/>
          <a:p>
            <a:pPr indent="0" marL="0">
              <a:buNone/>
            </a:pPr>
            <a:r>
              <a:rPr lang="en-US" sz="700" dirty="0">
                <a:solidFill>
                  <a:srgbClr val="1D1D1D"/>
                </a:solidFill>
              </a:rPr>
              <a:t>Repeat service commercial model</a:t>
            </a:r>
            <a:endParaRPr lang="en-US" sz="700" dirty="0"/>
          </a:p>
        </p:txBody>
      </p:sp>
      <p:sp>
        <p:nvSpPr>
          <p:cNvPr id="53" name="Text 50"/>
          <p:cNvSpPr txBox="1"/>
          <p:nvPr/>
        </p:nvSpPr>
        <p:spPr>
          <a:xfrm>
            <a:off x="548640" y="2359152"/>
            <a:ext cx="2240280" cy="292608"/>
          </a:xfrm>
          <a:prstGeom prst="rect">
            <a:avLst/>
          </a:prstGeom>
          <a:noFill/>
          <a:ln/>
        </p:spPr>
        <p:txBody>
          <a:bodyPr wrap="square" lIns="0" tIns="0" rIns="0" bIns="0" rtlCol="0" anchor="ctr"/>
          <a:lstStyle/>
          <a:p>
            <a:pPr indent="0" marL="0">
              <a:buNone/>
            </a:pPr>
            <a:r>
              <a:rPr lang="en-US" sz="900" b="1" dirty="0">
                <a:solidFill>
                  <a:srgbClr val="1D1D1D"/>
                </a:solidFill>
              </a:rPr>
              <a:t>Knowing and managing stock</a:t>
            </a:r>
            <a:endParaRPr lang="en-US" sz="900" dirty="0"/>
          </a:p>
        </p:txBody>
      </p:sp>
      <p:sp>
        <p:nvSpPr>
          <p:cNvPr id="54" name="Shape 51"/>
          <p:cNvSpPr/>
          <p:nvPr/>
        </p:nvSpPr>
        <p:spPr>
          <a:xfrm>
            <a:off x="2880360" y="2359152"/>
            <a:ext cx="932993" cy="292608"/>
          </a:xfrm>
          <a:prstGeom prst="rect">
            <a:avLst/>
          </a:prstGeom>
          <a:solidFill>
            <a:srgbClr val="B06A00"/>
          </a:solidFill>
          <a:ln w="6350">
            <a:solidFill>
              <a:srgbClr val="FFFFFF"/>
            </a:solidFill>
            <a:prstDash val="solid"/>
          </a:ln>
        </p:spPr>
      </p:sp>
      <p:sp>
        <p:nvSpPr>
          <p:cNvPr id="55" name="Text 52"/>
          <p:cNvSpPr txBox="1"/>
          <p:nvPr/>
        </p:nvSpPr>
        <p:spPr>
          <a:xfrm>
            <a:off x="2916936" y="2359152"/>
            <a:ext cx="859841" cy="292608"/>
          </a:xfrm>
          <a:prstGeom prst="rect">
            <a:avLst/>
          </a:prstGeom>
          <a:noFill/>
          <a:ln/>
        </p:spPr>
        <p:txBody>
          <a:bodyPr wrap="square" lIns="0" tIns="0" rIns="0" bIns="0" rtlCol="0" anchor="ctr"/>
          <a:lstStyle/>
          <a:p>
            <a:pPr indent="0" marL="0">
              <a:buNone/>
            </a:pPr>
            <a:r>
              <a:rPr lang="en-US" sz="700" dirty="0">
                <a:solidFill>
                  <a:srgbClr val="FFFFFF"/>
                </a:solidFill>
              </a:rPr>
              <a:t>Live stock visibility</a:t>
            </a:r>
            <a:endParaRPr lang="en-US" sz="700" dirty="0"/>
          </a:p>
        </p:txBody>
      </p:sp>
      <p:sp>
        <p:nvSpPr>
          <p:cNvPr id="56" name="Shape 53"/>
          <p:cNvSpPr/>
          <p:nvPr/>
        </p:nvSpPr>
        <p:spPr>
          <a:xfrm>
            <a:off x="3859073" y="2359152"/>
            <a:ext cx="932993" cy="292608"/>
          </a:xfrm>
          <a:prstGeom prst="rect">
            <a:avLst/>
          </a:prstGeom>
          <a:solidFill>
            <a:srgbClr val="B5D334"/>
          </a:solidFill>
          <a:ln w="6350">
            <a:solidFill>
              <a:srgbClr val="FFFFFF"/>
            </a:solidFill>
            <a:prstDash val="solid"/>
          </a:ln>
        </p:spPr>
      </p:sp>
      <p:sp>
        <p:nvSpPr>
          <p:cNvPr id="57" name="Text 54"/>
          <p:cNvSpPr txBox="1"/>
          <p:nvPr/>
        </p:nvSpPr>
        <p:spPr>
          <a:xfrm>
            <a:off x="3895649" y="2359152"/>
            <a:ext cx="859841" cy="292608"/>
          </a:xfrm>
          <a:prstGeom prst="rect">
            <a:avLst/>
          </a:prstGeom>
          <a:noFill/>
          <a:ln/>
        </p:spPr>
        <p:txBody>
          <a:bodyPr wrap="square" lIns="0" tIns="0" rIns="0" bIns="0" rtlCol="0" anchor="ctr"/>
          <a:lstStyle/>
          <a:p>
            <a:pPr indent="0" marL="0">
              <a:buNone/>
            </a:pPr>
            <a:r>
              <a:rPr lang="en-US" sz="700" dirty="0">
                <a:solidFill>
                  <a:srgbClr val="1D1D1D"/>
                </a:solidFill>
              </a:rPr>
              <a:t>Stock held for predicted repeats</a:t>
            </a:r>
            <a:endParaRPr lang="en-US" sz="700" dirty="0"/>
          </a:p>
        </p:txBody>
      </p:sp>
      <p:sp>
        <p:nvSpPr>
          <p:cNvPr id="58" name="Shape 55"/>
          <p:cNvSpPr/>
          <p:nvPr/>
        </p:nvSpPr>
        <p:spPr>
          <a:xfrm>
            <a:off x="4837786" y="2359152"/>
            <a:ext cx="932993" cy="292608"/>
          </a:xfrm>
          <a:prstGeom prst="rect">
            <a:avLst/>
          </a:prstGeom>
          <a:solidFill>
            <a:srgbClr val="B06A00"/>
          </a:solidFill>
          <a:ln w="6350">
            <a:solidFill>
              <a:srgbClr val="FFFFFF"/>
            </a:solidFill>
            <a:prstDash val="solid"/>
          </a:ln>
        </p:spPr>
      </p:sp>
      <p:sp>
        <p:nvSpPr>
          <p:cNvPr id="59" name="Text 56"/>
          <p:cNvSpPr txBox="1"/>
          <p:nvPr/>
        </p:nvSpPr>
        <p:spPr>
          <a:xfrm>
            <a:off x="4874362" y="2359152"/>
            <a:ext cx="859841" cy="292608"/>
          </a:xfrm>
          <a:prstGeom prst="rect">
            <a:avLst/>
          </a:prstGeom>
          <a:noFill/>
          <a:ln/>
        </p:spPr>
        <p:txBody>
          <a:bodyPr wrap="square" lIns="0" tIns="0" rIns="0" bIns="0" rtlCol="0" anchor="ctr"/>
          <a:lstStyle/>
          <a:p>
            <a:pPr indent="0" marL="0">
              <a:buNone/>
            </a:pPr>
            <a:r>
              <a:rPr lang="en-US" sz="700" dirty="0">
                <a:solidFill>
                  <a:srgbClr val="FFFFFF"/>
                </a:solidFill>
              </a:rPr>
              <a:t>Stock recorded as it moves</a:t>
            </a:r>
            <a:endParaRPr lang="en-US" sz="700" dirty="0"/>
          </a:p>
        </p:txBody>
      </p:sp>
      <p:sp>
        <p:nvSpPr>
          <p:cNvPr id="60" name="Shape 57"/>
          <p:cNvSpPr/>
          <p:nvPr/>
        </p:nvSpPr>
        <p:spPr>
          <a:xfrm>
            <a:off x="5816498" y="2359152"/>
            <a:ext cx="932993" cy="292608"/>
          </a:xfrm>
          <a:prstGeom prst="rect">
            <a:avLst/>
          </a:prstGeom>
          <a:solidFill>
            <a:srgbClr val="B06A00"/>
          </a:solidFill>
          <a:ln w="6350">
            <a:solidFill>
              <a:srgbClr val="FFFFFF"/>
            </a:solidFill>
            <a:prstDash val="solid"/>
          </a:ln>
        </p:spPr>
      </p:sp>
      <p:sp>
        <p:nvSpPr>
          <p:cNvPr id="61" name="Text 58"/>
          <p:cNvSpPr txBox="1"/>
          <p:nvPr/>
        </p:nvSpPr>
        <p:spPr>
          <a:xfrm>
            <a:off x="5853074" y="2359152"/>
            <a:ext cx="859841" cy="292608"/>
          </a:xfrm>
          <a:prstGeom prst="rect">
            <a:avLst/>
          </a:prstGeom>
          <a:noFill/>
          <a:ln/>
        </p:spPr>
        <p:txBody>
          <a:bodyPr wrap="square" lIns="0" tIns="0" rIns="0" bIns="0" rtlCol="0" anchor="ctr"/>
          <a:lstStyle/>
          <a:p>
            <a:pPr indent="0" marL="0">
              <a:buNone/>
            </a:pPr>
            <a:r>
              <a:rPr lang="en-US" sz="700" dirty="0">
                <a:solidFill>
                  <a:srgbClr val="FFFFFF"/>
                </a:solidFill>
              </a:rPr>
              <a:t>Out-of-stock choices</a:t>
            </a:r>
            <a:endParaRPr lang="en-US" sz="700" dirty="0"/>
          </a:p>
        </p:txBody>
      </p:sp>
      <p:sp>
        <p:nvSpPr>
          <p:cNvPr id="62" name="Text 59"/>
          <p:cNvSpPr txBox="1"/>
          <p:nvPr/>
        </p:nvSpPr>
        <p:spPr>
          <a:xfrm>
            <a:off x="548640" y="2779776"/>
            <a:ext cx="2240280" cy="630936"/>
          </a:xfrm>
          <a:prstGeom prst="rect">
            <a:avLst/>
          </a:prstGeom>
          <a:noFill/>
          <a:ln/>
        </p:spPr>
        <p:txBody>
          <a:bodyPr wrap="square" lIns="0" tIns="0" rIns="0" bIns="0" rtlCol="0" anchor="ctr"/>
          <a:lstStyle/>
          <a:p>
            <a:pPr indent="0" marL="0">
              <a:buNone/>
            </a:pPr>
            <a:r>
              <a:rPr lang="en-US" sz="900" b="1" dirty="0">
                <a:solidFill>
                  <a:srgbClr val="1D1D1D"/>
                </a:solidFill>
              </a:rPr>
              <a:t>Dispensing and pharmacist care</a:t>
            </a:r>
            <a:endParaRPr lang="en-US" sz="900" dirty="0"/>
          </a:p>
        </p:txBody>
      </p:sp>
      <p:sp>
        <p:nvSpPr>
          <p:cNvPr id="63" name="Shape 60"/>
          <p:cNvSpPr/>
          <p:nvPr/>
        </p:nvSpPr>
        <p:spPr>
          <a:xfrm>
            <a:off x="2880360" y="2779776"/>
            <a:ext cx="932993" cy="292608"/>
          </a:xfrm>
          <a:prstGeom prst="rect">
            <a:avLst/>
          </a:prstGeom>
          <a:solidFill>
            <a:srgbClr val="126E35"/>
          </a:solidFill>
          <a:ln w="6350">
            <a:solidFill>
              <a:srgbClr val="FFFFFF"/>
            </a:solidFill>
            <a:prstDash val="solid"/>
          </a:ln>
        </p:spPr>
      </p:sp>
      <p:sp>
        <p:nvSpPr>
          <p:cNvPr id="64" name="Text 61"/>
          <p:cNvSpPr txBox="1"/>
          <p:nvPr/>
        </p:nvSpPr>
        <p:spPr>
          <a:xfrm>
            <a:off x="2916936" y="2779776"/>
            <a:ext cx="859841" cy="292608"/>
          </a:xfrm>
          <a:prstGeom prst="rect">
            <a:avLst/>
          </a:prstGeom>
          <a:noFill/>
          <a:ln/>
        </p:spPr>
        <p:txBody>
          <a:bodyPr wrap="square" lIns="0" tIns="0" rIns="0" bIns="0" rtlCol="0" anchor="ctr"/>
          <a:lstStyle/>
          <a:p>
            <a:pPr indent="0" marL="0">
              <a:buNone/>
            </a:pPr>
            <a:r>
              <a:rPr lang="en-US" sz="700" dirty="0">
                <a:solidFill>
                  <a:srgbClr val="FFFFFF"/>
                </a:solidFill>
              </a:rPr>
              <a:t>One order workflow (BRiX)</a:t>
            </a:r>
            <a:endParaRPr lang="en-US" sz="700" dirty="0"/>
          </a:p>
        </p:txBody>
      </p:sp>
      <p:sp>
        <p:nvSpPr>
          <p:cNvPr id="65" name="Shape 62"/>
          <p:cNvSpPr/>
          <p:nvPr/>
        </p:nvSpPr>
        <p:spPr>
          <a:xfrm>
            <a:off x="3859073" y="2779776"/>
            <a:ext cx="932993" cy="292608"/>
          </a:xfrm>
          <a:prstGeom prst="rect">
            <a:avLst/>
          </a:prstGeom>
          <a:solidFill>
            <a:srgbClr val="7FC79A"/>
          </a:solidFill>
          <a:ln w="6350">
            <a:solidFill>
              <a:srgbClr val="FFFFFF"/>
            </a:solidFill>
            <a:prstDash val="solid"/>
          </a:ln>
        </p:spPr>
      </p:sp>
      <p:sp>
        <p:nvSpPr>
          <p:cNvPr id="66" name="Text 63"/>
          <p:cNvSpPr txBox="1"/>
          <p:nvPr/>
        </p:nvSpPr>
        <p:spPr>
          <a:xfrm>
            <a:off x="3895649" y="2779776"/>
            <a:ext cx="859841" cy="292608"/>
          </a:xfrm>
          <a:prstGeom prst="rect">
            <a:avLst/>
          </a:prstGeom>
          <a:noFill/>
          <a:ln/>
        </p:spPr>
        <p:txBody>
          <a:bodyPr wrap="square" lIns="0" tIns="0" rIns="0" bIns="0" rtlCol="0" anchor="ctr"/>
          <a:lstStyle/>
          <a:p>
            <a:pPr indent="0" marL="0">
              <a:buNone/>
            </a:pPr>
            <a:r>
              <a:rPr lang="en-US" sz="700" dirty="0">
                <a:solidFill>
                  <a:srgbClr val="1D1D1D"/>
                </a:solidFill>
              </a:rPr>
              <a:t>Repeats prepare themselves</a:t>
            </a:r>
            <a:endParaRPr lang="en-US" sz="700" dirty="0"/>
          </a:p>
        </p:txBody>
      </p:sp>
      <p:sp>
        <p:nvSpPr>
          <p:cNvPr id="67" name="Shape 64"/>
          <p:cNvSpPr/>
          <p:nvPr/>
        </p:nvSpPr>
        <p:spPr>
          <a:xfrm>
            <a:off x="4837786" y="2779776"/>
            <a:ext cx="932993" cy="292608"/>
          </a:xfrm>
          <a:prstGeom prst="rect">
            <a:avLst/>
          </a:prstGeom>
          <a:solidFill>
            <a:srgbClr val="7FC79A"/>
          </a:solidFill>
          <a:ln w="6350">
            <a:solidFill>
              <a:srgbClr val="FFFFFF"/>
            </a:solidFill>
            <a:prstDash val="solid"/>
          </a:ln>
        </p:spPr>
      </p:sp>
      <p:sp>
        <p:nvSpPr>
          <p:cNvPr id="68" name="Text 65"/>
          <p:cNvSpPr txBox="1"/>
          <p:nvPr/>
        </p:nvSpPr>
        <p:spPr>
          <a:xfrm>
            <a:off x="4874362" y="2779776"/>
            <a:ext cx="859841" cy="292608"/>
          </a:xfrm>
          <a:prstGeom prst="rect">
            <a:avLst/>
          </a:prstGeom>
          <a:noFill/>
          <a:ln/>
        </p:spPr>
        <p:txBody>
          <a:bodyPr wrap="square" lIns="0" tIns="0" rIns="0" bIns="0" rtlCol="0" anchor="ctr"/>
          <a:lstStyle/>
          <a:p>
            <a:pPr indent="0" marL="0">
              <a:buNone/>
            </a:pPr>
            <a:r>
              <a:rPr lang="en-US" sz="700" dirty="0">
                <a:solidFill>
                  <a:srgbClr val="1D1D1D"/>
                </a:solidFill>
              </a:rPr>
              <a:t>AI check assistant</a:t>
            </a:r>
            <a:endParaRPr lang="en-US" sz="700" dirty="0"/>
          </a:p>
        </p:txBody>
      </p:sp>
      <p:sp>
        <p:nvSpPr>
          <p:cNvPr id="69" name="Shape 66"/>
          <p:cNvSpPr/>
          <p:nvPr/>
        </p:nvSpPr>
        <p:spPr>
          <a:xfrm>
            <a:off x="5816498" y="2779776"/>
            <a:ext cx="932993" cy="292608"/>
          </a:xfrm>
          <a:prstGeom prst="rect">
            <a:avLst/>
          </a:prstGeom>
          <a:solidFill>
            <a:srgbClr val="B5D334"/>
          </a:solidFill>
          <a:ln w="6350">
            <a:solidFill>
              <a:srgbClr val="FFFFFF"/>
            </a:solidFill>
            <a:prstDash val="solid"/>
          </a:ln>
        </p:spPr>
      </p:sp>
      <p:sp>
        <p:nvSpPr>
          <p:cNvPr id="70" name="Text 67"/>
          <p:cNvSpPr txBox="1"/>
          <p:nvPr/>
        </p:nvSpPr>
        <p:spPr>
          <a:xfrm>
            <a:off x="5853074" y="2779776"/>
            <a:ext cx="859841" cy="292608"/>
          </a:xfrm>
          <a:prstGeom prst="rect">
            <a:avLst/>
          </a:prstGeom>
          <a:noFill/>
          <a:ln/>
        </p:spPr>
        <p:txBody>
          <a:bodyPr wrap="square" lIns="0" tIns="0" rIns="0" bIns="0" rtlCol="0" anchor="ctr"/>
          <a:lstStyle/>
          <a:p>
            <a:pPr indent="0" marL="0">
              <a:buNone/>
            </a:pPr>
            <a:r>
              <a:rPr lang="en-US" sz="700" dirty="0">
                <a:solidFill>
                  <a:srgbClr val="1D1D1D"/>
                </a:solidFill>
              </a:rPr>
              <a:t>Rules for AI-assisted checking</a:t>
            </a:r>
            <a:endParaRPr lang="en-US" sz="700" dirty="0"/>
          </a:p>
        </p:txBody>
      </p:sp>
      <p:sp>
        <p:nvSpPr>
          <p:cNvPr id="71" name="Shape 68"/>
          <p:cNvSpPr/>
          <p:nvPr/>
        </p:nvSpPr>
        <p:spPr>
          <a:xfrm>
            <a:off x="6795211" y="2779776"/>
            <a:ext cx="932993" cy="292608"/>
          </a:xfrm>
          <a:prstGeom prst="rect">
            <a:avLst/>
          </a:prstGeom>
          <a:solidFill>
            <a:srgbClr val="7FC79A"/>
          </a:solidFill>
          <a:ln w="6350">
            <a:solidFill>
              <a:srgbClr val="FFFFFF"/>
            </a:solidFill>
            <a:prstDash val="solid"/>
          </a:ln>
        </p:spPr>
      </p:sp>
      <p:sp>
        <p:nvSpPr>
          <p:cNvPr id="72" name="Text 69"/>
          <p:cNvSpPr txBox="1"/>
          <p:nvPr/>
        </p:nvSpPr>
        <p:spPr>
          <a:xfrm>
            <a:off x="6831787" y="2779776"/>
            <a:ext cx="859841" cy="292608"/>
          </a:xfrm>
          <a:prstGeom prst="rect">
            <a:avLst/>
          </a:prstGeom>
          <a:noFill/>
          <a:ln/>
        </p:spPr>
        <p:txBody>
          <a:bodyPr wrap="square" lIns="0" tIns="0" rIns="0" bIns="0" rtlCol="0" anchor="ctr"/>
          <a:lstStyle/>
          <a:p>
            <a:pPr indent="0" marL="0">
              <a:buNone/>
            </a:pPr>
            <a:r>
              <a:rPr lang="en-US" sz="700" dirty="0">
                <a:solidFill>
                  <a:srgbClr val="1D1D1D"/>
                </a:solidFill>
              </a:rPr>
              <a:t>Named sign-off record</a:t>
            </a:r>
            <a:endParaRPr lang="en-US" sz="700" dirty="0"/>
          </a:p>
        </p:txBody>
      </p:sp>
      <p:sp>
        <p:nvSpPr>
          <p:cNvPr id="73" name="Shape 70"/>
          <p:cNvSpPr/>
          <p:nvPr/>
        </p:nvSpPr>
        <p:spPr>
          <a:xfrm>
            <a:off x="7773924" y="2779776"/>
            <a:ext cx="932993" cy="292608"/>
          </a:xfrm>
          <a:prstGeom prst="rect">
            <a:avLst/>
          </a:prstGeom>
          <a:solidFill>
            <a:srgbClr val="B5D334"/>
          </a:solidFill>
          <a:ln w="6350">
            <a:solidFill>
              <a:srgbClr val="FFFFFF"/>
            </a:solidFill>
            <a:prstDash val="solid"/>
          </a:ln>
        </p:spPr>
      </p:sp>
      <p:sp>
        <p:nvSpPr>
          <p:cNvPr id="74" name="Text 71"/>
          <p:cNvSpPr txBox="1"/>
          <p:nvPr/>
        </p:nvSpPr>
        <p:spPr>
          <a:xfrm>
            <a:off x="7810500" y="2779776"/>
            <a:ext cx="859841" cy="292608"/>
          </a:xfrm>
          <a:prstGeom prst="rect">
            <a:avLst/>
          </a:prstGeom>
          <a:noFill/>
          <a:ln/>
        </p:spPr>
        <p:txBody>
          <a:bodyPr wrap="square" lIns="0" tIns="0" rIns="0" bIns="0" rtlCol="0" anchor="ctr"/>
          <a:lstStyle/>
          <a:p>
            <a:pPr indent="0" marL="0">
              <a:buNone/>
            </a:pPr>
            <a:r>
              <a:rPr lang="en-US" sz="700" dirty="0">
                <a:solidFill>
                  <a:srgbClr val="1D1D1D"/>
                </a:solidFill>
              </a:rPr>
              <a:t>Checked-and-packed status</a:t>
            </a:r>
            <a:endParaRPr lang="en-US" sz="700" dirty="0"/>
          </a:p>
        </p:txBody>
      </p:sp>
      <p:sp>
        <p:nvSpPr>
          <p:cNvPr id="75" name="Shape 72"/>
          <p:cNvSpPr/>
          <p:nvPr/>
        </p:nvSpPr>
        <p:spPr>
          <a:xfrm>
            <a:off x="8752637" y="2779776"/>
            <a:ext cx="932993" cy="292608"/>
          </a:xfrm>
          <a:prstGeom prst="rect">
            <a:avLst/>
          </a:prstGeom>
          <a:solidFill>
            <a:srgbClr val="B5D334"/>
          </a:solidFill>
          <a:ln w="6350">
            <a:solidFill>
              <a:srgbClr val="FFFFFF"/>
            </a:solidFill>
            <a:prstDash val="solid"/>
          </a:ln>
        </p:spPr>
      </p:sp>
      <p:sp>
        <p:nvSpPr>
          <p:cNvPr id="76" name="Text 73"/>
          <p:cNvSpPr txBox="1"/>
          <p:nvPr/>
        </p:nvSpPr>
        <p:spPr>
          <a:xfrm>
            <a:off x="8789213" y="2779776"/>
            <a:ext cx="859841" cy="292608"/>
          </a:xfrm>
          <a:prstGeom prst="rect">
            <a:avLst/>
          </a:prstGeom>
          <a:noFill/>
          <a:ln/>
        </p:spPr>
        <p:txBody>
          <a:bodyPr wrap="square" lIns="0" tIns="0" rIns="0" bIns="0" rtlCol="0" anchor="ctr"/>
          <a:lstStyle/>
          <a:p>
            <a:pPr indent="0" marL="0">
              <a:buNone/>
            </a:pPr>
            <a:r>
              <a:rPr lang="en-US" sz="700" dirty="0">
                <a:solidFill>
                  <a:srgbClr val="1D1D1D"/>
                </a:solidFill>
              </a:rPr>
              <a:t>Naming the pharmacist</a:t>
            </a:r>
            <a:endParaRPr lang="en-US" sz="700" dirty="0"/>
          </a:p>
        </p:txBody>
      </p:sp>
      <p:sp>
        <p:nvSpPr>
          <p:cNvPr id="77" name="Shape 74"/>
          <p:cNvSpPr/>
          <p:nvPr/>
        </p:nvSpPr>
        <p:spPr>
          <a:xfrm>
            <a:off x="9731350" y="2779776"/>
            <a:ext cx="932993" cy="292608"/>
          </a:xfrm>
          <a:prstGeom prst="rect">
            <a:avLst/>
          </a:prstGeom>
          <a:solidFill>
            <a:srgbClr val="126E35"/>
          </a:solidFill>
          <a:ln w="6350">
            <a:solidFill>
              <a:srgbClr val="FFFFFF"/>
            </a:solidFill>
            <a:prstDash val="solid"/>
          </a:ln>
        </p:spPr>
      </p:sp>
      <p:sp>
        <p:nvSpPr>
          <p:cNvPr id="78" name="Text 75"/>
          <p:cNvSpPr txBox="1"/>
          <p:nvPr/>
        </p:nvSpPr>
        <p:spPr>
          <a:xfrm>
            <a:off x="9767926" y="2779776"/>
            <a:ext cx="859841" cy="292608"/>
          </a:xfrm>
          <a:prstGeom prst="rect">
            <a:avLst/>
          </a:prstGeom>
          <a:noFill/>
          <a:ln/>
        </p:spPr>
        <p:txBody>
          <a:bodyPr wrap="square" lIns="0" tIns="0" rIns="0" bIns="0" rtlCol="0" anchor="ctr"/>
          <a:lstStyle/>
          <a:p>
            <a:pPr indent="0" marL="0">
              <a:buNone/>
            </a:pPr>
            <a:r>
              <a:rPr lang="en-US" sz="700" dirty="0">
                <a:solidFill>
                  <a:srgbClr val="FFFFFF"/>
                </a:solidFill>
              </a:rPr>
              <a:t>Automated picking (ROWA)</a:t>
            </a:r>
            <a:endParaRPr lang="en-US" sz="700" dirty="0"/>
          </a:p>
        </p:txBody>
      </p:sp>
      <p:sp>
        <p:nvSpPr>
          <p:cNvPr id="79" name="Shape 76"/>
          <p:cNvSpPr/>
          <p:nvPr/>
        </p:nvSpPr>
        <p:spPr>
          <a:xfrm>
            <a:off x="10710062" y="2779776"/>
            <a:ext cx="932993" cy="292608"/>
          </a:xfrm>
          <a:prstGeom prst="rect">
            <a:avLst/>
          </a:prstGeom>
          <a:solidFill>
            <a:srgbClr val="7FC79A"/>
          </a:solidFill>
          <a:ln w="6350">
            <a:solidFill>
              <a:srgbClr val="FFFFFF"/>
            </a:solidFill>
            <a:prstDash val="solid"/>
          </a:ln>
        </p:spPr>
      </p:sp>
      <p:sp>
        <p:nvSpPr>
          <p:cNvPr id="80" name="Text 77"/>
          <p:cNvSpPr txBox="1"/>
          <p:nvPr/>
        </p:nvSpPr>
        <p:spPr>
          <a:xfrm>
            <a:off x="10746638" y="2779776"/>
            <a:ext cx="859841" cy="292608"/>
          </a:xfrm>
          <a:prstGeom prst="rect">
            <a:avLst/>
          </a:prstGeom>
          <a:noFill/>
          <a:ln/>
        </p:spPr>
        <p:txBody>
          <a:bodyPr wrap="square" lIns="0" tIns="0" rIns="0" bIns="0" rtlCol="0" anchor="ctr"/>
          <a:lstStyle/>
          <a:p>
            <a:pPr indent="0" marL="0">
              <a:buNone/>
            </a:pPr>
            <a:r>
              <a:rPr lang="en-US" sz="700" dirty="0">
                <a:solidFill>
                  <a:srgbClr val="1D1D1D"/>
                </a:solidFill>
              </a:rPr>
              <a:t>Pick verification</a:t>
            </a:r>
            <a:endParaRPr lang="en-US" sz="700" dirty="0"/>
          </a:p>
        </p:txBody>
      </p:sp>
      <p:sp>
        <p:nvSpPr>
          <p:cNvPr id="81" name="Shape 78"/>
          <p:cNvSpPr/>
          <p:nvPr/>
        </p:nvSpPr>
        <p:spPr>
          <a:xfrm>
            <a:off x="2880360" y="3118104"/>
            <a:ext cx="932993" cy="292608"/>
          </a:xfrm>
          <a:prstGeom prst="rect">
            <a:avLst/>
          </a:prstGeom>
          <a:solidFill>
            <a:srgbClr val="7FC79A"/>
          </a:solidFill>
          <a:ln w="6350">
            <a:solidFill>
              <a:srgbClr val="FFFFFF"/>
            </a:solidFill>
            <a:prstDash val="solid"/>
          </a:ln>
        </p:spPr>
      </p:sp>
      <p:sp>
        <p:nvSpPr>
          <p:cNvPr id="82" name="Text 79"/>
          <p:cNvSpPr txBox="1"/>
          <p:nvPr/>
        </p:nvSpPr>
        <p:spPr>
          <a:xfrm>
            <a:off x="2916936" y="3118104"/>
            <a:ext cx="859841" cy="292608"/>
          </a:xfrm>
          <a:prstGeom prst="rect">
            <a:avLst/>
          </a:prstGeom>
          <a:noFill/>
          <a:ln/>
        </p:spPr>
        <p:txBody>
          <a:bodyPr wrap="square" lIns="0" tIns="0" rIns="0" bIns="0" rtlCol="0" anchor="ctr"/>
          <a:lstStyle/>
          <a:p>
            <a:pPr indent="0" marL="0">
              <a:buNone/>
            </a:pPr>
            <a:r>
              <a:rPr lang="en-US" sz="700" dirty="0">
                <a:solidFill>
                  <a:srgbClr val="1D1D1D"/>
                </a:solidFill>
              </a:rPr>
              <a:t>Explained generic switch</a:t>
            </a:r>
            <a:endParaRPr lang="en-US" sz="700" dirty="0"/>
          </a:p>
        </p:txBody>
      </p:sp>
      <p:sp>
        <p:nvSpPr>
          <p:cNvPr id="83" name="Shape 80"/>
          <p:cNvSpPr/>
          <p:nvPr/>
        </p:nvSpPr>
        <p:spPr>
          <a:xfrm>
            <a:off x="3859073" y="3118104"/>
            <a:ext cx="932993" cy="292608"/>
          </a:xfrm>
          <a:prstGeom prst="rect">
            <a:avLst/>
          </a:prstGeom>
          <a:solidFill>
            <a:srgbClr val="B06A00"/>
          </a:solidFill>
          <a:ln w="6350">
            <a:solidFill>
              <a:srgbClr val="FFFFFF"/>
            </a:solidFill>
            <a:prstDash val="solid"/>
          </a:ln>
        </p:spPr>
      </p:sp>
      <p:sp>
        <p:nvSpPr>
          <p:cNvPr id="84" name="Text 81"/>
          <p:cNvSpPr txBox="1"/>
          <p:nvPr/>
        </p:nvSpPr>
        <p:spPr>
          <a:xfrm>
            <a:off x="3895649" y="3118104"/>
            <a:ext cx="859841" cy="292608"/>
          </a:xfrm>
          <a:prstGeom prst="rect">
            <a:avLst/>
          </a:prstGeom>
          <a:noFill/>
          <a:ln/>
        </p:spPr>
        <p:txBody>
          <a:bodyPr wrap="square" lIns="0" tIns="0" rIns="0" bIns="0" rtlCol="0" anchor="ctr"/>
          <a:lstStyle/>
          <a:p>
            <a:pPr indent="0" marL="0">
              <a:buNone/>
            </a:pPr>
            <a:r>
              <a:rPr lang="en-US" sz="700" dirty="0">
                <a:solidFill>
                  <a:srgbClr val="FFFFFF"/>
                </a:solidFill>
              </a:rPr>
              <a:t>Pharmacist in the thread</a:t>
            </a:r>
            <a:endParaRPr lang="en-US" sz="700" dirty="0"/>
          </a:p>
        </p:txBody>
      </p:sp>
      <p:sp>
        <p:nvSpPr>
          <p:cNvPr id="85" name="Shape 82"/>
          <p:cNvSpPr/>
          <p:nvPr/>
        </p:nvSpPr>
        <p:spPr>
          <a:xfrm>
            <a:off x="4837786" y="3118104"/>
            <a:ext cx="932993" cy="292608"/>
          </a:xfrm>
          <a:prstGeom prst="rect">
            <a:avLst/>
          </a:prstGeom>
          <a:solidFill>
            <a:srgbClr val="B06A00"/>
          </a:solidFill>
          <a:ln w="6350">
            <a:solidFill>
              <a:srgbClr val="FFFFFF"/>
            </a:solidFill>
            <a:prstDash val="solid"/>
          </a:ln>
        </p:spPr>
      </p:sp>
      <p:sp>
        <p:nvSpPr>
          <p:cNvPr id="86" name="Text 83"/>
          <p:cNvSpPr txBox="1"/>
          <p:nvPr/>
        </p:nvSpPr>
        <p:spPr>
          <a:xfrm>
            <a:off x="4874362" y="3118104"/>
            <a:ext cx="859841" cy="292608"/>
          </a:xfrm>
          <a:prstGeom prst="rect">
            <a:avLst/>
          </a:prstGeom>
          <a:noFill/>
          <a:ln/>
        </p:spPr>
        <p:txBody>
          <a:bodyPr wrap="square" lIns="0" tIns="0" rIns="0" bIns="0" rtlCol="0" anchor="ctr"/>
          <a:lstStyle/>
          <a:p>
            <a:pPr indent="0" marL="0">
              <a:buNone/>
            </a:pPr>
            <a:r>
              <a:rPr lang="en-US" sz="700" dirty="0">
                <a:solidFill>
                  <a:srgbClr val="FFFFFF"/>
                </a:solidFill>
              </a:rPr>
              <a:t>Remote pharmacist service</a:t>
            </a:r>
            <a:endParaRPr lang="en-US" sz="700" dirty="0"/>
          </a:p>
        </p:txBody>
      </p:sp>
      <p:sp>
        <p:nvSpPr>
          <p:cNvPr id="87" name="Shape 84"/>
          <p:cNvSpPr/>
          <p:nvPr/>
        </p:nvSpPr>
        <p:spPr>
          <a:xfrm>
            <a:off x="5816498" y="3118104"/>
            <a:ext cx="932993" cy="292608"/>
          </a:xfrm>
          <a:prstGeom prst="rect">
            <a:avLst/>
          </a:prstGeom>
          <a:solidFill>
            <a:srgbClr val="7FC79A"/>
          </a:solidFill>
          <a:ln w="6350">
            <a:solidFill>
              <a:srgbClr val="FFFFFF"/>
            </a:solidFill>
            <a:prstDash val="solid"/>
          </a:ln>
        </p:spPr>
      </p:sp>
      <p:sp>
        <p:nvSpPr>
          <p:cNvPr id="88" name="Text 85"/>
          <p:cNvSpPr txBox="1"/>
          <p:nvPr/>
        </p:nvSpPr>
        <p:spPr>
          <a:xfrm>
            <a:off x="5853074" y="3118104"/>
            <a:ext cx="859841" cy="292608"/>
          </a:xfrm>
          <a:prstGeom prst="rect">
            <a:avLst/>
          </a:prstGeom>
          <a:noFill/>
          <a:ln/>
        </p:spPr>
        <p:txBody>
          <a:bodyPr wrap="square" lIns="0" tIns="0" rIns="0" bIns="0" rtlCol="0" anchor="ctr"/>
          <a:lstStyle/>
          <a:p>
            <a:pPr indent="0" marL="0">
              <a:buNone/>
            </a:pPr>
            <a:r>
              <a:rPr lang="en-US" sz="700" dirty="0">
                <a:solidFill>
                  <a:srgbClr val="1D1D1D"/>
                </a:solidFill>
              </a:rPr>
              <a:t>Adherence Centre capacity</a:t>
            </a:r>
            <a:endParaRPr lang="en-US" sz="700" dirty="0"/>
          </a:p>
        </p:txBody>
      </p:sp>
      <p:sp>
        <p:nvSpPr>
          <p:cNvPr id="89" name="Text 86"/>
          <p:cNvSpPr txBox="1"/>
          <p:nvPr/>
        </p:nvSpPr>
        <p:spPr>
          <a:xfrm>
            <a:off x="548640" y="3538728"/>
            <a:ext cx="2240280" cy="630936"/>
          </a:xfrm>
          <a:prstGeom prst="rect">
            <a:avLst/>
          </a:prstGeom>
          <a:noFill/>
          <a:ln/>
        </p:spPr>
        <p:txBody>
          <a:bodyPr wrap="square" lIns="0" tIns="0" rIns="0" bIns="0" rtlCol="0" anchor="ctr"/>
          <a:lstStyle/>
          <a:p>
            <a:pPr indent="0" marL="0">
              <a:buNone/>
            </a:pPr>
            <a:r>
              <a:rPr lang="en-US" sz="900" b="1" dirty="0">
                <a:solidFill>
                  <a:srgbClr val="1D1D1D"/>
                </a:solidFill>
              </a:rPr>
              <a:t>Collection and delivery</a:t>
            </a:r>
            <a:endParaRPr lang="en-US" sz="900" dirty="0"/>
          </a:p>
        </p:txBody>
      </p:sp>
      <p:sp>
        <p:nvSpPr>
          <p:cNvPr id="90" name="Shape 87"/>
          <p:cNvSpPr/>
          <p:nvPr/>
        </p:nvSpPr>
        <p:spPr>
          <a:xfrm>
            <a:off x="2880360" y="3538728"/>
            <a:ext cx="932993" cy="292608"/>
          </a:xfrm>
          <a:prstGeom prst="rect">
            <a:avLst/>
          </a:prstGeom>
          <a:solidFill>
            <a:srgbClr val="B5D334"/>
          </a:solidFill>
          <a:ln w="6350">
            <a:solidFill>
              <a:srgbClr val="FFFFFF"/>
            </a:solidFill>
            <a:prstDash val="solid"/>
          </a:ln>
        </p:spPr>
      </p:sp>
      <p:sp>
        <p:nvSpPr>
          <p:cNvPr id="91" name="Text 88"/>
          <p:cNvSpPr txBox="1"/>
          <p:nvPr/>
        </p:nvSpPr>
        <p:spPr>
          <a:xfrm>
            <a:off x="2916936" y="3538728"/>
            <a:ext cx="859841" cy="292608"/>
          </a:xfrm>
          <a:prstGeom prst="rect">
            <a:avLst/>
          </a:prstGeom>
          <a:noFill/>
          <a:ln/>
        </p:spPr>
        <p:txBody>
          <a:bodyPr wrap="square" lIns="0" tIns="0" rIns="0" bIns="0" rtlCol="0" anchor="ctr"/>
          <a:lstStyle/>
          <a:p>
            <a:pPr indent="0" marL="0">
              <a:buNone/>
            </a:pPr>
            <a:r>
              <a:rPr lang="en-US" sz="700" dirty="0">
                <a:solidFill>
                  <a:srgbClr val="1D1D1D"/>
                </a:solidFill>
              </a:rPr>
              <a:t>Open order window</a:t>
            </a:r>
            <a:endParaRPr lang="en-US" sz="700" dirty="0"/>
          </a:p>
        </p:txBody>
      </p:sp>
      <p:sp>
        <p:nvSpPr>
          <p:cNvPr id="92" name="Shape 89"/>
          <p:cNvSpPr/>
          <p:nvPr/>
        </p:nvSpPr>
        <p:spPr>
          <a:xfrm>
            <a:off x="3859073" y="3538728"/>
            <a:ext cx="932993" cy="292608"/>
          </a:xfrm>
          <a:prstGeom prst="rect">
            <a:avLst/>
          </a:prstGeom>
          <a:solidFill>
            <a:srgbClr val="7FC79A"/>
          </a:solidFill>
          <a:ln w="6350">
            <a:solidFill>
              <a:srgbClr val="FFFFFF"/>
            </a:solidFill>
            <a:prstDash val="solid"/>
          </a:ln>
        </p:spPr>
      </p:sp>
      <p:sp>
        <p:nvSpPr>
          <p:cNvPr id="93" name="Text 90"/>
          <p:cNvSpPr txBox="1"/>
          <p:nvPr/>
        </p:nvSpPr>
        <p:spPr>
          <a:xfrm>
            <a:off x="3895649" y="3538728"/>
            <a:ext cx="859841" cy="292608"/>
          </a:xfrm>
          <a:prstGeom prst="rect">
            <a:avLst/>
          </a:prstGeom>
          <a:noFill/>
          <a:ln/>
        </p:spPr>
        <p:txBody>
          <a:bodyPr wrap="square" lIns="0" tIns="0" rIns="0" bIns="0" rtlCol="0" anchor="ctr"/>
          <a:lstStyle/>
          <a:p>
            <a:pPr indent="0" marL="0">
              <a:buNone/>
            </a:pPr>
            <a:r>
              <a:rPr lang="en-US" sz="700" dirty="0">
                <a:solidFill>
                  <a:srgbClr val="1D1D1D"/>
                </a:solidFill>
              </a:rPr>
              <a:t>One household parcel</a:t>
            </a:r>
            <a:endParaRPr lang="en-US" sz="700" dirty="0"/>
          </a:p>
        </p:txBody>
      </p:sp>
      <p:sp>
        <p:nvSpPr>
          <p:cNvPr id="94" name="Shape 91"/>
          <p:cNvSpPr/>
          <p:nvPr/>
        </p:nvSpPr>
        <p:spPr>
          <a:xfrm>
            <a:off x="4837786" y="3538728"/>
            <a:ext cx="932993" cy="292608"/>
          </a:xfrm>
          <a:prstGeom prst="rect">
            <a:avLst/>
          </a:prstGeom>
          <a:solidFill>
            <a:srgbClr val="7FC79A"/>
          </a:solidFill>
          <a:ln w="6350">
            <a:solidFill>
              <a:srgbClr val="FFFFFF"/>
            </a:solidFill>
            <a:prstDash val="solid"/>
          </a:ln>
        </p:spPr>
      </p:sp>
      <p:sp>
        <p:nvSpPr>
          <p:cNvPr id="95" name="Text 92"/>
          <p:cNvSpPr txBox="1"/>
          <p:nvPr/>
        </p:nvSpPr>
        <p:spPr>
          <a:xfrm>
            <a:off x="4874362" y="3538728"/>
            <a:ext cx="859841" cy="292608"/>
          </a:xfrm>
          <a:prstGeom prst="rect">
            <a:avLst/>
          </a:prstGeom>
          <a:noFill/>
          <a:ln/>
        </p:spPr>
        <p:txBody>
          <a:bodyPr wrap="square" lIns="0" tIns="0" rIns="0" bIns="0" rtlCol="0" anchor="ctr"/>
          <a:lstStyle/>
          <a:p>
            <a:pPr indent="0" marL="0">
              <a:buNone/>
            </a:pPr>
            <a:r>
              <a:rPr lang="en-US" sz="700" dirty="0">
                <a:solidFill>
                  <a:srgbClr val="1D1D1D"/>
                </a:solidFill>
              </a:rPr>
              <a:t>Combined pick and pack</a:t>
            </a:r>
            <a:endParaRPr lang="en-US" sz="700" dirty="0"/>
          </a:p>
        </p:txBody>
      </p:sp>
      <p:sp>
        <p:nvSpPr>
          <p:cNvPr id="96" name="Shape 93"/>
          <p:cNvSpPr/>
          <p:nvPr/>
        </p:nvSpPr>
        <p:spPr>
          <a:xfrm>
            <a:off x="5816498" y="3538728"/>
            <a:ext cx="932993" cy="292608"/>
          </a:xfrm>
          <a:prstGeom prst="rect">
            <a:avLst/>
          </a:prstGeom>
          <a:solidFill>
            <a:srgbClr val="B5D334"/>
          </a:solidFill>
          <a:ln w="6350">
            <a:solidFill>
              <a:srgbClr val="FFFFFF"/>
            </a:solidFill>
            <a:prstDash val="solid"/>
          </a:ln>
        </p:spPr>
      </p:sp>
      <p:sp>
        <p:nvSpPr>
          <p:cNvPr id="97" name="Text 94"/>
          <p:cNvSpPr txBox="1"/>
          <p:nvPr/>
        </p:nvSpPr>
        <p:spPr>
          <a:xfrm>
            <a:off x="5853074" y="3538728"/>
            <a:ext cx="859841" cy="292608"/>
          </a:xfrm>
          <a:prstGeom prst="rect">
            <a:avLst/>
          </a:prstGeom>
          <a:noFill/>
          <a:ln/>
        </p:spPr>
        <p:txBody>
          <a:bodyPr wrap="square" lIns="0" tIns="0" rIns="0" bIns="0" rtlCol="0" anchor="ctr"/>
          <a:lstStyle/>
          <a:p>
            <a:pPr indent="0" marL="0">
              <a:buNone/>
            </a:pPr>
            <a:r>
              <a:rPr lang="en-US" sz="700" dirty="0">
                <a:solidFill>
                  <a:srgbClr val="1D1D1D"/>
                </a:solidFill>
              </a:rPr>
              <a:t>Flexible delivery plans</a:t>
            </a:r>
            <a:endParaRPr lang="en-US" sz="700" dirty="0"/>
          </a:p>
        </p:txBody>
      </p:sp>
      <p:sp>
        <p:nvSpPr>
          <p:cNvPr id="98" name="Shape 95"/>
          <p:cNvSpPr/>
          <p:nvPr/>
        </p:nvSpPr>
        <p:spPr>
          <a:xfrm>
            <a:off x="6795211" y="3538728"/>
            <a:ext cx="932993" cy="292608"/>
          </a:xfrm>
          <a:prstGeom prst="rect">
            <a:avLst/>
          </a:prstGeom>
          <a:solidFill>
            <a:srgbClr val="7FC79A"/>
          </a:solidFill>
          <a:ln w="6350">
            <a:solidFill>
              <a:srgbClr val="FFFFFF"/>
            </a:solidFill>
            <a:prstDash val="solid"/>
          </a:ln>
        </p:spPr>
      </p:sp>
      <p:sp>
        <p:nvSpPr>
          <p:cNvPr id="99" name="Text 96"/>
          <p:cNvSpPr txBox="1"/>
          <p:nvPr/>
        </p:nvSpPr>
        <p:spPr>
          <a:xfrm>
            <a:off x="6831787" y="3538728"/>
            <a:ext cx="859841" cy="292608"/>
          </a:xfrm>
          <a:prstGeom prst="rect">
            <a:avLst/>
          </a:prstGeom>
          <a:noFill/>
          <a:ln/>
        </p:spPr>
        <p:txBody>
          <a:bodyPr wrap="square" lIns="0" tIns="0" rIns="0" bIns="0" rtlCol="0" anchor="ctr"/>
          <a:lstStyle/>
          <a:p>
            <a:pPr indent="0" marL="0">
              <a:buNone/>
            </a:pPr>
            <a:r>
              <a:rPr lang="en-US" sz="700" dirty="0">
                <a:solidFill>
                  <a:srgbClr val="1D1D1D"/>
                </a:solidFill>
              </a:rPr>
              <a:t>Live delivery tracking</a:t>
            </a:r>
            <a:endParaRPr lang="en-US" sz="700" dirty="0"/>
          </a:p>
        </p:txBody>
      </p:sp>
      <p:sp>
        <p:nvSpPr>
          <p:cNvPr id="100" name="Shape 97"/>
          <p:cNvSpPr/>
          <p:nvPr/>
        </p:nvSpPr>
        <p:spPr>
          <a:xfrm>
            <a:off x="7773924" y="3538728"/>
            <a:ext cx="932993" cy="292608"/>
          </a:xfrm>
          <a:prstGeom prst="rect">
            <a:avLst/>
          </a:prstGeom>
          <a:solidFill>
            <a:srgbClr val="7FC79A"/>
          </a:solidFill>
          <a:ln w="6350">
            <a:solidFill>
              <a:srgbClr val="FFFFFF"/>
            </a:solidFill>
            <a:prstDash val="solid"/>
          </a:ln>
        </p:spPr>
      </p:sp>
      <p:sp>
        <p:nvSpPr>
          <p:cNvPr id="101" name="Text 98"/>
          <p:cNvSpPr txBox="1"/>
          <p:nvPr/>
        </p:nvSpPr>
        <p:spPr>
          <a:xfrm>
            <a:off x="7810500" y="3538728"/>
            <a:ext cx="859841" cy="292608"/>
          </a:xfrm>
          <a:prstGeom prst="rect">
            <a:avLst/>
          </a:prstGeom>
          <a:noFill/>
          <a:ln/>
        </p:spPr>
        <p:txBody>
          <a:bodyPr wrap="square" lIns="0" tIns="0" rIns="0" bIns="0" rtlCol="0" anchor="ctr"/>
          <a:lstStyle/>
          <a:p>
            <a:pPr indent="0" marL="0">
              <a:buNone/>
            </a:pPr>
            <a:r>
              <a:rPr lang="en-US" sz="700" dirty="0">
                <a:solidFill>
                  <a:srgbClr val="1D1D1D"/>
                </a:solidFill>
              </a:rPr>
              <a:t>Closed-loop handover code</a:t>
            </a:r>
            <a:endParaRPr lang="en-US" sz="700" dirty="0"/>
          </a:p>
        </p:txBody>
      </p:sp>
      <p:sp>
        <p:nvSpPr>
          <p:cNvPr id="102" name="Shape 99"/>
          <p:cNvSpPr/>
          <p:nvPr/>
        </p:nvSpPr>
        <p:spPr>
          <a:xfrm>
            <a:off x="8752637" y="3538728"/>
            <a:ext cx="932993" cy="292608"/>
          </a:xfrm>
          <a:prstGeom prst="rect">
            <a:avLst/>
          </a:prstGeom>
          <a:solidFill>
            <a:srgbClr val="B06A00"/>
          </a:solidFill>
          <a:ln w="6350">
            <a:solidFill>
              <a:srgbClr val="FFFFFF"/>
            </a:solidFill>
            <a:prstDash val="solid"/>
          </a:ln>
        </p:spPr>
      </p:sp>
      <p:sp>
        <p:nvSpPr>
          <p:cNvPr id="103" name="Text 100"/>
          <p:cNvSpPr txBox="1"/>
          <p:nvPr/>
        </p:nvSpPr>
        <p:spPr>
          <a:xfrm>
            <a:off x="8789213" y="3538728"/>
            <a:ext cx="859841" cy="292608"/>
          </a:xfrm>
          <a:prstGeom prst="rect">
            <a:avLst/>
          </a:prstGeom>
          <a:noFill/>
          <a:ln/>
        </p:spPr>
        <p:txBody>
          <a:bodyPr wrap="square" lIns="0" tIns="0" rIns="0" bIns="0" rtlCol="0" anchor="ctr"/>
          <a:lstStyle/>
          <a:p>
            <a:pPr indent="0" marL="0">
              <a:buNone/>
            </a:pPr>
            <a:r>
              <a:rPr lang="en-US" sz="700" dirty="0">
                <a:solidFill>
                  <a:srgbClr val="FFFFFF"/>
                </a:solidFill>
              </a:rPr>
              <a:t>Failed delivery re-planned</a:t>
            </a:r>
            <a:endParaRPr lang="en-US" sz="700" dirty="0"/>
          </a:p>
        </p:txBody>
      </p:sp>
      <p:sp>
        <p:nvSpPr>
          <p:cNvPr id="104" name="Shape 101"/>
          <p:cNvSpPr/>
          <p:nvPr/>
        </p:nvSpPr>
        <p:spPr>
          <a:xfrm>
            <a:off x="9731350" y="3538728"/>
            <a:ext cx="932993" cy="292608"/>
          </a:xfrm>
          <a:prstGeom prst="rect">
            <a:avLst/>
          </a:prstGeom>
          <a:solidFill>
            <a:srgbClr val="B5D334"/>
          </a:solidFill>
          <a:ln w="6350">
            <a:solidFill>
              <a:srgbClr val="FFFFFF"/>
            </a:solidFill>
            <a:prstDash val="solid"/>
          </a:ln>
        </p:spPr>
      </p:sp>
      <p:sp>
        <p:nvSpPr>
          <p:cNvPr id="105" name="Text 102"/>
          <p:cNvSpPr txBox="1"/>
          <p:nvPr/>
        </p:nvSpPr>
        <p:spPr>
          <a:xfrm>
            <a:off x="9767926" y="3538728"/>
            <a:ext cx="859841" cy="292608"/>
          </a:xfrm>
          <a:prstGeom prst="rect">
            <a:avLst/>
          </a:prstGeom>
          <a:noFill/>
          <a:ln/>
        </p:spPr>
        <p:txBody>
          <a:bodyPr wrap="square" lIns="0" tIns="0" rIns="0" bIns="0" rtlCol="0" anchor="ctr"/>
          <a:lstStyle/>
          <a:p>
            <a:pPr indent="0" marL="0">
              <a:buNone/>
            </a:pPr>
            <a:r>
              <a:rPr lang="en-US" sz="700" dirty="0">
                <a:solidFill>
                  <a:srgbClr val="1D1D1D"/>
                </a:solidFill>
              </a:rPr>
              <a:t>Split delivery on stock-out</a:t>
            </a:r>
            <a:endParaRPr lang="en-US" sz="700" dirty="0"/>
          </a:p>
        </p:txBody>
      </p:sp>
      <p:sp>
        <p:nvSpPr>
          <p:cNvPr id="106" name="Shape 103"/>
          <p:cNvSpPr/>
          <p:nvPr/>
        </p:nvSpPr>
        <p:spPr>
          <a:xfrm>
            <a:off x="10710062" y="3538728"/>
            <a:ext cx="932993" cy="292608"/>
          </a:xfrm>
          <a:prstGeom prst="rect">
            <a:avLst/>
          </a:prstGeom>
          <a:solidFill>
            <a:srgbClr val="7FC79A"/>
          </a:solidFill>
          <a:ln w="6350">
            <a:solidFill>
              <a:srgbClr val="FFFFFF"/>
            </a:solidFill>
            <a:prstDash val="solid"/>
          </a:ln>
        </p:spPr>
      </p:sp>
      <p:sp>
        <p:nvSpPr>
          <p:cNvPr id="107" name="Text 104"/>
          <p:cNvSpPr txBox="1"/>
          <p:nvPr/>
        </p:nvSpPr>
        <p:spPr>
          <a:xfrm>
            <a:off x="10746638" y="3538728"/>
            <a:ext cx="859841" cy="292608"/>
          </a:xfrm>
          <a:prstGeom prst="rect">
            <a:avLst/>
          </a:prstGeom>
          <a:noFill/>
          <a:ln/>
        </p:spPr>
        <p:txBody>
          <a:bodyPr wrap="square" lIns="0" tIns="0" rIns="0" bIns="0" rtlCol="0" anchor="ctr"/>
          <a:lstStyle/>
          <a:p>
            <a:pPr indent="0" marL="0">
              <a:buNone/>
            </a:pPr>
            <a:r>
              <a:rPr lang="en-US" sz="700" dirty="0">
                <a:solidFill>
                  <a:srgbClr val="1D1D1D"/>
                </a:solidFill>
              </a:rPr>
              <a:t>Collect any order at any counter</a:t>
            </a:r>
            <a:endParaRPr lang="en-US" sz="700" dirty="0"/>
          </a:p>
        </p:txBody>
      </p:sp>
      <p:sp>
        <p:nvSpPr>
          <p:cNvPr id="108" name="Shape 105"/>
          <p:cNvSpPr/>
          <p:nvPr/>
        </p:nvSpPr>
        <p:spPr>
          <a:xfrm>
            <a:off x="2880360" y="3877056"/>
            <a:ext cx="932993" cy="292608"/>
          </a:xfrm>
          <a:prstGeom prst="rect">
            <a:avLst/>
          </a:prstGeom>
          <a:solidFill>
            <a:srgbClr val="B5D334"/>
          </a:solidFill>
          <a:ln w="6350">
            <a:solidFill>
              <a:srgbClr val="FFFFFF"/>
            </a:solidFill>
            <a:prstDash val="solid"/>
          </a:ln>
        </p:spPr>
      </p:sp>
      <p:sp>
        <p:nvSpPr>
          <p:cNvPr id="109" name="Text 106"/>
          <p:cNvSpPr txBox="1"/>
          <p:nvPr/>
        </p:nvSpPr>
        <p:spPr>
          <a:xfrm>
            <a:off x="2916936" y="3877056"/>
            <a:ext cx="859841" cy="292608"/>
          </a:xfrm>
          <a:prstGeom prst="rect">
            <a:avLst/>
          </a:prstGeom>
          <a:noFill/>
          <a:ln/>
        </p:spPr>
        <p:txBody>
          <a:bodyPr wrap="square" lIns="0" tIns="0" rIns="0" bIns="0" rtlCol="0" anchor="ctr"/>
          <a:lstStyle/>
          <a:p>
            <a:pPr indent="0" marL="0">
              <a:buNone/>
            </a:pPr>
            <a:r>
              <a:rPr lang="en-US" sz="700" dirty="0">
                <a:solidFill>
                  <a:srgbClr val="1D1D1D"/>
                </a:solidFill>
              </a:rPr>
              <a:t>Near-home locker network</a:t>
            </a:r>
            <a:endParaRPr lang="en-US" sz="700" dirty="0"/>
          </a:p>
        </p:txBody>
      </p:sp>
      <p:sp>
        <p:nvSpPr>
          <p:cNvPr id="110" name="Shape 107"/>
          <p:cNvSpPr/>
          <p:nvPr/>
        </p:nvSpPr>
        <p:spPr>
          <a:xfrm>
            <a:off x="3859073" y="3877056"/>
            <a:ext cx="932993" cy="292608"/>
          </a:xfrm>
          <a:prstGeom prst="rect">
            <a:avLst/>
          </a:prstGeom>
          <a:solidFill>
            <a:srgbClr val="B5D334"/>
          </a:solidFill>
          <a:ln w="6350">
            <a:solidFill>
              <a:srgbClr val="FFFFFF"/>
            </a:solidFill>
            <a:prstDash val="solid"/>
          </a:ln>
        </p:spPr>
      </p:sp>
      <p:sp>
        <p:nvSpPr>
          <p:cNvPr id="111" name="Text 108"/>
          <p:cNvSpPr txBox="1"/>
          <p:nvPr/>
        </p:nvSpPr>
        <p:spPr>
          <a:xfrm>
            <a:off x="3895649" y="3877056"/>
            <a:ext cx="859841" cy="292608"/>
          </a:xfrm>
          <a:prstGeom prst="rect">
            <a:avLst/>
          </a:prstGeom>
          <a:noFill/>
          <a:ln/>
        </p:spPr>
        <p:txBody>
          <a:bodyPr wrap="square" lIns="0" tIns="0" rIns="0" bIns="0" rtlCol="0" anchor="ctr"/>
          <a:lstStyle/>
          <a:p>
            <a:pPr indent="0" marL="0">
              <a:buNone/>
            </a:pPr>
            <a:r>
              <a:rPr lang="en-US" sz="700" dirty="0">
                <a:solidFill>
                  <a:srgbClr val="1D1D1D"/>
                </a:solidFill>
              </a:rPr>
              <a:t>Locker integration</a:t>
            </a:r>
            <a:endParaRPr lang="en-US" sz="700" dirty="0"/>
          </a:p>
        </p:txBody>
      </p:sp>
      <p:sp>
        <p:nvSpPr>
          <p:cNvPr id="112" name="Shape 109"/>
          <p:cNvSpPr/>
          <p:nvPr/>
        </p:nvSpPr>
        <p:spPr>
          <a:xfrm>
            <a:off x="4837786" y="3877056"/>
            <a:ext cx="932993" cy="292608"/>
          </a:xfrm>
          <a:prstGeom prst="rect">
            <a:avLst/>
          </a:prstGeom>
          <a:solidFill>
            <a:srgbClr val="B5D334"/>
          </a:solidFill>
          <a:ln w="6350">
            <a:solidFill>
              <a:srgbClr val="FFFFFF"/>
            </a:solidFill>
            <a:prstDash val="solid"/>
          </a:ln>
        </p:spPr>
      </p:sp>
      <p:sp>
        <p:nvSpPr>
          <p:cNvPr id="113" name="Text 110"/>
          <p:cNvSpPr txBox="1"/>
          <p:nvPr/>
        </p:nvSpPr>
        <p:spPr>
          <a:xfrm>
            <a:off x="4874362" y="3877056"/>
            <a:ext cx="859841" cy="292608"/>
          </a:xfrm>
          <a:prstGeom prst="rect">
            <a:avLst/>
          </a:prstGeom>
          <a:noFill/>
          <a:ln/>
        </p:spPr>
        <p:txBody>
          <a:bodyPr wrap="square" lIns="0" tIns="0" rIns="0" bIns="0" rtlCol="0" anchor="ctr"/>
          <a:lstStyle/>
          <a:p>
            <a:pPr indent="0" marL="0">
              <a:buNone/>
            </a:pPr>
            <a:r>
              <a:rPr lang="en-US" sz="700" dirty="0">
                <a:solidFill>
                  <a:srgbClr val="1D1D1D"/>
                </a:solidFill>
              </a:rPr>
              <a:t>Scheduled medicine from lockers</a:t>
            </a:r>
            <a:endParaRPr lang="en-US" sz="700" dirty="0"/>
          </a:p>
        </p:txBody>
      </p:sp>
      <p:sp>
        <p:nvSpPr>
          <p:cNvPr id="114" name="Shape 111"/>
          <p:cNvSpPr/>
          <p:nvPr/>
        </p:nvSpPr>
        <p:spPr>
          <a:xfrm>
            <a:off x="5816498" y="3877056"/>
            <a:ext cx="932993" cy="292608"/>
          </a:xfrm>
          <a:prstGeom prst="rect">
            <a:avLst/>
          </a:prstGeom>
          <a:solidFill>
            <a:srgbClr val="B5D334"/>
          </a:solidFill>
          <a:ln w="6350">
            <a:solidFill>
              <a:srgbClr val="FFFFFF"/>
            </a:solidFill>
            <a:prstDash val="solid"/>
          </a:ln>
        </p:spPr>
      </p:sp>
      <p:sp>
        <p:nvSpPr>
          <p:cNvPr id="115" name="Text 112"/>
          <p:cNvSpPr txBox="1"/>
          <p:nvPr/>
        </p:nvSpPr>
        <p:spPr>
          <a:xfrm>
            <a:off x="5853074" y="3877056"/>
            <a:ext cx="859841" cy="292608"/>
          </a:xfrm>
          <a:prstGeom prst="rect">
            <a:avLst/>
          </a:prstGeom>
          <a:noFill/>
          <a:ln/>
        </p:spPr>
        <p:txBody>
          <a:bodyPr wrap="square" lIns="0" tIns="0" rIns="0" bIns="0" rtlCol="0" anchor="ctr"/>
          <a:lstStyle/>
          <a:p>
            <a:pPr indent="0" marL="0">
              <a:buNone/>
            </a:pPr>
            <a:r>
              <a:rPr lang="en-US" sz="700" dirty="0">
                <a:solidFill>
                  <a:srgbClr val="1D1D1D"/>
                </a:solidFill>
              </a:rPr>
              <a:t>Medicine courier compliance</a:t>
            </a:r>
            <a:endParaRPr lang="en-US" sz="700" dirty="0"/>
          </a:p>
        </p:txBody>
      </p:sp>
      <p:sp>
        <p:nvSpPr>
          <p:cNvPr id="116" name="Shape 113"/>
          <p:cNvSpPr/>
          <p:nvPr/>
        </p:nvSpPr>
        <p:spPr>
          <a:xfrm>
            <a:off x="6795211" y="3877056"/>
            <a:ext cx="932993" cy="292608"/>
          </a:xfrm>
          <a:prstGeom prst="rect">
            <a:avLst/>
          </a:prstGeom>
          <a:solidFill>
            <a:srgbClr val="B5D334"/>
          </a:solidFill>
          <a:ln w="6350">
            <a:solidFill>
              <a:srgbClr val="FFFFFF"/>
            </a:solidFill>
            <a:prstDash val="solid"/>
          </a:ln>
        </p:spPr>
      </p:sp>
      <p:sp>
        <p:nvSpPr>
          <p:cNvPr id="117" name="Text 114"/>
          <p:cNvSpPr txBox="1"/>
          <p:nvPr/>
        </p:nvSpPr>
        <p:spPr>
          <a:xfrm>
            <a:off x="6831787" y="3877056"/>
            <a:ext cx="859841" cy="292608"/>
          </a:xfrm>
          <a:prstGeom prst="rect">
            <a:avLst/>
          </a:prstGeom>
          <a:noFill/>
          <a:ln/>
        </p:spPr>
        <p:txBody>
          <a:bodyPr wrap="square" lIns="0" tIns="0" rIns="0" bIns="0" rtlCol="0" anchor="ctr"/>
          <a:lstStyle/>
          <a:p>
            <a:pPr indent="0" marL="0">
              <a:buNone/>
            </a:pPr>
            <a:r>
              <a:rPr lang="en-US" sz="700" dirty="0">
                <a:solidFill>
                  <a:srgbClr val="1D1D1D"/>
                </a:solidFill>
              </a:rPr>
              <a:t>Contents check with photo help</a:t>
            </a:r>
            <a:endParaRPr lang="en-US" sz="700" dirty="0"/>
          </a:p>
        </p:txBody>
      </p:sp>
      <p:sp>
        <p:nvSpPr>
          <p:cNvPr id="118" name="Shape 115"/>
          <p:cNvSpPr/>
          <p:nvPr/>
        </p:nvSpPr>
        <p:spPr>
          <a:xfrm>
            <a:off x="7773924" y="3877056"/>
            <a:ext cx="932993" cy="292608"/>
          </a:xfrm>
          <a:prstGeom prst="rect">
            <a:avLst/>
          </a:prstGeom>
          <a:solidFill>
            <a:srgbClr val="B06A00"/>
          </a:solidFill>
          <a:ln w="6350">
            <a:solidFill>
              <a:srgbClr val="FFFFFF"/>
            </a:solidFill>
            <a:prstDash val="solid"/>
          </a:ln>
        </p:spPr>
      </p:sp>
      <p:sp>
        <p:nvSpPr>
          <p:cNvPr id="119" name="Text 116"/>
          <p:cNvSpPr txBox="1"/>
          <p:nvPr/>
        </p:nvSpPr>
        <p:spPr>
          <a:xfrm>
            <a:off x="7810500" y="3877056"/>
            <a:ext cx="859841" cy="292608"/>
          </a:xfrm>
          <a:prstGeom prst="rect">
            <a:avLst/>
          </a:prstGeom>
          <a:noFill/>
          <a:ln/>
        </p:spPr>
        <p:txBody>
          <a:bodyPr wrap="square" lIns="0" tIns="0" rIns="0" bIns="0" rtlCol="0" anchor="ctr"/>
          <a:lstStyle/>
          <a:p>
            <a:pPr indent="0" marL="0">
              <a:buNone/>
            </a:pPr>
            <a:r>
              <a:rPr lang="en-US" sz="700" dirty="0">
                <a:solidFill>
                  <a:srgbClr val="FFFFFF"/>
                </a:solidFill>
              </a:rPr>
              <a:t>Delivery promise standard</a:t>
            </a:r>
            <a:endParaRPr lang="en-US" sz="700" dirty="0"/>
          </a:p>
        </p:txBody>
      </p:sp>
      <p:sp>
        <p:nvSpPr>
          <p:cNvPr id="120" name="Shape 117"/>
          <p:cNvSpPr/>
          <p:nvPr/>
        </p:nvSpPr>
        <p:spPr>
          <a:xfrm>
            <a:off x="8752637" y="3877056"/>
            <a:ext cx="932993" cy="292608"/>
          </a:xfrm>
          <a:prstGeom prst="rect">
            <a:avLst/>
          </a:prstGeom>
          <a:solidFill>
            <a:srgbClr val="B5D334"/>
          </a:solidFill>
          <a:ln w="6350">
            <a:solidFill>
              <a:srgbClr val="FFFFFF"/>
            </a:solidFill>
            <a:prstDash val="solid"/>
          </a:ln>
        </p:spPr>
      </p:sp>
      <p:sp>
        <p:nvSpPr>
          <p:cNvPr id="121" name="Text 118"/>
          <p:cNvSpPr txBox="1"/>
          <p:nvPr/>
        </p:nvSpPr>
        <p:spPr>
          <a:xfrm>
            <a:off x="8789213" y="3877056"/>
            <a:ext cx="859841" cy="292608"/>
          </a:xfrm>
          <a:prstGeom prst="rect">
            <a:avLst/>
          </a:prstGeom>
          <a:noFill/>
          <a:ln/>
        </p:spPr>
        <p:txBody>
          <a:bodyPr wrap="square" lIns="0" tIns="0" rIns="0" bIns="0" rtlCol="0" anchor="ctr"/>
          <a:lstStyle/>
          <a:p>
            <a:pPr indent="0" marL="0">
              <a:buNone/>
            </a:pPr>
            <a:r>
              <a:rPr lang="en-US" sz="700" dirty="0">
                <a:solidFill>
                  <a:srgbClr val="1D1D1D"/>
                </a:solidFill>
              </a:rPr>
              <a:t>What rides with medicine</a:t>
            </a:r>
            <a:endParaRPr lang="en-US" sz="700" dirty="0"/>
          </a:p>
        </p:txBody>
      </p:sp>
      <p:sp>
        <p:nvSpPr>
          <p:cNvPr id="122" name="Shape 119"/>
          <p:cNvSpPr/>
          <p:nvPr/>
        </p:nvSpPr>
        <p:spPr>
          <a:xfrm>
            <a:off x="9731350" y="3877056"/>
            <a:ext cx="932993" cy="292608"/>
          </a:xfrm>
          <a:prstGeom prst="rect">
            <a:avLst/>
          </a:prstGeom>
          <a:solidFill>
            <a:srgbClr val="B5D334"/>
          </a:solidFill>
          <a:ln w="6350">
            <a:solidFill>
              <a:srgbClr val="FFFFFF"/>
            </a:solidFill>
            <a:prstDash val="solid"/>
          </a:ln>
        </p:spPr>
      </p:sp>
      <p:sp>
        <p:nvSpPr>
          <p:cNvPr id="123" name="Text 120"/>
          <p:cNvSpPr txBox="1"/>
          <p:nvPr/>
        </p:nvSpPr>
        <p:spPr>
          <a:xfrm>
            <a:off x="9767926" y="3877056"/>
            <a:ext cx="859841" cy="292608"/>
          </a:xfrm>
          <a:prstGeom prst="rect">
            <a:avLst/>
          </a:prstGeom>
          <a:noFill/>
          <a:ln/>
        </p:spPr>
        <p:txBody>
          <a:bodyPr wrap="square" lIns="0" tIns="0" rIns="0" bIns="0" rtlCol="0" anchor="ctr"/>
          <a:lstStyle/>
          <a:p>
            <a:pPr indent="0" marL="0">
              <a:buNone/>
            </a:pPr>
            <a:r>
              <a:rPr lang="en-US" sz="700" dirty="0">
                <a:solidFill>
                  <a:srgbClr val="1D1D1D"/>
                </a:solidFill>
              </a:rPr>
              <a:t>Cash customer proposition test</a:t>
            </a:r>
            <a:endParaRPr lang="en-US" sz="700" dirty="0"/>
          </a:p>
        </p:txBody>
      </p:sp>
      <p:sp>
        <p:nvSpPr>
          <p:cNvPr id="124" name="Text 121"/>
          <p:cNvSpPr txBox="1"/>
          <p:nvPr/>
        </p:nvSpPr>
        <p:spPr>
          <a:xfrm>
            <a:off x="548640" y="4297680"/>
            <a:ext cx="2240280" cy="630936"/>
          </a:xfrm>
          <a:prstGeom prst="rect">
            <a:avLst/>
          </a:prstGeom>
          <a:noFill/>
          <a:ln/>
        </p:spPr>
        <p:txBody>
          <a:bodyPr wrap="square" lIns="0" tIns="0" rIns="0" bIns="0" rtlCol="0" anchor="ctr"/>
          <a:lstStyle/>
          <a:p>
            <a:pPr indent="0" marL="0">
              <a:buNone/>
            </a:pPr>
            <a:r>
              <a:rPr lang="en-US" sz="900" b="1" dirty="0">
                <a:solidFill>
                  <a:srgbClr val="1D1D1D"/>
                </a:solidFill>
              </a:rPr>
              <a:t>Adherence and refills</a:t>
            </a:r>
            <a:endParaRPr lang="en-US" sz="900" dirty="0"/>
          </a:p>
        </p:txBody>
      </p:sp>
      <p:sp>
        <p:nvSpPr>
          <p:cNvPr id="125" name="Shape 122"/>
          <p:cNvSpPr/>
          <p:nvPr/>
        </p:nvSpPr>
        <p:spPr>
          <a:xfrm>
            <a:off x="2880360" y="4297680"/>
            <a:ext cx="932993" cy="292608"/>
          </a:xfrm>
          <a:prstGeom prst="rect">
            <a:avLst/>
          </a:prstGeom>
          <a:solidFill>
            <a:srgbClr val="B5D334"/>
          </a:solidFill>
          <a:ln w="6350">
            <a:solidFill>
              <a:srgbClr val="FFFFFF"/>
            </a:solidFill>
            <a:prstDash val="solid"/>
          </a:ln>
        </p:spPr>
      </p:sp>
      <p:sp>
        <p:nvSpPr>
          <p:cNvPr id="126" name="Text 123"/>
          <p:cNvSpPr txBox="1"/>
          <p:nvPr/>
        </p:nvSpPr>
        <p:spPr>
          <a:xfrm>
            <a:off x="2916936" y="4297680"/>
            <a:ext cx="859841" cy="292608"/>
          </a:xfrm>
          <a:prstGeom prst="rect">
            <a:avLst/>
          </a:prstGeom>
          <a:noFill/>
          <a:ln/>
        </p:spPr>
        <p:txBody>
          <a:bodyPr wrap="square" lIns="0" tIns="0" rIns="0" bIns="0" rtlCol="0" anchor="ctr"/>
          <a:lstStyle/>
          <a:p>
            <a:pPr indent="0" marL="0">
              <a:buNone/>
            </a:pPr>
            <a:r>
              <a:rPr lang="en-US" sz="700" dirty="0">
                <a:solidFill>
                  <a:srgbClr val="1D1D1D"/>
                </a:solidFill>
              </a:rPr>
              <a:t>Repeat service sign-up</a:t>
            </a:r>
            <a:endParaRPr lang="en-US" sz="700" dirty="0"/>
          </a:p>
        </p:txBody>
      </p:sp>
      <p:sp>
        <p:nvSpPr>
          <p:cNvPr id="127" name="Shape 124"/>
          <p:cNvSpPr/>
          <p:nvPr/>
        </p:nvSpPr>
        <p:spPr>
          <a:xfrm>
            <a:off x="3859073" y="4297680"/>
            <a:ext cx="932993" cy="292608"/>
          </a:xfrm>
          <a:prstGeom prst="rect">
            <a:avLst/>
          </a:prstGeom>
          <a:solidFill>
            <a:srgbClr val="7FC79A"/>
          </a:solidFill>
          <a:ln w="6350">
            <a:solidFill>
              <a:srgbClr val="FFFFFF"/>
            </a:solidFill>
            <a:prstDash val="solid"/>
          </a:ln>
        </p:spPr>
      </p:sp>
      <p:sp>
        <p:nvSpPr>
          <p:cNvPr id="128" name="Text 125"/>
          <p:cNvSpPr txBox="1"/>
          <p:nvPr/>
        </p:nvSpPr>
        <p:spPr>
          <a:xfrm>
            <a:off x="3895649" y="4297680"/>
            <a:ext cx="859841" cy="292608"/>
          </a:xfrm>
          <a:prstGeom prst="rect">
            <a:avLst/>
          </a:prstGeom>
          <a:noFill/>
          <a:ln/>
        </p:spPr>
        <p:txBody>
          <a:bodyPr wrap="square" lIns="0" tIns="0" rIns="0" bIns="0" rtlCol="0" anchor="ctr"/>
          <a:lstStyle/>
          <a:p>
            <a:pPr indent="0" marL="0">
              <a:buNone/>
            </a:pPr>
            <a:r>
              <a:rPr lang="en-US" sz="700" dirty="0">
                <a:solidFill>
                  <a:srgbClr val="1D1D1D"/>
                </a:solidFill>
              </a:rPr>
              <a:t>Refill prediction</a:t>
            </a:r>
            <a:endParaRPr lang="en-US" sz="700" dirty="0"/>
          </a:p>
        </p:txBody>
      </p:sp>
      <p:sp>
        <p:nvSpPr>
          <p:cNvPr id="129" name="Shape 126"/>
          <p:cNvSpPr/>
          <p:nvPr/>
        </p:nvSpPr>
        <p:spPr>
          <a:xfrm>
            <a:off x="4837786" y="4297680"/>
            <a:ext cx="932993" cy="292608"/>
          </a:xfrm>
          <a:prstGeom prst="rect">
            <a:avLst/>
          </a:prstGeom>
          <a:solidFill>
            <a:srgbClr val="B5D334"/>
          </a:solidFill>
          <a:ln w="6350">
            <a:solidFill>
              <a:srgbClr val="FFFFFF"/>
            </a:solidFill>
            <a:prstDash val="solid"/>
          </a:ln>
        </p:spPr>
      </p:sp>
      <p:sp>
        <p:nvSpPr>
          <p:cNvPr id="130" name="Text 127"/>
          <p:cNvSpPr txBox="1"/>
          <p:nvPr/>
        </p:nvSpPr>
        <p:spPr>
          <a:xfrm>
            <a:off x="4874362" y="4297680"/>
            <a:ext cx="859841" cy="292608"/>
          </a:xfrm>
          <a:prstGeom prst="rect">
            <a:avLst/>
          </a:prstGeom>
          <a:noFill/>
          <a:ln/>
        </p:spPr>
        <p:txBody>
          <a:bodyPr wrap="square" lIns="0" tIns="0" rIns="0" bIns="0" rtlCol="0" anchor="ctr"/>
          <a:lstStyle/>
          <a:p>
            <a:pPr indent="0" marL="0">
              <a:buNone/>
            </a:pPr>
            <a:r>
              <a:rPr lang="en-US" sz="700" dirty="0">
                <a:solidFill>
                  <a:srgbClr val="1D1D1D"/>
                </a:solidFill>
              </a:rPr>
              <a:t>Script Sync engine</a:t>
            </a:r>
            <a:endParaRPr lang="en-US" sz="700" dirty="0"/>
          </a:p>
        </p:txBody>
      </p:sp>
      <p:sp>
        <p:nvSpPr>
          <p:cNvPr id="131" name="Shape 128"/>
          <p:cNvSpPr/>
          <p:nvPr/>
        </p:nvSpPr>
        <p:spPr>
          <a:xfrm>
            <a:off x="5816498" y="4297680"/>
            <a:ext cx="932993" cy="292608"/>
          </a:xfrm>
          <a:prstGeom prst="rect">
            <a:avLst/>
          </a:prstGeom>
          <a:solidFill>
            <a:srgbClr val="B5D334"/>
          </a:solidFill>
          <a:ln w="6350">
            <a:solidFill>
              <a:srgbClr val="FFFFFF"/>
            </a:solidFill>
            <a:prstDash val="solid"/>
          </a:ln>
        </p:spPr>
      </p:sp>
      <p:sp>
        <p:nvSpPr>
          <p:cNvPr id="132" name="Text 129"/>
          <p:cNvSpPr txBox="1"/>
          <p:nvPr/>
        </p:nvSpPr>
        <p:spPr>
          <a:xfrm>
            <a:off x="5853074" y="4297680"/>
            <a:ext cx="859841" cy="292608"/>
          </a:xfrm>
          <a:prstGeom prst="rect">
            <a:avLst/>
          </a:prstGeom>
          <a:noFill/>
          <a:ln/>
        </p:spPr>
        <p:txBody>
          <a:bodyPr wrap="square" lIns="0" tIns="0" rIns="0" bIns="0" rtlCol="0" anchor="ctr"/>
          <a:lstStyle/>
          <a:p>
            <a:pPr indent="0" marL="0">
              <a:buNone/>
            </a:pPr>
            <a:r>
              <a:rPr lang="en-US" sz="700" dirty="0">
                <a:solidFill>
                  <a:srgbClr val="1D1D1D"/>
                </a:solidFill>
              </a:rPr>
              <a:t>Scheme rules for part-fills</a:t>
            </a:r>
            <a:endParaRPr lang="en-US" sz="700" dirty="0"/>
          </a:p>
        </p:txBody>
      </p:sp>
      <p:sp>
        <p:nvSpPr>
          <p:cNvPr id="133" name="Shape 130"/>
          <p:cNvSpPr/>
          <p:nvPr/>
        </p:nvSpPr>
        <p:spPr>
          <a:xfrm>
            <a:off x="6795211" y="4297680"/>
            <a:ext cx="932993" cy="292608"/>
          </a:xfrm>
          <a:prstGeom prst="rect">
            <a:avLst/>
          </a:prstGeom>
          <a:solidFill>
            <a:srgbClr val="7FC79A"/>
          </a:solidFill>
          <a:ln w="6350">
            <a:solidFill>
              <a:srgbClr val="FFFFFF"/>
            </a:solidFill>
            <a:prstDash val="solid"/>
          </a:ln>
        </p:spPr>
      </p:sp>
      <p:sp>
        <p:nvSpPr>
          <p:cNvPr id="134" name="Text 131"/>
          <p:cNvSpPr txBox="1"/>
          <p:nvPr/>
        </p:nvSpPr>
        <p:spPr>
          <a:xfrm>
            <a:off x="6831787" y="4297680"/>
            <a:ext cx="859841" cy="292608"/>
          </a:xfrm>
          <a:prstGeom prst="rect">
            <a:avLst/>
          </a:prstGeom>
          <a:noFill/>
          <a:ln/>
        </p:spPr>
        <p:txBody>
          <a:bodyPr wrap="square" lIns="0" tIns="0" rIns="0" bIns="0" rtlCol="0" anchor="ctr"/>
          <a:lstStyle/>
          <a:p>
            <a:pPr indent="0" marL="0">
              <a:buNone/>
            </a:pPr>
            <a:r>
              <a:rPr lang="en-US" sz="700" dirty="0">
                <a:solidFill>
                  <a:srgbClr val="1D1D1D"/>
                </a:solidFill>
              </a:rPr>
              <a:t>Auto-refill eligibility policy</a:t>
            </a:r>
            <a:endParaRPr lang="en-US" sz="700" dirty="0"/>
          </a:p>
        </p:txBody>
      </p:sp>
      <p:sp>
        <p:nvSpPr>
          <p:cNvPr id="135" name="Shape 132"/>
          <p:cNvSpPr/>
          <p:nvPr/>
        </p:nvSpPr>
        <p:spPr>
          <a:xfrm>
            <a:off x="7773924" y="4297680"/>
            <a:ext cx="932993" cy="292608"/>
          </a:xfrm>
          <a:prstGeom prst="rect">
            <a:avLst/>
          </a:prstGeom>
          <a:solidFill>
            <a:srgbClr val="7FC79A"/>
          </a:solidFill>
          <a:ln w="6350">
            <a:solidFill>
              <a:srgbClr val="FFFFFF"/>
            </a:solidFill>
            <a:prstDash val="solid"/>
          </a:ln>
        </p:spPr>
      </p:sp>
      <p:sp>
        <p:nvSpPr>
          <p:cNvPr id="136" name="Text 133"/>
          <p:cNvSpPr txBox="1"/>
          <p:nvPr/>
        </p:nvSpPr>
        <p:spPr>
          <a:xfrm>
            <a:off x="7810500" y="4297680"/>
            <a:ext cx="859841" cy="292608"/>
          </a:xfrm>
          <a:prstGeom prst="rect">
            <a:avLst/>
          </a:prstGeom>
          <a:noFill/>
          <a:ln/>
        </p:spPr>
        <p:txBody>
          <a:bodyPr wrap="square" lIns="0" tIns="0" rIns="0" bIns="0" rtlCol="0" anchor="ctr"/>
          <a:lstStyle/>
          <a:p>
            <a:pPr indent="0" marL="0">
              <a:buNone/>
            </a:pPr>
            <a:r>
              <a:rPr lang="en-US" sz="700" dirty="0">
                <a:solidFill>
                  <a:srgbClr val="1D1D1D"/>
                </a:solidFill>
              </a:rPr>
              <a:t>Monthly repeat notice</a:t>
            </a:r>
            <a:endParaRPr lang="en-US" sz="700" dirty="0"/>
          </a:p>
        </p:txBody>
      </p:sp>
      <p:sp>
        <p:nvSpPr>
          <p:cNvPr id="137" name="Shape 134"/>
          <p:cNvSpPr/>
          <p:nvPr/>
        </p:nvSpPr>
        <p:spPr>
          <a:xfrm>
            <a:off x="8752637" y="4297680"/>
            <a:ext cx="932993" cy="292608"/>
          </a:xfrm>
          <a:prstGeom prst="rect">
            <a:avLst/>
          </a:prstGeom>
          <a:solidFill>
            <a:srgbClr val="B06A00"/>
          </a:solidFill>
          <a:ln w="6350">
            <a:solidFill>
              <a:srgbClr val="FFFFFF"/>
            </a:solidFill>
            <a:prstDash val="solid"/>
          </a:ln>
        </p:spPr>
      </p:sp>
      <p:sp>
        <p:nvSpPr>
          <p:cNvPr id="138" name="Text 135"/>
          <p:cNvSpPr txBox="1"/>
          <p:nvPr/>
        </p:nvSpPr>
        <p:spPr>
          <a:xfrm>
            <a:off x="8789213" y="4297680"/>
            <a:ext cx="859841" cy="292608"/>
          </a:xfrm>
          <a:prstGeom prst="rect">
            <a:avLst/>
          </a:prstGeom>
          <a:noFill/>
          <a:ln/>
        </p:spPr>
        <p:txBody>
          <a:bodyPr wrap="square" lIns="0" tIns="0" rIns="0" bIns="0" rtlCol="0" anchor="ctr"/>
          <a:lstStyle/>
          <a:p>
            <a:pPr indent="0" marL="0">
              <a:buNone/>
            </a:pPr>
            <a:r>
              <a:rPr lang="en-US" sz="700" dirty="0">
                <a:solidFill>
                  <a:srgbClr val="FFFFFF"/>
                </a:solidFill>
              </a:rPr>
              <a:t>Standing order controls</a:t>
            </a:r>
            <a:endParaRPr lang="en-US" sz="700" dirty="0"/>
          </a:p>
        </p:txBody>
      </p:sp>
      <p:sp>
        <p:nvSpPr>
          <p:cNvPr id="139" name="Shape 136"/>
          <p:cNvSpPr/>
          <p:nvPr/>
        </p:nvSpPr>
        <p:spPr>
          <a:xfrm>
            <a:off x="9731350" y="4297680"/>
            <a:ext cx="932993" cy="292608"/>
          </a:xfrm>
          <a:prstGeom prst="rect">
            <a:avLst/>
          </a:prstGeom>
          <a:solidFill>
            <a:srgbClr val="B5D334"/>
          </a:solidFill>
          <a:ln w="6350">
            <a:solidFill>
              <a:srgbClr val="FFFFFF"/>
            </a:solidFill>
            <a:prstDash val="solid"/>
          </a:ln>
        </p:spPr>
      </p:sp>
      <p:sp>
        <p:nvSpPr>
          <p:cNvPr id="140" name="Text 137"/>
          <p:cNvSpPr txBox="1"/>
          <p:nvPr/>
        </p:nvSpPr>
        <p:spPr>
          <a:xfrm>
            <a:off x="9767926" y="4297680"/>
            <a:ext cx="859841" cy="292608"/>
          </a:xfrm>
          <a:prstGeom prst="rect">
            <a:avLst/>
          </a:prstGeom>
          <a:noFill/>
          <a:ln/>
        </p:spPr>
        <p:txBody>
          <a:bodyPr wrap="square" lIns="0" tIns="0" rIns="0" bIns="0" rtlCol="0" anchor="ctr"/>
          <a:lstStyle/>
          <a:p>
            <a:pPr indent="0" marL="0">
              <a:buNone/>
            </a:pPr>
            <a:r>
              <a:rPr lang="en-US" sz="700" dirty="0">
                <a:solidFill>
                  <a:srgbClr val="1D1D1D"/>
                </a:solidFill>
              </a:rPr>
              <a:t>Validate Auto-Refill</a:t>
            </a:r>
            <a:endParaRPr lang="en-US" sz="700" dirty="0"/>
          </a:p>
        </p:txBody>
      </p:sp>
      <p:sp>
        <p:nvSpPr>
          <p:cNvPr id="141" name="Shape 138"/>
          <p:cNvSpPr/>
          <p:nvPr/>
        </p:nvSpPr>
        <p:spPr>
          <a:xfrm>
            <a:off x="10710062" y="4297680"/>
            <a:ext cx="932993" cy="292608"/>
          </a:xfrm>
          <a:prstGeom prst="rect">
            <a:avLst/>
          </a:prstGeom>
          <a:solidFill>
            <a:srgbClr val="B5D334"/>
          </a:solidFill>
          <a:ln w="6350">
            <a:solidFill>
              <a:srgbClr val="FFFFFF"/>
            </a:solidFill>
            <a:prstDash val="solid"/>
          </a:ln>
        </p:spPr>
      </p:sp>
      <p:sp>
        <p:nvSpPr>
          <p:cNvPr id="142" name="Text 139"/>
          <p:cNvSpPr txBox="1"/>
          <p:nvPr/>
        </p:nvSpPr>
        <p:spPr>
          <a:xfrm>
            <a:off x="10746638" y="4297680"/>
            <a:ext cx="859841" cy="292608"/>
          </a:xfrm>
          <a:prstGeom prst="rect">
            <a:avLst/>
          </a:prstGeom>
          <a:noFill/>
          <a:ln/>
        </p:spPr>
        <p:txBody>
          <a:bodyPr wrap="square" lIns="0" tIns="0" rIns="0" bIns="0" rtlCol="0" anchor="ctr"/>
          <a:lstStyle/>
          <a:p>
            <a:pPr indent="0" marL="0">
              <a:buNone/>
            </a:pPr>
            <a:r>
              <a:rPr lang="en-US" sz="700" dirty="0">
                <a:solidFill>
                  <a:srgbClr val="1D1D1D"/>
                </a:solidFill>
              </a:rPr>
              <a:t>Repeat service value proposition</a:t>
            </a:r>
            <a:endParaRPr lang="en-US" sz="700" dirty="0"/>
          </a:p>
        </p:txBody>
      </p:sp>
      <p:sp>
        <p:nvSpPr>
          <p:cNvPr id="143" name="Shape 140"/>
          <p:cNvSpPr/>
          <p:nvPr/>
        </p:nvSpPr>
        <p:spPr>
          <a:xfrm>
            <a:off x="2880360" y="4636008"/>
            <a:ext cx="932993" cy="292608"/>
          </a:xfrm>
          <a:prstGeom prst="rect">
            <a:avLst/>
          </a:prstGeom>
          <a:solidFill>
            <a:srgbClr val="B06A00"/>
          </a:solidFill>
          <a:ln w="6350">
            <a:solidFill>
              <a:srgbClr val="FFFFFF"/>
            </a:solidFill>
            <a:prstDash val="solid"/>
          </a:ln>
        </p:spPr>
      </p:sp>
      <p:sp>
        <p:nvSpPr>
          <p:cNvPr id="144" name="Text 141"/>
          <p:cNvSpPr txBox="1"/>
          <p:nvPr/>
        </p:nvSpPr>
        <p:spPr>
          <a:xfrm>
            <a:off x="2916936" y="4636008"/>
            <a:ext cx="859841" cy="292608"/>
          </a:xfrm>
          <a:prstGeom prst="rect">
            <a:avLst/>
          </a:prstGeom>
          <a:noFill/>
          <a:ln/>
        </p:spPr>
        <p:txBody>
          <a:bodyPr wrap="square" lIns="0" tIns="0" rIns="0" bIns="0" rtlCol="0" anchor="ctr"/>
          <a:lstStyle/>
          <a:p>
            <a:pPr indent="0" marL="0">
              <a:buNone/>
            </a:pPr>
            <a:r>
              <a:rPr lang="en-US" sz="700" dirty="0">
                <a:solidFill>
                  <a:srgbClr val="FFFFFF"/>
                </a:solidFill>
              </a:rPr>
              <a:t>Dose-pack production</a:t>
            </a:r>
            <a:endParaRPr lang="en-US" sz="700" dirty="0"/>
          </a:p>
        </p:txBody>
      </p:sp>
      <p:sp>
        <p:nvSpPr>
          <p:cNvPr id="145" name="Shape 142"/>
          <p:cNvSpPr/>
          <p:nvPr/>
        </p:nvSpPr>
        <p:spPr>
          <a:xfrm>
            <a:off x="3859073" y="4636008"/>
            <a:ext cx="932993" cy="292608"/>
          </a:xfrm>
          <a:prstGeom prst="rect">
            <a:avLst/>
          </a:prstGeom>
          <a:solidFill>
            <a:srgbClr val="B5D334"/>
          </a:solidFill>
          <a:ln w="6350">
            <a:solidFill>
              <a:srgbClr val="FFFFFF"/>
            </a:solidFill>
            <a:prstDash val="solid"/>
          </a:ln>
        </p:spPr>
      </p:sp>
      <p:sp>
        <p:nvSpPr>
          <p:cNvPr id="146" name="Text 143"/>
          <p:cNvSpPr txBox="1"/>
          <p:nvPr/>
        </p:nvSpPr>
        <p:spPr>
          <a:xfrm>
            <a:off x="3895649" y="4636008"/>
            <a:ext cx="859841" cy="292608"/>
          </a:xfrm>
          <a:prstGeom prst="rect">
            <a:avLst/>
          </a:prstGeom>
          <a:noFill/>
          <a:ln/>
        </p:spPr>
        <p:txBody>
          <a:bodyPr wrap="square" lIns="0" tIns="0" rIns="0" bIns="0" rtlCol="0" anchor="ctr"/>
          <a:lstStyle/>
          <a:p>
            <a:pPr indent="0" marL="0">
              <a:buNone/>
            </a:pPr>
            <a:r>
              <a:rPr lang="en-US" sz="700" dirty="0">
                <a:solidFill>
                  <a:srgbClr val="1D1D1D"/>
                </a:solidFill>
              </a:rPr>
              <a:t>Dose-pack proposition</a:t>
            </a:r>
            <a:endParaRPr lang="en-US" sz="700" dirty="0"/>
          </a:p>
        </p:txBody>
      </p:sp>
      <p:sp>
        <p:nvSpPr>
          <p:cNvPr id="147" name="Shape 144"/>
          <p:cNvSpPr/>
          <p:nvPr/>
        </p:nvSpPr>
        <p:spPr>
          <a:xfrm>
            <a:off x="4837786" y="4636008"/>
            <a:ext cx="932993" cy="292608"/>
          </a:xfrm>
          <a:prstGeom prst="rect">
            <a:avLst/>
          </a:prstGeom>
          <a:solidFill>
            <a:srgbClr val="B06A00"/>
          </a:solidFill>
          <a:ln w="6350">
            <a:solidFill>
              <a:srgbClr val="FFFFFF"/>
            </a:solidFill>
            <a:prstDash val="solid"/>
          </a:ln>
        </p:spPr>
      </p:sp>
      <p:sp>
        <p:nvSpPr>
          <p:cNvPr id="148" name="Text 145"/>
          <p:cNvSpPr txBox="1"/>
          <p:nvPr/>
        </p:nvSpPr>
        <p:spPr>
          <a:xfrm>
            <a:off x="4874362" y="4636008"/>
            <a:ext cx="859841" cy="292608"/>
          </a:xfrm>
          <a:prstGeom prst="rect">
            <a:avLst/>
          </a:prstGeom>
          <a:noFill/>
          <a:ln/>
        </p:spPr>
        <p:txBody>
          <a:bodyPr wrap="square" lIns="0" tIns="0" rIns="0" bIns="0" rtlCol="0" anchor="ctr"/>
          <a:lstStyle/>
          <a:p>
            <a:pPr indent="0" marL="0">
              <a:buNone/>
            </a:pPr>
            <a:r>
              <a:rPr lang="en-US" sz="700" dirty="0">
                <a:solidFill>
                  <a:srgbClr val="FFFFFF"/>
                </a:solidFill>
              </a:rPr>
              <a:t>Patient-controlled reminders</a:t>
            </a:r>
            <a:endParaRPr lang="en-US" sz="700" dirty="0"/>
          </a:p>
        </p:txBody>
      </p:sp>
      <p:sp>
        <p:nvSpPr>
          <p:cNvPr id="149" name="Shape 146"/>
          <p:cNvSpPr/>
          <p:nvPr/>
        </p:nvSpPr>
        <p:spPr>
          <a:xfrm>
            <a:off x="5816498" y="4636008"/>
            <a:ext cx="932993" cy="292608"/>
          </a:xfrm>
          <a:prstGeom prst="rect">
            <a:avLst/>
          </a:prstGeom>
          <a:solidFill>
            <a:srgbClr val="B06A00"/>
          </a:solidFill>
          <a:ln w="6350">
            <a:solidFill>
              <a:srgbClr val="FFFFFF"/>
            </a:solidFill>
            <a:prstDash val="solid"/>
          </a:ln>
        </p:spPr>
      </p:sp>
      <p:sp>
        <p:nvSpPr>
          <p:cNvPr id="150" name="Text 147"/>
          <p:cNvSpPr txBox="1"/>
          <p:nvPr/>
        </p:nvSpPr>
        <p:spPr>
          <a:xfrm>
            <a:off x="5853074" y="4636008"/>
            <a:ext cx="859841" cy="292608"/>
          </a:xfrm>
          <a:prstGeom prst="rect">
            <a:avLst/>
          </a:prstGeom>
          <a:noFill/>
          <a:ln/>
        </p:spPr>
        <p:txBody>
          <a:bodyPr wrap="square" lIns="0" tIns="0" rIns="0" bIns="0" rtlCol="0" anchor="ctr"/>
          <a:lstStyle/>
          <a:p>
            <a:pPr indent="0" marL="0">
              <a:buNone/>
            </a:pPr>
            <a:r>
              <a:rPr lang="en-US" sz="700" dirty="0">
                <a:solidFill>
                  <a:srgbClr val="FFFFFF"/>
                </a:solidFill>
              </a:rPr>
              <a:t>Contact and opt-out policy</a:t>
            </a:r>
            <a:endParaRPr lang="en-US" sz="700" dirty="0"/>
          </a:p>
        </p:txBody>
      </p:sp>
      <p:sp>
        <p:nvSpPr>
          <p:cNvPr id="151" name="Shape 148"/>
          <p:cNvSpPr/>
          <p:nvPr/>
        </p:nvSpPr>
        <p:spPr>
          <a:xfrm>
            <a:off x="6795211" y="4636008"/>
            <a:ext cx="932993" cy="292608"/>
          </a:xfrm>
          <a:prstGeom prst="rect">
            <a:avLst/>
          </a:prstGeom>
          <a:solidFill>
            <a:srgbClr val="B5D334"/>
          </a:solidFill>
          <a:ln w="6350">
            <a:solidFill>
              <a:srgbClr val="FFFFFF"/>
            </a:solidFill>
            <a:prstDash val="solid"/>
          </a:ln>
        </p:spPr>
      </p:sp>
      <p:sp>
        <p:nvSpPr>
          <p:cNvPr id="152" name="Text 149"/>
          <p:cNvSpPr txBox="1"/>
          <p:nvPr/>
        </p:nvSpPr>
        <p:spPr>
          <a:xfrm>
            <a:off x="6831787" y="4636008"/>
            <a:ext cx="859841" cy="292608"/>
          </a:xfrm>
          <a:prstGeom prst="rect">
            <a:avLst/>
          </a:prstGeom>
          <a:noFill/>
          <a:ln/>
        </p:spPr>
        <p:txBody>
          <a:bodyPr wrap="square" lIns="0" tIns="0" rIns="0" bIns="0" rtlCol="0" anchor="ctr"/>
          <a:lstStyle/>
          <a:p>
            <a:pPr indent="0" marL="0">
              <a:buNone/>
            </a:pPr>
            <a:r>
              <a:rPr lang="en-US" sz="700" dirty="0">
                <a:solidFill>
                  <a:srgbClr val="1D1D1D"/>
                </a:solidFill>
              </a:rPr>
              <a:t>Government programme link</a:t>
            </a:r>
            <a:endParaRPr lang="en-US" sz="700" dirty="0"/>
          </a:p>
        </p:txBody>
      </p:sp>
      <p:sp>
        <p:nvSpPr>
          <p:cNvPr id="153" name="Shape 150"/>
          <p:cNvSpPr/>
          <p:nvPr/>
        </p:nvSpPr>
        <p:spPr>
          <a:xfrm>
            <a:off x="7773924" y="4636008"/>
            <a:ext cx="932993" cy="292608"/>
          </a:xfrm>
          <a:prstGeom prst="rect">
            <a:avLst/>
          </a:prstGeom>
          <a:solidFill>
            <a:srgbClr val="B06A00"/>
          </a:solidFill>
          <a:ln w="6350">
            <a:solidFill>
              <a:srgbClr val="FFFFFF"/>
            </a:solidFill>
            <a:prstDash val="solid"/>
          </a:ln>
        </p:spPr>
      </p:sp>
      <p:sp>
        <p:nvSpPr>
          <p:cNvPr id="154" name="Text 151"/>
          <p:cNvSpPr txBox="1"/>
          <p:nvPr/>
        </p:nvSpPr>
        <p:spPr>
          <a:xfrm>
            <a:off x="7810500" y="4636008"/>
            <a:ext cx="859841" cy="292608"/>
          </a:xfrm>
          <a:prstGeom prst="rect">
            <a:avLst/>
          </a:prstGeom>
          <a:noFill/>
          <a:ln/>
        </p:spPr>
        <p:txBody>
          <a:bodyPr wrap="square" lIns="0" tIns="0" rIns="0" bIns="0" rtlCol="0" anchor="ctr"/>
          <a:lstStyle/>
          <a:p>
            <a:pPr indent="0" marL="0">
              <a:buNone/>
            </a:pPr>
            <a:r>
              <a:rPr lang="en-US" sz="700" dirty="0">
                <a:solidFill>
                  <a:srgbClr val="FFFFFF"/>
                </a:solidFill>
              </a:rPr>
              <a:t>Household medicine cabinet</a:t>
            </a:r>
            <a:endParaRPr lang="en-US" sz="700" dirty="0"/>
          </a:p>
        </p:txBody>
      </p:sp>
      <p:sp>
        <p:nvSpPr>
          <p:cNvPr id="155" name="Text 152"/>
          <p:cNvSpPr txBox="1"/>
          <p:nvPr/>
        </p:nvSpPr>
        <p:spPr>
          <a:xfrm>
            <a:off x="548640" y="5056632"/>
            <a:ext cx="2240280" cy="630936"/>
          </a:xfrm>
          <a:prstGeom prst="rect">
            <a:avLst/>
          </a:prstGeom>
          <a:noFill/>
          <a:ln/>
        </p:spPr>
        <p:txBody>
          <a:bodyPr wrap="square" lIns="0" tIns="0" rIns="0" bIns="0" rtlCol="0" anchor="ctr"/>
          <a:lstStyle/>
          <a:p>
            <a:pPr indent="0" marL="0">
              <a:buNone/>
            </a:pPr>
            <a:r>
              <a:rPr lang="en-US" sz="900" b="1" dirty="0">
                <a:solidFill>
                  <a:srgbClr val="1D1D1D"/>
                </a:solidFill>
              </a:rPr>
              <a:t>Communicating with customers</a:t>
            </a:r>
            <a:endParaRPr lang="en-US" sz="900" dirty="0"/>
          </a:p>
        </p:txBody>
      </p:sp>
      <p:sp>
        <p:nvSpPr>
          <p:cNvPr id="156" name="Shape 153"/>
          <p:cNvSpPr/>
          <p:nvPr/>
        </p:nvSpPr>
        <p:spPr>
          <a:xfrm>
            <a:off x="2880360" y="5056632"/>
            <a:ext cx="932993" cy="292608"/>
          </a:xfrm>
          <a:prstGeom prst="rect">
            <a:avLst/>
          </a:prstGeom>
          <a:solidFill>
            <a:srgbClr val="B06A00"/>
          </a:solidFill>
          <a:ln w="6350">
            <a:solidFill>
              <a:srgbClr val="FFFFFF"/>
            </a:solidFill>
            <a:prstDash val="solid"/>
          </a:ln>
        </p:spPr>
      </p:sp>
      <p:sp>
        <p:nvSpPr>
          <p:cNvPr id="157" name="Text 154"/>
          <p:cNvSpPr txBox="1"/>
          <p:nvPr/>
        </p:nvSpPr>
        <p:spPr>
          <a:xfrm>
            <a:off x="2916936" y="5056632"/>
            <a:ext cx="859841" cy="292608"/>
          </a:xfrm>
          <a:prstGeom prst="rect">
            <a:avLst/>
          </a:prstGeom>
          <a:noFill/>
          <a:ln/>
        </p:spPr>
        <p:txBody>
          <a:bodyPr wrap="square" lIns="0" tIns="0" rIns="0" bIns="0" rtlCol="0" anchor="ctr"/>
          <a:lstStyle/>
          <a:p>
            <a:pPr indent="0" marL="0">
              <a:buNone/>
            </a:pPr>
            <a:r>
              <a:rPr lang="en-US" sz="700" dirty="0">
                <a:solidFill>
                  <a:srgbClr val="FFFFFF"/>
                </a:solidFill>
              </a:rPr>
              <a:t>Usage instruction library</a:t>
            </a:r>
            <a:endParaRPr lang="en-US" sz="700" dirty="0"/>
          </a:p>
        </p:txBody>
      </p:sp>
      <p:sp>
        <p:nvSpPr>
          <p:cNvPr id="158" name="Shape 155"/>
          <p:cNvSpPr/>
          <p:nvPr/>
        </p:nvSpPr>
        <p:spPr>
          <a:xfrm>
            <a:off x="3859073" y="5056632"/>
            <a:ext cx="932993" cy="292608"/>
          </a:xfrm>
          <a:prstGeom prst="rect">
            <a:avLst/>
          </a:prstGeom>
          <a:solidFill>
            <a:srgbClr val="B5D334"/>
          </a:solidFill>
          <a:ln w="6350">
            <a:solidFill>
              <a:srgbClr val="FFFFFF"/>
            </a:solidFill>
            <a:prstDash val="solid"/>
          </a:ln>
        </p:spPr>
      </p:sp>
      <p:sp>
        <p:nvSpPr>
          <p:cNvPr id="159" name="Text 156"/>
          <p:cNvSpPr txBox="1"/>
          <p:nvPr/>
        </p:nvSpPr>
        <p:spPr>
          <a:xfrm>
            <a:off x="3895649" y="5056632"/>
            <a:ext cx="859841" cy="292608"/>
          </a:xfrm>
          <a:prstGeom prst="rect">
            <a:avLst/>
          </a:prstGeom>
          <a:noFill/>
          <a:ln/>
        </p:spPr>
        <p:txBody>
          <a:bodyPr wrap="square" lIns="0" tIns="0" rIns="0" bIns="0" rtlCol="0" anchor="ctr"/>
          <a:lstStyle/>
          <a:p>
            <a:pPr indent="0" marL="0">
              <a:buNone/>
            </a:pPr>
            <a:r>
              <a:rPr lang="en-US" sz="700" dirty="0">
                <a:solidFill>
                  <a:srgbClr val="1D1D1D"/>
                </a:solidFill>
              </a:rPr>
              <a:t>Label design system</a:t>
            </a:r>
            <a:endParaRPr lang="en-US" sz="700" dirty="0"/>
          </a:p>
        </p:txBody>
      </p:sp>
      <p:sp>
        <p:nvSpPr>
          <p:cNvPr id="160" name="Shape 157"/>
          <p:cNvSpPr/>
          <p:nvPr/>
        </p:nvSpPr>
        <p:spPr>
          <a:xfrm>
            <a:off x="4837786" y="5056632"/>
            <a:ext cx="932993" cy="292608"/>
          </a:xfrm>
          <a:prstGeom prst="rect">
            <a:avLst/>
          </a:prstGeom>
          <a:solidFill>
            <a:srgbClr val="B06A00"/>
          </a:solidFill>
          <a:ln w="6350">
            <a:solidFill>
              <a:srgbClr val="FFFFFF"/>
            </a:solidFill>
            <a:prstDash val="solid"/>
          </a:ln>
        </p:spPr>
      </p:sp>
      <p:sp>
        <p:nvSpPr>
          <p:cNvPr id="161" name="Text 158"/>
          <p:cNvSpPr txBox="1"/>
          <p:nvPr/>
        </p:nvSpPr>
        <p:spPr>
          <a:xfrm>
            <a:off x="4874362" y="5056632"/>
            <a:ext cx="859841" cy="292608"/>
          </a:xfrm>
          <a:prstGeom prst="rect">
            <a:avLst/>
          </a:prstGeom>
          <a:noFill/>
          <a:ln/>
        </p:spPr>
        <p:txBody>
          <a:bodyPr wrap="square" lIns="0" tIns="0" rIns="0" bIns="0" rtlCol="0" anchor="ctr"/>
          <a:lstStyle/>
          <a:p>
            <a:pPr indent="0" marL="0">
              <a:buNone/>
            </a:pPr>
            <a:r>
              <a:rPr lang="en-US" sz="700" dirty="0">
                <a:solidFill>
                  <a:srgbClr val="FFFFFF"/>
                </a:solidFill>
              </a:rPr>
              <a:t>Instructions in SA languages</a:t>
            </a:r>
            <a:endParaRPr lang="en-US" sz="700" dirty="0"/>
          </a:p>
        </p:txBody>
      </p:sp>
      <p:sp>
        <p:nvSpPr>
          <p:cNvPr id="162" name="Shape 159"/>
          <p:cNvSpPr/>
          <p:nvPr/>
        </p:nvSpPr>
        <p:spPr>
          <a:xfrm>
            <a:off x="5816498" y="5056632"/>
            <a:ext cx="932993" cy="292608"/>
          </a:xfrm>
          <a:prstGeom prst="rect">
            <a:avLst/>
          </a:prstGeom>
          <a:solidFill>
            <a:srgbClr val="B5D334"/>
          </a:solidFill>
          <a:ln w="6350">
            <a:solidFill>
              <a:srgbClr val="FFFFFF"/>
            </a:solidFill>
            <a:prstDash val="solid"/>
          </a:ln>
        </p:spPr>
      </p:sp>
      <p:sp>
        <p:nvSpPr>
          <p:cNvPr id="163" name="Text 160"/>
          <p:cNvSpPr txBox="1"/>
          <p:nvPr/>
        </p:nvSpPr>
        <p:spPr>
          <a:xfrm>
            <a:off x="5853074" y="5056632"/>
            <a:ext cx="859841" cy="292608"/>
          </a:xfrm>
          <a:prstGeom prst="rect">
            <a:avLst/>
          </a:prstGeom>
          <a:noFill/>
          <a:ln/>
        </p:spPr>
        <p:txBody>
          <a:bodyPr wrap="square" lIns="0" tIns="0" rIns="0" bIns="0" rtlCol="0" anchor="ctr"/>
          <a:lstStyle/>
          <a:p>
            <a:pPr indent="0" marL="0">
              <a:buNone/>
            </a:pPr>
            <a:r>
              <a:rPr lang="en-US" sz="700" dirty="0">
                <a:solidFill>
                  <a:srgbClr val="1D1D1D"/>
                </a:solidFill>
              </a:rPr>
              <a:t>Service message library</a:t>
            </a:r>
            <a:endParaRPr lang="en-US" sz="700" dirty="0"/>
          </a:p>
        </p:txBody>
      </p:sp>
      <p:sp>
        <p:nvSpPr>
          <p:cNvPr id="164" name="Shape 161"/>
          <p:cNvSpPr/>
          <p:nvPr/>
        </p:nvSpPr>
        <p:spPr>
          <a:xfrm>
            <a:off x="6795211" y="5056632"/>
            <a:ext cx="932993" cy="292608"/>
          </a:xfrm>
          <a:prstGeom prst="rect">
            <a:avLst/>
          </a:prstGeom>
          <a:solidFill>
            <a:srgbClr val="B5D334"/>
          </a:solidFill>
          <a:ln w="6350">
            <a:solidFill>
              <a:srgbClr val="FFFFFF"/>
            </a:solidFill>
            <a:prstDash val="solid"/>
          </a:ln>
        </p:spPr>
      </p:sp>
      <p:sp>
        <p:nvSpPr>
          <p:cNvPr id="165" name="Text 162"/>
          <p:cNvSpPr txBox="1"/>
          <p:nvPr/>
        </p:nvSpPr>
        <p:spPr>
          <a:xfrm>
            <a:off x="6831787" y="5056632"/>
            <a:ext cx="859841" cy="292608"/>
          </a:xfrm>
          <a:prstGeom prst="rect">
            <a:avLst/>
          </a:prstGeom>
          <a:noFill/>
          <a:ln/>
        </p:spPr>
        <p:txBody>
          <a:bodyPr wrap="square" lIns="0" tIns="0" rIns="0" bIns="0" rtlCol="0" anchor="ctr"/>
          <a:lstStyle/>
          <a:p>
            <a:pPr indent="0" marL="0">
              <a:buNone/>
            </a:pPr>
            <a:r>
              <a:rPr lang="en-US" sz="700" dirty="0">
                <a:solidFill>
                  <a:srgbClr val="1D1D1D"/>
                </a:solidFill>
              </a:rPr>
              <a:t>Per-person label printing</a:t>
            </a:r>
            <a:endParaRPr lang="en-US" sz="700" dirty="0"/>
          </a:p>
        </p:txBody>
      </p:sp>
      <p:sp>
        <p:nvSpPr>
          <p:cNvPr id="166" name="Shape 163"/>
          <p:cNvSpPr/>
          <p:nvPr/>
        </p:nvSpPr>
        <p:spPr>
          <a:xfrm>
            <a:off x="7773924" y="5056632"/>
            <a:ext cx="932993" cy="292608"/>
          </a:xfrm>
          <a:prstGeom prst="rect">
            <a:avLst/>
          </a:prstGeom>
          <a:solidFill>
            <a:srgbClr val="B5D334"/>
          </a:solidFill>
          <a:ln w="6350">
            <a:solidFill>
              <a:srgbClr val="FFFFFF"/>
            </a:solidFill>
            <a:prstDash val="solid"/>
          </a:ln>
        </p:spPr>
      </p:sp>
      <p:sp>
        <p:nvSpPr>
          <p:cNvPr id="167" name="Text 164"/>
          <p:cNvSpPr txBox="1"/>
          <p:nvPr/>
        </p:nvSpPr>
        <p:spPr>
          <a:xfrm>
            <a:off x="7810500" y="5056632"/>
            <a:ext cx="859841" cy="292608"/>
          </a:xfrm>
          <a:prstGeom prst="rect">
            <a:avLst/>
          </a:prstGeom>
          <a:noFill/>
          <a:ln/>
        </p:spPr>
        <p:txBody>
          <a:bodyPr wrap="square" lIns="0" tIns="0" rIns="0" bIns="0" rtlCol="0" anchor="ctr"/>
          <a:lstStyle/>
          <a:p>
            <a:pPr indent="0" marL="0">
              <a:buNone/>
            </a:pPr>
            <a:r>
              <a:rPr lang="en-US" sz="700" dirty="0">
                <a:solidFill>
                  <a:srgbClr val="1D1D1D"/>
                </a:solidFill>
              </a:rPr>
              <a:t>Labelling rules check</a:t>
            </a:r>
            <a:endParaRPr lang="en-US" sz="700" dirty="0"/>
          </a:p>
        </p:txBody>
      </p:sp>
      <p:sp>
        <p:nvSpPr>
          <p:cNvPr id="168" name="Shape 165"/>
          <p:cNvSpPr/>
          <p:nvPr/>
        </p:nvSpPr>
        <p:spPr>
          <a:xfrm>
            <a:off x="8752637" y="5056632"/>
            <a:ext cx="932993" cy="292608"/>
          </a:xfrm>
          <a:prstGeom prst="rect">
            <a:avLst/>
          </a:prstGeom>
          <a:solidFill>
            <a:srgbClr val="B06A00"/>
          </a:solidFill>
          <a:ln w="6350">
            <a:solidFill>
              <a:srgbClr val="FFFFFF"/>
            </a:solidFill>
            <a:prstDash val="solid"/>
          </a:ln>
        </p:spPr>
      </p:sp>
      <p:sp>
        <p:nvSpPr>
          <p:cNvPr id="169" name="Text 166"/>
          <p:cNvSpPr txBox="1"/>
          <p:nvPr/>
        </p:nvSpPr>
        <p:spPr>
          <a:xfrm>
            <a:off x="8789213" y="5056632"/>
            <a:ext cx="859841" cy="292608"/>
          </a:xfrm>
          <a:prstGeom prst="rect">
            <a:avLst/>
          </a:prstGeom>
          <a:noFill/>
          <a:ln/>
        </p:spPr>
        <p:txBody>
          <a:bodyPr wrap="square" lIns="0" tIns="0" rIns="0" bIns="0" rtlCol="0" anchor="ctr"/>
          <a:lstStyle/>
          <a:p>
            <a:pPr indent="0" marL="0">
              <a:buNone/>
            </a:pPr>
            <a:r>
              <a:rPr lang="en-US" sz="700" dirty="0">
                <a:solidFill>
                  <a:srgbClr val="FFFFFF"/>
                </a:solidFill>
              </a:rPr>
              <a:t>WhatsApp service platform</a:t>
            </a:r>
            <a:endParaRPr lang="en-US" sz="700" dirty="0"/>
          </a:p>
        </p:txBody>
      </p:sp>
      <p:sp>
        <p:nvSpPr>
          <p:cNvPr id="170" name="Shape 167"/>
          <p:cNvSpPr/>
          <p:nvPr/>
        </p:nvSpPr>
        <p:spPr>
          <a:xfrm>
            <a:off x="9731350" y="5056632"/>
            <a:ext cx="932993" cy="292608"/>
          </a:xfrm>
          <a:prstGeom prst="rect">
            <a:avLst/>
          </a:prstGeom>
          <a:solidFill>
            <a:srgbClr val="B5D334"/>
          </a:solidFill>
          <a:ln w="6350">
            <a:solidFill>
              <a:srgbClr val="FFFFFF"/>
            </a:solidFill>
            <a:prstDash val="solid"/>
          </a:ln>
        </p:spPr>
      </p:sp>
      <p:sp>
        <p:nvSpPr>
          <p:cNvPr id="171" name="Text 168"/>
          <p:cNvSpPr txBox="1"/>
          <p:nvPr/>
        </p:nvSpPr>
        <p:spPr>
          <a:xfrm>
            <a:off x="9767926" y="5056632"/>
            <a:ext cx="859841" cy="292608"/>
          </a:xfrm>
          <a:prstGeom prst="rect">
            <a:avLst/>
          </a:prstGeom>
          <a:noFill/>
          <a:ln/>
        </p:spPr>
        <p:txBody>
          <a:bodyPr wrap="square" lIns="0" tIns="0" rIns="0" bIns="0" rtlCol="0" anchor="ctr"/>
          <a:lstStyle/>
          <a:p>
            <a:pPr indent="0" marL="0">
              <a:buNone/>
            </a:pPr>
            <a:r>
              <a:rPr lang="en-US" sz="700" dirty="0">
                <a:solidFill>
                  <a:srgbClr val="1D1D1D"/>
                </a:solidFill>
              </a:rPr>
              <a:t>Chat ordering on WhatsApp</a:t>
            </a:r>
            <a:endParaRPr lang="en-US" sz="700" dirty="0"/>
          </a:p>
        </p:txBody>
      </p:sp>
      <p:sp>
        <p:nvSpPr>
          <p:cNvPr id="172" name="Shape 169"/>
          <p:cNvSpPr/>
          <p:nvPr/>
        </p:nvSpPr>
        <p:spPr>
          <a:xfrm>
            <a:off x="10710062" y="5056632"/>
            <a:ext cx="932993" cy="292608"/>
          </a:xfrm>
          <a:prstGeom prst="rect">
            <a:avLst/>
          </a:prstGeom>
          <a:solidFill>
            <a:srgbClr val="7FC79A"/>
          </a:solidFill>
          <a:ln w="6350">
            <a:solidFill>
              <a:srgbClr val="FFFFFF"/>
            </a:solidFill>
            <a:prstDash val="solid"/>
          </a:ln>
        </p:spPr>
      </p:sp>
      <p:sp>
        <p:nvSpPr>
          <p:cNvPr id="173" name="Text 170"/>
          <p:cNvSpPr txBox="1"/>
          <p:nvPr/>
        </p:nvSpPr>
        <p:spPr>
          <a:xfrm>
            <a:off x="10746638" y="5056632"/>
            <a:ext cx="859841" cy="292608"/>
          </a:xfrm>
          <a:prstGeom prst="rect">
            <a:avLst/>
          </a:prstGeom>
          <a:noFill/>
          <a:ln/>
        </p:spPr>
        <p:txBody>
          <a:bodyPr wrap="square" lIns="0" tIns="0" rIns="0" bIns="0" rtlCol="0" anchor="ctr"/>
          <a:lstStyle/>
          <a:p>
            <a:pPr indent="0" marL="0">
              <a:buNone/>
            </a:pPr>
            <a:r>
              <a:rPr lang="en-US" sz="700" dirty="0">
                <a:solidFill>
                  <a:srgbClr val="1D1D1D"/>
                </a:solidFill>
              </a:rPr>
              <a:t>Status at every stage</a:t>
            </a:r>
            <a:endParaRPr lang="en-US" sz="700" dirty="0"/>
          </a:p>
        </p:txBody>
      </p:sp>
      <p:sp>
        <p:nvSpPr>
          <p:cNvPr id="174" name="Shape 171"/>
          <p:cNvSpPr/>
          <p:nvPr/>
        </p:nvSpPr>
        <p:spPr>
          <a:xfrm>
            <a:off x="2880360" y="5394960"/>
            <a:ext cx="932993" cy="292608"/>
          </a:xfrm>
          <a:prstGeom prst="rect">
            <a:avLst/>
          </a:prstGeom>
          <a:solidFill>
            <a:srgbClr val="B06A00"/>
          </a:solidFill>
          <a:ln w="6350">
            <a:solidFill>
              <a:srgbClr val="FFFFFF"/>
            </a:solidFill>
            <a:prstDash val="solid"/>
          </a:ln>
        </p:spPr>
      </p:sp>
      <p:sp>
        <p:nvSpPr>
          <p:cNvPr id="175" name="Text 172"/>
          <p:cNvSpPr txBox="1"/>
          <p:nvPr/>
        </p:nvSpPr>
        <p:spPr>
          <a:xfrm>
            <a:off x="2916936" y="5394960"/>
            <a:ext cx="859841" cy="292608"/>
          </a:xfrm>
          <a:prstGeom prst="rect">
            <a:avLst/>
          </a:prstGeom>
          <a:noFill/>
          <a:ln/>
        </p:spPr>
        <p:txBody>
          <a:bodyPr wrap="square" lIns="0" tIns="0" rIns="0" bIns="0" rtlCol="0" anchor="ctr"/>
          <a:lstStyle/>
          <a:p>
            <a:pPr indent="0" marL="0">
              <a:buNone/>
            </a:pPr>
            <a:r>
              <a:rPr lang="en-US" sz="700" dirty="0">
                <a:solidFill>
                  <a:srgbClr val="FFFFFF"/>
                </a:solidFill>
              </a:rPr>
              <a:t>Call me back</a:t>
            </a:r>
            <a:endParaRPr lang="en-US" sz="700" dirty="0"/>
          </a:p>
        </p:txBody>
      </p:sp>
      <p:sp>
        <p:nvSpPr>
          <p:cNvPr id="176" name="Shape 173"/>
          <p:cNvSpPr/>
          <p:nvPr/>
        </p:nvSpPr>
        <p:spPr>
          <a:xfrm>
            <a:off x="3859073" y="5394960"/>
            <a:ext cx="932993" cy="292608"/>
          </a:xfrm>
          <a:prstGeom prst="rect">
            <a:avLst/>
          </a:prstGeom>
          <a:solidFill>
            <a:srgbClr val="B06A00"/>
          </a:solidFill>
          <a:ln w="6350">
            <a:solidFill>
              <a:srgbClr val="FFFFFF"/>
            </a:solidFill>
            <a:prstDash val="solid"/>
          </a:ln>
        </p:spPr>
      </p:sp>
      <p:sp>
        <p:nvSpPr>
          <p:cNvPr id="177" name="Text 174"/>
          <p:cNvSpPr txBox="1"/>
          <p:nvPr/>
        </p:nvSpPr>
        <p:spPr>
          <a:xfrm>
            <a:off x="3895649" y="5394960"/>
            <a:ext cx="859841" cy="292608"/>
          </a:xfrm>
          <a:prstGeom prst="rect">
            <a:avLst/>
          </a:prstGeom>
          <a:noFill/>
          <a:ln/>
        </p:spPr>
        <p:txBody>
          <a:bodyPr wrap="square" lIns="0" tIns="0" rIns="0" bIns="0" rtlCol="0" anchor="ctr"/>
          <a:lstStyle/>
          <a:p>
            <a:pPr indent="0" marL="0">
              <a:buNone/>
            </a:pPr>
            <a:r>
              <a:rPr lang="en-US" sz="700" dirty="0">
                <a:solidFill>
                  <a:srgbClr val="FFFFFF"/>
                </a:solidFill>
              </a:rPr>
              <a:t>Conversation console</a:t>
            </a:r>
            <a:endParaRPr lang="en-US" sz="700" dirty="0"/>
          </a:p>
        </p:txBody>
      </p:sp>
      <p:sp>
        <p:nvSpPr>
          <p:cNvPr id="178" name="Shape 175"/>
          <p:cNvSpPr/>
          <p:nvPr/>
        </p:nvSpPr>
        <p:spPr>
          <a:xfrm>
            <a:off x="4837786" y="5394960"/>
            <a:ext cx="932993" cy="292608"/>
          </a:xfrm>
          <a:prstGeom prst="rect">
            <a:avLst/>
          </a:prstGeom>
          <a:solidFill>
            <a:srgbClr val="B5D334"/>
          </a:solidFill>
          <a:ln w="6350">
            <a:solidFill>
              <a:srgbClr val="FFFFFF"/>
            </a:solidFill>
            <a:prstDash val="solid"/>
          </a:ln>
        </p:spPr>
      </p:sp>
      <p:sp>
        <p:nvSpPr>
          <p:cNvPr id="179" name="Text 176"/>
          <p:cNvSpPr txBox="1"/>
          <p:nvPr/>
        </p:nvSpPr>
        <p:spPr>
          <a:xfrm>
            <a:off x="4874362" y="5394960"/>
            <a:ext cx="859841" cy="292608"/>
          </a:xfrm>
          <a:prstGeom prst="rect">
            <a:avLst/>
          </a:prstGeom>
          <a:noFill/>
          <a:ln/>
        </p:spPr>
        <p:txBody>
          <a:bodyPr wrap="square" lIns="0" tIns="0" rIns="0" bIns="0" rtlCol="0" anchor="ctr"/>
          <a:lstStyle/>
          <a:p>
            <a:pPr indent="0" marL="0">
              <a:buNone/>
            </a:pPr>
            <a:r>
              <a:rPr lang="en-US" sz="700" dirty="0">
                <a:solidFill>
                  <a:srgbClr val="1D1D1D"/>
                </a:solidFill>
              </a:rPr>
              <a:t>Multilingual call-back team</a:t>
            </a:r>
            <a:endParaRPr lang="en-US" sz="700" dirty="0"/>
          </a:p>
        </p:txBody>
      </p:sp>
      <p:sp>
        <p:nvSpPr>
          <p:cNvPr id="180" name="Shape 177"/>
          <p:cNvSpPr/>
          <p:nvPr/>
        </p:nvSpPr>
        <p:spPr>
          <a:xfrm>
            <a:off x="5816498" y="5394960"/>
            <a:ext cx="932993" cy="292608"/>
          </a:xfrm>
          <a:prstGeom prst="rect">
            <a:avLst/>
          </a:prstGeom>
          <a:solidFill>
            <a:srgbClr val="7FC79A"/>
          </a:solidFill>
          <a:ln w="6350">
            <a:solidFill>
              <a:srgbClr val="FFFFFF"/>
            </a:solidFill>
            <a:prstDash val="solid"/>
          </a:ln>
        </p:spPr>
      </p:sp>
      <p:sp>
        <p:nvSpPr>
          <p:cNvPr id="181" name="Text 178"/>
          <p:cNvSpPr txBox="1"/>
          <p:nvPr/>
        </p:nvSpPr>
        <p:spPr>
          <a:xfrm>
            <a:off x="5853074" y="5394960"/>
            <a:ext cx="859841" cy="292608"/>
          </a:xfrm>
          <a:prstGeom prst="rect">
            <a:avLst/>
          </a:prstGeom>
          <a:noFill/>
          <a:ln/>
        </p:spPr>
        <p:txBody>
          <a:bodyPr wrap="square" lIns="0" tIns="0" rIns="0" bIns="0" rtlCol="0" anchor="ctr"/>
          <a:lstStyle/>
          <a:p>
            <a:pPr indent="0" marL="0">
              <a:buNone/>
            </a:pPr>
            <a:r>
              <a:rPr lang="en-US" sz="700" dirty="0">
                <a:solidFill>
                  <a:srgbClr val="1D1D1D"/>
                </a:solidFill>
              </a:rPr>
              <a:t>One owner per problem</a:t>
            </a:r>
            <a:endParaRPr lang="en-US" sz="700" dirty="0"/>
          </a:p>
        </p:txBody>
      </p:sp>
      <p:sp>
        <p:nvSpPr>
          <p:cNvPr id="182" name="Shape 179"/>
          <p:cNvSpPr/>
          <p:nvPr/>
        </p:nvSpPr>
        <p:spPr>
          <a:xfrm>
            <a:off x="548640" y="5861304"/>
            <a:ext cx="914400" cy="237744"/>
          </a:xfrm>
          <a:prstGeom prst="roundRect">
            <a:avLst>
              <a:gd name="adj" fmla="val 50000"/>
            </a:avLst>
          </a:prstGeom>
          <a:solidFill>
            <a:srgbClr val="126E35"/>
          </a:solidFill>
          <a:ln w="12700">
            <a:solidFill>
              <a:srgbClr val="126E35"/>
            </a:solidFill>
            <a:prstDash val="solid"/>
          </a:ln>
        </p:spPr>
      </p:sp>
      <p:sp>
        <p:nvSpPr>
          <p:cNvPr id="183" name="Text 180"/>
          <p:cNvSpPr txBox="1"/>
          <p:nvPr/>
        </p:nvSpPr>
        <p:spPr>
          <a:xfrm>
            <a:off x="548640" y="586130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In flight</a:t>
            </a:r>
            <a:endParaRPr lang="en-US" sz="900" dirty="0"/>
          </a:p>
        </p:txBody>
      </p:sp>
      <p:sp>
        <p:nvSpPr>
          <p:cNvPr id="184" name="Text 181"/>
          <p:cNvSpPr txBox="1"/>
          <p:nvPr/>
        </p:nvSpPr>
        <p:spPr>
          <a:xfrm>
            <a:off x="1536192" y="5824728"/>
            <a:ext cx="1737360" cy="310896"/>
          </a:xfrm>
          <a:prstGeom prst="rect">
            <a:avLst/>
          </a:prstGeom>
          <a:noFill/>
          <a:ln/>
        </p:spPr>
        <p:txBody>
          <a:bodyPr wrap="square" lIns="0" tIns="0" rIns="0" bIns="0" rtlCol="0" anchor="ctr"/>
          <a:lstStyle/>
          <a:p>
            <a:pPr indent="0" marL="0">
              <a:buNone/>
            </a:pPr>
            <a:r>
              <a:rPr lang="en-US" sz="900" dirty="0">
                <a:solidFill>
                  <a:srgbClr val="52525B"/>
                </a:solidFill>
              </a:rPr>
              <a:t>Being delivered now, with a date</a:t>
            </a:r>
            <a:endParaRPr lang="en-US" sz="900" dirty="0"/>
          </a:p>
        </p:txBody>
      </p:sp>
      <p:sp>
        <p:nvSpPr>
          <p:cNvPr id="185" name="Shape 182"/>
          <p:cNvSpPr/>
          <p:nvPr/>
        </p:nvSpPr>
        <p:spPr>
          <a:xfrm>
            <a:off x="3337560" y="5861304"/>
            <a:ext cx="914400" cy="237744"/>
          </a:xfrm>
          <a:prstGeom prst="roundRect">
            <a:avLst>
              <a:gd name="adj" fmla="val 50000"/>
            </a:avLst>
          </a:prstGeom>
          <a:solidFill>
            <a:srgbClr val="7FC79A"/>
          </a:solidFill>
          <a:ln w="12700">
            <a:solidFill>
              <a:srgbClr val="7FC79A"/>
            </a:solidFill>
            <a:prstDash val="solid"/>
          </a:ln>
        </p:spPr>
      </p:sp>
      <p:sp>
        <p:nvSpPr>
          <p:cNvPr id="186" name="Text 183"/>
          <p:cNvSpPr txBox="1"/>
          <p:nvPr/>
        </p:nvSpPr>
        <p:spPr>
          <a:xfrm>
            <a:off x="3337560" y="586130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187" name="Text 184"/>
          <p:cNvSpPr txBox="1"/>
          <p:nvPr/>
        </p:nvSpPr>
        <p:spPr>
          <a:xfrm>
            <a:off x="4325112" y="5824728"/>
            <a:ext cx="1737360" cy="310896"/>
          </a:xfrm>
          <a:prstGeom prst="rect">
            <a:avLst/>
          </a:prstGeom>
          <a:noFill/>
          <a:ln/>
        </p:spPr>
        <p:txBody>
          <a:bodyPr wrap="square" lIns="0" tIns="0" rIns="0" bIns="0" rtlCol="0" anchor="ctr"/>
          <a:lstStyle/>
          <a:p>
            <a:pPr indent="0" marL="0">
              <a:buNone/>
            </a:pPr>
            <a:r>
              <a:rPr lang="en-US" sz="900" dirty="0">
                <a:solidFill>
                  <a:srgbClr val="52525B"/>
                </a:solidFill>
              </a:rPr>
              <a:t>In an existing plan or target state</a:t>
            </a:r>
            <a:endParaRPr lang="en-US" sz="900" dirty="0"/>
          </a:p>
        </p:txBody>
      </p:sp>
      <p:sp>
        <p:nvSpPr>
          <p:cNvPr id="188" name="Shape 185"/>
          <p:cNvSpPr/>
          <p:nvPr/>
        </p:nvSpPr>
        <p:spPr>
          <a:xfrm>
            <a:off x="6126480" y="5861304"/>
            <a:ext cx="914400" cy="237744"/>
          </a:xfrm>
          <a:prstGeom prst="roundRect">
            <a:avLst>
              <a:gd name="adj" fmla="val 50000"/>
            </a:avLst>
          </a:prstGeom>
          <a:solidFill>
            <a:srgbClr val="B06A00"/>
          </a:solidFill>
          <a:ln w="12700">
            <a:solidFill>
              <a:srgbClr val="B06A00"/>
            </a:solidFill>
            <a:prstDash val="solid"/>
          </a:ln>
        </p:spPr>
      </p:sp>
      <p:sp>
        <p:nvSpPr>
          <p:cNvPr id="189" name="Text 186"/>
          <p:cNvSpPr txBox="1"/>
          <p:nvPr/>
        </p:nvSpPr>
        <p:spPr>
          <a:xfrm>
            <a:off x="6126480" y="586130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190" name="Text 187"/>
          <p:cNvSpPr txBox="1"/>
          <p:nvPr/>
        </p:nvSpPr>
        <p:spPr>
          <a:xfrm>
            <a:off x="7114032" y="5824728"/>
            <a:ext cx="1737360" cy="310896"/>
          </a:xfrm>
          <a:prstGeom prst="rect">
            <a:avLst/>
          </a:prstGeom>
          <a:noFill/>
          <a:ln/>
        </p:spPr>
        <p:txBody>
          <a:bodyPr wrap="square" lIns="0" tIns="0" rIns="0" bIns="0" rtlCol="0" anchor="ctr"/>
          <a:lstStyle/>
          <a:p>
            <a:pPr indent="0" marL="0">
              <a:buNone/>
            </a:pPr>
            <a:r>
              <a:rPr lang="en-US" sz="900" dirty="0">
                <a:solidFill>
                  <a:srgbClr val="52525B"/>
                </a:solidFill>
              </a:rPr>
              <a:t>Named in a catalogue, nobody solving it yet</a:t>
            </a:r>
            <a:endParaRPr lang="en-US" sz="900" dirty="0"/>
          </a:p>
        </p:txBody>
      </p:sp>
      <p:sp>
        <p:nvSpPr>
          <p:cNvPr id="191" name="Shape 188"/>
          <p:cNvSpPr/>
          <p:nvPr/>
        </p:nvSpPr>
        <p:spPr>
          <a:xfrm>
            <a:off x="8915400" y="5861304"/>
            <a:ext cx="914400" cy="237744"/>
          </a:xfrm>
          <a:prstGeom prst="roundRect">
            <a:avLst>
              <a:gd name="adj" fmla="val 50000"/>
            </a:avLst>
          </a:prstGeom>
          <a:solidFill>
            <a:srgbClr val="B5D334"/>
          </a:solidFill>
          <a:ln w="12700">
            <a:solidFill>
              <a:srgbClr val="B5D334"/>
            </a:solidFill>
            <a:prstDash val="solid"/>
          </a:ln>
        </p:spPr>
      </p:sp>
      <p:sp>
        <p:nvSpPr>
          <p:cNvPr id="192" name="Text 189"/>
          <p:cNvSpPr txBox="1"/>
          <p:nvPr/>
        </p:nvSpPr>
        <p:spPr>
          <a:xfrm>
            <a:off x="8915400" y="586130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93" name="Text 190"/>
          <p:cNvSpPr txBox="1"/>
          <p:nvPr/>
        </p:nvSpPr>
        <p:spPr>
          <a:xfrm>
            <a:off x="9902952" y="5824728"/>
            <a:ext cx="1737360" cy="310896"/>
          </a:xfrm>
          <a:prstGeom prst="rect">
            <a:avLst/>
          </a:prstGeom>
          <a:noFill/>
          <a:ln/>
        </p:spPr>
        <p:txBody>
          <a:bodyPr wrap="square" lIns="0" tIns="0" rIns="0" bIns="0" rtlCol="0" anchor="ctr"/>
          <a:lstStyle/>
          <a:p>
            <a:pPr indent="0" marL="0">
              <a:buNone/>
            </a:pPr>
            <a:r>
              <a:rPr lang="en-US" sz="900" dirty="0">
                <a:solidFill>
                  <a:srgbClr val="52525B"/>
                </a:solidFill>
              </a:rPr>
              <a:t>Surfaced only by our journeys</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We are building on Dis-Chem's existing plans</a:t>
            </a:r>
            <a:endParaRPr lang="en-US" sz="2800" dirty="0"/>
          </a:p>
        </p:txBody>
      </p:sp>
      <p:sp>
        <p:nvSpPr>
          <p:cNvPr id="3" name="Text 1"/>
          <p:cNvSpPr txBox="1"/>
          <p:nvPr/>
        </p:nvSpPr>
        <p:spPr>
          <a:xfrm>
            <a:off x="548640" y="960120"/>
            <a:ext cx="11094415" cy="457200"/>
          </a:xfrm>
          <a:prstGeom prst="rect">
            <a:avLst/>
          </a:prstGeom>
          <a:noFill/>
          <a:ln/>
        </p:spPr>
        <p:txBody>
          <a:bodyPr wrap="square" lIns="0" tIns="0" rIns="0" bIns="0" rtlCol="0" anchor="t"/>
          <a:lstStyle/>
          <a:p>
            <a:pPr indent="0" marL="0">
              <a:buNone/>
            </a:pPr>
            <a:r>
              <a:rPr lang="en-US" sz="1400" dirty="0">
                <a:solidFill>
                  <a:srgbClr val="52525B"/>
                </a:solidFill>
              </a:rPr>
              <a:t>How many items each existing catalogue already names, and how many appear in none of them.</a:t>
            </a:r>
            <a:endParaRPr lang="en-US" sz="1400" dirty="0"/>
          </a:p>
        </p:txBody>
      </p:sp>
      <p:graphicFrame>
        <p:nvGraphicFramePr>
          <p:cNvPr id="5" name="Chart 0" descr=""/>
          <p:cNvGraphicFramePr/>
          <p:nvPr/>
        </p:nvGraphicFramePr>
        <p:xfrm>
          <a:off x="548640" y="155448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949440" y="1554480"/>
            <a:ext cx="4693615" cy="4206240"/>
          </a:xfrm>
          <a:prstGeom prst="rect">
            <a:avLst/>
          </a:prstGeom>
          <a:solidFill>
            <a:srgbClr val="F4F8F5"/>
          </a:solidFill>
          <a:ln w="9525">
            <a:solidFill>
              <a:srgbClr val="D7DDD9"/>
            </a:solidFill>
            <a:prstDash val="solid"/>
          </a:ln>
        </p:spPr>
      </p:sp>
      <p:sp>
        <p:nvSpPr>
          <p:cNvPr id="7" name="Text 3"/>
          <p:cNvSpPr txBox="1"/>
          <p:nvPr/>
        </p:nvSpPr>
        <p:spPr>
          <a:xfrm>
            <a:off x="7178040" y="1691640"/>
            <a:ext cx="4236415" cy="320040"/>
          </a:xfrm>
          <a:prstGeom prst="rect">
            <a:avLst/>
          </a:prstGeom>
          <a:noFill/>
          <a:ln/>
        </p:spPr>
        <p:txBody>
          <a:bodyPr wrap="square" lIns="0" tIns="0" rIns="0" bIns="0" rtlCol="0" anchor="ctr"/>
          <a:lstStyle/>
          <a:p>
            <a:pPr indent="0" marL="0">
              <a:buNone/>
            </a:pPr>
            <a:r>
              <a:rPr lang="en-US" sz="1400" b="1" dirty="0">
                <a:solidFill>
                  <a:srgbClr val="1D1D1D"/>
                </a:solidFill>
              </a:rPr>
              <a:t>Examples only our journeys surfaced</a:t>
            </a:r>
            <a:endParaRPr lang="en-US" sz="1400" dirty="0"/>
          </a:p>
        </p:txBody>
      </p:sp>
      <p:sp>
        <p:nvSpPr>
          <p:cNvPr id="8" name="Text 4"/>
          <p:cNvSpPr txBox="1"/>
          <p:nvPr/>
        </p:nvSpPr>
        <p:spPr>
          <a:xfrm>
            <a:off x="7178040" y="2103120"/>
            <a:ext cx="4236415" cy="3520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D1D1D"/>
                </a:solidFill>
              </a:rPr>
              <a:t>Repeats for chronic Schedule 6  (Regulatory reform)</a:t>
            </a:r>
            <a:endParaRPr lang="en-US" sz="1300" dirty="0"/>
          </a:p>
          <a:p>
            <a:pPr marL="342900" indent="-342900">
              <a:spcAft>
                <a:spcPts val="600"/>
              </a:spcAft>
              <a:buSzPct val="100000"/>
              <a:buChar char="•"/>
            </a:pPr>
            <a:r>
              <a:rPr lang="en-US" sz="1300" dirty="0">
                <a:solidFill>
                  <a:srgbClr val="1D1D1D"/>
                </a:solidFill>
              </a:rPr>
              <a:t>Script Sync engine  (Platforms &amp; data)</a:t>
            </a:r>
            <a:endParaRPr lang="en-US" sz="1300" dirty="0"/>
          </a:p>
          <a:p>
            <a:pPr marL="342900" indent="-342900">
              <a:spcAft>
                <a:spcPts val="600"/>
              </a:spcAft>
              <a:buSzPct val="100000"/>
              <a:buChar char="•"/>
            </a:pPr>
            <a:r>
              <a:rPr lang="en-US" sz="1300" dirty="0">
                <a:solidFill>
                  <a:srgbClr val="1D1D1D"/>
                </a:solidFill>
              </a:rPr>
              <a:t>Stock held for predicted repeats  (Platforms &amp; data)</a:t>
            </a:r>
            <a:endParaRPr lang="en-US" sz="1300" dirty="0"/>
          </a:p>
          <a:p>
            <a:pPr marL="342900" indent="-342900">
              <a:spcAft>
                <a:spcPts val="600"/>
              </a:spcAft>
              <a:buSzPct val="100000"/>
              <a:buChar char="•"/>
            </a:pPr>
            <a:r>
              <a:rPr lang="en-US" sz="1300" dirty="0">
                <a:solidFill>
                  <a:srgbClr val="1D1D1D"/>
                </a:solidFill>
              </a:rPr>
              <a:t>Checked-and-packed status  (Customer-facing features)</a:t>
            </a:r>
            <a:endParaRPr lang="en-US" sz="1300" dirty="0"/>
          </a:p>
          <a:p>
            <a:pPr marL="342900" indent="-342900">
              <a:spcAft>
                <a:spcPts val="600"/>
              </a:spcAft>
              <a:buSzPct val="100000"/>
              <a:buChar char="•"/>
            </a:pPr>
            <a:r>
              <a:rPr lang="en-US" sz="1300" dirty="0">
                <a:solidFill>
                  <a:srgbClr val="1D1D1D"/>
                </a:solidFill>
              </a:rPr>
              <a:t>Scheduled medicine from lockers  (Regulatory reform)</a:t>
            </a:r>
            <a:endParaRPr lang="en-US" sz="1300" dirty="0"/>
          </a:p>
          <a:p>
            <a:pPr marL="342900" indent="-342900">
              <a:spcAft>
                <a:spcPts val="600"/>
              </a:spcAft>
              <a:buSzPct val="100000"/>
              <a:buChar char="•"/>
            </a:pPr>
            <a:r>
              <a:rPr lang="en-US" sz="1300" dirty="0">
                <a:solidFill>
                  <a:srgbClr val="1D1D1D"/>
                </a:solidFill>
              </a:rPr>
              <a:t>Label design system  (Content &amp; standards)</a:t>
            </a:r>
            <a:endParaRPr lang="en-US" sz="1300" dirty="0"/>
          </a:p>
          <a:p>
            <a:pPr marL="342900" indent="-342900">
              <a:spcAft>
                <a:spcPts val="600"/>
              </a:spcAft>
              <a:buSzPct val="100000"/>
              <a:buChar char="•"/>
            </a:pPr>
            <a:r>
              <a:rPr lang="en-US" sz="1300" dirty="0">
                <a:solidFill>
                  <a:srgbClr val="1D1D1D"/>
                </a:solidFill>
              </a:rPr>
              <a:t>Validate Auto-Refill  (Research &amp; validation)</a:t>
            </a:r>
            <a:endParaRPr lang="en-US" sz="1300" dirty="0"/>
          </a:p>
          <a:p>
            <a:pPr marL="342900" indent="-342900">
              <a:spcAft>
                <a:spcPts val="600"/>
              </a:spcAft>
              <a:buSzPct val="100000"/>
              <a:buChar char="•"/>
            </a:pPr>
            <a:r>
              <a:rPr lang="en-US" sz="1300" dirty="0">
                <a:solidFill>
                  <a:srgbClr val="1D1D1D"/>
                </a:solidFill>
              </a:rPr>
              <a:t>Repeat service commercial model  (Decisions to take)</a:t>
            </a:r>
            <a:endParaRPr lang="en-US" sz="13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A handful of foundations carry the rest</a:t>
            </a:r>
            <a:endParaRPr lang="en-US" sz="2800" dirty="0"/>
          </a:p>
        </p:txBody>
      </p:sp>
      <p:sp>
        <p:nvSpPr>
          <p:cNvPr id="3" name="Text 1"/>
          <p:cNvSpPr txBox="1"/>
          <p:nvPr/>
        </p:nvSpPr>
        <p:spPr>
          <a:xfrm>
            <a:off x="548640" y="960120"/>
            <a:ext cx="11094415" cy="457200"/>
          </a:xfrm>
          <a:prstGeom prst="rect">
            <a:avLst/>
          </a:prstGeom>
          <a:noFill/>
          <a:ln/>
        </p:spPr>
        <p:txBody>
          <a:bodyPr wrap="square" lIns="0" tIns="0" rIns="0" bIns="0" rtlCol="0" anchor="t"/>
          <a:lstStyle/>
          <a:p>
            <a:pPr indent="0" marL="0">
              <a:buNone/>
            </a:pPr>
            <a:r>
              <a:rPr lang="en-US" sz="1400" dirty="0">
                <a:solidFill>
                  <a:srgbClr val="52525B"/>
                </a:solidFill>
              </a:rPr>
              <a:t>How many other items in this journey depend on each one. Get these wrong and the work above them stalls.</a:t>
            </a:r>
            <a:endParaRPr lang="en-US" sz="1400" dirty="0"/>
          </a:p>
        </p:txBody>
      </p:sp>
      <p:graphicFrame>
        <p:nvGraphicFramePr>
          <p:cNvPr id="5" name="Chart 0" descr=""/>
          <p:cNvGraphicFramePr/>
          <p:nvPr/>
        </p:nvGraphicFramePr>
        <p:xfrm>
          <a:off x="548640" y="155448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412480" y="1554480"/>
            <a:ext cx="3230575" cy="4480560"/>
          </a:xfrm>
          <a:prstGeom prst="rect">
            <a:avLst/>
          </a:prstGeom>
          <a:solidFill>
            <a:srgbClr val="F4F8F5"/>
          </a:solidFill>
          <a:ln w="9525">
            <a:solidFill>
              <a:srgbClr val="D7DDD9"/>
            </a:solidFill>
            <a:prstDash val="solid"/>
          </a:ln>
        </p:spPr>
      </p:sp>
      <p:sp>
        <p:nvSpPr>
          <p:cNvPr id="7" name="Text 3"/>
          <p:cNvSpPr txBox="1"/>
          <p:nvPr/>
        </p:nvSpPr>
        <p:spPr>
          <a:xfrm>
            <a:off x="8641080" y="1737360"/>
            <a:ext cx="2773375" cy="4114800"/>
          </a:xfrm>
          <a:prstGeom prst="rect">
            <a:avLst/>
          </a:prstGeom>
          <a:noFill/>
          <a:ln/>
        </p:spPr>
        <p:txBody>
          <a:bodyPr wrap="square" lIns="0" tIns="0" rIns="0" bIns="0" rtlCol="0" anchor="t"/>
          <a:lstStyle/>
          <a:p>
            <a:pPr indent="0" marL="0">
              <a:spcAft>
                <a:spcPts val="800"/>
              </a:spcAft>
              <a:buNone/>
            </a:pPr>
            <a:r>
              <a:rPr lang="en-US" sz="1400" b="1" dirty="0">
                <a:solidFill>
                  <a:srgbClr val="1D1D1D"/>
                </a:solidFill>
              </a:rPr>
              <a:t>Why this matters</a:t>
            </a:r>
            <a:endParaRPr lang="en-US" sz="1400" dirty="0"/>
          </a:p>
          <a:p>
            <a:pPr indent="0" marL="0">
              <a:spcAft>
                <a:spcPts val="800"/>
              </a:spcAft>
              <a:buNone/>
            </a:pPr>
            <a:r>
              <a:rPr lang="en-US" sz="1300" dirty="0">
                <a:solidFill>
                  <a:srgbClr val="1D1D1D"/>
                </a:solidFill>
              </a:rPr>
              <a:t>Most of these are platforms customers never see: one customer record, one order workflow, refill prediction, live stock. Each one feeds several features customers do see. That makes them the place to start, and the reason the visible features can't be built in isolation.</a:t>
            </a:r>
            <a:endParaRPr lang="en-US" sz="14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1  Knowing the customer and their household  (1 of 2)</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8 items: 1 learn · 1 permit · 6 build · 0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BLD-7-01  </a:t>
            </a:r>
            <a:pPr indent="0" marL="0">
              <a:buNone/>
            </a:pPr>
            <a:r>
              <a:rPr lang="en-US" sz="1000" dirty="0">
                <a:solidFill>
                  <a:srgbClr val="52525B"/>
                </a:solidFill>
              </a:rPr>
              <a:t>Platform &amp; data</a:t>
            </a:r>
            <a:endParaRPr lang="en-US" sz="1000" dirty="0"/>
          </a:p>
        </p:txBody>
      </p:sp>
      <p:sp>
        <p:nvSpPr>
          <p:cNvPr id="7" name="Shape 4"/>
          <p:cNvSpPr/>
          <p:nvPr/>
        </p:nvSpPr>
        <p:spPr>
          <a:xfrm>
            <a:off x="3027578" y="1335024"/>
            <a:ext cx="914400" cy="237744"/>
          </a:xfrm>
          <a:prstGeom prst="roundRect">
            <a:avLst>
              <a:gd name="adj" fmla="val 50000"/>
            </a:avLst>
          </a:prstGeom>
          <a:solidFill>
            <a:srgbClr val="7FC79A"/>
          </a:solidFill>
          <a:ln w="12700">
            <a:solidFill>
              <a:srgbClr val="7FC79A"/>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Household profile</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One record links a household's members, their medicines, cover and cycles, and works the same in the app, on WhatsApp and at the counter.</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 carer manages four people's medicine as one thing, and nobody re-types what Dis-Chem already holds.</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 · 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 · FUL s22</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BLD-7-02  </a:t>
            </a:r>
            <a:pPr indent="0" marL="0">
              <a:buNone/>
            </a:pPr>
            <a:r>
              <a:rPr lang="en-US" sz="1000" dirty="0">
                <a:solidFill>
                  <a:srgbClr val="52525B"/>
                </a:solidFill>
              </a:rPr>
              <a:t>Platform &amp; data</a:t>
            </a:r>
            <a:endParaRPr lang="en-US" sz="1000" dirty="0"/>
          </a:p>
        </p:txBody>
      </p:sp>
      <p:sp>
        <p:nvSpPr>
          <p:cNvPr id="15" name="Shape 12"/>
          <p:cNvSpPr/>
          <p:nvPr/>
        </p:nvSpPr>
        <p:spPr>
          <a:xfrm>
            <a:off x="6786677" y="1335024"/>
            <a:ext cx="914400" cy="237744"/>
          </a:xfrm>
          <a:prstGeom prst="roundRect">
            <a:avLst>
              <a:gd name="adj" fmla="val 50000"/>
            </a:avLst>
          </a:prstGeom>
          <a:solidFill>
            <a:srgbClr val="7FC79A"/>
          </a:solidFill>
          <a:ln w="12700">
            <a:solidFill>
              <a:srgbClr val="7FC79A"/>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One customer record</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Each customer has one record, recognised in every channel and every store.</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Profiles sit at store level today and duplicate, so people retype their details and orders lose their history.</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ECM · FUL s22 · FUL s40</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BLD-7-03  </a:t>
            </a:r>
            <a:pPr indent="0" marL="0">
              <a:buNone/>
            </a:pPr>
            <a:r>
              <a:rPr lang="en-US" sz="1000" dirty="0">
                <a:solidFill>
                  <a:srgbClr val="52525B"/>
                </a:solidFill>
              </a:rPr>
              <a:t>Platform &amp; data</a:t>
            </a:r>
            <a:endParaRPr lang="en-US" sz="1000" dirty="0"/>
          </a:p>
        </p:txBody>
      </p:sp>
      <p:sp>
        <p:nvSpPr>
          <p:cNvPr id="23" name="Shape 20"/>
          <p:cNvSpPr/>
          <p:nvPr/>
        </p:nvSpPr>
        <p:spPr>
          <a:xfrm>
            <a:off x="10545775" y="1335024"/>
            <a:ext cx="914400" cy="237744"/>
          </a:xfrm>
          <a:prstGeom prst="roundRect">
            <a:avLst>
              <a:gd name="adj" fmla="val 50000"/>
            </a:avLst>
          </a:prstGeom>
          <a:solidFill>
            <a:srgbClr val="B06A00"/>
          </a:solidFill>
          <a:ln w="12700">
            <a:solidFill>
              <a:srgbClr val="B06A00"/>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Carer consent that travels</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recorded consent lets one person order, pay and collect for another, and every channel honours it.</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 carer is believed once, instead of re-proving their authority at every counter.</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 · FUL s22</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BLD-7-04  </a:t>
            </a:r>
            <a:pPr indent="0" marL="0">
              <a:buNone/>
            </a:pPr>
            <a:r>
              <a:rPr lang="en-US" sz="1000" dirty="0">
                <a:solidFill>
                  <a:srgbClr val="52525B"/>
                </a:solidFill>
              </a:rPr>
              <a:t>Platform &amp; data</a:t>
            </a:r>
            <a:endParaRPr lang="en-US" sz="1000" dirty="0"/>
          </a:p>
        </p:txBody>
      </p:sp>
      <p:sp>
        <p:nvSpPr>
          <p:cNvPr id="31" name="Shape 28"/>
          <p:cNvSpPr/>
          <p:nvPr/>
        </p:nvSpPr>
        <p:spPr>
          <a:xfrm>
            <a:off x="3027578" y="4000500"/>
            <a:ext cx="914400" cy="237744"/>
          </a:xfrm>
          <a:prstGeom prst="roundRect">
            <a:avLst>
              <a:gd name="adj" fmla="val 50000"/>
            </a:avLst>
          </a:prstGeom>
          <a:solidFill>
            <a:srgbClr val="B06A00"/>
          </a:solidFill>
          <a:ln w="12700">
            <a:solidFill>
              <a:srgbClr val="B06A00"/>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Preferences honoured everywhere</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A customer's choices (channel, collection point, language per person, brand or generic, payment order) are stored once and applied to every order and message.</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the service runs on the customer's rules, not the system's defaults, without asking again each month.</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 · 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BLD-7-05  </a:t>
            </a:r>
            <a:pPr indent="0" marL="0">
              <a:buNone/>
            </a:pPr>
            <a:r>
              <a:rPr lang="en-US" sz="1000" dirty="0">
                <a:solidFill>
                  <a:srgbClr val="52525B"/>
                </a:solidFill>
              </a:rPr>
              <a:t>Platform &amp; data</a:t>
            </a:r>
            <a:endParaRPr lang="en-US" sz="1000" dirty="0"/>
          </a:p>
        </p:txBody>
      </p:sp>
      <p:sp>
        <p:nvSpPr>
          <p:cNvPr id="39" name="Shape 36"/>
          <p:cNvSpPr/>
          <p:nvPr/>
        </p:nvSpPr>
        <p:spPr>
          <a:xfrm>
            <a:off x="6786677" y="4000500"/>
            <a:ext cx="914400" cy="237744"/>
          </a:xfrm>
          <a:prstGeom prst="roundRect">
            <a:avLst>
              <a:gd name="adj" fmla="val 50000"/>
            </a:avLst>
          </a:prstGeom>
          <a:solidFill>
            <a:srgbClr val="B06A00"/>
          </a:solidFill>
          <a:ln w="12700">
            <a:solidFill>
              <a:srgbClr val="B06A00"/>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Verified identity on WhatsApp</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A customer can prove who they are on WhatsApp well enough to see and manage their household's medicine.</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Cash customers live on WhatsApp; without verified identity the chat can't show medicines or act on a carer's consent.</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BLD-7-06  </a:t>
            </a:r>
            <a:pPr indent="0" marL="0">
              <a:buNone/>
            </a:pPr>
            <a:r>
              <a:rPr lang="en-US" sz="1000" dirty="0">
                <a:solidFill>
                  <a:srgbClr val="52525B"/>
                </a:solidFill>
              </a:rPr>
              <a:t>Platform &amp; data</a:t>
            </a:r>
            <a:endParaRPr lang="en-US" sz="1000" dirty="0"/>
          </a:p>
        </p:txBody>
      </p:sp>
      <p:sp>
        <p:nvSpPr>
          <p:cNvPr id="47" name="Shape 44"/>
          <p:cNvSpPr/>
          <p:nvPr/>
        </p:nvSpPr>
        <p:spPr>
          <a:xfrm>
            <a:off x="10545775" y="4000500"/>
            <a:ext cx="914400" cy="237744"/>
          </a:xfrm>
          <a:prstGeom prst="roundRect">
            <a:avLst>
              <a:gd name="adj" fmla="val 50000"/>
            </a:avLst>
          </a:prstGeom>
          <a:solidFill>
            <a:srgbClr val="B5D334"/>
          </a:solidFill>
          <a:ln w="12700">
            <a:solidFill>
              <a:srgbClr val="B5D334"/>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Suggestions from buying history</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The open order suggests items from the household's own buying history, with specials flagged.</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the shop that used to happen in the aisle still happens, without the customer having to remember the list.</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none fits yet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1  Knowing the customer and their household  (2 of 2)</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8 items: 1 learn · 1 permit · 6 build · 0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PRM-4-01  </a:t>
            </a:r>
            <a:pPr indent="0" marL="0">
              <a:buNone/>
            </a:pPr>
            <a:r>
              <a:rPr lang="en-US" sz="1000" dirty="0">
                <a:solidFill>
                  <a:srgbClr val="52525B"/>
                </a:solidFill>
              </a:rPr>
              <a:t>Internal policy</a:t>
            </a:r>
            <a:endParaRPr lang="en-US" sz="1000" dirty="0"/>
          </a:p>
        </p:txBody>
      </p:sp>
      <p:sp>
        <p:nvSpPr>
          <p:cNvPr id="7" name="Shape 4"/>
          <p:cNvSpPr/>
          <p:nvPr/>
        </p:nvSpPr>
        <p:spPr>
          <a:xfrm>
            <a:off x="3027578" y="1335024"/>
            <a:ext cx="914400" cy="237744"/>
          </a:xfrm>
          <a:prstGeom prst="roundRect">
            <a:avLst>
              <a:gd name="adj" fmla="val 50000"/>
            </a:avLst>
          </a:prstGeom>
          <a:solidFill>
            <a:srgbClr val="B5D334"/>
          </a:solidFill>
          <a:ln w="12700">
            <a:solidFill>
              <a:srgbClr val="B5D334"/>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Carer authority policy</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Dis-Chem defines what a carer may do for an adult, for a child and for a Schedule 6 medicine, and how the person cared for withdraws it.</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Staff and systems need one rule to apply, so carers are neither blocked nor given more access than they should have.</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LRN-1-01  </a:t>
            </a:r>
            <a:pPr indent="0" marL="0">
              <a:buNone/>
            </a:pPr>
            <a:r>
              <a:rPr lang="en-US" sz="1000" dirty="0">
                <a:solidFill>
                  <a:srgbClr val="52525B"/>
                </a:solidFill>
              </a:rPr>
              <a:t>Research</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Household manager research</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Evidence on how household medicine managers want to set up and run a shared repeat service, and what would make them trust it.</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household model is the core of the repeat journey; we should prove carers want it before building around it.</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2  Receiving and validating prescriptions</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6 items: 1 learn · 1 permit · 3 build · 1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BLD-7-07  </a:t>
            </a:r>
            <a:pPr indent="0" marL="0">
              <a:buNone/>
            </a:pPr>
            <a:r>
              <a:rPr lang="en-US" sz="1000" dirty="0">
                <a:solidFill>
                  <a:srgbClr val="52525B"/>
                </a:solidFill>
              </a:rPr>
              <a:t>Platform &amp; data</a:t>
            </a:r>
            <a:endParaRPr lang="en-US" sz="1000" dirty="0"/>
          </a:p>
        </p:txBody>
      </p:sp>
      <p:sp>
        <p:nvSpPr>
          <p:cNvPr id="7" name="Shape 4"/>
          <p:cNvSpPr/>
          <p:nvPr/>
        </p:nvSpPr>
        <p:spPr>
          <a:xfrm>
            <a:off x="3027578" y="1335024"/>
            <a:ext cx="914400" cy="237744"/>
          </a:xfrm>
          <a:prstGeom prst="roundRect">
            <a:avLst>
              <a:gd name="adj" fmla="val 50000"/>
            </a:avLst>
          </a:prstGeom>
          <a:solidFill>
            <a:srgbClr val="B5D334"/>
          </a:solidFill>
          <a:ln w="12700">
            <a:solidFill>
              <a:srgbClr val="B5D334"/>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Schedule-aware repeat rules</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The system knows which medicines can join a repeat service and for how long, by schedule, repeats left and script expiry.</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Schedule 6 has no repeats and other repeats stop at six months; a service that ignores this breaks either the law or its promise.</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 · 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PRM-3-01  </a:t>
            </a:r>
            <a:pPr indent="0" marL="0">
              <a:buNone/>
            </a:pPr>
            <a:r>
              <a:rPr lang="en-US" sz="1000" b="1" dirty="0">
                <a:solidFill>
                  <a:srgbClr val="B06A00"/>
                </a:solidFill>
              </a:rPr>
              <a:t>Regulatory reform</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Repeats for chronic Schedule 6</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Stable patients on long-term Schedule 6 medicine (ADHD treatment, for example) can receive repeats under safeguards, without a new script every month.</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law allows no Schedule 6 repeats and a 30-day maximum, so Zanele's family needs a new doctor's script every month.</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BLD-7-08  </a:t>
            </a:r>
            <a:pPr indent="0" marL="0">
              <a:buNone/>
            </a:pPr>
            <a:r>
              <a:rPr lang="en-US" sz="1000" dirty="0">
                <a:solidFill>
                  <a:srgbClr val="52525B"/>
                </a:solidFill>
              </a:rPr>
              <a:t>Platform &amp; data</a:t>
            </a:r>
            <a:endParaRPr lang="en-US" sz="1000" dirty="0"/>
          </a:p>
        </p:txBody>
      </p:sp>
      <p:sp>
        <p:nvSpPr>
          <p:cNvPr id="23" name="Shape 20"/>
          <p:cNvSpPr/>
          <p:nvPr/>
        </p:nvSpPr>
        <p:spPr>
          <a:xfrm>
            <a:off x="10545775" y="1335024"/>
            <a:ext cx="914400" cy="237744"/>
          </a:xfrm>
          <a:prstGeom prst="roundRect">
            <a:avLst>
              <a:gd name="adj" fmla="val 50000"/>
            </a:avLst>
          </a:prstGeom>
          <a:solidFill>
            <a:srgbClr val="B06A00"/>
          </a:solidFill>
          <a:ln w="12700">
            <a:solidFill>
              <a:srgbClr val="B06A00"/>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Proactive script renewal</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Weeks before a script's last repeat, a renewal request goes to the prescriber automatically and is tracked until the new script is back.</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 script never lapses by surprise, and the customer isn't the one phoning a receptionist.</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 · 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BLD-5-01  </a:t>
            </a:r>
            <a:pPr indent="0" marL="0">
              <a:buNone/>
            </a:pPr>
            <a:r>
              <a:rPr lang="en-US" sz="1000" dirty="0">
                <a:solidFill>
                  <a:srgbClr val="52525B"/>
                </a:solidFill>
              </a:rPr>
              <a:t>Customer feature</a:t>
            </a:r>
            <a:endParaRPr lang="en-US" sz="1000" dirty="0"/>
          </a:p>
        </p:txBody>
      </p:sp>
      <p:sp>
        <p:nvSpPr>
          <p:cNvPr id="31" name="Shape 28"/>
          <p:cNvSpPr/>
          <p:nvPr/>
        </p:nvSpPr>
        <p:spPr>
          <a:xfrm>
            <a:off x="3027578" y="4000500"/>
            <a:ext cx="914400" cy="237744"/>
          </a:xfrm>
          <a:prstGeom prst="roundRect">
            <a:avLst>
              <a:gd name="adj" fmla="val 50000"/>
            </a:avLst>
          </a:prstGeom>
          <a:solidFill>
            <a:srgbClr val="B06A00"/>
          </a:solidFill>
          <a:ln w="12700">
            <a:solidFill>
              <a:srgbClr val="B06A00"/>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Renewal status for customers</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can see where their renewal stands, and hear early, with a plan, if it won't arrive in time.</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an expiring script becomes a known date, not a missed dose.</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RUN-11-01  </a:t>
            </a:r>
            <a:pPr indent="0" marL="0">
              <a:buNone/>
            </a:pPr>
            <a:r>
              <a:rPr lang="en-US" sz="1000" dirty="0">
                <a:solidFill>
                  <a:srgbClr val="52525B"/>
                </a:solidFill>
              </a:rPr>
              <a:t>Partnership</a:t>
            </a:r>
            <a:endParaRPr lang="en-US" sz="1000" dirty="0"/>
          </a:p>
        </p:txBody>
      </p:sp>
      <p:sp>
        <p:nvSpPr>
          <p:cNvPr id="39" name="Shape 36"/>
          <p:cNvSpPr/>
          <p:nvPr/>
        </p:nvSpPr>
        <p:spPr>
          <a:xfrm>
            <a:off x="6786677" y="4000500"/>
            <a:ext cx="914400" cy="237744"/>
          </a:xfrm>
          <a:prstGeom prst="roundRect">
            <a:avLst>
              <a:gd name="adj" fmla="val 50000"/>
            </a:avLst>
          </a:prstGeom>
          <a:solidFill>
            <a:srgbClr val="7FC79A"/>
          </a:solidFill>
          <a:ln w="12700">
            <a:solidFill>
              <a:srgbClr val="7FC79A"/>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Prescriber renewal link</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Doctors can receive renewal requests and send valid scripts back to Dis-Chem electronically.</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Renewal can only be proactive if the doctor's side is quick; GP scripts reach stores by email or paper today.</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Many inputs, one controlled funnel</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s18</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LRN-1-02  </a:t>
            </a:r>
            <a:pPr indent="0" marL="0">
              <a:buNone/>
            </a:pPr>
            <a:r>
              <a:rPr lang="en-US" sz="1000" dirty="0">
                <a:solidFill>
                  <a:srgbClr val="52525B"/>
                </a:solidFill>
              </a:rPr>
              <a:t>Research</a:t>
            </a:r>
            <a:endParaRPr lang="en-US" sz="1000" dirty="0"/>
          </a:p>
        </p:txBody>
      </p:sp>
      <p:sp>
        <p:nvSpPr>
          <p:cNvPr id="47" name="Shape 44"/>
          <p:cNvSpPr/>
          <p:nvPr/>
        </p:nvSpPr>
        <p:spPr>
          <a:xfrm>
            <a:off x="10545775" y="4000500"/>
            <a:ext cx="914400" cy="237744"/>
          </a:xfrm>
          <a:prstGeom prst="roundRect">
            <a:avLst>
              <a:gd name="adj" fmla="val 50000"/>
            </a:avLst>
          </a:prstGeom>
          <a:solidFill>
            <a:srgbClr val="B5D334"/>
          </a:solidFill>
          <a:ln w="12700">
            <a:solidFill>
              <a:srgbClr val="B5D334"/>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Bridging supply rules</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A confirmed legal position on what a pharmacist may supply while a renewal is pending, by schedule.</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journey promises a plan when a renewal is late; we need to know what that plan can legally include.</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My pharmacist is my front door to care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3  Pricing, funding and payment  (1 of 2)</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9 items: 1 learn · 0 permit · 7 build · 1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BLD-7-09  </a:t>
            </a:r>
            <a:pPr indent="0" marL="0">
              <a:buNone/>
            </a:pPr>
            <a:r>
              <a:rPr lang="en-US" sz="1000" dirty="0">
                <a:solidFill>
                  <a:srgbClr val="52525B"/>
                </a:solidFill>
              </a:rPr>
              <a:t>Platform &amp; data</a:t>
            </a:r>
            <a:endParaRPr lang="en-US" sz="1000" dirty="0"/>
          </a:p>
        </p:txBody>
      </p:sp>
      <p:sp>
        <p:nvSpPr>
          <p:cNvPr id="7" name="Shape 4"/>
          <p:cNvSpPr/>
          <p:nvPr/>
        </p:nvSpPr>
        <p:spPr>
          <a:xfrm>
            <a:off x="3027578" y="1335024"/>
            <a:ext cx="914400" cy="237744"/>
          </a:xfrm>
          <a:prstGeom prst="roundRect">
            <a:avLst>
              <a:gd name="adj" fmla="val 50000"/>
            </a:avLst>
          </a:prstGeom>
          <a:solidFill>
            <a:srgbClr val="B06A00"/>
          </a:solidFill>
          <a:ln w="12700">
            <a:solidFill>
              <a:srgbClr val="B06A00"/>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Scheme check before the notice</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Every repeat is checked with the medical scheme before the customer is told what it costs.</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the price in the message is the price at the end, and declines surface at home rather than at the door.</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Give me all the variables upfront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BLD-7-10  </a:t>
            </a:r>
            <a:pPr indent="0" marL="0">
              <a:buNone/>
            </a:pPr>
            <a:r>
              <a:rPr lang="en-US" sz="1000" dirty="0">
                <a:solidFill>
                  <a:srgbClr val="52525B"/>
                </a:solidFill>
              </a:rPr>
              <a:t>Platform &amp; data</a:t>
            </a:r>
            <a:endParaRPr lang="en-US" sz="1000" dirty="0"/>
          </a:p>
        </p:txBody>
      </p:sp>
      <p:sp>
        <p:nvSpPr>
          <p:cNvPr id="15" name="Shape 12"/>
          <p:cNvSpPr/>
          <p:nvPr/>
        </p:nvSpPr>
        <p:spPr>
          <a:xfrm>
            <a:off x="6786677" y="1335024"/>
            <a:ext cx="914400" cy="237744"/>
          </a:xfrm>
          <a:prstGeom prst="roundRect">
            <a:avLst>
              <a:gd name="adj" fmla="val 50000"/>
            </a:avLst>
          </a:prstGeom>
          <a:solidFill>
            <a:srgbClr val="B06A00"/>
          </a:solidFill>
          <a:ln w="12700">
            <a:solidFill>
              <a:srgbClr val="B06A00"/>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One medicine price engine</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Every line (medicine price plus dispensing fee) is priced the same way in every store and channel.</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Customers read store-to-store price differences on scheduled medicine as arbitrary, which costs trust even when the price is legal.</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Give me all the variables upfront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BLD-5-02  </a:t>
            </a:r>
            <a:pPr indent="0" marL="0">
              <a:buNone/>
            </a:pPr>
            <a:r>
              <a:rPr lang="en-US" sz="1000" dirty="0">
                <a:solidFill>
                  <a:srgbClr val="52525B"/>
                </a:solidFill>
              </a:rPr>
              <a:t>Customer feature</a:t>
            </a:r>
            <a:endParaRPr lang="en-US" sz="1000" dirty="0"/>
          </a:p>
        </p:txBody>
      </p:sp>
      <p:sp>
        <p:nvSpPr>
          <p:cNvPr id="23" name="Shape 20"/>
          <p:cNvSpPr/>
          <p:nvPr/>
        </p:nvSpPr>
        <p:spPr>
          <a:xfrm>
            <a:off x="10545775" y="1335024"/>
            <a:ext cx="914400" cy="237744"/>
          </a:xfrm>
          <a:prstGeom prst="roundRect">
            <a:avLst>
              <a:gd name="adj" fmla="val 50000"/>
            </a:avLst>
          </a:prstGeom>
          <a:solidFill>
            <a:srgbClr val="B06A00"/>
          </a:solidFill>
          <a:ln w="12700">
            <a:solidFill>
              <a:srgbClr val="B06A00"/>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Itemised household cost</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The monthly notice shows each person's medicine, what each scheme covers, any shortfall and the total to pay.</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Medicine is the one thing people buy blind; showing the numbers at home removes the surprise at the till.</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Give me all the variables upfront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BLD-7-11  </a:t>
            </a:r>
            <a:pPr indent="0" marL="0">
              <a:buNone/>
            </a:pPr>
            <a:r>
              <a:rPr lang="en-US" sz="1000" dirty="0">
                <a:solidFill>
                  <a:srgbClr val="52525B"/>
                </a:solidFill>
              </a:rPr>
              <a:t>Platform &amp; data</a:t>
            </a:r>
            <a:endParaRPr lang="en-US" sz="1000" dirty="0"/>
          </a:p>
        </p:txBody>
      </p:sp>
      <p:sp>
        <p:nvSpPr>
          <p:cNvPr id="31" name="Shape 28"/>
          <p:cNvSpPr/>
          <p:nvPr/>
        </p:nvSpPr>
        <p:spPr>
          <a:xfrm>
            <a:off x="3027578" y="4000500"/>
            <a:ext cx="914400" cy="237744"/>
          </a:xfrm>
          <a:prstGeom prst="roundRect">
            <a:avLst>
              <a:gd name="adj" fmla="val 50000"/>
            </a:avLst>
          </a:prstGeom>
          <a:solidFill>
            <a:srgbClr val="7FC79A"/>
          </a:solidFill>
          <a:ln w="12700">
            <a:solidFill>
              <a:srgbClr val="7FC79A"/>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Several schemes, one order</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One household order can charge several medical schemes and put the remainder on one card.</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A carer's household rarely shares one scheme, and multiple funders mean multiple orders today.</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Give me all the variables upfront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 · FUL s22</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BLD-5-03  </a:t>
            </a:r>
            <a:pPr indent="0" marL="0">
              <a:buNone/>
            </a:pPr>
            <a:r>
              <a:rPr lang="en-US" sz="1000" dirty="0">
                <a:solidFill>
                  <a:srgbClr val="52525B"/>
                </a:solidFill>
              </a:rPr>
              <a:t>Customer feature</a:t>
            </a:r>
            <a:endParaRPr lang="en-US" sz="1000" dirty="0"/>
          </a:p>
        </p:txBody>
      </p:sp>
      <p:sp>
        <p:nvSpPr>
          <p:cNvPr id="39" name="Shape 36"/>
          <p:cNvSpPr/>
          <p:nvPr/>
        </p:nvSpPr>
        <p:spPr>
          <a:xfrm>
            <a:off x="6786677" y="4000500"/>
            <a:ext cx="914400" cy="237744"/>
          </a:xfrm>
          <a:prstGeom prst="roundRect">
            <a:avLst>
              <a:gd name="adj" fmla="val 50000"/>
            </a:avLst>
          </a:prstGeom>
          <a:solidFill>
            <a:srgbClr val="7FC79A"/>
          </a:solidFill>
          <a:ln w="12700">
            <a:solidFill>
              <a:srgbClr val="7FC79A"/>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Saved payment and decline rule</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save a card and choose in advance what happens if a scheme declines a line: ask first, or pay and carry on.</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 decline becomes a choice already made, instead of a stalled order.</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BLD-5-04  </a:t>
            </a:r>
            <a:pPr indent="0" marL="0">
              <a:buNone/>
            </a:pPr>
            <a:r>
              <a:rPr lang="en-US" sz="1000" dirty="0">
                <a:solidFill>
                  <a:srgbClr val="52525B"/>
                </a:solidFill>
              </a:rPr>
              <a:t>Customer feature</a:t>
            </a:r>
            <a:endParaRPr lang="en-US" sz="1000" dirty="0"/>
          </a:p>
        </p:txBody>
      </p:sp>
      <p:sp>
        <p:nvSpPr>
          <p:cNvPr id="47" name="Shape 44"/>
          <p:cNvSpPr/>
          <p:nvPr/>
        </p:nvSpPr>
        <p:spPr>
          <a:xfrm>
            <a:off x="10545775" y="4000500"/>
            <a:ext cx="914400" cy="237744"/>
          </a:xfrm>
          <a:prstGeom prst="roundRect">
            <a:avLst>
              <a:gd name="adj" fmla="val 50000"/>
            </a:avLst>
          </a:prstGeom>
          <a:solidFill>
            <a:srgbClr val="B5D334"/>
          </a:solidFill>
          <a:ln w="12700">
            <a:solidFill>
              <a:srgbClr val="B5D334"/>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Decline choices message</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When a scheme declines a line, the customer is told what, why and their live options, and can settle it in one reply.</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An exception can quietly cancel a chronic delivery today; this turns it into a decision.</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3  Pricing, funding and payment  (2 of 2)</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9 items: 1 learn · 0 permit · 7 build · 1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RUN-11-02  </a:t>
            </a:r>
            <a:pPr indent="0" marL="0">
              <a:buNone/>
            </a:pPr>
            <a:r>
              <a:rPr lang="en-US" sz="1000" dirty="0">
                <a:solidFill>
                  <a:srgbClr val="52525B"/>
                </a:solidFill>
              </a:rPr>
              <a:t>Partnership</a:t>
            </a:r>
            <a:endParaRPr lang="en-US" sz="1000" dirty="0"/>
          </a:p>
        </p:txBody>
      </p:sp>
      <p:sp>
        <p:nvSpPr>
          <p:cNvPr id="7" name="Shape 4"/>
          <p:cNvSpPr/>
          <p:nvPr/>
        </p:nvSpPr>
        <p:spPr>
          <a:xfrm>
            <a:off x="3027578" y="1335024"/>
            <a:ext cx="914400" cy="237744"/>
          </a:xfrm>
          <a:prstGeom prst="roundRect">
            <a:avLst>
              <a:gd name="adj" fmla="val 50000"/>
            </a:avLst>
          </a:prstGeom>
          <a:solidFill>
            <a:srgbClr val="B5D334"/>
          </a:solidFill>
          <a:ln w="12700">
            <a:solidFill>
              <a:srgbClr val="B5D334"/>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Cash payment at a bank partner</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bank partner takes cash for a Dis-Chem order at its counter, and that payment releases the parcel.</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Most customers pay cash; paying where they already bank removes a separate trip.</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BLD-7-12  </a:t>
            </a:r>
            <a:pPr indent="0" marL="0">
              <a:buNone/>
            </a:pPr>
            <a:r>
              <a:rPr lang="en-US" sz="1000" dirty="0">
                <a:solidFill>
                  <a:srgbClr val="52525B"/>
                </a:solidFill>
              </a:rPr>
              <a:t>Platform &amp; data</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Payment switches on collection</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confirmed payment, wherever it is made, activates the customer's collection code.</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an unpaid parcel can wait safely in a locker and open only once it is paid for.</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LRN-2-01  </a:t>
            </a:r>
            <a:pPr indent="0" marL="0">
              <a:buNone/>
            </a:pPr>
            <a:r>
              <a:rPr lang="en-US" sz="1000" dirty="0">
                <a:solidFill>
                  <a:srgbClr val="52525B"/>
                </a:solidFill>
              </a:rPr>
              <a:t>Decision</a:t>
            </a:r>
            <a:endParaRPr lang="en-US" sz="1000" dirty="0"/>
          </a:p>
        </p:txBody>
      </p:sp>
      <p:sp>
        <p:nvSpPr>
          <p:cNvPr id="23" name="Shape 20"/>
          <p:cNvSpPr/>
          <p:nvPr/>
        </p:nvSpPr>
        <p:spPr>
          <a:xfrm>
            <a:off x="10545775" y="1335024"/>
            <a:ext cx="914400" cy="237744"/>
          </a:xfrm>
          <a:prstGeom prst="roundRect">
            <a:avLst>
              <a:gd name="adj" fmla="val 50000"/>
            </a:avLst>
          </a:prstGeom>
          <a:solidFill>
            <a:srgbClr val="B5D334"/>
          </a:solidFill>
          <a:ln w="12700">
            <a:solidFill>
              <a:srgbClr val="B5D334"/>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Repeat service commercial model</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decision on what the repeat service costs the customer: free basics, paid extras like dose sachets, and who pays for sync top-ups and delivery.</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journeys promise free basics and paid extras; pricing and the business case must be settled before launch.</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Give me all the variables upfront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4  Knowing and managing stock</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4 items: 0 learn · 0 permit · 3 build · 1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BLD-7-13  </a:t>
            </a:r>
            <a:pPr indent="0" marL="0">
              <a:buNone/>
            </a:pPr>
            <a:r>
              <a:rPr lang="en-US" sz="1000" dirty="0">
                <a:solidFill>
                  <a:srgbClr val="52525B"/>
                </a:solidFill>
              </a:rPr>
              <a:t>Platform &amp; data</a:t>
            </a:r>
            <a:endParaRPr lang="en-US" sz="1000" dirty="0"/>
          </a:p>
        </p:txBody>
      </p:sp>
      <p:sp>
        <p:nvSpPr>
          <p:cNvPr id="7" name="Shape 4"/>
          <p:cNvSpPr/>
          <p:nvPr/>
        </p:nvSpPr>
        <p:spPr>
          <a:xfrm>
            <a:off x="3027578" y="1335024"/>
            <a:ext cx="914400" cy="237744"/>
          </a:xfrm>
          <a:prstGeom prst="roundRect">
            <a:avLst>
              <a:gd name="adj" fmla="val 50000"/>
            </a:avLst>
          </a:prstGeom>
          <a:solidFill>
            <a:srgbClr val="B06A00"/>
          </a:solidFill>
          <a:ln w="12700">
            <a:solidFill>
              <a:srgbClr val="B06A00"/>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Live stock visibility</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Every store and the Adherence Centre know, in real time, what dispensary stock they hold, including part packs and stock on order.</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 customer is never promised a medicine the store doesn't have.</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 · The system prioritises the work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ECM · FUL s21 · FUL s40</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BLD-7-14  </a:t>
            </a:r>
            <a:pPr indent="0" marL="0">
              <a:buNone/>
            </a:pPr>
            <a:r>
              <a:rPr lang="en-US" sz="1000" dirty="0">
                <a:solidFill>
                  <a:srgbClr val="52525B"/>
                </a:solidFill>
              </a:rPr>
              <a:t>Platform &amp; data</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Stock held for predicted repeats</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Predicted repeat orders reserve or trigger stock ahead of the order date.</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If Dis-Chem knows a medicine is needed on the 28th, it should never be out of stock on the 28th.</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 · Fulfilment like a production line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RUN-9-01  </a:t>
            </a:r>
            <a:pPr indent="0" marL="0">
              <a:buNone/>
            </a:pPr>
            <a:r>
              <a:rPr lang="en-US" sz="1000" dirty="0">
                <a:solidFill>
                  <a:srgbClr val="52525B"/>
                </a:solidFill>
              </a:rPr>
              <a:t>Process</a:t>
            </a:r>
            <a:endParaRPr lang="en-US" sz="1000" dirty="0"/>
          </a:p>
        </p:txBody>
      </p:sp>
      <p:sp>
        <p:nvSpPr>
          <p:cNvPr id="23" name="Shape 20"/>
          <p:cNvSpPr/>
          <p:nvPr/>
        </p:nvSpPr>
        <p:spPr>
          <a:xfrm>
            <a:off x="10545775" y="1335024"/>
            <a:ext cx="914400" cy="237744"/>
          </a:xfrm>
          <a:prstGeom prst="roundRect">
            <a:avLst>
              <a:gd name="adj" fmla="val 50000"/>
            </a:avLst>
          </a:prstGeom>
          <a:solidFill>
            <a:srgbClr val="B06A00"/>
          </a:solidFill>
          <a:ln w="12700">
            <a:solidFill>
              <a:srgbClr val="B06A00"/>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Stock recorded as it moves</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Stores record stock movements, part packs and returns accurately, as they happen.</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Live visibility is only as good as what goes in, and today's counts miss part packs.</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s21 · FUL s52</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BLD-5-05  </a:t>
            </a:r>
            <a:pPr indent="0" marL="0">
              <a:buNone/>
            </a:pPr>
            <a:r>
              <a:rPr lang="en-US" sz="1000" dirty="0">
                <a:solidFill>
                  <a:srgbClr val="52525B"/>
                </a:solidFill>
              </a:rPr>
              <a:t>Customer feature</a:t>
            </a:r>
            <a:endParaRPr lang="en-US" sz="1000" dirty="0"/>
          </a:p>
        </p:txBody>
      </p:sp>
      <p:sp>
        <p:nvSpPr>
          <p:cNvPr id="31" name="Shape 28"/>
          <p:cNvSpPr/>
          <p:nvPr/>
        </p:nvSpPr>
        <p:spPr>
          <a:xfrm>
            <a:off x="3027578" y="4000500"/>
            <a:ext cx="914400" cy="237744"/>
          </a:xfrm>
          <a:prstGeom prst="roundRect">
            <a:avLst>
              <a:gd name="adj" fmla="val 50000"/>
            </a:avLst>
          </a:prstGeom>
          <a:solidFill>
            <a:srgbClr val="B06A00"/>
          </a:solidFill>
          <a:ln w="12700">
            <a:solidFill>
              <a:srgbClr val="B06A00"/>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Out-of-stock choices</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If a line is out of stock, the customer gets a drafted plan (covered generic, split delivery or hold) and chooses in one reply.</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 stock-out costs a decision, not a wasted trip or a gap in treatment.</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s20</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5  Dispensing and pharmacist care  (1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13 items: 0 learn · 2 permit · 8 build · 3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BLD-7-15  </a:t>
            </a:r>
            <a:pPr indent="0" marL="0">
              <a:buNone/>
            </a:pPr>
            <a:r>
              <a:rPr lang="en-US" sz="1000" dirty="0">
                <a:solidFill>
                  <a:srgbClr val="52525B"/>
                </a:solidFill>
              </a:rPr>
              <a:t>Platform &amp; data</a:t>
            </a:r>
            <a:endParaRPr lang="en-US" sz="1000" dirty="0"/>
          </a:p>
        </p:txBody>
      </p:sp>
      <p:sp>
        <p:nvSpPr>
          <p:cNvPr id="7" name="Shape 4"/>
          <p:cNvSpPr/>
          <p:nvPr/>
        </p:nvSpPr>
        <p:spPr>
          <a:xfrm>
            <a:off x="3027578" y="1335024"/>
            <a:ext cx="914400" cy="237744"/>
          </a:xfrm>
          <a:prstGeom prst="roundRect">
            <a:avLst>
              <a:gd name="adj" fmla="val 50000"/>
            </a:avLst>
          </a:prstGeom>
          <a:solidFill>
            <a:srgbClr val="126E35"/>
          </a:solidFill>
          <a:ln w="12700">
            <a:solidFill>
              <a:srgbClr val="126E35"/>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In flight</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One order workflow (BRiX)</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One workflow carries each order from intake through checking, packing and handover, across the Adherence Centre, stores and delivery.</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Adherence Centre works across three dashboards today; one flow removes duplicate work and lets the system set the priorities.</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The system prioritises the work · Many inputs, one controlled funnel</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s21 · FUL s40</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BLD-7-16  </a:t>
            </a:r>
            <a:pPr indent="0" marL="0">
              <a:buNone/>
            </a:pPr>
            <a:r>
              <a:rPr lang="en-US" sz="1000" dirty="0">
                <a:solidFill>
                  <a:srgbClr val="52525B"/>
                </a:solidFill>
              </a:rPr>
              <a:t>Platform &amp; data</a:t>
            </a:r>
            <a:endParaRPr lang="en-US" sz="1000" dirty="0"/>
          </a:p>
        </p:txBody>
      </p:sp>
      <p:sp>
        <p:nvSpPr>
          <p:cNvPr id="15" name="Shape 12"/>
          <p:cNvSpPr/>
          <p:nvPr/>
        </p:nvSpPr>
        <p:spPr>
          <a:xfrm>
            <a:off x="6786677" y="1335024"/>
            <a:ext cx="914400" cy="237744"/>
          </a:xfrm>
          <a:prstGeom prst="roundRect">
            <a:avLst>
              <a:gd name="adj" fmla="val 50000"/>
            </a:avLst>
          </a:prstGeom>
          <a:solidFill>
            <a:srgbClr val="7FC79A"/>
          </a:solidFill>
          <a:ln w="12700">
            <a:solidFill>
              <a:srgbClr val="7FC79A"/>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Repeats prepare themselves</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Eligible repeat orders are created and prepared automatically, without anyone re-keying them each month.</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staff time goes to the orders that need judgement.</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Fulfilment like a production line · 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s17 · FUL s40</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BLD-6-01  </a:t>
            </a:r>
            <a:pPr indent="0" marL="0">
              <a:buNone/>
            </a:pPr>
            <a:r>
              <a:rPr lang="en-US" sz="1000" dirty="0">
                <a:solidFill>
                  <a:srgbClr val="52525B"/>
                </a:solidFill>
              </a:rPr>
              <a:t>Staff tool</a:t>
            </a:r>
            <a:endParaRPr lang="en-US" sz="1000" dirty="0"/>
          </a:p>
        </p:txBody>
      </p:sp>
      <p:sp>
        <p:nvSpPr>
          <p:cNvPr id="23" name="Shape 20"/>
          <p:cNvSpPr/>
          <p:nvPr/>
        </p:nvSpPr>
        <p:spPr>
          <a:xfrm>
            <a:off x="10545775" y="1335024"/>
            <a:ext cx="914400" cy="237744"/>
          </a:xfrm>
          <a:prstGeom prst="roundRect">
            <a:avLst>
              <a:gd name="adj" fmla="val 50000"/>
            </a:avLst>
          </a:prstGeom>
          <a:solidFill>
            <a:srgbClr val="7FC79A"/>
          </a:solidFill>
          <a:ln w="12700">
            <a:solidFill>
              <a:srgbClr val="7FC79A"/>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AI check assistant</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Software drafts the clinical checks for each order (interactions, allergies, doses, across the household) for the pharmacist to confirm or override.</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pharmacist spends their time judging rather than compiling, and every check is recorded.</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The counter is for care, not admin · Remove noise to protect flow</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ECM · FUL s20 · HSQ</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PRM-3-02  </a:t>
            </a:r>
            <a:pPr indent="0" marL="0">
              <a:buNone/>
            </a:pPr>
            <a:r>
              <a:rPr lang="en-US" sz="1000" b="1" dirty="0">
                <a:solidFill>
                  <a:srgbClr val="B06A00"/>
                </a:solidFill>
              </a:rPr>
              <a:t>Regulatory reform</a:t>
            </a:r>
            <a:endParaRPr lang="en-US" sz="1000" dirty="0"/>
          </a:p>
        </p:txBody>
      </p:sp>
      <p:sp>
        <p:nvSpPr>
          <p:cNvPr id="31" name="Shape 28"/>
          <p:cNvSpPr/>
          <p:nvPr/>
        </p:nvSpPr>
        <p:spPr>
          <a:xfrm>
            <a:off x="3027578" y="4000500"/>
            <a:ext cx="914400" cy="237744"/>
          </a:xfrm>
          <a:prstGeom prst="roundRect">
            <a:avLst>
              <a:gd name="adj" fmla="val 50000"/>
            </a:avLst>
          </a:prstGeom>
          <a:solidFill>
            <a:srgbClr val="B5D334"/>
          </a:solidFill>
          <a:ln w="12700">
            <a:solidFill>
              <a:srgbClr val="B5D334"/>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Rules for AI-assisted checking</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Clarity from the Pharmacy Council on how AI-drafted checks may support, but never replace, the pharmacist's sign-off.</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Without it, the assistant risks being treated as the checker, and pharmacists won't trust or use it.</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BLD-6-02  </a:t>
            </a:r>
            <a:pPr indent="0" marL="0">
              <a:buNone/>
            </a:pPr>
            <a:r>
              <a:rPr lang="en-US" sz="1000" dirty="0">
                <a:solidFill>
                  <a:srgbClr val="52525B"/>
                </a:solidFill>
              </a:rPr>
              <a:t>Staff tool</a:t>
            </a:r>
            <a:endParaRPr lang="en-US" sz="1000" dirty="0"/>
          </a:p>
        </p:txBody>
      </p:sp>
      <p:sp>
        <p:nvSpPr>
          <p:cNvPr id="39" name="Shape 36"/>
          <p:cNvSpPr/>
          <p:nvPr/>
        </p:nvSpPr>
        <p:spPr>
          <a:xfrm>
            <a:off x="6786677" y="4000500"/>
            <a:ext cx="914400" cy="237744"/>
          </a:xfrm>
          <a:prstGeom prst="roundRect">
            <a:avLst>
              <a:gd name="adj" fmla="val 50000"/>
            </a:avLst>
          </a:prstGeom>
          <a:solidFill>
            <a:srgbClr val="7FC79A"/>
          </a:solidFill>
          <a:ln w="12700">
            <a:solidFill>
              <a:srgbClr val="7FC79A"/>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Named sign-off record</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Each order records which checks ran and which pharmacist signed it off, in a form that can be shown to the customer.</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record makes the check provable, inside the business and to the customer.</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ECM · FUL s34</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BLD-5-06  </a:t>
            </a:r>
            <a:pPr indent="0" marL="0">
              <a:buNone/>
            </a:pPr>
            <a:r>
              <a:rPr lang="en-US" sz="1000" dirty="0">
                <a:solidFill>
                  <a:srgbClr val="52525B"/>
                </a:solidFill>
              </a:rPr>
              <a:t>Customer feature</a:t>
            </a:r>
            <a:endParaRPr lang="en-US" sz="1000" dirty="0"/>
          </a:p>
        </p:txBody>
      </p:sp>
      <p:sp>
        <p:nvSpPr>
          <p:cNvPr id="47" name="Shape 44"/>
          <p:cNvSpPr/>
          <p:nvPr/>
        </p:nvSpPr>
        <p:spPr>
          <a:xfrm>
            <a:off x="10545775" y="4000500"/>
            <a:ext cx="914400" cy="237744"/>
          </a:xfrm>
          <a:prstGeom prst="roundRect">
            <a:avLst>
              <a:gd name="adj" fmla="val 50000"/>
            </a:avLst>
          </a:prstGeom>
          <a:solidFill>
            <a:srgbClr val="B5D334"/>
          </a:solidFill>
          <a:ln w="12700">
            <a:solidFill>
              <a:srgbClr val="B5D334"/>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Checked-and-packed status</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get a status listing what was checked and the name of the pharmacist who signed it off, then a second when the parcel is sealed.</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Customers treat dispensing errors as safety threats; seeing the check, with a name on it, replaces worry with evidence.</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 · 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5  Dispensing and pharmacist care  (2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13 items: 0 learn · 2 permit · 8 build · 3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PRM-4-02  </a:t>
            </a:r>
            <a:pPr indent="0" marL="0">
              <a:buNone/>
            </a:pPr>
            <a:r>
              <a:rPr lang="en-US" sz="1000" dirty="0">
                <a:solidFill>
                  <a:srgbClr val="52525B"/>
                </a:solidFill>
              </a:rPr>
              <a:t>Internal policy</a:t>
            </a:r>
            <a:endParaRPr lang="en-US" sz="1000" dirty="0"/>
          </a:p>
        </p:txBody>
      </p:sp>
      <p:sp>
        <p:nvSpPr>
          <p:cNvPr id="7" name="Shape 4"/>
          <p:cNvSpPr/>
          <p:nvPr/>
        </p:nvSpPr>
        <p:spPr>
          <a:xfrm>
            <a:off x="3027578" y="1335024"/>
            <a:ext cx="914400" cy="237744"/>
          </a:xfrm>
          <a:prstGeom prst="roundRect">
            <a:avLst>
              <a:gd name="adj" fmla="val 50000"/>
            </a:avLst>
          </a:prstGeom>
          <a:solidFill>
            <a:srgbClr val="B5D334"/>
          </a:solidFill>
          <a:ln w="12700">
            <a:solidFill>
              <a:srgbClr val="B5D334"/>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Naming the pharmacist</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policy that lets pharmacists' names appear on customer statuses, agreed with HR and on safety.</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Named Check depends on it, and staff need to be comfortable before their names go on messages.</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My pharmacist is my front door to care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BLD-6-03  </a:t>
            </a:r>
            <a:pPr indent="0" marL="0">
              <a:buNone/>
            </a:pPr>
            <a:r>
              <a:rPr lang="en-US" sz="1000" dirty="0">
                <a:solidFill>
                  <a:srgbClr val="52525B"/>
                </a:solidFill>
              </a:rPr>
              <a:t>Staff tool</a:t>
            </a:r>
            <a:endParaRPr lang="en-US" sz="1000" dirty="0"/>
          </a:p>
        </p:txBody>
      </p:sp>
      <p:sp>
        <p:nvSpPr>
          <p:cNvPr id="15" name="Shape 12"/>
          <p:cNvSpPr/>
          <p:nvPr/>
        </p:nvSpPr>
        <p:spPr>
          <a:xfrm>
            <a:off x="6786677" y="1335024"/>
            <a:ext cx="914400" cy="237744"/>
          </a:xfrm>
          <a:prstGeom prst="roundRect">
            <a:avLst>
              <a:gd name="adj" fmla="val 50000"/>
            </a:avLst>
          </a:prstGeom>
          <a:solidFill>
            <a:srgbClr val="126E35"/>
          </a:solidFill>
          <a:ln w="12700">
            <a:solidFill>
              <a:srgbClr val="126E35"/>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In flight</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Automated picking (ROWA)</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robot picks eligible stock for each order, and people prepare the items it can't handle.</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Picking is the most manual step; automating it frees staff and cuts picking errors.</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Fulfilment like a production line · Separation &amp; specialisation create focus</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ECM · FUL s21 · FUL s40</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BLD-6-04  </a:t>
            </a:r>
            <a:pPr indent="0" marL="0">
              <a:buNone/>
            </a:pPr>
            <a:r>
              <a:rPr lang="en-US" sz="1000" dirty="0">
                <a:solidFill>
                  <a:srgbClr val="52525B"/>
                </a:solidFill>
              </a:rPr>
              <a:t>Staff tool</a:t>
            </a:r>
            <a:endParaRPr lang="en-US" sz="1000" dirty="0"/>
          </a:p>
        </p:txBody>
      </p:sp>
      <p:sp>
        <p:nvSpPr>
          <p:cNvPr id="23" name="Shape 20"/>
          <p:cNvSpPr/>
          <p:nvPr/>
        </p:nvSpPr>
        <p:spPr>
          <a:xfrm>
            <a:off x="10545775" y="1335024"/>
            <a:ext cx="914400" cy="237744"/>
          </a:xfrm>
          <a:prstGeom prst="roundRect">
            <a:avLst>
              <a:gd name="adj" fmla="val 50000"/>
            </a:avLst>
          </a:prstGeom>
          <a:solidFill>
            <a:srgbClr val="7FC79A"/>
          </a:solidFill>
          <a:ln w="12700">
            <a:solidFill>
              <a:srgbClr val="7FC79A"/>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Pick verification</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Every picked item is scanned or visually checked against the order before packing, with look-alikes flagged.</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Short packs and wrong items are found at home today; this catches them in the building.</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s17</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RUN-9-02  </a:t>
            </a:r>
            <a:pPr indent="0" marL="0">
              <a:buNone/>
            </a:pPr>
            <a:r>
              <a:rPr lang="en-US" sz="1000" dirty="0">
                <a:solidFill>
                  <a:srgbClr val="52525B"/>
                </a:solidFill>
              </a:rPr>
              <a:t>Process</a:t>
            </a:r>
            <a:endParaRPr lang="en-US" sz="1000" dirty="0"/>
          </a:p>
        </p:txBody>
      </p:sp>
      <p:sp>
        <p:nvSpPr>
          <p:cNvPr id="31" name="Shape 28"/>
          <p:cNvSpPr/>
          <p:nvPr/>
        </p:nvSpPr>
        <p:spPr>
          <a:xfrm>
            <a:off x="3027578" y="4000500"/>
            <a:ext cx="914400" cy="237744"/>
          </a:xfrm>
          <a:prstGeom prst="roundRect">
            <a:avLst>
              <a:gd name="adj" fmla="val 50000"/>
            </a:avLst>
          </a:prstGeom>
          <a:solidFill>
            <a:srgbClr val="7FC79A"/>
          </a:solidFill>
          <a:ln w="12700">
            <a:solidFill>
              <a:srgbClr val="7FC79A"/>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Explained generic switch</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When a generic replaces a usual brand, the switch is explained and the customer agrees before it is dispensed.</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Customers read an unexplained generic as the wrong medicine, so substitution needs consent as well as a price.</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My pharmacist is my front door to care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BLD-5-07  </a:t>
            </a:r>
            <a:pPr indent="0" marL="0">
              <a:buNone/>
            </a:pPr>
            <a:r>
              <a:rPr lang="en-US" sz="1000" dirty="0">
                <a:solidFill>
                  <a:srgbClr val="52525B"/>
                </a:solidFill>
              </a:rPr>
              <a:t>Customer feature</a:t>
            </a:r>
            <a:endParaRPr lang="en-US" sz="1000" dirty="0"/>
          </a:p>
        </p:txBody>
      </p:sp>
      <p:sp>
        <p:nvSpPr>
          <p:cNvPr id="39" name="Shape 36"/>
          <p:cNvSpPr/>
          <p:nvPr/>
        </p:nvSpPr>
        <p:spPr>
          <a:xfrm>
            <a:off x="6786677" y="4000500"/>
            <a:ext cx="914400" cy="237744"/>
          </a:xfrm>
          <a:prstGeom prst="roundRect">
            <a:avLst>
              <a:gd name="adj" fmla="val 50000"/>
            </a:avLst>
          </a:prstGeom>
          <a:solidFill>
            <a:srgbClr val="B06A00"/>
          </a:solidFill>
          <a:ln w="12700">
            <a:solidFill>
              <a:srgbClr val="B06A00"/>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Pharmacist in the thread</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can message a pharmacist about their medicine in the app or on WhatsApp, in the same thread as their order.</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 question gets a qualified answer without a trip to the counter.</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My pharmacist is my front door to care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RUN-10-01  </a:t>
            </a:r>
            <a:pPr indent="0" marL="0">
              <a:buNone/>
            </a:pPr>
            <a:r>
              <a:rPr lang="en-US" sz="1000" dirty="0">
                <a:solidFill>
                  <a:srgbClr val="52525B"/>
                </a:solidFill>
              </a:rPr>
              <a:t>People &amp; roles</a:t>
            </a:r>
            <a:endParaRPr lang="en-US" sz="1000" dirty="0"/>
          </a:p>
        </p:txBody>
      </p:sp>
      <p:sp>
        <p:nvSpPr>
          <p:cNvPr id="47" name="Shape 44"/>
          <p:cNvSpPr/>
          <p:nvPr/>
        </p:nvSpPr>
        <p:spPr>
          <a:xfrm>
            <a:off x="10545775" y="4000500"/>
            <a:ext cx="914400" cy="237744"/>
          </a:xfrm>
          <a:prstGeom prst="roundRect">
            <a:avLst>
              <a:gd name="adj" fmla="val 50000"/>
            </a:avLst>
          </a:prstGeom>
          <a:solidFill>
            <a:srgbClr val="B06A00"/>
          </a:solidFill>
          <a:ln w="12700">
            <a:solidFill>
              <a:srgbClr val="B06A00"/>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Remote pharmacist service</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Pharmacists are rostered to answer customers' medicine questions in the app and on WhatsApp, at the hours the service promises.</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repeat service promises a pharmacist in the thread; that needs people, hours and a response-time target.</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My pharmacist is my front door to care · The counter is for care, not admin</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5  Dispensing and pharmacist care  (3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13 items: 0 learn · 2 permit · 8 build · 3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RUN-10-02  </a:t>
            </a:r>
            <a:pPr indent="0" marL="0">
              <a:buNone/>
            </a:pPr>
            <a:r>
              <a:rPr lang="en-US" sz="1000" dirty="0">
                <a:solidFill>
                  <a:srgbClr val="52525B"/>
                </a:solidFill>
              </a:rPr>
              <a:t>People &amp; roles</a:t>
            </a:r>
            <a:endParaRPr lang="en-US" sz="1000" dirty="0"/>
          </a:p>
        </p:txBody>
      </p:sp>
      <p:sp>
        <p:nvSpPr>
          <p:cNvPr id="7" name="Shape 4"/>
          <p:cNvSpPr/>
          <p:nvPr/>
        </p:nvSpPr>
        <p:spPr>
          <a:xfrm>
            <a:off x="3027578" y="1335024"/>
            <a:ext cx="914400" cy="237744"/>
          </a:xfrm>
          <a:prstGeom prst="roundRect">
            <a:avLst>
              <a:gd name="adj" fmla="val 50000"/>
            </a:avLst>
          </a:prstGeom>
          <a:solidFill>
            <a:srgbClr val="7FC79A"/>
          </a:solidFill>
          <a:ln w="12700">
            <a:solidFill>
              <a:srgbClr val="7FC79A"/>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Adherence Centre capacity</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The Adherence Centre has enough PBQs and pharmacists, on the right hours, for repeat volumes as they grow.</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FUL estimates about 65-80 more PBQs to reach roughly 14,000 scripts a day, before household repeats add to it.</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Separation &amp; specialisation create focus</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s44</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6  Collection and delivery  (1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17 items: 3 learn · 1 permit · 9 build · 4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BLD-5-08  </a:t>
            </a:r>
            <a:pPr indent="0" marL="0">
              <a:buNone/>
            </a:pPr>
            <a:r>
              <a:rPr lang="en-US" sz="1000" dirty="0">
                <a:solidFill>
                  <a:srgbClr val="52525B"/>
                </a:solidFill>
              </a:rPr>
              <a:t>Customer feature</a:t>
            </a:r>
            <a:endParaRPr lang="en-US" sz="1000" dirty="0"/>
          </a:p>
        </p:txBody>
      </p:sp>
      <p:sp>
        <p:nvSpPr>
          <p:cNvPr id="7" name="Shape 4"/>
          <p:cNvSpPr/>
          <p:nvPr/>
        </p:nvSpPr>
        <p:spPr>
          <a:xfrm>
            <a:off x="3027578" y="1335024"/>
            <a:ext cx="914400" cy="237744"/>
          </a:xfrm>
          <a:prstGeom prst="roundRect">
            <a:avLst>
              <a:gd name="adj" fmla="val 50000"/>
            </a:avLst>
          </a:prstGeom>
          <a:solidFill>
            <a:srgbClr val="B5D334"/>
          </a:solidFill>
          <a:ln w="12700">
            <a:solidFill>
              <a:srgbClr val="B5D334"/>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Open order window</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Until the day before delivery, customers can add shop items (or OTC medicine on the locker route) to their repeat order.</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the delivery still does the double duty the store trip used to do.</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none fits yet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BLD-7-17  </a:t>
            </a:r>
            <a:pPr indent="0" marL="0">
              <a:buNone/>
            </a:pPr>
            <a:r>
              <a:rPr lang="en-US" sz="1000" dirty="0">
                <a:solidFill>
                  <a:srgbClr val="52525B"/>
                </a:solidFill>
              </a:rPr>
              <a:t>Platform &amp; data</a:t>
            </a:r>
            <a:endParaRPr lang="en-US" sz="1000" dirty="0"/>
          </a:p>
        </p:txBody>
      </p:sp>
      <p:sp>
        <p:nvSpPr>
          <p:cNvPr id="15" name="Shape 12"/>
          <p:cNvSpPr/>
          <p:nvPr/>
        </p:nvSpPr>
        <p:spPr>
          <a:xfrm>
            <a:off x="6786677" y="1335024"/>
            <a:ext cx="914400" cy="237744"/>
          </a:xfrm>
          <a:prstGeom prst="roundRect">
            <a:avLst>
              <a:gd name="adj" fmla="val 50000"/>
            </a:avLst>
          </a:prstGeom>
          <a:solidFill>
            <a:srgbClr val="7FC79A"/>
          </a:solidFill>
          <a:ln w="12700">
            <a:solidFill>
              <a:srgbClr val="7FC79A"/>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One household parcel</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All of a household's medicine and shop items are consolidated into one parcel and one delivery.</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Separate parcels mean separate trips, fees and chances to go wrong.</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Fulfilment like a production line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s17 · FUL s21</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RUN-9-03  </a:t>
            </a:r>
            <a:pPr indent="0" marL="0">
              <a:buNone/>
            </a:pPr>
            <a:r>
              <a:rPr lang="en-US" sz="1000" dirty="0">
                <a:solidFill>
                  <a:srgbClr val="52525B"/>
                </a:solidFill>
              </a:rPr>
              <a:t>Process</a:t>
            </a:r>
            <a:endParaRPr lang="en-US" sz="1000" dirty="0"/>
          </a:p>
        </p:txBody>
      </p:sp>
      <p:sp>
        <p:nvSpPr>
          <p:cNvPr id="23" name="Shape 20"/>
          <p:cNvSpPr/>
          <p:nvPr/>
        </p:nvSpPr>
        <p:spPr>
          <a:xfrm>
            <a:off x="10545775" y="1335024"/>
            <a:ext cx="914400" cy="237744"/>
          </a:xfrm>
          <a:prstGeom prst="roundRect">
            <a:avLst>
              <a:gd name="adj" fmla="val 50000"/>
            </a:avLst>
          </a:prstGeom>
          <a:solidFill>
            <a:srgbClr val="7FC79A"/>
          </a:solidFill>
          <a:ln w="12700">
            <a:solidFill>
              <a:srgbClr val="7FC79A"/>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Combined pick and pack</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Front-shop and pharmacy staff follow one set process for picking shop items alongside medicine and holding them together.</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Pick-and-pack roles are unclear between front shop and dispensary today, which delays combined orders.</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Separation &amp; specialisation create focus</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s17</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BLD-5-09  </a:t>
            </a:r>
            <a:pPr indent="0" marL="0">
              <a:buNone/>
            </a:pPr>
            <a:r>
              <a:rPr lang="en-US" sz="1000" dirty="0">
                <a:solidFill>
                  <a:srgbClr val="52525B"/>
                </a:solidFill>
              </a:rPr>
              <a:t>Customer feature</a:t>
            </a:r>
            <a:endParaRPr lang="en-US" sz="1000" dirty="0"/>
          </a:p>
        </p:txBody>
      </p:sp>
      <p:sp>
        <p:nvSpPr>
          <p:cNvPr id="31" name="Shape 28"/>
          <p:cNvSpPr/>
          <p:nvPr/>
        </p:nvSpPr>
        <p:spPr>
          <a:xfrm>
            <a:off x="3027578" y="4000500"/>
            <a:ext cx="914400" cy="237744"/>
          </a:xfrm>
          <a:prstGeom prst="roundRect">
            <a:avLst>
              <a:gd name="adj" fmla="val 50000"/>
            </a:avLst>
          </a:prstGeom>
          <a:solidFill>
            <a:srgbClr val="B5D334"/>
          </a:solidFill>
          <a:ln w="12700">
            <a:solidFill>
              <a:srgbClr val="B5D334"/>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Flexible delivery plans</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can move the day or window, or switch to collection, until the day before, in one reply.</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Plans change; letting the parcel follow them avoids failed deliveries and wasted trips.</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none fits yet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BLD-5-10  </a:t>
            </a:r>
            <a:pPr indent="0" marL="0">
              <a:buNone/>
            </a:pPr>
            <a:r>
              <a:rPr lang="en-US" sz="1000" dirty="0">
                <a:solidFill>
                  <a:srgbClr val="52525B"/>
                </a:solidFill>
              </a:rPr>
              <a:t>Customer feature</a:t>
            </a:r>
            <a:endParaRPr lang="en-US" sz="1000" dirty="0"/>
          </a:p>
        </p:txBody>
      </p:sp>
      <p:sp>
        <p:nvSpPr>
          <p:cNvPr id="39" name="Shape 36"/>
          <p:cNvSpPr/>
          <p:nvPr/>
        </p:nvSpPr>
        <p:spPr>
          <a:xfrm>
            <a:off x="6786677" y="4000500"/>
            <a:ext cx="914400" cy="237744"/>
          </a:xfrm>
          <a:prstGeom prst="roundRect">
            <a:avLst>
              <a:gd name="adj" fmla="val 50000"/>
            </a:avLst>
          </a:prstGeom>
          <a:solidFill>
            <a:srgbClr val="7FC79A"/>
          </a:solidFill>
          <a:ln w="12700">
            <a:solidFill>
              <a:srgbClr val="7FC79A"/>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Live delivery tracking</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can watch their parcel move from the dispensary to their door or locker.</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worst failure today is "out for delivery, then nothing"; visible progress ends that.</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s19 · FUL s40</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BLD-7-18  </a:t>
            </a:r>
            <a:pPr indent="0" marL="0">
              <a:buNone/>
            </a:pPr>
            <a:r>
              <a:rPr lang="en-US" sz="1000" dirty="0">
                <a:solidFill>
                  <a:srgbClr val="52525B"/>
                </a:solidFill>
              </a:rPr>
              <a:t>Platform &amp; data</a:t>
            </a:r>
            <a:endParaRPr lang="en-US" sz="1000" dirty="0"/>
          </a:p>
        </p:txBody>
      </p:sp>
      <p:sp>
        <p:nvSpPr>
          <p:cNvPr id="47" name="Shape 44"/>
          <p:cNvSpPr/>
          <p:nvPr/>
        </p:nvSpPr>
        <p:spPr>
          <a:xfrm>
            <a:off x="10545775" y="4000500"/>
            <a:ext cx="914400" cy="237744"/>
          </a:xfrm>
          <a:prstGeom prst="roundRect">
            <a:avLst>
              <a:gd name="adj" fmla="val 50000"/>
            </a:avLst>
          </a:prstGeom>
          <a:solidFill>
            <a:srgbClr val="7FC79A"/>
          </a:solidFill>
          <a:ln w="12700">
            <a:solidFill>
              <a:srgbClr val="7FC79A"/>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Closed-loop handover code</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Each parcel has a QR code with a backup PIN that works at the door, the locker and the store counter, and only a scan closes the order.</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"Delivered" then means in the customer's hands, not left at a gate.</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 · 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s19</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6  Collection and delivery  (2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17 items: 3 learn · 1 permit · 9 build · 4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BLD-7-19  </a:t>
            </a:r>
            <a:pPr indent="0" marL="0">
              <a:buNone/>
            </a:pPr>
            <a:r>
              <a:rPr lang="en-US" sz="1000" dirty="0">
                <a:solidFill>
                  <a:srgbClr val="52525B"/>
                </a:solidFill>
              </a:rPr>
              <a:t>Platform &amp; data</a:t>
            </a:r>
            <a:endParaRPr lang="en-US" sz="1000" dirty="0"/>
          </a:p>
        </p:txBody>
      </p:sp>
      <p:sp>
        <p:nvSpPr>
          <p:cNvPr id="7" name="Shape 4"/>
          <p:cNvSpPr/>
          <p:nvPr/>
        </p:nvSpPr>
        <p:spPr>
          <a:xfrm>
            <a:off x="3027578" y="1335024"/>
            <a:ext cx="914400" cy="237744"/>
          </a:xfrm>
          <a:prstGeom prst="roundRect">
            <a:avLst>
              <a:gd name="adj" fmla="val 50000"/>
            </a:avLst>
          </a:prstGeom>
          <a:solidFill>
            <a:srgbClr val="B06A00"/>
          </a:solidFill>
          <a:ln w="12700">
            <a:solidFill>
              <a:srgbClr val="B06A00"/>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Failed delivery re-planned</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When a delivery fails, the parcel is re-planned with the customer: delivered tomorrow, or collected at a store on the same code.</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a missed delivery stays a short delay instead of a lost parcel.</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s40</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BLD-7-20  </a:t>
            </a:r>
            <a:pPr indent="0" marL="0">
              <a:buNone/>
            </a:pPr>
            <a:r>
              <a:rPr lang="en-US" sz="1000" dirty="0">
                <a:solidFill>
                  <a:srgbClr val="52525B"/>
                </a:solidFill>
              </a:rPr>
              <a:t>Platform &amp; data</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Split delivery on stock-out</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An order can be split so the rest arrives on time and a missing item follows on its own.</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One missing medicine shouldn't hold up a whole household's supply.</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RUN-9-04  </a:t>
            </a:r>
            <a:pPr indent="0" marL="0">
              <a:buNone/>
            </a:pPr>
            <a:r>
              <a:rPr lang="en-US" sz="1000" dirty="0">
                <a:solidFill>
                  <a:srgbClr val="52525B"/>
                </a:solidFill>
              </a:rPr>
              <a:t>Process</a:t>
            </a:r>
            <a:endParaRPr lang="en-US" sz="1000" dirty="0"/>
          </a:p>
        </p:txBody>
      </p:sp>
      <p:sp>
        <p:nvSpPr>
          <p:cNvPr id="23" name="Shape 20"/>
          <p:cNvSpPr/>
          <p:nvPr/>
        </p:nvSpPr>
        <p:spPr>
          <a:xfrm>
            <a:off x="10545775" y="1335024"/>
            <a:ext cx="914400" cy="237744"/>
          </a:xfrm>
          <a:prstGeom prst="roundRect">
            <a:avLst>
              <a:gd name="adj" fmla="val 50000"/>
            </a:avLst>
          </a:prstGeom>
          <a:solidFill>
            <a:srgbClr val="7FC79A"/>
          </a:solidFill>
          <a:ln w="12700">
            <a:solidFill>
              <a:srgbClr val="7FC79A"/>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Collect any order at any counter</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Any store counter can hand over any digital order, including a failed delivery, on the customer's code.</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Collections differ by channel and store type today, so customers get sent from counter to counter.</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s19 · FUL s40</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RUN-11-03  </a:t>
            </a:r>
            <a:pPr indent="0" marL="0">
              <a:buNone/>
            </a:pPr>
            <a:r>
              <a:rPr lang="en-US" sz="1000" dirty="0">
                <a:solidFill>
                  <a:srgbClr val="52525B"/>
                </a:solidFill>
              </a:rPr>
              <a:t>Partnership</a:t>
            </a:r>
            <a:endParaRPr lang="en-US" sz="1000" dirty="0"/>
          </a:p>
        </p:txBody>
      </p:sp>
      <p:sp>
        <p:nvSpPr>
          <p:cNvPr id="31" name="Shape 28"/>
          <p:cNvSpPr/>
          <p:nvPr/>
        </p:nvSpPr>
        <p:spPr>
          <a:xfrm>
            <a:off x="3027578" y="4000500"/>
            <a:ext cx="914400" cy="237744"/>
          </a:xfrm>
          <a:prstGeom prst="roundRect">
            <a:avLst>
              <a:gd name="adj" fmla="val 50000"/>
            </a:avLst>
          </a:prstGeom>
          <a:solidFill>
            <a:srgbClr val="B5D334"/>
          </a:solidFill>
          <a:ln w="12700">
            <a:solidFill>
              <a:srgbClr val="B5D334"/>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Near-home locker network</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Lockers at partner sites near where customers live and travel, such as bank branches by taxi ranks.</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Many cash customers have no Dis-Chem nearby and no deliverable street address.</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BLD-7-21  </a:t>
            </a:r>
            <a:pPr indent="0" marL="0">
              <a:buNone/>
            </a:pPr>
            <a:r>
              <a:rPr lang="en-US" sz="1000" dirty="0">
                <a:solidFill>
                  <a:srgbClr val="52525B"/>
                </a:solidFill>
              </a:rPr>
              <a:t>Platform &amp; data</a:t>
            </a:r>
            <a:endParaRPr lang="en-US" sz="1000" dirty="0"/>
          </a:p>
        </p:txBody>
      </p:sp>
      <p:sp>
        <p:nvSpPr>
          <p:cNvPr id="39" name="Shape 36"/>
          <p:cNvSpPr/>
          <p:nvPr/>
        </p:nvSpPr>
        <p:spPr>
          <a:xfrm>
            <a:off x="6786677" y="4000500"/>
            <a:ext cx="914400" cy="237744"/>
          </a:xfrm>
          <a:prstGeom prst="roundRect">
            <a:avLst>
              <a:gd name="adj" fmla="val 50000"/>
            </a:avLst>
          </a:prstGeom>
          <a:solidFill>
            <a:srgbClr val="B5D334"/>
          </a:solidFill>
          <a:ln w="12700">
            <a:solidFill>
              <a:srgbClr val="B5D334"/>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Locker integration</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Dis-Chem's systems load, monitor and release locker parcels, and know before the customer travels if a locker is down.</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nobody spends taxi fare on a closed door.</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PRM-3-03  </a:t>
            </a:r>
            <a:pPr indent="0" marL="0">
              <a:buNone/>
            </a:pPr>
            <a:r>
              <a:rPr lang="en-US" sz="1000" b="1" dirty="0">
                <a:solidFill>
                  <a:srgbClr val="B06A00"/>
                </a:solidFill>
              </a:rPr>
              <a:t>Regulatory reform</a:t>
            </a:r>
            <a:endParaRPr lang="en-US" sz="1000" dirty="0"/>
          </a:p>
        </p:txBody>
      </p:sp>
      <p:sp>
        <p:nvSpPr>
          <p:cNvPr id="47" name="Shape 44"/>
          <p:cNvSpPr/>
          <p:nvPr/>
        </p:nvSpPr>
        <p:spPr>
          <a:xfrm>
            <a:off x="10545775" y="4000500"/>
            <a:ext cx="914400" cy="237744"/>
          </a:xfrm>
          <a:prstGeom prst="roundRect">
            <a:avLst>
              <a:gd name="adj" fmla="val 50000"/>
            </a:avLst>
          </a:prstGeom>
          <a:solidFill>
            <a:srgbClr val="B5D334"/>
          </a:solidFill>
          <a:ln w="12700">
            <a:solidFill>
              <a:srgbClr val="B5D334"/>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Scheduled medicine from lockers</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Rules that allow scheduled medicine to be collected from an unattended locker, with the right pharmacist oversight.</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Lockers only work for repeats if the medicines that matter can go in them.</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Proximity without exposure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6  Collection and delivery  (3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17 items: 3 learn · 1 permit · 9 build · 4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RUN-9-05  </a:t>
            </a:r>
            <a:pPr indent="0" marL="0">
              <a:buNone/>
            </a:pPr>
            <a:r>
              <a:rPr lang="en-US" sz="1000" dirty="0">
                <a:solidFill>
                  <a:srgbClr val="52525B"/>
                </a:solidFill>
              </a:rPr>
              <a:t>Process</a:t>
            </a:r>
            <a:endParaRPr lang="en-US" sz="1000" dirty="0"/>
          </a:p>
        </p:txBody>
      </p:sp>
      <p:sp>
        <p:nvSpPr>
          <p:cNvPr id="7" name="Shape 4"/>
          <p:cNvSpPr/>
          <p:nvPr/>
        </p:nvSpPr>
        <p:spPr>
          <a:xfrm>
            <a:off x="3027578" y="1335024"/>
            <a:ext cx="914400" cy="237744"/>
          </a:xfrm>
          <a:prstGeom prst="roundRect">
            <a:avLst>
              <a:gd name="adj" fmla="val 50000"/>
            </a:avLst>
          </a:prstGeom>
          <a:solidFill>
            <a:srgbClr val="B5D334"/>
          </a:solidFill>
          <a:ln w="12700">
            <a:solidFill>
              <a:srgbClr val="B5D334"/>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Medicine courier compliance</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Delivery and locker routes meet licensing, cold-chain and scheduled-medicine handling rules, and can pass a GPP audit.</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Medicine in transit is still dispensed medicine, and one failure here is a safety and licence risk.</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BLD-5-11  </a:t>
            </a:r>
            <a:pPr indent="0" marL="0">
              <a:buNone/>
            </a:pPr>
            <a:r>
              <a:rPr lang="en-US" sz="1000" dirty="0">
                <a:solidFill>
                  <a:srgbClr val="52525B"/>
                </a:solidFill>
              </a:rPr>
              <a:t>Customer feature</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Contents check with photo help</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After handover, customers get a list of what should be in the parcel and can send a photo to trigger an immediate call-back.</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A short pack is caught while the parcel is still in front of them, not days later.</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 · Never turn your back on the customer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LRN-2-02  </a:t>
            </a:r>
            <a:pPr indent="0" marL="0">
              <a:buNone/>
            </a:pPr>
            <a:r>
              <a:rPr lang="en-US" sz="1000" dirty="0">
                <a:solidFill>
                  <a:srgbClr val="52525B"/>
                </a:solidFill>
              </a:rPr>
              <a:t>Decision</a:t>
            </a:r>
            <a:endParaRPr lang="en-US" sz="1000" dirty="0"/>
          </a:p>
        </p:txBody>
      </p:sp>
      <p:sp>
        <p:nvSpPr>
          <p:cNvPr id="23" name="Shape 20"/>
          <p:cNvSpPr/>
          <p:nvPr/>
        </p:nvSpPr>
        <p:spPr>
          <a:xfrm>
            <a:off x="10545775" y="1335024"/>
            <a:ext cx="914400" cy="237744"/>
          </a:xfrm>
          <a:prstGeom prst="roundRect">
            <a:avLst>
              <a:gd name="adj" fmla="val 50000"/>
            </a:avLst>
          </a:prstGeom>
          <a:solidFill>
            <a:srgbClr val="B06A00"/>
          </a:solidFill>
          <a:ln w="12700">
            <a:solidFill>
              <a:srgbClr val="B06A00"/>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Delivery promise standard</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decision on the delivery windows Dis-Chem promises for repeats, and what happens when a promise is missed.</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Customers distrust over-precise promises and judge the service on whether the window held.</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s20 · FUL s61</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LRN-2-03  </a:t>
            </a:r>
            <a:pPr indent="0" marL="0">
              <a:buNone/>
            </a:pPr>
            <a:r>
              <a:rPr lang="en-US" sz="1000" dirty="0">
                <a:solidFill>
                  <a:srgbClr val="52525B"/>
                </a:solidFill>
              </a:rPr>
              <a:t>Decision</a:t>
            </a:r>
            <a:endParaRPr lang="en-US" sz="1000" dirty="0"/>
          </a:p>
        </p:txBody>
      </p:sp>
      <p:sp>
        <p:nvSpPr>
          <p:cNvPr id="31" name="Shape 28"/>
          <p:cNvSpPr/>
          <p:nvPr/>
        </p:nvSpPr>
        <p:spPr>
          <a:xfrm>
            <a:off x="3027578" y="4000500"/>
            <a:ext cx="914400" cy="237744"/>
          </a:xfrm>
          <a:prstGeom prst="roundRect">
            <a:avLst>
              <a:gd name="adj" fmla="val 50000"/>
            </a:avLst>
          </a:prstGeom>
          <a:solidFill>
            <a:srgbClr val="B5D334"/>
          </a:solidFill>
          <a:ln w="12700">
            <a:solidFill>
              <a:srgbClr val="B5D334"/>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What rides with medicine</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A decision on what can join a medicine delivery (the whole store or a subset, any fee or minimum) and on the medicine-only locker rule.</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Retail on the delivery is commercial upside, but it changes picking, parcel size and the locker route.</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none fits yet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LRN-1-03  </a:t>
            </a:r>
            <a:pPr indent="0" marL="0">
              <a:buNone/>
            </a:pPr>
            <a:r>
              <a:rPr lang="en-US" sz="1000" dirty="0">
                <a:solidFill>
                  <a:srgbClr val="52525B"/>
                </a:solidFill>
              </a:rPr>
              <a:t>Research</a:t>
            </a:r>
            <a:endParaRPr lang="en-US" sz="1000" dirty="0"/>
          </a:p>
        </p:txBody>
      </p:sp>
      <p:sp>
        <p:nvSpPr>
          <p:cNvPr id="39" name="Shape 36"/>
          <p:cNvSpPr/>
          <p:nvPr/>
        </p:nvSpPr>
        <p:spPr>
          <a:xfrm>
            <a:off x="6786677" y="4000500"/>
            <a:ext cx="914400" cy="237744"/>
          </a:xfrm>
          <a:prstGeom prst="roundRect">
            <a:avLst>
              <a:gd name="adj" fmla="val 50000"/>
            </a:avLst>
          </a:prstGeom>
          <a:solidFill>
            <a:srgbClr val="B5D334"/>
          </a:solidFill>
          <a:ln w="12700">
            <a:solidFill>
              <a:srgbClr val="B5D334"/>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Cash customer proposition test</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Evidence that cash customers will use a WhatsApp repeat service with a bank locker and pay-at-counter collection.</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cash journey rests on untested assumptions about trust, cost and travel.</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7  Adherence and refills  (1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15 items: 4 learn · 2 permit · 7 build · 2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BLD-5-12  </a:t>
            </a:r>
            <a:pPr indent="0" marL="0">
              <a:buNone/>
            </a:pPr>
            <a:r>
              <a:rPr lang="en-US" sz="1000" dirty="0">
                <a:solidFill>
                  <a:srgbClr val="52525B"/>
                </a:solidFill>
              </a:rPr>
              <a:t>Customer feature</a:t>
            </a:r>
            <a:endParaRPr lang="en-US" sz="1000" dirty="0"/>
          </a:p>
        </p:txBody>
      </p:sp>
      <p:sp>
        <p:nvSpPr>
          <p:cNvPr id="7" name="Shape 4"/>
          <p:cNvSpPr/>
          <p:nvPr/>
        </p:nvSpPr>
        <p:spPr>
          <a:xfrm>
            <a:off x="3027578" y="1335024"/>
            <a:ext cx="914400" cy="237744"/>
          </a:xfrm>
          <a:prstGeom prst="roundRect">
            <a:avLst>
              <a:gd name="adj" fmla="val 50000"/>
            </a:avLst>
          </a:prstGeom>
          <a:solidFill>
            <a:srgbClr val="B5D334"/>
          </a:solidFill>
          <a:ln w="12700">
            <a:solidFill>
              <a:srgbClr val="B5D334"/>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Repeat service sign-up</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join a standing repeat service in the app or on WhatsApp in a few minutes, and see everything read back before they confirm.</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Setting it up once is what lets every later month run without effort.</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BLD-7-22  </a:t>
            </a:r>
            <a:pPr indent="0" marL="0">
              <a:buNone/>
            </a:pPr>
            <a:r>
              <a:rPr lang="en-US" sz="1000" dirty="0">
                <a:solidFill>
                  <a:srgbClr val="52525B"/>
                </a:solidFill>
              </a:rPr>
              <a:t>Platform &amp; data</a:t>
            </a:r>
            <a:endParaRPr lang="en-US" sz="1000" dirty="0"/>
          </a:p>
        </p:txBody>
      </p:sp>
      <p:sp>
        <p:nvSpPr>
          <p:cNvPr id="15" name="Shape 12"/>
          <p:cNvSpPr/>
          <p:nvPr/>
        </p:nvSpPr>
        <p:spPr>
          <a:xfrm>
            <a:off x="6786677" y="1335024"/>
            <a:ext cx="914400" cy="237744"/>
          </a:xfrm>
          <a:prstGeom prst="roundRect">
            <a:avLst>
              <a:gd name="adj" fmla="val 50000"/>
            </a:avLst>
          </a:prstGeom>
          <a:solidFill>
            <a:srgbClr val="7FC79A"/>
          </a:solidFill>
          <a:ln w="12700">
            <a:solidFill>
              <a:srgbClr val="7FC79A"/>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Refill prediction</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The system predicts each person's run-out date from their dispensing history.</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Knowing the date is what lets the order prepare itself a week early.</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 · FUL s17</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BLD-7-23  </a:t>
            </a:r>
            <a:pPr indent="0" marL="0">
              <a:buNone/>
            </a:pPr>
            <a:r>
              <a:rPr lang="en-US" sz="1000" dirty="0">
                <a:solidFill>
                  <a:srgbClr val="52525B"/>
                </a:solidFill>
              </a:rPr>
              <a:t>Platform &amp; data</a:t>
            </a:r>
            <a:endParaRPr lang="en-US" sz="1000" dirty="0"/>
          </a:p>
        </p:txBody>
      </p:sp>
      <p:sp>
        <p:nvSpPr>
          <p:cNvPr id="23" name="Shape 20"/>
          <p:cNvSpPr/>
          <p:nvPr/>
        </p:nvSpPr>
        <p:spPr>
          <a:xfrm>
            <a:off x="10545775" y="1335024"/>
            <a:ext cx="914400" cy="237744"/>
          </a:xfrm>
          <a:prstGeom prst="roundRect">
            <a:avLst>
              <a:gd name="adj" fmla="val 50000"/>
            </a:avLst>
          </a:prstGeom>
          <a:solidFill>
            <a:srgbClr val="B5D334"/>
          </a:solidFill>
          <a:ln w="12700">
            <a:solidFill>
              <a:srgbClr val="B5D334"/>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Script Sync engine</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The system works out how to bring a household's medicines onto one date, knows which ones can't move, and prices the one-off top-up.</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One date means one notice, one parcel and one trip, instead of a medicine calendar kept in someone's head.</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 · Give me all the variables upfront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LRN-1-04  </a:t>
            </a:r>
            <a:pPr indent="0" marL="0">
              <a:buNone/>
            </a:pPr>
            <a:r>
              <a:rPr lang="en-US" sz="1000" dirty="0">
                <a:solidFill>
                  <a:srgbClr val="52525B"/>
                </a:solidFill>
              </a:rPr>
              <a:t>Research</a:t>
            </a:r>
            <a:endParaRPr lang="en-US" sz="1000" dirty="0"/>
          </a:p>
        </p:txBody>
      </p:sp>
      <p:sp>
        <p:nvSpPr>
          <p:cNvPr id="31" name="Shape 28"/>
          <p:cNvSpPr/>
          <p:nvPr/>
        </p:nvSpPr>
        <p:spPr>
          <a:xfrm>
            <a:off x="3027578" y="4000500"/>
            <a:ext cx="914400" cy="237744"/>
          </a:xfrm>
          <a:prstGeom prst="roundRect">
            <a:avLst>
              <a:gd name="adj" fmla="val 50000"/>
            </a:avLst>
          </a:prstGeom>
          <a:solidFill>
            <a:srgbClr val="B5D334"/>
          </a:solidFill>
          <a:ln w="12700">
            <a:solidFill>
              <a:srgbClr val="B5D334"/>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Scheme rules for part-fills</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Confirmed medical scheme rules on early refills and part-fills used to sync cycles.</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Sync relies on one-off top-ups; if schemes won't pay for them, the customer pays or sync doesn't work.</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Give me all the variables upfront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PRM-4-03  </a:t>
            </a:r>
            <a:pPr indent="0" marL="0">
              <a:buNone/>
            </a:pPr>
            <a:r>
              <a:rPr lang="en-US" sz="1000" dirty="0">
                <a:solidFill>
                  <a:srgbClr val="52525B"/>
                </a:solidFill>
              </a:rPr>
              <a:t>Internal policy</a:t>
            </a:r>
            <a:endParaRPr lang="en-US" sz="1000" dirty="0"/>
          </a:p>
        </p:txBody>
      </p:sp>
      <p:sp>
        <p:nvSpPr>
          <p:cNvPr id="39" name="Shape 36"/>
          <p:cNvSpPr/>
          <p:nvPr/>
        </p:nvSpPr>
        <p:spPr>
          <a:xfrm>
            <a:off x="6786677" y="4000500"/>
            <a:ext cx="914400" cy="237744"/>
          </a:xfrm>
          <a:prstGeom prst="roundRect">
            <a:avLst>
              <a:gd name="adj" fmla="val 50000"/>
            </a:avLst>
          </a:prstGeom>
          <a:solidFill>
            <a:srgbClr val="7FC79A"/>
          </a:solidFill>
          <a:ln w="12700">
            <a:solidFill>
              <a:srgbClr val="7FC79A"/>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Auto-refill eligibility policy</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Dis-Chem defines which medicines and customers may run on a standing order without monthly confirmation.</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Automation needs a clear line: a stable blood-pressure tablet can repeat itself, a newly started or high-risk medicine may not.</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s17</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BLD-5-13  </a:t>
            </a:r>
            <a:pPr indent="0" marL="0">
              <a:buNone/>
            </a:pPr>
            <a:r>
              <a:rPr lang="en-US" sz="1000" dirty="0">
                <a:solidFill>
                  <a:srgbClr val="52525B"/>
                </a:solidFill>
              </a:rPr>
              <a:t>Customer feature</a:t>
            </a:r>
            <a:endParaRPr lang="en-US" sz="1000" dirty="0"/>
          </a:p>
        </p:txBody>
      </p:sp>
      <p:sp>
        <p:nvSpPr>
          <p:cNvPr id="47" name="Shape 44"/>
          <p:cNvSpPr/>
          <p:nvPr/>
        </p:nvSpPr>
        <p:spPr>
          <a:xfrm>
            <a:off x="10545775" y="4000500"/>
            <a:ext cx="914400" cy="237744"/>
          </a:xfrm>
          <a:prstGeom prst="roundRect">
            <a:avLst>
              <a:gd name="adj" fmla="val 50000"/>
            </a:avLst>
          </a:prstGeom>
          <a:solidFill>
            <a:srgbClr val="7FC79A"/>
          </a:solidFill>
          <a:ln w="12700">
            <a:solidFill>
              <a:srgbClr val="7FC79A"/>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Monthly repeat notice</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A week before run-out, one message tells the household what is being prepared, when it arrives and what it costs.</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chore of re-ordering disappears; the customer only acts if something needs to change.</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 · 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FUL s17</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7  Adherence and refills  (2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15 items: 4 learn · 2 permit · 7 build · 2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BLD-5-14  </a:t>
            </a:r>
            <a:pPr indent="0" marL="0">
              <a:buNone/>
            </a:pPr>
            <a:r>
              <a:rPr lang="en-US" sz="1000" dirty="0">
                <a:solidFill>
                  <a:srgbClr val="52525B"/>
                </a:solidFill>
              </a:rPr>
              <a:t>Customer feature</a:t>
            </a:r>
            <a:endParaRPr lang="en-US" sz="1000" dirty="0"/>
          </a:p>
        </p:txBody>
      </p:sp>
      <p:sp>
        <p:nvSpPr>
          <p:cNvPr id="7" name="Shape 4"/>
          <p:cNvSpPr/>
          <p:nvPr/>
        </p:nvSpPr>
        <p:spPr>
          <a:xfrm>
            <a:off x="3027578" y="1335024"/>
            <a:ext cx="914400" cy="237744"/>
          </a:xfrm>
          <a:prstGeom prst="roundRect">
            <a:avLst>
              <a:gd name="adj" fmla="val 50000"/>
            </a:avLst>
          </a:prstGeom>
          <a:solidFill>
            <a:srgbClr val="B06A00"/>
          </a:solidFill>
          <a:ln w="12700">
            <a:solidFill>
              <a:srgbClr val="B06A00"/>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Standing order controls</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can amend, swap a line, pause or cancel in one tap or one reply, and the order carries on if they say nothing.</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People let a service run on its own only when they know they can stop it.</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LRN-1-05  </a:t>
            </a:r>
            <a:pPr indent="0" marL="0">
              <a:buNone/>
            </a:pPr>
            <a:r>
              <a:rPr lang="en-US" sz="1000" dirty="0">
                <a:solidFill>
                  <a:srgbClr val="52525B"/>
                </a:solidFill>
              </a:rPr>
              <a:t>Research</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Validate Auto-Refill</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Evidence that customers trust medicine that orders and charges itself, and what controls they need to feel safe.</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Auto-Refill is the heart of the repeat journey; if people won't let it run, nothing downstream matters.</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LRN-1-06  </a:t>
            </a:r>
            <a:pPr indent="0" marL="0">
              <a:buNone/>
            </a:pPr>
            <a:r>
              <a:rPr lang="en-US" sz="1000" dirty="0">
                <a:solidFill>
                  <a:srgbClr val="52525B"/>
                </a:solidFill>
              </a:rPr>
              <a:t>Research</a:t>
            </a:r>
            <a:endParaRPr lang="en-US" sz="1000" dirty="0"/>
          </a:p>
        </p:txBody>
      </p:sp>
      <p:sp>
        <p:nvSpPr>
          <p:cNvPr id="23" name="Shape 20"/>
          <p:cNvSpPr/>
          <p:nvPr/>
        </p:nvSpPr>
        <p:spPr>
          <a:xfrm>
            <a:off x="10545775" y="1335024"/>
            <a:ext cx="914400" cy="237744"/>
          </a:xfrm>
          <a:prstGeom prst="roundRect">
            <a:avLst>
              <a:gd name="adj" fmla="val 50000"/>
            </a:avLst>
          </a:prstGeom>
          <a:solidFill>
            <a:srgbClr val="B5D334"/>
          </a:solidFill>
          <a:ln w="12700">
            <a:solidFill>
              <a:srgbClr val="B5D334"/>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Repeat service value proposition</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Research on what would make customers move their chronic medicine to Dis-Chem's repeat service and stay.</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service competes with medical scheme courier pharmacies and other retailers; we need to know which promises win.</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RUN-9-06  </a:t>
            </a:r>
            <a:pPr indent="0" marL="0">
              <a:buNone/>
            </a:pPr>
            <a:r>
              <a:rPr lang="en-US" sz="1000" dirty="0">
                <a:solidFill>
                  <a:srgbClr val="52525B"/>
                </a:solidFill>
              </a:rPr>
              <a:t>Process</a:t>
            </a:r>
            <a:endParaRPr lang="en-US" sz="1000" dirty="0"/>
          </a:p>
        </p:txBody>
      </p:sp>
      <p:sp>
        <p:nvSpPr>
          <p:cNvPr id="31" name="Shape 28"/>
          <p:cNvSpPr/>
          <p:nvPr/>
        </p:nvSpPr>
        <p:spPr>
          <a:xfrm>
            <a:off x="3027578" y="4000500"/>
            <a:ext cx="914400" cy="237744"/>
          </a:xfrm>
          <a:prstGeom prst="roundRect">
            <a:avLst>
              <a:gd name="adj" fmla="val 50000"/>
            </a:avLst>
          </a:prstGeom>
          <a:solidFill>
            <a:srgbClr val="B06A00"/>
          </a:solidFill>
          <a:ln w="12700">
            <a:solidFill>
              <a:srgbClr val="B06A00"/>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Dose-pack production</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The dispensary can produce a month of per-dose sachets for a household, labelled by person, time and food.</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Pre-sorted doses make medicine hard to take wrong, especially for older people on many medicines.</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 · 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LRN-1-07  </a:t>
            </a:r>
            <a:pPr indent="0" marL="0">
              <a:buNone/>
            </a:pPr>
            <a:r>
              <a:rPr lang="en-US" sz="1000" dirty="0">
                <a:solidFill>
                  <a:srgbClr val="52525B"/>
                </a:solidFill>
              </a:rPr>
              <a:t>Research</a:t>
            </a:r>
            <a:endParaRPr lang="en-US" sz="1000" dirty="0"/>
          </a:p>
        </p:txBody>
      </p:sp>
      <p:sp>
        <p:nvSpPr>
          <p:cNvPr id="39" name="Shape 36"/>
          <p:cNvSpPr/>
          <p:nvPr/>
        </p:nvSpPr>
        <p:spPr>
          <a:xfrm>
            <a:off x="6786677" y="4000500"/>
            <a:ext cx="914400" cy="237744"/>
          </a:xfrm>
          <a:prstGeom prst="roundRect">
            <a:avLst>
              <a:gd name="adj" fmla="val 50000"/>
            </a:avLst>
          </a:prstGeom>
          <a:solidFill>
            <a:srgbClr val="B5D334"/>
          </a:solidFill>
          <a:ln w="12700">
            <a:solidFill>
              <a:srgbClr val="B5D334"/>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Dose-pack proposition</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Evidence on who would pay for dose sachets, and at what price.</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Sachets are the paid end of Made-for-Me Medicine; the price has to work for families and for Dis-Chem.</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BLD-5-15  </a:t>
            </a:r>
            <a:pPr indent="0" marL="0">
              <a:buNone/>
            </a:pPr>
            <a:r>
              <a:rPr lang="en-US" sz="1000" dirty="0">
                <a:solidFill>
                  <a:srgbClr val="52525B"/>
                </a:solidFill>
              </a:rPr>
              <a:t>Customer feature</a:t>
            </a:r>
            <a:endParaRPr lang="en-US" sz="1000" dirty="0"/>
          </a:p>
        </p:txBody>
      </p:sp>
      <p:sp>
        <p:nvSpPr>
          <p:cNvPr id="47" name="Shape 44"/>
          <p:cNvSpPr/>
          <p:nvPr/>
        </p:nvSpPr>
        <p:spPr>
          <a:xfrm>
            <a:off x="10545775" y="4000500"/>
            <a:ext cx="914400" cy="237744"/>
          </a:xfrm>
          <a:prstGeom prst="roundRect">
            <a:avLst>
              <a:gd name="adj" fmla="val 50000"/>
            </a:avLst>
          </a:prstGeom>
          <a:solidFill>
            <a:srgbClr val="B06A00"/>
          </a:solidFill>
          <a:ln w="12700">
            <a:solidFill>
              <a:srgbClr val="B06A00"/>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Patient-controlled reminders</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Reminders go to the person who takes the medicine (children's to the carer), in their language, and stop when that person says so.</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Reminders help when they respect the person, and feel like harassment when they don't.</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7  Adherence and refills  (3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15 items: 4 learn · 2 permit · 7 build · 2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PRM-4-04  </a:t>
            </a:r>
            <a:pPr indent="0" marL="0">
              <a:buNone/>
            </a:pPr>
            <a:r>
              <a:rPr lang="en-US" sz="1000" dirty="0">
                <a:solidFill>
                  <a:srgbClr val="52525B"/>
                </a:solidFill>
              </a:rPr>
              <a:t>Internal policy</a:t>
            </a:r>
            <a:endParaRPr lang="en-US" sz="1000" dirty="0"/>
          </a:p>
        </p:txBody>
      </p:sp>
      <p:sp>
        <p:nvSpPr>
          <p:cNvPr id="7" name="Shape 4"/>
          <p:cNvSpPr/>
          <p:nvPr/>
        </p:nvSpPr>
        <p:spPr>
          <a:xfrm>
            <a:off x="3027578" y="1335024"/>
            <a:ext cx="914400" cy="237744"/>
          </a:xfrm>
          <a:prstGeom prst="roundRect">
            <a:avLst>
              <a:gd name="adj" fmla="val 50000"/>
            </a:avLst>
          </a:prstGeom>
          <a:solidFill>
            <a:srgbClr val="B06A00"/>
          </a:solidFill>
          <a:ln w="12700">
            <a:solidFill>
              <a:srgbClr val="B06A00"/>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Contact and opt-out policy</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policy that limits how often Dis-Chem contacts a customer and makes any opt-out apply across every channel.</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Help turns into harassment when messages keep coming after someone has said stop.</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RUN-11-04  </a:t>
            </a:r>
            <a:pPr indent="0" marL="0">
              <a:buNone/>
            </a:pPr>
            <a:r>
              <a:rPr lang="en-US" sz="1000" b="1" dirty="0">
                <a:solidFill>
                  <a:srgbClr val="B06A00"/>
                </a:solidFill>
              </a:rPr>
              <a:t>Partnership · reform</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Government programme link</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A data link with the government chronic medicine programme (CCMDD), so Dis-Chem knows a family member's programme collection date.</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Cash households often mix programme and retail medicine; seeing both dates lets one service remember everything.</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Repeats should just repeat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BLD-5-16  </a:t>
            </a:r>
            <a:pPr indent="0" marL="0">
              <a:buNone/>
            </a:pPr>
            <a:r>
              <a:rPr lang="en-US" sz="1000" dirty="0">
                <a:solidFill>
                  <a:srgbClr val="52525B"/>
                </a:solidFill>
              </a:rPr>
              <a:t>Customer feature</a:t>
            </a:r>
            <a:endParaRPr lang="en-US" sz="1000" dirty="0"/>
          </a:p>
        </p:txBody>
      </p:sp>
      <p:sp>
        <p:nvSpPr>
          <p:cNvPr id="23" name="Shape 20"/>
          <p:cNvSpPr/>
          <p:nvPr/>
        </p:nvSpPr>
        <p:spPr>
          <a:xfrm>
            <a:off x="10545775" y="1335024"/>
            <a:ext cx="914400" cy="237744"/>
          </a:xfrm>
          <a:prstGeom prst="roundRect">
            <a:avLst>
              <a:gd name="adj" fmla="val 50000"/>
            </a:avLst>
          </a:prstGeom>
          <a:solidFill>
            <a:srgbClr val="B06A00"/>
          </a:solidFill>
          <a:ln w="12700">
            <a:solidFill>
              <a:srgbClr val="B06A00"/>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Household medicine cabinet</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Every medicine the household takes is listed with what it's for, how to take it and its side effects, in the app and in the chat.</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answer to "how do I take this?" is there whenever the question comes up.</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8  Communicating with customers  (1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13 items: 1 learn · 0 permit · 10 build · 2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BLD-8-01  </a:t>
            </a:r>
            <a:pPr indent="0" marL="0">
              <a:buNone/>
            </a:pPr>
            <a:r>
              <a:rPr lang="en-US" sz="1000" dirty="0">
                <a:solidFill>
                  <a:srgbClr val="52525B"/>
                </a:solidFill>
              </a:rPr>
              <a:t>Content &amp; standards</a:t>
            </a:r>
            <a:endParaRPr lang="en-US" sz="1000" dirty="0"/>
          </a:p>
        </p:txBody>
      </p:sp>
      <p:sp>
        <p:nvSpPr>
          <p:cNvPr id="7" name="Shape 4"/>
          <p:cNvSpPr/>
          <p:nvPr/>
        </p:nvSpPr>
        <p:spPr>
          <a:xfrm>
            <a:off x="3027578" y="1335024"/>
            <a:ext cx="914400" cy="237744"/>
          </a:xfrm>
          <a:prstGeom prst="roundRect">
            <a:avLst>
              <a:gd name="adj" fmla="val 50000"/>
            </a:avLst>
          </a:prstGeom>
          <a:solidFill>
            <a:srgbClr val="B06A00"/>
          </a:solidFill>
          <a:ln w="12700">
            <a:solidFill>
              <a:srgbClr val="B06A00"/>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Usage instruction library</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Every medicine's instructions are written once in plain language, checked by pharmacists, and stored for reuse.</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Labels, sachets, fridge sheets, the app and WhatsApp can then all say the same thing.</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 · 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BLD-8-02  </a:t>
            </a:r>
            <a:pPr indent="0" marL="0">
              <a:buNone/>
            </a:pPr>
            <a:r>
              <a:rPr lang="en-US" sz="1000" dirty="0">
                <a:solidFill>
                  <a:srgbClr val="52525B"/>
                </a:solidFill>
              </a:rPr>
              <a:t>Content &amp; standards</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Label design system</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One visual language (icons for time of day and food, layout, type size) used on labels, sachets, sheets and screens.</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Icons speak before words do, for people with low literacy or poor eyesight.</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BLD-8-03  </a:t>
            </a:r>
            <a:pPr indent="0" marL="0">
              <a:buNone/>
            </a:pPr>
            <a:r>
              <a:rPr lang="en-US" sz="1000" dirty="0">
                <a:solidFill>
                  <a:srgbClr val="52525B"/>
                </a:solidFill>
              </a:rPr>
              <a:t>Content &amp; standards</a:t>
            </a:r>
            <a:endParaRPr lang="en-US" sz="1000" dirty="0"/>
          </a:p>
        </p:txBody>
      </p:sp>
      <p:sp>
        <p:nvSpPr>
          <p:cNvPr id="23" name="Shape 20"/>
          <p:cNvSpPr/>
          <p:nvPr/>
        </p:nvSpPr>
        <p:spPr>
          <a:xfrm>
            <a:off x="10545775" y="1335024"/>
            <a:ext cx="914400" cy="237744"/>
          </a:xfrm>
          <a:prstGeom prst="roundRect">
            <a:avLst>
              <a:gd name="adj" fmla="val 50000"/>
            </a:avLst>
          </a:prstGeom>
          <a:solidFill>
            <a:srgbClr val="B06A00"/>
          </a:solidFill>
          <a:ln w="12700">
            <a:solidFill>
              <a:srgbClr val="B06A00"/>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Instructions in SA languages</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Medicine instructions are translated into the main South African languages and clinically checked.</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An instruction the patient can't read is no instruction at all.</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BLD-8-04  </a:t>
            </a:r>
            <a:pPr indent="0" marL="0">
              <a:buNone/>
            </a:pPr>
            <a:r>
              <a:rPr lang="en-US" sz="1000" dirty="0">
                <a:solidFill>
                  <a:srgbClr val="52525B"/>
                </a:solidFill>
              </a:rPr>
              <a:t>Content &amp; standards</a:t>
            </a:r>
            <a:endParaRPr lang="en-US" sz="1000" dirty="0"/>
          </a:p>
        </p:txBody>
      </p:sp>
      <p:sp>
        <p:nvSpPr>
          <p:cNvPr id="31" name="Shape 28"/>
          <p:cNvSpPr/>
          <p:nvPr/>
        </p:nvSpPr>
        <p:spPr>
          <a:xfrm>
            <a:off x="3027578" y="4000500"/>
            <a:ext cx="914400" cy="237744"/>
          </a:xfrm>
          <a:prstGeom prst="roundRect">
            <a:avLst>
              <a:gd name="adj" fmla="val 50000"/>
            </a:avLst>
          </a:prstGeom>
          <a:solidFill>
            <a:srgbClr val="B5D334"/>
          </a:solidFill>
          <a:ln w="12700">
            <a:solidFill>
              <a:srgbClr val="B5D334"/>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Service message library</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A tested set of service messages (notices, statuses, exceptions) in plain language, in each supported language, with one tone of voice.</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Every channel and team then tells customers the same thing, the same way.</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BLD-6-05  </a:t>
            </a:r>
            <a:pPr indent="0" marL="0">
              <a:buNone/>
            </a:pPr>
            <a:r>
              <a:rPr lang="en-US" sz="1000" dirty="0">
                <a:solidFill>
                  <a:srgbClr val="52525B"/>
                </a:solidFill>
              </a:rPr>
              <a:t>Staff tool</a:t>
            </a:r>
            <a:endParaRPr lang="en-US" sz="1000" dirty="0"/>
          </a:p>
        </p:txBody>
      </p:sp>
      <p:sp>
        <p:nvSpPr>
          <p:cNvPr id="39" name="Shape 36"/>
          <p:cNvSpPr/>
          <p:nvPr/>
        </p:nvSpPr>
        <p:spPr>
          <a:xfrm>
            <a:off x="6786677" y="4000500"/>
            <a:ext cx="914400" cy="237744"/>
          </a:xfrm>
          <a:prstGeom prst="roundRect">
            <a:avLst>
              <a:gd name="adj" fmla="val 50000"/>
            </a:avLst>
          </a:prstGeom>
          <a:solidFill>
            <a:srgbClr val="B5D334"/>
          </a:solidFill>
          <a:ln w="12700">
            <a:solidFill>
              <a:srgbClr val="B5D334"/>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Per-person label printing</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Dispensary printers produce iconised labels and fridge sheets in each person's language.</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design system only reaches the kitchen table if the dispensary can print it.</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LRN-1-08  </a:t>
            </a:r>
            <a:pPr indent="0" marL="0">
              <a:buNone/>
            </a:pPr>
            <a:r>
              <a:rPr lang="en-US" sz="1000" dirty="0">
                <a:solidFill>
                  <a:srgbClr val="52525B"/>
                </a:solidFill>
              </a:rPr>
              <a:t>Research</a:t>
            </a:r>
            <a:endParaRPr lang="en-US" sz="1000" dirty="0"/>
          </a:p>
        </p:txBody>
      </p:sp>
      <p:sp>
        <p:nvSpPr>
          <p:cNvPr id="47" name="Shape 44"/>
          <p:cNvSpPr/>
          <p:nvPr/>
        </p:nvSpPr>
        <p:spPr>
          <a:xfrm>
            <a:off x="10545775" y="4000500"/>
            <a:ext cx="914400" cy="237744"/>
          </a:xfrm>
          <a:prstGeom prst="roundRect">
            <a:avLst>
              <a:gd name="adj" fmla="val 50000"/>
            </a:avLst>
          </a:prstGeom>
          <a:solidFill>
            <a:srgbClr val="B5D334"/>
          </a:solidFill>
          <a:ln w="12700">
            <a:solidFill>
              <a:srgbClr val="B5D334"/>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Labelling rules check</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Confirmed rules on what a dispensing label must carry, and whether icons and translated text may be added.</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The design system has to sit inside the law before it goes on a single pack.</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Get the basics right, every time</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8  Communicating with customers  (2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13 items: 1 learn · 0 permit · 10 build · 2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BLD-7-24  </a:t>
            </a:r>
            <a:pPr indent="0" marL="0">
              <a:buNone/>
            </a:pPr>
            <a:r>
              <a:rPr lang="en-US" sz="1000" dirty="0">
                <a:solidFill>
                  <a:srgbClr val="52525B"/>
                </a:solidFill>
              </a:rPr>
              <a:t>Platform &amp; data</a:t>
            </a:r>
            <a:endParaRPr lang="en-US" sz="1000" dirty="0"/>
          </a:p>
        </p:txBody>
      </p:sp>
      <p:sp>
        <p:nvSpPr>
          <p:cNvPr id="7" name="Shape 4"/>
          <p:cNvSpPr/>
          <p:nvPr/>
        </p:nvSpPr>
        <p:spPr>
          <a:xfrm>
            <a:off x="3027578" y="1335024"/>
            <a:ext cx="914400" cy="237744"/>
          </a:xfrm>
          <a:prstGeom prst="roundRect">
            <a:avLst>
              <a:gd name="adj" fmla="val 50000"/>
            </a:avLst>
          </a:prstGeom>
          <a:solidFill>
            <a:srgbClr val="B06A00"/>
          </a:solidFill>
          <a:ln w="12700">
            <a:solidFill>
              <a:srgbClr val="B06A00"/>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WhatsApp service platform</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WhatsApp can run the whole repeat service: sign-up, notices, statuses, payments, chat ordering and hand-off to a person.</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WhatsApp is the channel most customers already use and can afford.</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Care extends beyond the counter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13" name="Shape 10"/>
          <p:cNvSpPr/>
          <p:nvPr/>
        </p:nvSpPr>
        <p:spPr>
          <a:xfrm>
            <a:off x="4307738" y="1207008"/>
            <a:ext cx="3576218" cy="2482596"/>
          </a:xfrm>
          <a:prstGeom prst="rect">
            <a:avLst/>
          </a:prstGeom>
          <a:solidFill>
            <a:srgbClr val="F4F8F5"/>
          </a:solidFill>
          <a:ln w="9525">
            <a:solidFill>
              <a:srgbClr val="D7DDD9"/>
            </a:solidFill>
            <a:prstDash val="solid"/>
          </a:ln>
        </p:spPr>
      </p:sp>
      <p:sp>
        <p:nvSpPr>
          <p:cNvPr id="14" name="Text 11"/>
          <p:cNvSpPr txBox="1"/>
          <p:nvPr/>
        </p:nvSpPr>
        <p:spPr>
          <a:xfrm>
            <a:off x="4490618"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BLD-5-17  </a:t>
            </a:r>
            <a:pPr indent="0" marL="0">
              <a:buNone/>
            </a:pPr>
            <a:r>
              <a:rPr lang="en-US" sz="1000" dirty="0">
                <a:solidFill>
                  <a:srgbClr val="52525B"/>
                </a:solidFill>
              </a:rPr>
              <a:t>Customer feature</a:t>
            </a:r>
            <a:endParaRPr lang="en-US" sz="1000" dirty="0"/>
          </a:p>
        </p:txBody>
      </p:sp>
      <p:sp>
        <p:nvSpPr>
          <p:cNvPr id="15" name="Shape 12"/>
          <p:cNvSpPr/>
          <p:nvPr/>
        </p:nvSpPr>
        <p:spPr>
          <a:xfrm>
            <a:off x="6786677" y="1335024"/>
            <a:ext cx="914400" cy="237744"/>
          </a:xfrm>
          <a:prstGeom prst="roundRect">
            <a:avLst>
              <a:gd name="adj" fmla="val 50000"/>
            </a:avLst>
          </a:prstGeom>
          <a:solidFill>
            <a:srgbClr val="B5D334"/>
          </a:solidFill>
          <a:ln w="12700">
            <a:solidFill>
              <a:srgbClr val="B5D334"/>
            </a:solidFill>
            <a:prstDash val="solid"/>
          </a:ln>
        </p:spPr>
      </p:sp>
      <p:sp>
        <p:nvSpPr>
          <p:cNvPr id="16" name="Text 13"/>
          <p:cNvSpPr txBox="1"/>
          <p:nvPr/>
        </p:nvSpPr>
        <p:spPr>
          <a:xfrm>
            <a:off x="6786677"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17" name="Text 14"/>
          <p:cNvSpPr txBox="1"/>
          <p:nvPr/>
        </p:nvSpPr>
        <p:spPr>
          <a:xfrm>
            <a:off x="4490618"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Chat ordering on WhatsApp</a:t>
            </a:r>
            <a:endParaRPr lang="en-US" sz="1400" dirty="0"/>
          </a:p>
        </p:txBody>
      </p:sp>
      <p:sp>
        <p:nvSpPr>
          <p:cNvPr id="18" name="Text 15"/>
          <p:cNvSpPr txBox="1"/>
          <p:nvPr/>
        </p:nvSpPr>
        <p:spPr>
          <a:xfrm>
            <a:off x="4490618"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add items in the chat by number or free text, answer a clarifying question and see priced options.</a:t>
            </a:r>
            <a:endParaRPr lang="en-US" sz="1050" dirty="0"/>
          </a:p>
        </p:txBody>
      </p:sp>
      <p:sp>
        <p:nvSpPr>
          <p:cNvPr id="19" name="Text 16"/>
          <p:cNvSpPr txBox="1"/>
          <p:nvPr/>
        </p:nvSpPr>
        <p:spPr>
          <a:xfrm>
            <a:off x="4490618"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the cash customer gets the same "add to my order" as the app user, on the phone they own.</a:t>
            </a:r>
            <a:endParaRPr lang="en-US" sz="1000" dirty="0"/>
          </a:p>
        </p:txBody>
      </p:sp>
      <p:sp>
        <p:nvSpPr>
          <p:cNvPr id="20" name="Text 17"/>
          <p:cNvSpPr txBox="1"/>
          <p:nvPr/>
        </p:nvSpPr>
        <p:spPr>
          <a:xfrm>
            <a:off x="4490618"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Give me all the variables upfront</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1" name="Shape 18"/>
          <p:cNvSpPr/>
          <p:nvPr/>
        </p:nvSpPr>
        <p:spPr>
          <a:xfrm>
            <a:off x="8066837" y="1207008"/>
            <a:ext cx="3576218" cy="2482596"/>
          </a:xfrm>
          <a:prstGeom prst="rect">
            <a:avLst/>
          </a:prstGeom>
          <a:solidFill>
            <a:srgbClr val="F4F8F5"/>
          </a:solidFill>
          <a:ln w="9525">
            <a:solidFill>
              <a:srgbClr val="D7DDD9"/>
            </a:solidFill>
            <a:prstDash val="solid"/>
          </a:ln>
        </p:spPr>
      </p:sp>
      <p:sp>
        <p:nvSpPr>
          <p:cNvPr id="22" name="Text 19"/>
          <p:cNvSpPr txBox="1"/>
          <p:nvPr/>
        </p:nvSpPr>
        <p:spPr>
          <a:xfrm>
            <a:off x="8249717"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BLD-5-18  </a:t>
            </a:r>
            <a:pPr indent="0" marL="0">
              <a:buNone/>
            </a:pPr>
            <a:r>
              <a:rPr lang="en-US" sz="1000" dirty="0">
                <a:solidFill>
                  <a:srgbClr val="52525B"/>
                </a:solidFill>
              </a:rPr>
              <a:t>Customer feature</a:t>
            </a:r>
            <a:endParaRPr lang="en-US" sz="1000" dirty="0"/>
          </a:p>
        </p:txBody>
      </p:sp>
      <p:sp>
        <p:nvSpPr>
          <p:cNvPr id="23" name="Shape 20"/>
          <p:cNvSpPr/>
          <p:nvPr/>
        </p:nvSpPr>
        <p:spPr>
          <a:xfrm>
            <a:off x="10545775" y="1335024"/>
            <a:ext cx="914400" cy="237744"/>
          </a:xfrm>
          <a:prstGeom prst="roundRect">
            <a:avLst>
              <a:gd name="adj" fmla="val 50000"/>
            </a:avLst>
          </a:prstGeom>
          <a:solidFill>
            <a:srgbClr val="7FC79A"/>
          </a:solidFill>
          <a:ln w="12700">
            <a:solidFill>
              <a:srgbClr val="7FC79A"/>
            </a:solidFill>
            <a:prstDash val="solid"/>
          </a:ln>
        </p:spPr>
      </p:sp>
      <p:sp>
        <p:nvSpPr>
          <p:cNvPr id="24" name="Text 21"/>
          <p:cNvSpPr txBox="1"/>
          <p:nvPr/>
        </p:nvSpPr>
        <p:spPr>
          <a:xfrm>
            <a:off x="10545775"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25" name="Text 22"/>
          <p:cNvSpPr txBox="1"/>
          <p:nvPr/>
        </p:nvSpPr>
        <p:spPr>
          <a:xfrm>
            <a:off x="8249717"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Status at every stage</a:t>
            </a:r>
            <a:endParaRPr lang="en-US" sz="1400" dirty="0"/>
          </a:p>
        </p:txBody>
      </p:sp>
      <p:sp>
        <p:nvSpPr>
          <p:cNvPr id="26" name="Text 23"/>
          <p:cNvSpPr txBox="1"/>
          <p:nvPr/>
        </p:nvSpPr>
        <p:spPr>
          <a:xfrm>
            <a:off x="8249717"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Customers are told at every stage of an order, without asking.</a:t>
            </a:r>
            <a:endParaRPr lang="en-US" sz="1050" dirty="0"/>
          </a:p>
        </p:txBody>
      </p:sp>
      <p:sp>
        <p:nvSpPr>
          <p:cNvPr id="27" name="Text 24"/>
          <p:cNvSpPr txBox="1"/>
          <p:nvPr/>
        </p:nvSpPr>
        <p:spPr>
          <a:xfrm>
            <a:off x="8249717"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Silence reads as failure; a status that arrives unprompted keeps trust intact.</a:t>
            </a:r>
            <a:endParaRPr lang="en-US" sz="1000" dirty="0"/>
          </a:p>
        </p:txBody>
      </p:sp>
      <p:sp>
        <p:nvSpPr>
          <p:cNvPr id="28" name="Text 25"/>
          <p:cNvSpPr txBox="1"/>
          <p:nvPr/>
        </p:nvSpPr>
        <p:spPr>
          <a:xfrm>
            <a:off x="8249717"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Don't leave me in the dark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FUL s20 · FUL s40</a:t>
            </a:r>
            <a:endParaRPr lang="en-US" sz="900" dirty="0"/>
          </a:p>
        </p:txBody>
      </p:sp>
      <p:sp>
        <p:nvSpPr>
          <p:cNvPr id="29" name="Shape 26"/>
          <p:cNvSpPr/>
          <p:nvPr/>
        </p:nvSpPr>
        <p:spPr>
          <a:xfrm>
            <a:off x="548640" y="3872484"/>
            <a:ext cx="3576218" cy="2482596"/>
          </a:xfrm>
          <a:prstGeom prst="rect">
            <a:avLst/>
          </a:prstGeom>
          <a:solidFill>
            <a:srgbClr val="F4F8F5"/>
          </a:solidFill>
          <a:ln w="9525">
            <a:solidFill>
              <a:srgbClr val="D7DDD9"/>
            </a:solidFill>
            <a:prstDash val="solid"/>
          </a:ln>
        </p:spPr>
      </p:sp>
      <p:sp>
        <p:nvSpPr>
          <p:cNvPr id="30" name="Text 27"/>
          <p:cNvSpPr txBox="1"/>
          <p:nvPr/>
        </p:nvSpPr>
        <p:spPr>
          <a:xfrm>
            <a:off x="731520"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BLD-5-19  </a:t>
            </a:r>
            <a:pPr indent="0" marL="0">
              <a:buNone/>
            </a:pPr>
            <a:r>
              <a:rPr lang="en-US" sz="1000" dirty="0">
                <a:solidFill>
                  <a:srgbClr val="52525B"/>
                </a:solidFill>
              </a:rPr>
              <a:t>Customer feature</a:t>
            </a:r>
            <a:endParaRPr lang="en-US" sz="1000" dirty="0"/>
          </a:p>
        </p:txBody>
      </p:sp>
      <p:sp>
        <p:nvSpPr>
          <p:cNvPr id="31" name="Shape 28"/>
          <p:cNvSpPr/>
          <p:nvPr/>
        </p:nvSpPr>
        <p:spPr>
          <a:xfrm>
            <a:off x="3027578" y="4000500"/>
            <a:ext cx="914400" cy="237744"/>
          </a:xfrm>
          <a:prstGeom prst="roundRect">
            <a:avLst>
              <a:gd name="adj" fmla="val 50000"/>
            </a:avLst>
          </a:prstGeom>
          <a:solidFill>
            <a:srgbClr val="B06A00"/>
          </a:solidFill>
          <a:ln w="12700">
            <a:solidFill>
              <a:srgbClr val="B06A00"/>
            </a:solidFill>
            <a:prstDash val="solid"/>
          </a:ln>
        </p:spPr>
      </p:sp>
      <p:sp>
        <p:nvSpPr>
          <p:cNvPr id="32" name="Text 29"/>
          <p:cNvSpPr txBox="1"/>
          <p:nvPr/>
        </p:nvSpPr>
        <p:spPr>
          <a:xfrm>
            <a:off x="3027578"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33" name="Text 30"/>
          <p:cNvSpPr txBox="1"/>
          <p:nvPr/>
        </p:nvSpPr>
        <p:spPr>
          <a:xfrm>
            <a:off x="731520"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Call me back</a:t>
            </a:r>
            <a:endParaRPr lang="en-US" sz="1400" dirty="0"/>
          </a:p>
        </p:txBody>
      </p:sp>
      <p:sp>
        <p:nvSpPr>
          <p:cNvPr id="34" name="Text 31"/>
          <p:cNvSpPr txBox="1"/>
          <p:nvPr/>
        </p:nvSpPr>
        <p:spPr>
          <a:xfrm>
            <a:off x="731520"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One reply asks for a call, and a person phones back in the customer's language.</a:t>
            </a:r>
            <a:endParaRPr lang="en-US" sz="1050" dirty="0"/>
          </a:p>
        </p:txBody>
      </p:sp>
      <p:sp>
        <p:nvSpPr>
          <p:cNvPr id="35" name="Text 32"/>
          <p:cNvSpPr txBox="1"/>
          <p:nvPr/>
        </p:nvSpPr>
        <p:spPr>
          <a:xfrm>
            <a:off x="731520"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When something breaks, people want a person, not more typing.</a:t>
            </a:r>
            <a:endParaRPr lang="en-US" sz="1000" dirty="0"/>
          </a:p>
        </p:txBody>
      </p:sp>
      <p:sp>
        <p:nvSpPr>
          <p:cNvPr id="36" name="Text 33"/>
          <p:cNvSpPr txBox="1"/>
          <p:nvPr/>
        </p:nvSpPr>
        <p:spPr>
          <a:xfrm>
            <a:off x="731520"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Never turn your back on the customer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a:t>
            </a:r>
            <a:endParaRPr lang="en-US" sz="900" dirty="0"/>
          </a:p>
        </p:txBody>
      </p:sp>
      <p:sp>
        <p:nvSpPr>
          <p:cNvPr id="37" name="Shape 34"/>
          <p:cNvSpPr/>
          <p:nvPr/>
        </p:nvSpPr>
        <p:spPr>
          <a:xfrm>
            <a:off x="4307738" y="3872484"/>
            <a:ext cx="3576218" cy="2482596"/>
          </a:xfrm>
          <a:prstGeom prst="rect">
            <a:avLst/>
          </a:prstGeom>
          <a:solidFill>
            <a:srgbClr val="F4F8F5"/>
          </a:solidFill>
          <a:ln w="9525">
            <a:solidFill>
              <a:srgbClr val="D7DDD9"/>
            </a:solidFill>
            <a:prstDash val="solid"/>
          </a:ln>
        </p:spPr>
      </p:sp>
      <p:sp>
        <p:nvSpPr>
          <p:cNvPr id="38" name="Text 35"/>
          <p:cNvSpPr txBox="1"/>
          <p:nvPr/>
        </p:nvSpPr>
        <p:spPr>
          <a:xfrm>
            <a:off x="4490618"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BLD-6-06  </a:t>
            </a:r>
            <a:pPr indent="0" marL="0">
              <a:buNone/>
            </a:pPr>
            <a:r>
              <a:rPr lang="en-US" sz="1000" dirty="0">
                <a:solidFill>
                  <a:srgbClr val="52525B"/>
                </a:solidFill>
              </a:rPr>
              <a:t>Staff tool</a:t>
            </a:r>
            <a:endParaRPr lang="en-US" sz="1000" dirty="0"/>
          </a:p>
        </p:txBody>
      </p:sp>
      <p:sp>
        <p:nvSpPr>
          <p:cNvPr id="39" name="Shape 36"/>
          <p:cNvSpPr/>
          <p:nvPr/>
        </p:nvSpPr>
        <p:spPr>
          <a:xfrm>
            <a:off x="6786677" y="4000500"/>
            <a:ext cx="914400" cy="237744"/>
          </a:xfrm>
          <a:prstGeom prst="roundRect">
            <a:avLst>
              <a:gd name="adj" fmla="val 50000"/>
            </a:avLst>
          </a:prstGeom>
          <a:solidFill>
            <a:srgbClr val="B06A00"/>
          </a:solidFill>
          <a:ln w="12700">
            <a:solidFill>
              <a:srgbClr val="B06A00"/>
            </a:solidFill>
            <a:prstDash val="solid"/>
          </a:ln>
        </p:spPr>
      </p:sp>
      <p:sp>
        <p:nvSpPr>
          <p:cNvPr id="40" name="Text 37"/>
          <p:cNvSpPr txBox="1"/>
          <p:nvPr/>
        </p:nvSpPr>
        <p:spPr>
          <a:xfrm>
            <a:off x="6786677" y="400050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rPr>
              <a:t>Known gap</a:t>
            </a:r>
            <a:endParaRPr lang="en-US" sz="900" dirty="0"/>
          </a:p>
        </p:txBody>
      </p:sp>
      <p:sp>
        <p:nvSpPr>
          <p:cNvPr id="41" name="Text 38"/>
          <p:cNvSpPr txBox="1"/>
          <p:nvPr/>
        </p:nvSpPr>
        <p:spPr>
          <a:xfrm>
            <a:off x="4490618"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Conversation console</a:t>
            </a:r>
            <a:endParaRPr lang="en-US" sz="1400" dirty="0"/>
          </a:p>
        </p:txBody>
      </p:sp>
      <p:sp>
        <p:nvSpPr>
          <p:cNvPr id="42" name="Text 39"/>
          <p:cNvSpPr txBox="1"/>
          <p:nvPr/>
        </p:nvSpPr>
        <p:spPr>
          <a:xfrm>
            <a:off x="4490618"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Pharmacists and agents answer messages and call-backs with the household, the order and its history in front of them.</a:t>
            </a:r>
            <a:endParaRPr lang="en-US" sz="1050" dirty="0"/>
          </a:p>
        </p:txBody>
      </p:sp>
      <p:sp>
        <p:nvSpPr>
          <p:cNvPr id="43" name="Text 40"/>
          <p:cNvSpPr txBox="1"/>
          <p:nvPr/>
        </p:nvSpPr>
        <p:spPr>
          <a:xfrm>
            <a:off x="4490618"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So one conversation runs to resolution and nobody starts over.</a:t>
            </a:r>
            <a:endParaRPr lang="en-US" sz="1000" dirty="0"/>
          </a:p>
        </p:txBody>
      </p:sp>
      <p:sp>
        <p:nvSpPr>
          <p:cNvPr id="44" name="Text 41"/>
          <p:cNvSpPr txBox="1"/>
          <p:nvPr/>
        </p:nvSpPr>
        <p:spPr>
          <a:xfrm>
            <a:off x="4490618"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Never turn your back on the customer · Remove noise to protect flow</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HSQ · ECM</a:t>
            </a:r>
            <a:endParaRPr lang="en-US" sz="900" dirty="0"/>
          </a:p>
        </p:txBody>
      </p:sp>
      <p:sp>
        <p:nvSpPr>
          <p:cNvPr id="45" name="Shape 42"/>
          <p:cNvSpPr/>
          <p:nvPr/>
        </p:nvSpPr>
        <p:spPr>
          <a:xfrm>
            <a:off x="8066837" y="3872484"/>
            <a:ext cx="3576218" cy="2482596"/>
          </a:xfrm>
          <a:prstGeom prst="rect">
            <a:avLst/>
          </a:prstGeom>
          <a:solidFill>
            <a:srgbClr val="F4F8F5"/>
          </a:solidFill>
          <a:ln w="9525">
            <a:solidFill>
              <a:srgbClr val="D7DDD9"/>
            </a:solidFill>
            <a:prstDash val="solid"/>
          </a:ln>
        </p:spPr>
      </p:sp>
      <p:sp>
        <p:nvSpPr>
          <p:cNvPr id="46" name="Text 43"/>
          <p:cNvSpPr txBox="1"/>
          <p:nvPr/>
        </p:nvSpPr>
        <p:spPr>
          <a:xfrm>
            <a:off x="8249717" y="4000500"/>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RUN-10-03  </a:t>
            </a:r>
            <a:pPr indent="0" marL="0">
              <a:buNone/>
            </a:pPr>
            <a:r>
              <a:rPr lang="en-US" sz="1000" dirty="0">
                <a:solidFill>
                  <a:srgbClr val="52525B"/>
                </a:solidFill>
              </a:rPr>
              <a:t>People &amp; roles</a:t>
            </a:r>
            <a:endParaRPr lang="en-US" sz="1000" dirty="0"/>
          </a:p>
        </p:txBody>
      </p:sp>
      <p:sp>
        <p:nvSpPr>
          <p:cNvPr id="47" name="Shape 44"/>
          <p:cNvSpPr/>
          <p:nvPr/>
        </p:nvSpPr>
        <p:spPr>
          <a:xfrm>
            <a:off x="10545775" y="4000500"/>
            <a:ext cx="914400" cy="237744"/>
          </a:xfrm>
          <a:prstGeom prst="roundRect">
            <a:avLst>
              <a:gd name="adj" fmla="val 50000"/>
            </a:avLst>
          </a:prstGeom>
          <a:solidFill>
            <a:srgbClr val="B5D334"/>
          </a:solidFill>
          <a:ln w="12700">
            <a:solidFill>
              <a:srgbClr val="B5D334"/>
            </a:solidFill>
            <a:prstDash val="solid"/>
          </a:ln>
        </p:spPr>
      </p:sp>
      <p:sp>
        <p:nvSpPr>
          <p:cNvPr id="48" name="Text 45"/>
          <p:cNvSpPr txBox="1"/>
          <p:nvPr/>
        </p:nvSpPr>
        <p:spPr>
          <a:xfrm>
            <a:off x="10545775" y="4000500"/>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New</a:t>
            </a:r>
            <a:endParaRPr lang="en-US" sz="900" dirty="0"/>
          </a:p>
        </p:txBody>
      </p:sp>
      <p:sp>
        <p:nvSpPr>
          <p:cNvPr id="49" name="Text 46"/>
          <p:cNvSpPr txBox="1"/>
          <p:nvPr/>
        </p:nvSpPr>
        <p:spPr>
          <a:xfrm>
            <a:off x="8249717" y="4293108"/>
            <a:ext cx="3210458" cy="292608"/>
          </a:xfrm>
          <a:prstGeom prst="rect">
            <a:avLst/>
          </a:prstGeom>
          <a:noFill/>
          <a:ln/>
        </p:spPr>
        <p:txBody>
          <a:bodyPr wrap="square" lIns="0" tIns="0" rIns="0" bIns="0" rtlCol="0" anchor="t"/>
          <a:lstStyle/>
          <a:p>
            <a:pPr indent="0" marL="0">
              <a:buNone/>
            </a:pPr>
            <a:r>
              <a:rPr lang="en-US" sz="1400" b="1" dirty="0">
                <a:solidFill>
                  <a:srgbClr val="1D1D1D"/>
                </a:solidFill>
              </a:rPr>
              <a:t>Multilingual call-back team</a:t>
            </a:r>
            <a:endParaRPr lang="en-US" sz="1400" dirty="0"/>
          </a:p>
        </p:txBody>
      </p:sp>
      <p:sp>
        <p:nvSpPr>
          <p:cNvPr id="50" name="Text 47"/>
          <p:cNvSpPr txBox="1"/>
          <p:nvPr/>
        </p:nvSpPr>
        <p:spPr>
          <a:xfrm>
            <a:off x="8249717" y="4640580"/>
            <a:ext cx="3210458" cy="658368"/>
          </a:xfrm>
          <a:prstGeom prst="rect">
            <a:avLst/>
          </a:prstGeom>
          <a:noFill/>
          <a:ln/>
        </p:spPr>
        <p:txBody>
          <a:bodyPr wrap="square" lIns="0" tIns="0" rIns="0" bIns="0" rtlCol="0" anchor="t"/>
          <a:lstStyle/>
          <a:p>
            <a:pPr indent="0" marL="0">
              <a:buNone/>
            </a:pPr>
            <a:r>
              <a:rPr lang="en-US" sz="1050" dirty="0">
                <a:solidFill>
                  <a:srgbClr val="1D1D1D"/>
                </a:solidFill>
              </a:rPr>
              <a:t>Enough staff who speak customers' languages to return calls quickly when something breaks.</a:t>
            </a:r>
            <a:endParaRPr lang="en-US" sz="1050" dirty="0"/>
          </a:p>
        </p:txBody>
      </p:sp>
      <p:sp>
        <p:nvSpPr>
          <p:cNvPr id="51" name="Text 48"/>
          <p:cNvSpPr txBox="1"/>
          <p:nvPr/>
        </p:nvSpPr>
        <p:spPr>
          <a:xfrm>
            <a:off x="8249717" y="5335524"/>
            <a:ext cx="3210458" cy="475488"/>
          </a:xfrm>
          <a:prstGeom prst="rect">
            <a:avLst/>
          </a:prstGeom>
          <a:noFill/>
          <a:ln/>
        </p:spPr>
        <p:txBody>
          <a:bodyPr wrap="square" lIns="0" tIns="0" rIns="0" bIns="0" rtlCol="0" anchor="t"/>
          <a:lstStyle/>
          <a:p>
            <a:pPr indent="0" marL="0">
              <a:buNone/>
            </a:pPr>
            <a:r>
              <a:rPr lang="en-US" sz="1000" i="1" dirty="0">
                <a:solidFill>
                  <a:srgbClr val="52525B"/>
                </a:solidFill>
              </a:rPr>
              <a:t>A call-back promise is only as good as the people who make the calls.</a:t>
            </a:r>
            <a:endParaRPr lang="en-US" sz="1000" dirty="0"/>
          </a:p>
        </p:txBody>
      </p:sp>
      <p:sp>
        <p:nvSpPr>
          <p:cNvPr id="52" name="Text 49"/>
          <p:cNvSpPr txBox="1"/>
          <p:nvPr/>
        </p:nvSpPr>
        <p:spPr>
          <a:xfrm>
            <a:off x="8249717" y="5824728"/>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Never turn your back on the customer</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none</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8  Communicating with customers  (3 of 3)</a:t>
            </a:r>
            <a:endParaRPr lang="en-US" sz="2800" dirty="0"/>
          </a:p>
        </p:txBody>
      </p:sp>
      <p:sp>
        <p:nvSpPr>
          <p:cNvPr id="4" name="Text 1"/>
          <p:cNvSpPr txBox="1"/>
          <p:nvPr/>
        </p:nvSpPr>
        <p:spPr>
          <a:xfrm>
            <a:off x="548640" y="896112"/>
            <a:ext cx="11094415" cy="219456"/>
          </a:xfrm>
          <a:prstGeom prst="rect">
            <a:avLst/>
          </a:prstGeom>
          <a:noFill/>
          <a:ln/>
        </p:spPr>
        <p:txBody>
          <a:bodyPr wrap="square" lIns="0" tIns="0" rIns="0" bIns="0" rtlCol="0" anchor="ctr"/>
          <a:lstStyle/>
          <a:p>
            <a:pPr indent="0" marL="0">
              <a:buNone/>
            </a:pPr>
            <a:r>
              <a:rPr lang="en-US" sz="1100" dirty="0">
                <a:solidFill>
                  <a:srgbClr val="52525B"/>
                </a:solidFill>
              </a:rPr>
              <a:t>13 items: 1 learn · 0 permit · 10 build · 2 run</a:t>
            </a:r>
            <a:endParaRPr lang="en-US" sz="1100" dirty="0"/>
          </a:p>
        </p:txBody>
      </p:sp>
      <p:sp>
        <p:nvSpPr>
          <p:cNvPr id="5" name="Shape 2"/>
          <p:cNvSpPr/>
          <p:nvPr/>
        </p:nvSpPr>
        <p:spPr>
          <a:xfrm>
            <a:off x="548640" y="1207008"/>
            <a:ext cx="3576218" cy="2482596"/>
          </a:xfrm>
          <a:prstGeom prst="rect">
            <a:avLst/>
          </a:prstGeom>
          <a:solidFill>
            <a:srgbClr val="F4F8F5"/>
          </a:solidFill>
          <a:ln w="9525">
            <a:solidFill>
              <a:srgbClr val="D7DDD9"/>
            </a:solidFill>
            <a:prstDash val="solid"/>
          </a:ln>
        </p:spPr>
      </p:sp>
      <p:sp>
        <p:nvSpPr>
          <p:cNvPr id="6" name="Text 3"/>
          <p:cNvSpPr txBox="1"/>
          <p:nvPr/>
        </p:nvSpPr>
        <p:spPr>
          <a:xfrm>
            <a:off x="731520" y="1335024"/>
            <a:ext cx="2250338" cy="237744"/>
          </a:xfrm>
          <a:prstGeom prst="rect">
            <a:avLst/>
          </a:prstGeom>
          <a:noFill/>
          <a:ln/>
        </p:spPr>
        <p:txBody>
          <a:bodyPr wrap="square" lIns="0" tIns="0" rIns="0" bIns="0" rtlCol="0" anchor="ctr"/>
          <a:lstStyle/>
          <a:p>
            <a:pPr indent="0" marL="0">
              <a:buNone/>
            </a:pPr>
            <a:r>
              <a:rPr lang="en-US" sz="1000" b="1" dirty="0">
                <a:solidFill>
                  <a:srgbClr val="1A9B4A"/>
                </a:solidFill>
              </a:rPr>
              <a:t>RUN-9-07  </a:t>
            </a:r>
            <a:pPr indent="0" marL="0">
              <a:buNone/>
            </a:pPr>
            <a:r>
              <a:rPr lang="en-US" sz="1000" dirty="0">
                <a:solidFill>
                  <a:srgbClr val="52525B"/>
                </a:solidFill>
              </a:rPr>
              <a:t>Process</a:t>
            </a:r>
            <a:endParaRPr lang="en-US" sz="1000" dirty="0"/>
          </a:p>
        </p:txBody>
      </p:sp>
      <p:sp>
        <p:nvSpPr>
          <p:cNvPr id="7" name="Shape 4"/>
          <p:cNvSpPr/>
          <p:nvPr/>
        </p:nvSpPr>
        <p:spPr>
          <a:xfrm>
            <a:off x="3027578" y="1335024"/>
            <a:ext cx="914400" cy="237744"/>
          </a:xfrm>
          <a:prstGeom prst="roundRect">
            <a:avLst>
              <a:gd name="adj" fmla="val 50000"/>
            </a:avLst>
          </a:prstGeom>
          <a:solidFill>
            <a:srgbClr val="7FC79A"/>
          </a:solidFill>
          <a:ln w="12700">
            <a:solidFill>
              <a:srgbClr val="7FC79A"/>
            </a:solidFill>
            <a:prstDash val="solid"/>
          </a:ln>
        </p:spPr>
      </p:sp>
      <p:sp>
        <p:nvSpPr>
          <p:cNvPr id="8" name="Text 5"/>
          <p:cNvSpPr txBox="1"/>
          <p:nvPr/>
        </p:nvSpPr>
        <p:spPr>
          <a:xfrm>
            <a:off x="3027578" y="1335024"/>
            <a:ext cx="914400" cy="237744"/>
          </a:xfrm>
          <a:prstGeom prst="rect">
            <a:avLst/>
          </a:prstGeom>
          <a:noFill/>
          <a:ln/>
        </p:spPr>
        <p:txBody>
          <a:bodyPr wrap="square" lIns="0" tIns="0" rIns="0" bIns="0" rtlCol="0" anchor="ctr"/>
          <a:lstStyle/>
          <a:p>
            <a:pPr algn="ctr" indent="0" marL="0">
              <a:buNone/>
            </a:pPr>
            <a:r>
              <a:rPr lang="en-US" sz="900" b="1" dirty="0">
                <a:solidFill>
                  <a:srgbClr val="1D1D1D"/>
                </a:solidFill>
              </a:rPr>
              <a:t>Planned</a:t>
            </a:r>
            <a:endParaRPr lang="en-US" sz="900" dirty="0"/>
          </a:p>
        </p:txBody>
      </p:sp>
      <p:sp>
        <p:nvSpPr>
          <p:cNvPr id="9" name="Text 6"/>
          <p:cNvSpPr txBox="1"/>
          <p:nvPr/>
        </p:nvSpPr>
        <p:spPr>
          <a:xfrm>
            <a:off x="731520" y="1627632"/>
            <a:ext cx="3210458" cy="292608"/>
          </a:xfrm>
          <a:prstGeom prst="rect">
            <a:avLst/>
          </a:prstGeom>
          <a:noFill/>
          <a:ln/>
        </p:spPr>
        <p:txBody>
          <a:bodyPr wrap="square" lIns="0" tIns="0" rIns="0" bIns="0" rtlCol="0" anchor="t"/>
          <a:lstStyle/>
          <a:p>
            <a:pPr indent="0" marL="0">
              <a:buNone/>
            </a:pPr>
            <a:r>
              <a:rPr lang="en-US" sz="1400" b="1" dirty="0">
                <a:solidFill>
                  <a:srgbClr val="1D1D1D"/>
                </a:solidFill>
              </a:rPr>
              <a:t>One owner per problem</a:t>
            </a:r>
            <a:endParaRPr lang="en-US" sz="1400" dirty="0"/>
          </a:p>
        </p:txBody>
      </p:sp>
      <p:sp>
        <p:nvSpPr>
          <p:cNvPr id="10" name="Text 7"/>
          <p:cNvSpPr txBox="1"/>
          <p:nvPr/>
        </p:nvSpPr>
        <p:spPr>
          <a:xfrm>
            <a:off x="731520" y="1975104"/>
            <a:ext cx="3210458" cy="658368"/>
          </a:xfrm>
          <a:prstGeom prst="rect">
            <a:avLst/>
          </a:prstGeom>
          <a:noFill/>
          <a:ln/>
        </p:spPr>
        <p:txBody>
          <a:bodyPr wrap="square" lIns="0" tIns="0" rIns="0" bIns="0" rtlCol="0" anchor="t"/>
          <a:lstStyle/>
          <a:p>
            <a:pPr indent="0" marL="0">
              <a:buNone/>
            </a:pPr>
            <a:r>
              <a:rPr lang="en-US" sz="1050" dirty="0">
                <a:solidFill>
                  <a:srgbClr val="1D1D1D"/>
                </a:solidFill>
              </a:rPr>
              <a:t>Every problem with an order has one named owner until it is resolved, and the order keeps its place.</a:t>
            </a:r>
            <a:endParaRPr lang="en-US" sz="1050" dirty="0"/>
          </a:p>
        </p:txBody>
      </p:sp>
      <p:sp>
        <p:nvSpPr>
          <p:cNvPr id="11" name="Text 8"/>
          <p:cNvSpPr txBox="1"/>
          <p:nvPr/>
        </p:nvSpPr>
        <p:spPr>
          <a:xfrm>
            <a:off x="731520" y="2670048"/>
            <a:ext cx="3210458" cy="475488"/>
          </a:xfrm>
          <a:prstGeom prst="rect">
            <a:avLst/>
          </a:prstGeom>
          <a:noFill/>
          <a:ln/>
        </p:spPr>
        <p:txBody>
          <a:bodyPr wrap="square" lIns="0" tIns="0" rIns="0" bIns="0" rtlCol="0" anchor="t"/>
          <a:lstStyle/>
          <a:p>
            <a:pPr indent="0" marL="0">
              <a:buNone/>
            </a:pPr>
            <a:r>
              <a:rPr lang="en-US" sz="1000" i="1" dirty="0">
                <a:solidFill>
                  <a:srgbClr val="52525B"/>
                </a:solidFill>
              </a:rPr>
              <a:t>Problems die between teams today; one owner means one person accountable for the fix.</a:t>
            </a:r>
            <a:endParaRPr lang="en-US" sz="1000" dirty="0"/>
          </a:p>
        </p:txBody>
      </p:sp>
      <p:sp>
        <p:nvSpPr>
          <p:cNvPr id="12" name="Text 9"/>
          <p:cNvSpPr txBox="1"/>
          <p:nvPr/>
        </p:nvSpPr>
        <p:spPr>
          <a:xfrm>
            <a:off x="731520" y="3159252"/>
            <a:ext cx="3210458" cy="438912"/>
          </a:xfrm>
          <a:prstGeom prst="rect">
            <a:avLst/>
          </a:prstGeom>
          <a:noFill/>
          <a:ln/>
        </p:spPr>
        <p:txBody>
          <a:bodyPr wrap="square" lIns="0" tIns="0" rIns="0" bIns="0" rtlCol="0" anchor="b"/>
          <a:lstStyle/>
          <a:p>
            <a:pPr indent="0" marL="0">
              <a:buNone/>
            </a:pPr>
            <a:r>
              <a:rPr lang="en-US" sz="900" b="1" dirty="0">
                <a:solidFill>
                  <a:srgbClr val="1D1D1D"/>
                </a:solidFill>
              </a:rPr>
              <a:t>Principles  </a:t>
            </a:r>
            <a:pPr indent="0" marL="0">
              <a:buNone/>
            </a:pPr>
            <a:r>
              <a:rPr lang="en-US" sz="900" dirty="0">
                <a:solidFill>
                  <a:srgbClr val="52525B"/>
                </a:solidFill>
              </a:rPr>
              <a:t>Never turn your back on the customer · The system prioritises the work</a:t>
            </a:r>
            <a:endParaRPr lang="en-US" sz="900" dirty="0"/>
          </a:p>
          <a:p>
            <a:pPr indent="0" marL="0">
              <a:buNone/>
            </a:pPr>
            <a:r>
              <a:rPr lang="en-US" sz="900" b="1" dirty="0">
                <a:solidFill>
                  <a:srgbClr val="1D1D1D"/>
                </a:solidFill>
              </a:rPr>
              <a:t>Seen in  </a:t>
            </a:r>
            <a:pPr indent="0" marL="0">
              <a:buNone/>
            </a:pPr>
            <a:r>
              <a:rPr lang="en-US" sz="900" dirty="0">
                <a:solidFill>
                  <a:srgbClr val="52525B"/>
                </a:solidFill>
              </a:rPr>
              <a:t>FUL s20</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Traceability: what each phase of 09: Repeat needs</a:t>
            </a:r>
            <a:endParaRPr lang="en-US" sz="2800" dirty="0"/>
          </a:p>
        </p:txBody>
      </p:sp>
      <p:sp>
        <p:nvSpPr>
          <p:cNvPr id="3" name="Text 1"/>
          <p:cNvSpPr txBox="1"/>
          <p:nvPr/>
        </p:nvSpPr>
        <p:spPr>
          <a:xfrm>
            <a:off x="548640" y="960120"/>
            <a:ext cx="11094415" cy="457200"/>
          </a:xfrm>
          <a:prstGeom prst="rect">
            <a:avLst/>
          </a:prstGeom>
          <a:noFill/>
          <a:ln/>
        </p:spPr>
        <p:txBody>
          <a:bodyPr wrap="square" lIns="0" tIns="0" rIns="0" bIns="0" rtlCol="0" anchor="t"/>
          <a:lstStyle/>
          <a:p>
            <a:pPr indent="0" marL="0">
              <a:buNone/>
            </a:pPr>
            <a:r>
              <a:rPr lang="en-US" sz="1400" dirty="0">
                <a:solidFill>
                  <a:srgbClr val="52525B"/>
                </a:solidFill>
              </a:rPr>
              <a:t>Every item listed under each journey phase it makes possible. Items that serve several phases appear in each.</a:t>
            </a:r>
            <a:endParaRPr lang="en-US" sz="1400" dirty="0"/>
          </a:p>
        </p:txBody>
      </p:sp>
      <p:sp>
        <p:nvSpPr>
          <p:cNvPr id="5" name="Shape 2"/>
          <p:cNvSpPr/>
          <p:nvPr/>
        </p:nvSpPr>
        <p:spPr>
          <a:xfrm>
            <a:off x="548640" y="1463040"/>
            <a:ext cx="1490864" cy="548640"/>
          </a:xfrm>
          <a:prstGeom prst="rect">
            <a:avLst/>
          </a:prstGeom>
          <a:solidFill>
            <a:srgbClr val="126E35"/>
          </a:solidFill>
          <a:ln w="12700">
            <a:solidFill>
              <a:srgbClr val="126E35"/>
            </a:solidFill>
            <a:prstDash val="solid"/>
          </a:ln>
        </p:spPr>
      </p:sp>
      <p:sp>
        <p:nvSpPr>
          <p:cNvPr id="6" name="Text 3"/>
          <p:cNvSpPr txBox="1"/>
          <p:nvPr/>
        </p:nvSpPr>
        <p:spPr>
          <a:xfrm>
            <a:off x="621792" y="1463040"/>
            <a:ext cx="1344560" cy="548640"/>
          </a:xfrm>
          <a:prstGeom prst="rect">
            <a:avLst/>
          </a:prstGeom>
          <a:noFill/>
          <a:ln/>
        </p:spPr>
        <p:txBody>
          <a:bodyPr wrap="square" lIns="0" tIns="0" rIns="0" bIns="0" rtlCol="0" anchor="ctr"/>
          <a:lstStyle/>
          <a:p>
            <a:pPr indent="0" marL="0">
              <a:buNone/>
            </a:pPr>
            <a:r>
              <a:rPr lang="en-US" sz="1100" b="1" dirty="0">
                <a:solidFill>
                  <a:srgbClr val="FFFFFF"/>
                </a:solidFill>
              </a:rPr>
              <a:t>Signing up</a:t>
            </a:r>
            <a:endParaRPr lang="en-US" sz="1100" dirty="0"/>
          </a:p>
          <a:p>
            <a:pPr indent="0" marL="0">
              <a:buNone/>
            </a:pPr>
            <a:r>
              <a:rPr lang="en-US" sz="900" dirty="0">
                <a:solidFill>
                  <a:srgbClr val="BFE3CF"/>
                </a:solidFill>
              </a:rPr>
              <a:t>23 items</a:t>
            </a:r>
            <a:endParaRPr lang="en-US" sz="1100" dirty="0"/>
          </a:p>
        </p:txBody>
      </p:sp>
      <p:sp>
        <p:nvSpPr>
          <p:cNvPr id="7" name="Shape 4"/>
          <p:cNvSpPr/>
          <p:nvPr/>
        </p:nvSpPr>
        <p:spPr>
          <a:xfrm>
            <a:off x="548640" y="2057400"/>
            <a:ext cx="1490864" cy="4297680"/>
          </a:xfrm>
          <a:prstGeom prst="rect">
            <a:avLst/>
          </a:prstGeom>
          <a:solidFill>
            <a:srgbClr val="F4F8F5"/>
          </a:solidFill>
          <a:ln w="6350">
            <a:solidFill>
              <a:srgbClr val="D7DDD9"/>
            </a:solidFill>
            <a:prstDash val="solid"/>
          </a:ln>
        </p:spPr>
      </p:sp>
      <p:sp>
        <p:nvSpPr>
          <p:cNvPr id="8" name="Text 5"/>
          <p:cNvSpPr txBox="1"/>
          <p:nvPr/>
        </p:nvSpPr>
        <p:spPr>
          <a:xfrm>
            <a:off x="621792" y="2121408"/>
            <a:ext cx="1344560" cy="4160520"/>
          </a:xfrm>
          <a:prstGeom prst="rect">
            <a:avLst/>
          </a:prstGeom>
          <a:noFill/>
          <a:ln/>
        </p:spPr>
        <p:txBody>
          <a:bodyPr wrap="square" lIns="0" tIns="0" rIns="0" bIns="0" rtlCol="0" anchor="t"/>
          <a:lstStyle/>
          <a:p>
            <a:pPr indent="0" marL="0">
              <a:spcAft>
                <a:spcPts val="100"/>
              </a:spcAft>
              <a:buNone/>
            </a:pPr>
            <a:r>
              <a:rPr lang="en-US" sz="800" dirty="0">
                <a:solidFill>
                  <a:srgbClr val="1D1D1D"/>
                </a:solidFill>
              </a:rPr>
              <a:t>Household profile</a:t>
            </a:r>
            <a:endParaRPr lang="en-US" sz="800" dirty="0"/>
          </a:p>
          <a:p>
            <a:pPr indent="0" marL="0">
              <a:spcAft>
                <a:spcPts val="100"/>
              </a:spcAft>
              <a:buNone/>
            </a:pPr>
            <a:r>
              <a:rPr lang="en-US" sz="800" dirty="0">
                <a:solidFill>
                  <a:srgbClr val="1D1D1D"/>
                </a:solidFill>
              </a:rPr>
              <a:t>One customer record</a:t>
            </a:r>
            <a:endParaRPr lang="en-US" sz="800" dirty="0"/>
          </a:p>
          <a:p>
            <a:pPr indent="0" marL="0">
              <a:spcAft>
                <a:spcPts val="100"/>
              </a:spcAft>
              <a:buNone/>
            </a:pPr>
            <a:r>
              <a:rPr lang="en-US" sz="800" dirty="0">
                <a:solidFill>
                  <a:srgbClr val="1D1D1D"/>
                </a:solidFill>
              </a:rPr>
              <a:t>Carer consent that travels</a:t>
            </a:r>
            <a:endParaRPr lang="en-US" sz="800" dirty="0"/>
          </a:p>
          <a:p>
            <a:pPr indent="0" marL="0">
              <a:spcAft>
                <a:spcPts val="100"/>
              </a:spcAft>
              <a:buNone/>
            </a:pPr>
            <a:r>
              <a:rPr lang="en-US" sz="800" dirty="0">
                <a:solidFill>
                  <a:srgbClr val="1D1D1D"/>
                </a:solidFill>
              </a:rPr>
              <a:t>Preferences honoured everywhere</a:t>
            </a:r>
            <a:endParaRPr lang="en-US" sz="800" dirty="0"/>
          </a:p>
          <a:p>
            <a:pPr indent="0" marL="0">
              <a:spcAft>
                <a:spcPts val="100"/>
              </a:spcAft>
              <a:buNone/>
            </a:pPr>
            <a:r>
              <a:rPr lang="en-US" sz="800" dirty="0">
                <a:solidFill>
                  <a:srgbClr val="1D1D1D"/>
                </a:solidFill>
              </a:rPr>
              <a:t>Verified identity on WhatsApp</a:t>
            </a:r>
            <a:endParaRPr lang="en-US" sz="800" dirty="0"/>
          </a:p>
          <a:p>
            <a:pPr indent="0" marL="0">
              <a:spcAft>
                <a:spcPts val="100"/>
              </a:spcAft>
              <a:buNone/>
            </a:pPr>
            <a:r>
              <a:rPr lang="en-US" sz="800" dirty="0">
                <a:solidFill>
                  <a:srgbClr val="1D1D1D"/>
                </a:solidFill>
              </a:rPr>
              <a:t>Carer authority policy</a:t>
            </a:r>
            <a:endParaRPr lang="en-US" sz="800" dirty="0"/>
          </a:p>
          <a:p>
            <a:pPr indent="0" marL="0">
              <a:spcAft>
                <a:spcPts val="100"/>
              </a:spcAft>
              <a:buNone/>
            </a:pPr>
            <a:r>
              <a:rPr lang="en-US" sz="800" dirty="0">
                <a:solidFill>
                  <a:srgbClr val="1D1D1D"/>
                </a:solidFill>
              </a:rPr>
              <a:t>Household manager research</a:t>
            </a:r>
            <a:endParaRPr lang="en-US" sz="800" dirty="0"/>
          </a:p>
          <a:p>
            <a:pPr indent="0" marL="0">
              <a:spcAft>
                <a:spcPts val="100"/>
              </a:spcAft>
              <a:buNone/>
            </a:pPr>
            <a:r>
              <a:rPr lang="en-US" sz="800" dirty="0">
                <a:solidFill>
                  <a:srgbClr val="1D1D1D"/>
                </a:solidFill>
              </a:rPr>
              <a:t>Schedule-aware repeat rules</a:t>
            </a:r>
            <a:endParaRPr lang="en-US" sz="800" dirty="0"/>
          </a:p>
          <a:p>
            <a:pPr indent="0" marL="0">
              <a:spcAft>
                <a:spcPts val="100"/>
              </a:spcAft>
              <a:buNone/>
            </a:pPr>
            <a:r>
              <a:rPr lang="en-US" sz="800" dirty="0">
                <a:solidFill>
                  <a:srgbClr val="1D1D1D"/>
                </a:solidFill>
              </a:rPr>
              <a:t>Repeats for chronic Schedule 6</a:t>
            </a:r>
            <a:endParaRPr lang="en-US" sz="800" dirty="0"/>
          </a:p>
          <a:p>
            <a:pPr indent="0" marL="0">
              <a:spcAft>
                <a:spcPts val="100"/>
              </a:spcAft>
              <a:buNone/>
            </a:pPr>
            <a:r>
              <a:rPr lang="en-US" sz="800" dirty="0">
                <a:solidFill>
                  <a:srgbClr val="1D1D1D"/>
                </a:solidFill>
              </a:rPr>
              <a:t>Several schemes, one order</a:t>
            </a:r>
            <a:endParaRPr lang="en-US" sz="800" dirty="0"/>
          </a:p>
          <a:p>
            <a:pPr indent="0" marL="0">
              <a:spcAft>
                <a:spcPts val="100"/>
              </a:spcAft>
              <a:buNone/>
            </a:pPr>
            <a:r>
              <a:rPr lang="en-US" sz="800" dirty="0">
                <a:solidFill>
                  <a:srgbClr val="1D1D1D"/>
                </a:solidFill>
              </a:rPr>
              <a:t>Saved payment and decline rule</a:t>
            </a:r>
            <a:endParaRPr lang="en-US" sz="800" dirty="0"/>
          </a:p>
          <a:p>
            <a:pPr indent="0" marL="0">
              <a:spcAft>
                <a:spcPts val="100"/>
              </a:spcAft>
              <a:buNone/>
            </a:pPr>
            <a:r>
              <a:rPr lang="en-US" sz="800" dirty="0">
                <a:solidFill>
                  <a:srgbClr val="1D1D1D"/>
                </a:solidFill>
              </a:rPr>
              <a:t>Cash payment at a bank partner</a:t>
            </a:r>
            <a:endParaRPr lang="en-US" sz="800" dirty="0"/>
          </a:p>
          <a:p>
            <a:pPr indent="0" marL="0">
              <a:spcAft>
                <a:spcPts val="100"/>
              </a:spcAft>
              <a:buNone/>
            </a:pPr>
            <a:r>
              <a:rPr lang="en-US" sz="800" dirty="0">
                <a:solidFill>
                  <a:srgbClr val="1D1D1D"/>
                </a:solidFill>
              </a:rPr>
              <a:t>Repeat service commercial model</a:t>
            </a:r>
            <a:endParaRPr lang="en-US" sz="800" dirty="0"/>
          </a:p>
          <a:p>
            <a:pPr indent="0" marL="0">
              <a:spcAft>
                <a:spcPts val="100"/>
              </a:spcAft>
              <a:buNone/>
            </a:pPr>
            <a:r>
              <a:rPr lang="en-US" sz="800" dirty="0">
                <a:solidFill>
                  <a:srgbClr val="1D1D1D"/>
                </a:solidFill>
              </a:rPr>
              <a:t>Near-home locker network</a:t>
            </a:r>
            <a:endParaRPr lang="en-US" sz="800" dirty="0"/>
          </a:p>
          <a:p>
            <a:pPr indent="0" marL="0">
              <a:spcAft>
                <a:spcPts val="100"/>
              </a:spcAft>
              <a:buNone/>
            </a:pPr>
            <a:r>
              <a:rPr lang="en-US" sz="800" dirty="0">
                <a:solidFill>
                  <a:srgbClr val="1D1D1D"/>
                </a:solidFill>
              </a:rPr>
              <a:t>Cash customer proposition test</a:t>
            </a:r>
            <a:endParaRPr lang="en-US" sz="800" dirty="0"/>
          </a:p>
          <a:p>
            <a:pPr indent="0" marL="0">
              <a:spcAft>
                <a:spcPts val="100"/>
              </a:spcAft>
              <a:buNone/>
            </a:pPr>
            <a:r>
              <a:rPr lang="en-US" sz="800" dirty="0">
                <a:solidFill>
                  <a:srgbClr val="1D1D1D"/>
                </a:solidFill>
              </a:rPr>
              <a:t>Repeat service sign-up</a:t>
            </a:r>
            <a:endParaRPr lang="en-US" sz="800" dirty="0"/>
          </a:p>
          <a:p>
            <a:pPr indent="0" marL="0">
              <a:spcAft>
                <a:spcPts val="100"/>
              </a:spcAft>
              <a:buNone/>
            </a:pPr>
            <a:r>
              <a:rPr lang="en-US" sz="800" dirty="0">
                <a:solidFill>
                  <a:srgbClr val="1D1D1D"/>
                </a:solidFill>
              </a:rPr>
              <a:t>Script Sync engine</a:t>
            </a:r>
            <a:endParaRPr lang="en-US" sz="800" dirty="0"/>
          </a:p>
          <a:p>
            <a:pPr indent="0" marL="0">
              <a:spcAft>
                <a:spcPts val="100"/>
              </a:spcAft>
              <a:buNone/>
            </a:pPr>
            <a:r>
              <a:rPr lang="en-US" sz="800" dirty="0">
                <a:solidFill>
                  <a:srgbClr val="1D1D1D"/>
                </a:solidFill>
              </a:rPr>
              <a:t>Scheme rules for part-fills</a:t>
            </a:r>
            <a:endParaRPr lang="en-US" sz="800" dirty="0"/>
          </a:p>
          <a:p>
            <a:pPr indent="0" marL="0">
              <a:spcAft>
                <a:spcPts val="100"/>
              </a:spcAft>
              <a:buNone/>
            </a:pPr>
            <a:r>
              <a:rPr lang="en-US" sz="800" dirty="0">
                <a:solidFill>
                  <a:srgbClr val="1D1D1D"/>
                </a:solidFill>
              </a:rPr>
              <a:t>Repeat service value proposition</a:t>
            </a:r>
            <a:endParaRPr lang="en-US" sz="800" dirty="0"/>
          </a:p>
          <a:p>
            <a:pPr indent="0" marL="0">
              <a:spcAft>
                <a:spcPts val="100"/>
              </a:spcAft>
              <a:buNone/>
            </a:pPr>
            <a:r>
              <a:rPr lang="en-US" sz="800" dirty="0">
                <a:solidFill>
                  <a:srgbClr val="1D1D1D"/>
                </a:solidFill>
              </a:rPr>
              <a:t>Dose-pack proposition</a:t>
            </a:r>
            <a:endParaRPr lang="en-US" sz="800" dirty="0"/>
          </a:p>
          <a:p>
            <a:pPr indent="0" marL="0">
              <a:spcAft>
                <a:spcPts val="100"/>
              </a:spcAft>
              <a:buNone/>
            </a:pPr>
            <a:r>
              <a:rPr lang="en-US" sz="800" dirty="0">
                <a:solidFill>
                  <a:srgbClr val="1D1D1D"/>
                </a:solidFill>
              </a:rPr>
              <a:t>Government programme link</a:t>
            </a:r>
            <a:endParaRPr lang="en-US" sz="800" dirty="0"/>
          </a:p>
          <a:p>
            <a:pPr indent="0" marL="0">
              <a:spcAft>
                <a:spcPts val="100"/>
              </a:spcAft>
              <a:buNone/>
            </a:pPr>
            <a:r>
              <a:rPr lang="en-US" sz="800" dirty="0">
                <a:solidFill>
                  <a:srgbClr val="1D1D1D"/>
                </a:solidFill>
              </a:rPr>
              <a:t>Instructions in SA languages</a:t>
            </a:r>
            <a:endParaRPr lang="en-US" sz="800" dirty="0"/>
          </a:p>
          <a:p>
            <a:pPr indent="0" marL="0">
              <a:spcAft>
                <a:spcPts val="100"/>
              </a:spcAft>
              <a:buNone/>
            </a:pPr>
            <a:r>
              <a:rPr lang="en-US" sz="800" dirty="0">
                <a:solidFill>
                  <a:srgbClr val="1D1D1D"/>
                </a:solidFill>
              </a:rPr>
              <a:t>WhatsApp service platform</a:t>
            </a:r>
            <a:endParaRPr lang="en-US" sz="800" dirty="0"/>
          </a:p>
        </p:txBody>
      </p:sp>
      <p:sp>
        <p:nvSpPr>
          <p:cNvPr id="9" name="Shape 6"/>
          <p:cNvSpPr/>
          <p:nvPr/>
        </p:nvSpPr>
        <p:spPr>
          <a:xfrm>
            <a:off x="2149232" y="1463040"/>
            <a:ext cx="1490864" cy="548640"/>
          </a:xfrm>
          <a:prstGeom prst="rect">
            <a:avLst/>
          </a:prstGeom>
          <a:solidFill>
            <a:srgbClr val="126E35"/>
          </a:solidFill>
          <a:ln w="12700">
            <a:solidFill>
              <a:srgbClr val="126E35"/>
            </a:solidFill>
            <a:prstDash val="solid"/>
          </a:ln>
        </p:spPr>
      </p:sp>
      <p:sp>
        <p:nvSpPr>
          <p:cNvPr id="10" name="Text 7"/>
          <p:cNvSpPr txBox="1"/>
          <p:nvPr/>
        </p:nvSpPr>
        <p:spPr>
          <a:xfrm>
            <a:off x="2222384" y="1463040"/>
            <a:ext cx="1344560" cy="548640"/>
          </a:xfrm>
          <a:prstGeom prst="rect">
            <a:avLst/>
          </a:prstGeom>
          <a:noFill/>
          <a:ln/>
        </p:spPr>
        <p:txBody>
          <a:bodyPr wrap="square" lIns="0" tIns="0" rIns="0" bIns="0" rtlCol="0" anchor="ctr"/>
          <a:lstStyle/>
          <a:p>
            <a:pPr indent="0" marL="0">
              <a:buNone/>
            </a:pPr>
            <a:r>
              <a:rPr lang="en-US" sz="1100" b="1" dirty="0">
                <a:solidFill>
                  <a:srgbClr val="FFFFFF"/>
                </a:solidFill>
              </a:rPr>
              <a:t>Repeats are due</a:t>
            </a:r>
            <a:endParaRPr lang="en-US" sz="1100" dirty="0"/>
          </a:p>
          <a:p>
            <a:pPr indent="0" marL="0">
              <a:buNone/>
            </a:pPr>
            <a:r>
              <a:rPr lang="en-US" sz="900" dirty="0">
                <a:solidFill>
                  <a:srgbClr val="BFE3CF"/>
                </a:solidFill>
              </a:rPr>
              <a:t>25 items</a:t>
            </a:r>
            <a:endParaRPr lang="en-US" sz="1100" dirty="0"/>
          </a:p>
        </p:txBody>
      </p:sp>
      <p:sp>
        <p:nvSpPr>
          <p:cNvPr id="11" name="Shape 8"/>
          <p:cNvSpPr/>
          <p:nvPr/>
        </p:nvSpPr>
        <p:spPr>
          <a:xfrm>
            <a:off x="2149232" y="2057400"/>
            <a:ext cx="1490864" cy="4297680"/>
          </a:xfrm>
          <a:prstGeom prst="rect">
            <a:avLst/>
          </a:prstGeom>
          <a:solidFill>
            <a:srgbClr val="F4F8F5"/>
          </a:solidFill>
          <a:ln w="6350">
            <a:solidFill>
              <a:srgbClr val="D7DDD9"/>
            </a:solidFill>
            <a:prstDash val="solid"/>
          </a:ln>
        </p:spPr>
      </p:sp>
      <p:sp>
        <p:nvSpPr>
          <p:cNvPr id="12" name="Text 9"/>
          <p:cNvSpPr txBox="1"/>
          <p:nvPr/>
        </p:nvSpPr>
        <p:spPr>
          <a:xfrm>
            <a:off x="2222384" y="2121408"/>
            <a:ext cx="1344560" cy="4160520"/>
          </a:xfrm>
          <a:prstGeom prst="rect">
            <a:avLst/>
          </a:prstGeom>
          <a:noFill/>
          <a:ln/>
        </p:spPr>
        <p:txBody>
          <a:bodyPr wrap="square" lIns="0" tIns="0" rIns="0" bIns="0" rtlCol="0" anchor="t"/>
          <a:lstStyle/>
          <a:p>
            <a:pPr indent="0" marL="0">
              <a:spcAft>
                <a:spcPts val="100"/>
              </a:spcAft>
              <a:buNone/>
            </a:pPr>
            <a:r>
              <a:rPr lang="en-US" sz="800" dirty="0">
                <a:solidFill>
                  <a:srgbClr val="1D1D1D"/>
                </a:solidFill>
              </a:rPr>
              <a:t>Household profile</a:t>
            </a:r>
            <a:endParaRPr lang="en-US" sz="800" dirty="0"/>
          </a:p>
          <a:p>
            <a:pPr indent="0" marL="0">
              <a:spcAft>
                <a:spcPts val="100"/>
              </a:spcAft>
              <a:buNone/>
            </a:pPr>
            <a:r>
              <a:rPr lang="en-US" sz="800" dirty="0">
                <a:solidFill>
                  <a:srgbClr val="1D1D1D"/>
                </a:solidFill>
              </a:rPr>
              <a:t>Preferences honoured everywhere</a:t>
            </a:r>
            <a:endParaRPr lang="en-US" sz="800" dirty="0"/>
          </a:p>
          <a:p>
            <a:pPr indent="0" marL="0">
              <a:spcAft>
                <a:spcPts val="100"/>
              </a:spcAft>
              <a:buNone/>
            </a:pPr>
            <a:r>
              <a:rPr lang="en-US" sz="800" dirty="0">
                <a:solidFill>
                  <a:srgbClr val="1D1D1D"/>
                </a:solidFill>
              </a:rPr>
              <a:t>Household manager research</a:t>
            </a:r>
            <a:endParaRPr lang="en-US" sz="800" dirty="0"/>
          </a:p>
          <a:p>
            <a:pPr indent="0" marL="0">
              <a:spcAft>
                <a:spcPts val="100"/>
              </a:spcAft>
              <a:buNone/>
            </a:pPr>
            <a:r>
              <a:rPr lang="en-US" sz="800" dirty="0">
                <a:solidFill>
                  <a:srgbClr val="1D1D1D"/>
                </a:solidFill>
              </a:rPr>
              <a:t>Scheme check before the notice</a:t>
            </a:r>
            <a:endParaRPr lang="en-US" sz="800" dirty="0"/>
          </a:p>
          <a:p>
            <a:pPr indent="0" marL="0">
              <a:spcAft>
                <a:spcPts val="100"/>
              </a:spcAft>
              <a:buNone/>
            </a:pPr>
            <a:r>
              <a:rPr lang="en-US" sz="800" dirty="0">
                <a:solidFill>
                  <a:srgbClr val="1D1D1D"/>
                </a:solidFill>
              </a:rPr>
              <a:t>One medicine price engine</a:t>
            </a:r>
            <a:endParaRPr lang="en-US" sz="800" dirty="0"/>
          </a:p>
          <a:p>
            <a:pPr indent="0" marL="0">
              <a:spcAft>
                <a:spcPts val="100"/>
              </a:spcAft>
              <a:buNone/>
            </a:pPr>
            <a:r>
              <a:rPr lang="en-US" sz="800" dirty="0">
                <a:solidFill>
                  <a:srgbClr val="1D1D1D"/>
                </a:solidFill>
              </a:rPr>
              <a:t>Itemised household cost</a:t>
            </a:r>
            <a:endParaRPr lang="en-US" sz="800" dirty="0"/>
          </a:p>
          <a:p>
            <a:pPr indent="0" marL="0">
              <a:spcAft>
                <a:spcPts val="100"/>
              </a:spcAft>
              <a:buNone/>
            </a:pPr>
            <a:r>
              <a:rPr lang="en-US" sz="800" dirty="0">
                <a:solidFill>
                  <a:srgbClr val="1D1D1D"/>
                </a:solidFill>
              </a:rPr>
              <a:t>Several schemes, one order</a:t>
            </a:r>
            <a:endParaRPr lang="en-US" sz="800" dirty="0"/>
          </a:p>
          <a:p>
            <a:pPr indent="0" marL="0">
              <a:spcAft>
                <a:spcPts val="100"/>
              </a:spcAft>
              <a:buNone/>
            </a:pPr>
            <a:r>
              <a:rPr lang="en-US" sz="800" dirty="0">
                <a:solidFill>
                  <a:srgbClr val="1D1D1D"/>
                </a:solidFill>
              </a:rPr>
              <a:t>Live stock visibility</a:t>
            </a:r>
            <a:endParaRPr lang="en-US" sz="800" dirty="0"/>
          </a:p>
          <a:p>
            <a:pPr indent="0" marL="0">
              <a:spcAft>
                <a:spcPts val="100"/>
              </a:spcAft>
              <a:buNone/>
            </a:pPr>
            <a:r>
              <a:rPr lang="en-US" sz="800" dirty="0">
                <a:solidFill>
                  <a:srgbClr val="1D1D1D"/>
                </a:solidFill>
              </a:rPr>
              <a:t>Stock held for predicted repeats</a:t>
            </a:r>
            <a:endParaRPr lang="en-US" sz="800" dirty="0"/>
          </a:p>
          <a:p>
            <a:pPr indent="0" marL="0">
              <a:spcAft>
                <a:spcPts val="100"/>
              </a:spcAft>
              <a:buNone/>
            </a:pPr>
            <a:r>
              <a:rPr lang="en-US" sz="800" dirty="0">
                <a:solidFill>
                  <a:srgbClr val="1D1D1D"/>
                </a:solidFill>
              </a:rPr>
              <a:t>Stock recorded as it moves</a:t>
            </a:r>
            <a:endParaRPr lang="en-US" sz="800" dirty="0"/>
          </a:p>
          <a:p>
            <a:pPr indent="0" marL="0">
              <a:spcAft>
                <a:spcPts val="100"/>
              </a:spcAft>
              <a:buNone/>
            </a:pPr>
            <a:r>
              <a:rPr lang="en-US" sz="800" dirty="0">
                <a:solidFill>
                  <a:srgbClr val="1D1D1D"/>
                </a:solidFill>
              </a:rPr>
              <a:t>One order workflow (BRiX)</a:t>
            </a:r>
            <a:endParaRPr lang="en-US" sz="800" dirty="0"/>
          </a:p>
          <a:p>
            <a:pPr indent="0" marL="0">
              <a:spcAft>
                <a:spcPts val="100"/>
              </a:spcAft>
              <a:buNone/>
            </a:pPr>
            <a:r>
              <a:rPr lang="en-US" sz="800" dirty="0">
                <a:solidFill>
                  <a:srgbClr val="1D1D1D"/>
                </a:solidFill>
              </a:rPr>
              <a:t>Repeats prepare themselves</a:t>
            </a:r>
            <a:endParaRPr lang="en-US" sz="800" dirty="0"/>
          </a:p>
          <a:p>
            <a:pPr indent="0" marL="0">
              <a:spcAft>
                <a:spcPts val="100"/>
              </a:spcAft>
              <a:buNone/>
            </a:pPr>
            <a:r>
              <a:rPr lang="en-US" sz="800" dirty="0">
                <a:solidFill>
                  <a:srgbClr val="1D1D1D"/>
                </a:solidFill>
              </a:rPr>
              <a:t>Adherence Centre capacity</a:t>
            </a:r>
            <a:endParaRPr lang="en-US" sz="800" dirty="0"/>
          </a:p>
          <a:p>
            <a:pPr indent="0" marL="0">
              <a:spcAft>
                <a:spcPts val="100"/>
              </a:spcAft>
              <a:buNone/>
            </a:pPr>
            <a:r>
              <a:rPr lang="en-US" sz="800" dirty="0">
                <a:solidFill>
                  <a:srgbClr val="1D1D1D"/>
                </a:solidFill>
              </a:rPr>
              <a:t>Delivery promise standard</a:t>
            </a:r>
            <a:endParaRPr lang="en-US" sz="800" dirty="0"/>
          </a:p>
          <a:p>
            <a:pPr indent="0" marL="0">
              <a:spcAft>
                <a:spcPts val="100"/>
              </a:spcAft>
              <a:buNone/>
            </a:pPr>
            <a:r>
              <a:rPr lang="en-US" sz="800" dirty="0">
                <a:solidFill>
                  <a:srgbClr val="1D1D1D"/>
                </a:solidFill>
              </a:rPr>
              <a:t>Refill prediction</a:t>
            </a:r>
            <a:endParaRPr lang="en-US" sz="800" dirty="0"/>
          </a:p>
          <a:p>
            <a:pPr indent="0" marL="0">
              <a:spcAft>
                <a:spcPts val="100"/>
              </a:spcAft>
              <a:buNone/>
            </a:pPr>
            <a:r>
              <a:rPr lang="en-US" sz="800" dirty="0">
                <a:solidFill>
                  <a:srgbClr val="1D1D1D"/>
                </a:solidFill>
              </a:rPr>
              <a:t>Auto-refill eligibility policy</a:t>
            </a:r>
            <a:endParaRPr lang="en-US" sz="800" dirty="0"/>
          </a:p>
          <a:p>
            <a:pPr indent="0" marL="0">
              <a:spcAft>
                <a:spcPts val="100"/>
              </a:spcAft>
              <a:buNone/>
            </a:pPr>
            <a:r>
              <a:rPr lang="en-US" sz="800" dirty="0">
                <a:solidFill>
                  <a:srgbClr val="1D1D1D"/>
                </a:solidFill>
              </a:rPr>
              <a:t>Monthly repeat notice</a:t>
            </a:r>
            <a:endParaRPr lang="en-US" sz="800" dirty="0"/>
          </a:p>
          <a:p>
            <a:pPr indent="0" marL="0">
              <a:spcAft>
                <a:spcPts val="100"/>
              </a:spcAft>
              <a:buNone/>
            </a:pPr>
            <a:r>
              <a:rPr lang="en-US" sz="800" dirty="0">
                <a:solidFill>
                  <a:srgbClr val="1D1D1D"/>
                </a:solidFill>
              </a:rPr>
              <a:t>Standing order controls</a:t>
            </a:r>
            <a:endParaRPr lang="en-US" sz="800" dirty="0"/>
          </a:p>
          <a:p>
            <a:pPr indent="0" marL="0">
              <a:spcAft>
                <a:spcPts val="100"/>
              </a:spcAft>
              <a:buNone/>
            </a:pPr>
            <a:r>
              <a:rPr lang="en-US" sz="800" dirty="0">
                <a:solidFill>
                  <a:srgbClr val="1D1D1D"/>
                </a:solidFill>
              </a:rPr>
              <a:t>Validate Auto-Refill</a:t>
            </a:r>
            <a:endParaRPr lang="en-US" sz="800" dirty="0"/>
          </a:p>
          <a:p>
            <a:pPr indent="0" marL="0">
              <a:spcAft>
                <a:spcPts val="100"/>
              </a:spcAft>
              <a:buNone/>
            </a:pPr>
            <a:r>
              <a:rPr lang="en-US" sz="800" dirty="0">
                <a:solidFill>
                  <a:srgbClr val="1D1D1D"/>
                </a:solidFill>
              </a:rPr>
              <a:t>Repeat service value proposition</a:t>
            </a:r>
            <a:endParaRPr lang="en-US" sz="800" dirty="0"/>
          </a:p>
          <a:p>
            <a:pPr indent="0" marL="0">
              <a:spcAft>
                <a:spcPts val="100"/>
              </a:spcAft>
              <a:buNone/>
            </a:pPr>
            <a:r>
              <a:rPr lang="en-US" sz="800" dirty="0">
                <a:solidFill>
                  <a:srgbClr val="1D1D1D"/>
                </a:solidFill>
              </a:rPr>
              <a:t>Contact and opt-out policy</a:t>
            </a:r>
            <a:endParaRPr lang="en-US" sz="800" dirty="0"/>
          </a:p>
          <a:p>
            <a:pPr indent="0" marL="0">
              <a:spcAft>
                <a:spcPts val="100"/>
              </a:spcAft>
              <a:buNone/>
            </a:pPr>
            <a:r>
              <a:rPr lang="en-US" sz="800" dirty="0">
                <a:solidFill>
                  <a:srgbClr val="1D1D1D"/>
                </a:solidFill>
              </a:rPr>
              <a:t>Government programme link</a:t>
            </a:r>
            <a:endParaRPr lang="en-US" sz="800" dirty="0"/>
          </a:p>
          <a:p>
            <a:pPr indent="0" marL="0">
              <a:spcAft>
                <a:spcPts val="100"/>
              </a:spcAft>
              <a:buNone/>
            </a:pPr>
            <a:r>
              <a:rPr lang="en-US" sz="800" dirty="0">
                <a:solidFill>
                  <a:srgbClr val="1D1D1D"/>
                </a:solidFill>
              </a:rPr>
              <a:t>Service message library</a:t>
            </a:r>
            <a:endParaRPr lang="en-US" sz="800" dirty="0"/>
          </a:p>
          <a:p>
            <a:pPr indent="0" marL="0">
              <a:spcAft>
                <a:spcPts val="100"/>
              </a:spcAft>
              <a:buNone/>
            </a:pPr>
            <a:r>
              <a:rPr lang="en-US" sz="800" dirty="0">
                <a:solidFill>
                  <a:srgbClr val="1D1D1D"/>
                </a:solidFill>
              </a:rPr>
              <a:t>WhatsApp service platform</a:t>
            </a:r>
            <a:endParaRPr lang="en-US" sz="800" dirty="0"/>
          </a:p>
          <a:p>
            <a:pPr indent="0" marL="0">
              <a:spcAft>
                <a:spcPts val="100"/>
              </a:spcAft>
              <a:buNone/>
            </a:pPr>
            <a:r>
              <a:rPr lang="en-US" sz="800" dirty="0">
                <a:solidFill>
                  <a:srgbClr val="1D1D1D"/>
                </a:solidFill>
              </a:rPr>
              <a:t>Call me back</a:t>
            </a:r>
            <a:endParaRPr lang="en-US" sz="800" dirty="0"/>
          </a:p>
        </p:txBody>
      </p:sp>
      <p:sp>
        <p:nvSpPr>
          <p:cNvPr id="13" name="Shape 10"/>
          <p:cNvSpPr/>
          <p:nvPr/>
        </p:nvSpPr>
        <p:spPr>
          <a:xfrm>
            <a:off x="3749824" y="1463040"/>
            <a:ext cx="1490864" cy="548640"/>
          </a:xfrm>
          <a:prstGeom prst="rect">
            <a:avLst/>
          </a:prstGeom>
          <a:solidFill>
            <a:srgbClr val="126E35"/>
          </a:solidFill>
          <a:ln w="12700">
            <a:solidFill>
              <a:srgbClr val="126E35"/>
            </a:solidFill>
            <a:prstDash val="solid"/>
          </a:ln>
        </p:spPr>
      </p:sp>
      <p:sp>
        <p:nvSpPr>
          <p:cNvPr id="14" name="Text 11"/>
          <p:cNvSpPr txBox="1"/>
          <p:nvPr/>
        </p:nvSpPr>
        <p:spPr>
          <a:xfrm>
            <a:off x="3822976" y="1463040"/>
            <a:ext cx="1344560" cy="548640"/>
          </a:xfrm>
          <a:prstGeom prst="rect">
            <a:avLst/>
          </a:prstGeom>
          <a:noFill/>
          <a:ln/>
        </p:spPr>
        <p:txBody>
          <a:bodyPr wrap="square" lIns="0" tIns="0" rIns="0" bIns="0" rtlCol="0" anchor="ctr"/>
          <a:lstStyle/>
          <a:p>
            <a:pPr indent="0" marL="0">
              <a:buNone/>
            </a:pPr>
            <a:r>
              <a:rPr lang="en-US" sz="1100" b="1" dirty="0">
                <a:solidFill>
                  <a:srgbClr val="FFFFFF"/>
                </a:solidFill>
              </a:rPr>
              <a:t>Adding to the order</a:t>
            </a:r>
            <a:endParaRPr lang="en-US" sz="1100" dirty="0"/>
          </a:p>
          <a:p>
            <a:pPr indent="0" marL="0">
              <a:buNone/>
            </a:pPr>
            <a:r>
              <a:rPr lang="en-US" sz="900" dirty="0">
                <a:solidFill>
                  <a:srgbClr val="BFE3CF"/>
                </a:solidFill>
              </a:rPr>
              <a:t>7 items</a:t>
            </a:r>
            <a:endParaRPr lang="en-US" sz="1100" dirty="0"/>
          </a:p>
        </p:txBody>
      </p:sp>
      <p:sp>
        <p:nvSpPr>
          <p:cNvPr id="15" name="Shape 12"/>
          <p:cNvSpPr/>
          <p:nvPr/>
        </p:nvSpPr>
        <p:spPr>
          <a:xfrm>
            <a:off x="3749824" y="2057400"/>
            <a:ext cx="1490864" cy="4297680"/>
          </a:xfrm>
          <a:prstGeom prst="rect">
            <a:avLst/>
          </a:prstGeom>
          <a:solidFill>
            <a:srgbClr val="F4F8F5"/>
          </a:solidFill>
          <a:ln w="6350">
            <a:solidFill>
              <a:srgbClr val="D7DDD9"/>
            </a:solidFill>
            <a:prstDash val="solid"/>
          </a:ln>
        </p:spPr>
      </p:sp>
      <p:sp>
        <p:nvSpPr>
          <p:cNvPr id="16" name="Text 13"/>
          <p:cNvSpPr txBox="1"/>
          <p:nvPr/>
        </p:nvSpPr>
        <p:spPr>
          <a:xfrm>
            <a:off x="3822976" y="2121408"/>
            <a:ext cx="1344560" cy="4160520"/>
          </a:xfrm>
          <a:prstGeom prst="rect">
            <a:avLst/>
          </a:prstGeom>
          <a:noFill/>
          <a:ln/>
        </p:spPr>
        <p:txBody>
          <a:bodyPr wrap="square" lIns="0" tIns="0" rIns="0" bIns="0" rtlCol="0" anchor="t"/>
          <a:lstStyle/>
          <a:p>
            <a:pPr indent="0" marL="0">
              <a:spcAft>
                <a:spcPts val="100"/>
              </a:spcAft>
              <a:buNone/>
            </a:pPr>
            <a:r>
              <a:rPr lang="en-US" sz="800" dirty="0">
                <a:solidFill>
                  <a:srgbClr val="1D1D1D"/>
                </a:solidFill>
              </a:rPr>
              <a:t>Suggestions from buying history</a:t>
            </a:r>
            <a:endParaRPr lang="en-US" sz="800" dirty="0"/>
          </a:p>
          <a:p>
            <a:pPr indent="0" marL="0">
              <a:spcAft>
                <a:spcPts val="100"/>
              </a:spcAft>
              <a:buNone/>
            </a:pPr>
            <a:r>
              <a:rPr lang="en-US" sz="800" dirty="0">
                <a:solidFill>
                  <a:srgbClr val="1D1D1D"/>
                </a:solidFill>
              </a:rPr>
              <a:t>One medicine price engine</a:t>
            </a:r>
            <a:endParaRPr lang="en-US" sz="800" dirty="0"/>
          </a:p>
          <a:p>
            <a:pPr indent="0" marL="0">
              <a:spcAft>
                <a:spcPts val="100"/>
              </a:spcAft>
              <a:buNone/>
            </a:pPr>
            <a:r>
              <a:rPr lang="en-US" sz="800" dirty="0">
                <a:solidFill>
                  <a:srgbClr val="1D1D1D"/>
                </a:solidFill>
              </a:rPr>
              <a:t>Open order window</a:t>
            </a:r>
            <a:endParaRPr lang="en-US" sz="800" dirty="0"/>
          </a:p>
          <a:p>
            <a:pPr indent="0" marL="0">
              <a:spcAft>
                <a:spcPts val="100"/>
              </a:spcAft>
              <a:buNone/>
            </a:pPr>
            <a:r>
              <a:rPr lang="en-US" sz="800" dirty="0">
                <a:solidFill>
                  <a:srgbClr val="1D1D1D"/>
                </a:solidFill>
              </a:rPr>
              <a:t>One household parcel</a:t>
            </a:r>
            <a:endParaRPr lang="en-US" sz="800" dirty="0"/>
          </a:p>
          <a:p>
            <a:pPr indent="0" marL="0">
              <a:spcAft>
                <a:spcPts val="100"/>
              </a:spcAft>
              <a:buNone/>
            </a:pPr>
            <a:r>
              <a:rPr lang="en-US" sz="800" dirty="0">
                <a:solidFill>
                  <a:srgbClr val="1D1D1D"/>
                </a:solidFill>
              </a:rPr>
              <a:t>What rides with medicine</a:t>
            </a:r>
            <a:endParaRPr lang="en-US" sz="800" dirty="0"/>
          </a:p>
          <a:p>
            <a:pPr indent="0" marL="0">
              <a:spcAft>
                <a:spcPts val="100"/>
              </a:spcAft>
              <a:buNone/>
            </a:pPr>
            <a:r>
              <a:rPr lang="en-US" sz="800" dirty="0">
                <a:solidFill>
                  <a:srgbClr val="1D1D1D"/>
                </a:solidFill>
              </a:rPr>
              <a:t>WhatsApp service platform</a:t>
            </a:r>
            <a:endParaRPr lang="en-US" sz="800" dirty="0"/>
          </a:p>
          <a:p>
            <a:pPr indent="0" marL="0">
              <a:spcAft>
                <a:spcPts val="100"/>
              </a:spcAft>
              <a:buNone/>
            </a:pPr>
            <a:r>
              <a:rPr lang="en-US" sz="800" dirty="0">
                <a:solidFill>
                  <a:srgbClr val="1D1D1D"/>
                </a:solidFill>
              </a:rPr>
              <a:t>Chat ordering on WhatsApp</a:t>
            </a:r>
            <a:endParaRPr lang="en-US" sz="800" dirty="0"/>
          </a:p>
        </p:txBody>
      </p:sp>
      <p:sp>
        <p:nvSpPr>
          <p:cNvPr id="17" name="Shape 14"/>
          <p:cNvSpPr/>
          <p:nvPr/>
        </p:nvSpPr>
        <p:spPr>
          <a:xfrm>
            <a:off x="5350416" y="1463040"/>
            <a:ext cx="1490864" cy="548640"/>
          </a:xfrm>
          <a:prstGeom prst="rect">
            <a:avLst/>
          </a:prstGeom>
          <a:solidFill>
            <a:srgbClr val="126E35"/>
          </a:solidFill>
          <a:ln w="12700">
            <a:solidFill>
              <a:srgbClr val="126E35"/>
            </a:solidFill>
            <a:prstDash val="solid"/>
          </a:ln>
        </p:spPr>
      </p:sp>
      <p:sp>
        <p:nvSpPr>
          <p:cNvPr id="18" name="Text 15"/>
          <p:cNvSpPr txBox="1"/>
          <p:nvPr/>
        </p:nvSpPr>
        <p:spPr>
          <a:xfrm>
            <a:off x="5423568" y="1463040"/>
            <a:ext cx="1344560" cy="548640"/>
          </a:xfrm>
          <a:prstGeom prst="rect">
            <a:avLst/>
          </a:prstGeom>
          <a:noFill/>
          <a:ln/>
        </p:spPr>
        <p:txBody>
          <a:bodyPr wrap="square" lIns="0" tIns="0" rIns="0" bIns="0" rtlCol="0" anchor="ctr"/>
          <a:lstStyle/>
          <a:p>
            <a:pPr indent="0" marL="0">
              <a:buNone/>
            </a:pPr>
            <a:r>
              <a:rPr lang="en-US" sz="1100" b="1" dirty="0">
                <a:solidFill>
                  <a:srgbClr val="FFFFFF"/>
                </a:solidFill>
              </a:rPr>
              <a:t>Checked and packed</a:t>
            </a:r>
            <a:endParaRPr lang="en-US" sz="1100" dirty="0"/>
          </a:p>
          <a:p>
            <a:pPr indent="0" marL="0">
              <a:buNone/>
            </a:pPr>
            <a:r>
              <a:rPr lang="en-US" sz="900" dirty="0">
                <a:solidFill>
                  <a:srgbClr val="BFE3CF"/>
                </a:solidFill>
              </a:rPr>
              <a:t>15 items</a:t>
            </a:r>
            <a:endParaRPr lang="en-US" sz="1100" dirty="0"/>
          </a:p>
        </p:txBody>
      </p:sp>
      <p:sp>
        <p:nvSpPr>
          <p:cNvPr id="19" name="Shape 16"/>
          <p:cNvSpPr/>
          <p:nvPr/>
        </p:nvSpPr>
        <p:spPr>
          <a:xfrm>
            <a:off x="5350416" y="2057400"/>
            <a:ext cx="1490864" cy="4297680"/>
          </a:xfrm>
          <a:prstGeom prst="rect">
            <a:avLst/>
          </a:prstGeom>
          <a:solidFill>
            <a:srgbClr val="F4F8F5"/>
          </a:solidFill>
          <a:ln w="6350">
            <a:solidFill>
              <a:srgbClr val="D7DDD9"/>
            </a:solidFill>
            <a:prstDash val="solid"/>
          </a:ln>
        </p:spPr>
      </p:sp>
      <p:sp>
        <p:nvSpPr>
          <p:cNvPr id="20" name="Text 17"/>
          <p:cNvSpPr txBox="1"/>
          <p:nvPr/>
        </p:nvSpPr>
        <p:spPr>
          <a:xfrm>
            <a:off x="5423568" y="2121408"/>
            <a:ext cx="1344560" cy="4160520"/>
          </a:xfrm>
          <a:prstGeom prst="rect">
            <a:avLst/>
          </a:prstGeom>
          <a:noFill/>
          <a:ln/>
        </p:spPr>
        <p:txBody>
          <a:bodyPr wrap="square" lIns="0" tIns="0" rIns="0" bIns="0" rtlCol="0" anchor="t"/>
          <a:lstStyle/>
          <a:p>
            <a:pPr indent="0" marL="0">
              <a:spcAft>
                <a:spcPts val="100"/>
              </a:spcAft>
              <a:buNone/>
            </a:pPr>
            <a:r>
              <a:rPr lang="en-US" sz="800" dirty="0">
                <a:solidFill>
                  <a:srgbClr val="1D1D1D"/>
                </a:solidFill>
              </a:rPr>
              <a:t>One order workflow (BRiX)</a:t>
            </a:r>
            <a:endParaRPr lang="en-US" sz="800" dirty="0"/>
          </a:p>
          <a:p>
            <a:pPr indent="0" marL="0">
              <a:spcAft>
                <a:spcPts val="100"/>
              </a:spcAft>
              <a:buNone/>
            </a:pPr>
            <a:r>
              <a:rPr lang="en-US" sz="800" dirty="0">
                <a:solidFill>
                  <a:srgbClr val="1D1D1D"/>
                </a:solidFill>
              </a:rPr>
              <a:t>AI check assistant</a:t>
            </a:r>
            <a:endParaRPr lang="en-US" sz="800" dirty="0"/>
          </a:p>
          <a:p>
            <a:pPr indent="0" marL="0">
              <a:spcAft>
                <a:spcPts val="100"/>
              </a:spcAft>
              <a:buNone/>
            </a:pPr>
            <a:r>
              <a:rPr lang="en-US" sz="800" dirty="0">
                <a:solidFill>
                  <a:srgbClr val="1D1D1D"/>
                </a:solidFill>
              </a:rPr>
              <a:t>Rules for AI-assisted checking</a:t>
            </a:r>
            <a:endParaRPr lang="en-US" sz="800" dirty="0"/>
          </a:p>
          <a:p>
            <a:pPr indent="0" marL="0">
              <a:spcAft>
                <a:spcPts val="100"/>
              </a:spcAft>
              <a:buNone/>
            </a:pPr>
            <a:r>
              <a:rPr lang="en-US" sz="800" dirty="0">
                <a:solidFill>
                  <a:srgbClr val="1D1D1D"/>
                </a:solidFill>
              </a:rPr>
              <a:t>Named sign-off record</a:t>
            </a:r>
            <a:endParaRPr lang="en-US" sz="800" dirty="0"/>
          </a:p>
          <a:p>
            <a:pPr indent="0" marL="0">
              <a:spcAft>
                <a:spcPts val="100"/>
              </a:spcAft>
              <a:buNone/>
            </a:pPr>
            <a:r>
              <a:rPr lang="en-US" sz="800" dirty="0">
                <a:solidFill>
                  <a:srgbClr val="1D1D1D"/>
                </a:solidFill>
              </a:rPr>
              <a:t>Checked-and-packed status</a:t>
            </a:r>
            <a:endParaRPr lang="en-US" sz="800" dirty="0"/>
          </a:p>
          <a:p>
            <a:pPr indent="0" marL="0">
              <a:spcAft>
                <a:spcPts val="100"/>
              </a:spcAft>
              <a:buNone/>
            </a:pPr>
            <a:r>
              <a:rPr lang="en-US" sz="800" dirty="0">
                <a:solidFill>
                  <a:srgbClr val="1D1D1D"/>
                </a:solidFill>
              </a:rPr>
              <a:t>Naming the pharmacist</a:t>
            </a:r>
            <a:endParaRPr lang="en-US" sz="800" dirty="0"/>
          </a:p>
          <a:p>
            <a:pPr indent="0" marL="0">
              <a:spcAft>
                <a:spcPts val="100"/>
              </a:spcAft>
              <a:buNone/>
            </a:pPr>
            <a:r>
              <a:rPr lang="en-US" sz="800" dirty="0">
                <a:solidFill>
                  <a:srgbClr val="1D1D1D"/>
                </a:solidFill>
              </a:rPr>
              <a:t>Automated picking (ROWA)</a:t>
            </a:r>
            <a:endParaRPr lang="en-US" sz="800" dirty="0"/>
          </a:p>
          <a:p>
            <a:pPr indent="0" marL="0">
              <a:spcAft>
                <a:spcPts val="100"/>
              </a:spcAft>
              <a:buNone/>
            </a:pPr>
            <a:r>
              <a:rPr lang="en-US" sz="800" dirty="0">
                <a:solidFill>
                  <a:srgbClr val="1D1D1D"/>
                </a:solidFill>
              </a:rPr>
              <a:t>Pick verification</a:t>
            </a:r>
            <a:endParaRPr lang="en-US" sz="800" dirty="0"/>
          </a:p>
          <a:p>
            <a:pPr indent="0" marL="0">
              <a:spcAft>
                <a:spcPts val="100"/>
              </a:spcAft>
              <a:buNone/>
            </a:pPr>
            <a:r>
              <a:rPr lang="en-US" sz="800" dirty="0">
                <a:solidFill>
                  <a:srgbClr val="1D1D1D"/>
                </a:solidFill>
              </a:rPr>
              <a:t>Adherence Centre capacity</a:t>
            </a:r>
            <a:endParaRPr lang="en-US" sz="800" dirty="0"/>
          </a:p>
          <a:p>
            <a:pPr indent="0" marL="0">
              <a:spcAft>
                <a:spcPts val="100"/>
              </a:spcAft>
              <a:buNone/>
            </a:pPr>
            <a:r>
              <a:rPr lang="en-US" sz="800" dirty="0">
                <a:solidFill>
                  <a:srgbClr val="1D1D1D"/>
                </a:solidFill>
              </a:rPr>
              <a:t>One household parcel</a:t>
            </a:r>
            <a:endParaRPr lang="en-US" sz="800" dirty="0"/>
          </a:p>
          <a:p>
            <a:pPr indent="0" marL="0">
              <a:spcAft>
                <a:spcPts val="100"/>
              </a:spcAft>
              <a:buNone/>
            </a:pPr>
            <a:r>
              <a:rPr lang="en-US" sz="800" dirty="0">
                <a:solidFill>
                  <a:srgbClr val="1D1D1D"/>
                </a:solidFill>
              </a:rPr>
              <a:t>Combined pick and pack</a:t>
            </a:r>
            <a:endParaRPr lang="en-US" sz="800" dirty="0"/>
          </a:p>
          <a:p>
            <a:pPr indent="0" marL="0">
              <a:spcAft>
                <a:spcPts val="100"/>
              </a:spcAft>
              <a:buNone/>
            </a:pPr>
            <a:r>
              <a:rPr lang="en-US" sz="800" dirty="0">
                <a:solidFill>
                  <a:srgbClr val="1D1D1D"/>
                </a:solidFill>
              </a:rPr>
              <a:t>Flexible delivery plans</a:t>
            </a:r>
            <a:endParaRPr lang="en-US" sz="800" dirty="0"/>
          </a:p>
          <a:p>
            <a:pPr indent="0" marL="0">
              <a:spcAft>
                <a:spcPts val="100"/>
              </a:spcAft>
              <a:buNone/>
            </a:pPr>
            <a:r>
              <a:rPr lang="en-US" sz="800" dirty="0">
                <a:solidFill>
                  <a:srgbClr val="1D1D1D"/>
                </a:solidFill>
              </a:rPr>
              <a:t>Dose-pack production</a:t>
            </a:r>
            <a:endParaRPr lang="en-US" sz="800" dirty="0"/>
          </a:p>
          <a:p>
            <a:pPr indent="0" marL="0">
              <a:spcAft>
                <a:spcPts val="100"/>
              </a:spcAft>
              <a:buNone/>
            </a:pPr>
            <a:r>
              <a:rPr lang="en-US" sz="800" dirty="0">
                <a:solidFill>
                  <a:srgbClr val="1D1D1D"/>
                </a:solidFill>
              </a:rPr>
              <a:t>Service message library</a:t>
            </a:r>
            <a:endParaRPr lang="en-US" sz="800" dirty="0"/>
          </a:p>
          <a:p>
            <a:pPr indent="0" marL="0">
              <a:spcAft>
                <a:spcPts val="100"/>
              </a:spcAft>
              <a:buNone/>
            </a:pPr>
            <a:r>
              <a:rPr lang="en-US" sz="800" dirty="0">
                <a:solidFill>
                  <a:srgbClr val="1D1D1D"/>
                </a:solidFill>
              </a:rPr>
              <a:t>Status at every stage</a:t>
            </a:r>
            <a:endParaRPr lang="en-US" sz="800" dirty="0"/>
          </a:p>
        </p:txBody>
      </p:sp>
      <p:sp>
        <p:nvSpPr>
          <p:cNvPr id="21" name="Shape 18"/>
          <p:cNvSpPr/>
          <p:nvPr/>
        </p:nvSpPr>
        <p:spPr>
          <a:xfrm>
            <a:off x="6951008" y="1463040"/>
            <a:ext cx="1490864" cy="548640"/>
          </a:xfrm>
          <a:prstGeom prst="rect">
            <a:avLst/>
          </a:prstGeom>
          <a:solidFill>
            <a:srgbClr val="126E35"/>
          </a:solidFill>
          <a:ln w="12700">
            <a:solidFill>
              <a:srgbClr val="126E35"/>
            </a:solidFill>
            <a:prstDash val="solid"/>
          </a:ln>
        </p:spPr>
      </p:sp>
      <p:sp>
        <p:nvSpPr>
          <p:cNvPr id="22" name="Text 19"/>
          <p:cNvSpPr txBox="1"/>
          <p:nvPr/>
        </p:nvSpPr>
        <p:spPr>
          <a:xfrm>
            <a:off x="7024160" y="1463040"/>
            <a:ext cx="1344560" cy="548640"/>
          </a:xfrm>
          <a:prstGeom prst="rect">
            <a:avLst/>
          </a:prstGeom>
          <a:noFill/>
          <a:ln/>
        </p:spPr>
        <p:txBody>
          <a:bodyPr wrap="square" lIns="0" tIns="0" rIns="0" bIns="0" rtlCol="0" anchor="ctr"/>
          <a:lstStyle/>
          <a:p>
            <a:pPr indent="0" marL="0">
              <a:buNone/>
            </a:pPr>
            <a:r>
              <a:rPr lang="en-US" sz="1100" b="1" dirty="0">
                <a:solidFill>
                  <a:srgbClr val="FFFFFF"/>
                </a:solidFill>
              </a:rPr>
              <a:t>In hand</a:t>
            </a:r>
            <a:endParaRPr lang="en-US" sz="1100" dirty="0"/>
          </a:p>
          <a:p>
            <a:pPr indent="0" marL="0">
              <a:buNone/>
            </a:pPr>
            <a:r>
              <a:rPr lang="en-US" sz="900" dirty="0">
                <a:solidFill>
                  <a:srgbClr val="BFE3CF"/>
                </a:solidFill>
              </a:rPr>
              <a:t>17 items</a:t>
            </a:r>
            <a:endParaRPr lang="en-US" sz="1100" dirty="0"/>
          </a:p>
        </p:txBody>
      </p:sp>
      <p:sp>
        <p:nvSpPr>
          <p:cNvPr id="23" name="Shape 20"/>
          <p:cNvSpPr/>
          <p:nvPr/>
        </p:nvSpPr>
        <p:spPr>
          <a:xfrm>
            <a:off x="6951008" y="2057400"/>
            <a:ext cx="1490864" cy="4297680"/>
          </a:xfrm>
          <a:prstGeom prst="rect">
            <a:avLst/>
          </a:prstGeom>
          <a:solidFill>
            <a:srgbClr val="F4F8F5"/>
          </a:solidFill>
          <a:ln w="6350">
            <a:solidFill>
              <a:srgbClr val="D7DDD9"/>
            </a:solidFill>
            <a:prstDash val="solid"/>
          </a:ln>
        </p:spPr>
      </p:sp>
      <p:sp>
        <p:nvSpPr>
          <p:cNvPr id="24" name="Text 21"/>
          <p:cNvSpPr txBox="1"/>
          <p:nvPr/>
        </p:nvSpPr>
        <p:spPr>
          <a:xfrm>
            <a:off x="7024160" y="2121408"/>
            <a:ext cx="1344560" cy="4160520"/>
          </a:xfrm>
          <a:prstGeom prst="rect">
            <a:avLst/>
          </a:prstGeom>
          <a:noFill/>
          <a:ln/>
        </p:spPr>
        <p:txBody>
          <a:bodyPr wrap="square" lIns="0" tIns="0" rIns="0" bIns="0" rtlCol="0" anchor="t"/>
          <a:lstStyle/>
          <a:p>
            <a:pPr indent="0" marL="0">
              <a:spcAft>
                <a:spcPts val="100"/>
              </a:spcAft>
              <a:buNone/>
            </a:pPr>
            <a:r>
              <a:rPr lang="en-US" sz="800" dirty="0">
                <a:solidFill>
                  <a:srgbClr val="1D1D1D"/>
                </a:solidFill>
              </a:rPr>
              <a:t>Cash payment at a bank partner</a:t>
            </a:r>
            <a:endParaRPr lang="en-US" sz="800" dirty="0"/>
          </a:p>
          <a:p>
            <a:pPr indent="0" marL="0">
              <a:spcAft>
                <a:spcPts val="100"/>
              </a:spcAft>
              <a:buNone/>
            </a:pPr>
            <a:r>
              <a:rPr lang="en-US" sz="800" dirty="0">
                <a:solidFill>
                  <a:srgbClr val="1D1D1D"/>
                </a:solidFill>
              </a:rPr>
              <a:t>Payment switches on collection</a:t>
            </a:r>
            <a:endParaRPr lang="en-US" sz="800" dirty="0"/>
          </a:p>
          <a:p>
            <a:pPr indent="0" marL="0">
              <a:spcAft>
                <a:spcPts val="100"/>
              </a:spcAft>
              <a:buNone/>
            </a:pPr>
            <a:r>
              <a:rPr lang="en-US" sz="800" dirty="0">
                <a:solidFill>
                  <a:srgbClr val="1D1D1D"/>
                </a:solidFill>
              </a:rPr>
              <a:t>One order workflow (BRiX)</a:t>
            </a:r>
            <a:endParaRPr lang="en-US" sz="800" dirty="0"/>
          </a:p>
          <a:p>
            <a:pPr indent="0" marL="0">
              <a:spcAft>
                <a:spcPts val="100"/>
              </a:spcAft>
              <a:buNone/>
            </a:pPr>
            <a:r>
              <a:rPr lang="en-US" sz="800" dirty="0">
                <a:solidFill>
                  <a:srgbClr val="1D1D1D"/>
                </a:solidFill>
              </a:rPr>
              <a:t>One household parcel</a:t>
            </a:r>
            <a:endParaRPr lang="en-US" sz="800" dirty="0"/>
          </a:p>
          <a:p>
            <a:pPr indent="0" marL="0">
              <a:spcAft>
                <a:spcPts val="100"/>
              </a:spcAft>
              <a:buNone/>
            </a:pPr>
            <a:r>
              <a:rPr lang="en-US" sz="800" dirty="0">
                <a:solidFill>
                  <a:srgbClr val="1D1D1D"/>
                </a:solidFill>
              </a:rPr>
              <a:t>Live delivery tracking</a:t>
            </a:r>
            <a:endParaRPr lang="en-US" sz="800" dirty="0"/>
          </a:p>
          <a:p>
            <a:pPr indent="0" marL="0">
              <a:spcAft>
                <a:spcPts val="100"/>
              </a:spcAft>
              <a:buNone/>
            </a:pPr>
            <a:r>
              <a:rPr lang="en-US" sz="800" dirty="0">
                <a:solidFill>
                  <a:srgbClr val="1D1D1D"/>
                </a:solidFill>
              </a:rPr>
              <a:t>Closed-loop handover code</a:t>
            </a:r>
            <a:endParaRPr lang="en-US" sz="800" dirty="0"/>
          </a:p>
          <a:p>
            <a:pPr indent="0" marL="0">
              <a:spcAft>
                <a:spcPts val="100"/>
              </a:spcAft>
              <a:buNone/>
            </a:pPr>
            <a:r>
              <a:rPr lang="en-US" sz="800" dirty="0">
                <a:solidFill>
                  <a:srgbClr val="1D1D1D"/>
                </a:solidFill>
              </a:rPr>
              <a:t>Near-home locker network</a:t>
            </a:r>
            <a:endParaRPr lang="en-US" sz="800" dirty="0"/>
          </a:p>
          <a:p>
            <a:pPr indent="0" marL="0">
              <a:spcAft>
                <a:spcPts val="100"/>
              </a:spcAft>
              <a:buNone/>
            </a:pPr>
            <a:r>
              <a:rPr lang="en-US" sz="800" dirty="0">
                <a:solidFill>
                  <a:srgbClr val="1D1D1D"/>
                </a:solidFill>
              </a:rPr>
              <a:t>Locker integration</a:t>
            </a:r>
            <a:endParaRPr lang="en-US" sz="800" dirty="0"/>
          </a:p>
          <a:p>
            <a:pPr indent="0" marL="0">
              <a:spcAft>
                <a:spcPts val="100"/>
              </a:spcAft>
              <a:buNone/>
            </a:pPr>
            <a:r>
              <a:rPr lang="en-US" sz="800" dirty="0">
                <a:solidFill>
                  <a:srgbClr val="1D1D1D"/>
                </a:solidFill>
              </a:rPr>
              <a:t>Scheduled medicine from lockers</a:t>
            </a:r>
            <a:endParaRPr lang="en-US" sz="800" dirty="0"/>
          </a:p>
          <a:p>
            <a:pPr indent="0" marL="0">
              <a:spcAft>
                <a:spcPts val="100"/>
              </a:spcAft>
              <a:buNone/>
            </a:pPr>
            <a:r>
              <a:rPr lang="en-US" sz="800" dirty="0">
                <a:solidFill>
                  <a:srgbClr val="1D1D1D"/>
                </a:solidFill>
              </a:rPr>
              <a:t>Medicine courier compliance</a:t>
            </a:r>
            <a:endParaRPr lang="en-US" sz="800" dirty="0"/>
          </a:p>
          <a:p>
            <a:pPr indent="0" marL="0">
              <a:spcAft>
                <a:spcPts val="100"/>
              </a:spcAft>
              <a:buNone/>
            </a:pPr>
            <a:r>
              <a:rPr lang="en-US" sz="800" dirty="0">
                <a:solidFill>
                  <a:srgbClr val="1D1D1D"/>
                </a:solidFill>
              </a:rPr>
              <a:t>Contents check with photo help</a:t>
            </a:r>
            <a:endParaRPr lang="en-US" sz="800" dirty="0"/>
          </a:p>
          <a:p>
            <a:pPr indent="0" marL="0">
              <a:spcAft>
                <a:spcPts val="100"/>
              </a:spcAft>
              <a:buNone/>
            </a:pPr>
            <a:r>
              <a:rPr lang="en-US" sz="800" dirty="0">
                <a:solidFill>
                  <a:srgbClr val="1D1D1D"/>
                </a:solidFill>
              </a:rPr>
              <a:t>Delivery promise standard</a:t>
            </a:r>
            <a:endParaRPr lang="en-US" sz="800" dirty="0"/>
          </a:p>
          <a:p>
            <a:pPr indent="0" marL="0">
              <a:spcAft>
                <a:spcPts val="100"/>
              </a:spcAft>
              <a:buNone/>
            </a:pPr>
            <a:r>
              <a:rPr lang="en-US" sz="800" dirty="0">
                <a:solidFill>
                  <a:srgbClr val="1D1D1D"/>
                </a:solidFill>
              </a:rPr>
              <a:t>Cash customer proposition test</a:t>
            </a:r>
            <a:endParaRPr lang="en-US" sz="800" dirty="0"/>
          </a:p>
          <a:p>
            <a:pPr indent="0" marL="0">
              <a:spcAft>
                <a:spcPts val="100"/>
              </a:spcAft>
              <a:buNone/>
            </a:pPr>
            <a:r>
              <a:rPr lang="en-US" sz="800" dirty="0">
                <a:solidFill>
                  <a:srgbClr val="1D1D1D"/>
                </a:solidFill>
              </a:rPr>
              <a:t>Service message library</a:t>
            </a:r>
            <a:endParaRPr lang="en-US" sz="800" dirty="0"/>
          </a:p>
          <a:p>
            <a:pPr indent="0" marL="0">
              <a:spcAft>
                <a:spcPts val="100"/>
              </a:spcAft>
              <a:buNone/>
            </a:pPr>
            <a:r>
              <a:rPr lang="en-US" sz="800" dirty="0">
                <a:solidFill>
                  <a:srgbClr val="1D1D1D"/>
                </a:solidFill>
              </a:rPr>
              <a:t>WhatsApp service platform</a:t>
            </a:r>
            <a:endParaRPr lang="en-US" sz="800" dirty="0"/>
          </a:p>
          <a:p>
            <a:pPr indent="0" marL="0">
              <a:spcAft>
                <a:spcPts val="100"/>
              </a:spcAft>
              <a:buNone/>
            </a:pPr>
            <a:r>
              <a:rPr lang="en-US" sz="800" dirty="0">
                <a:solidFill>
                  <a:srgbClr val="1D1D1D"/>
                </a:solidFill>
              </a:rPr>
              <a:t>Status at every stage</a:t>
            </a:r>
            <a:endParaRPr lang="en-US" sz="800" dirty="0"/>
          </a:p>
          <a:p>
            <a:pPr indent="0" marL="0">
              <a:spcAft>
                <a:spcPts val="100"/>
              </a:spcAft>
              <a:buNone/>
            </a:pPr>
            <a:r>
              <a:rPr lang="en-US" sz="800" dirty="0">
                <a:solidFill>
                  <a:srgbClr val="1D1D1D"/>
                </a:solidFill>
              </a:rPr>
              <a:t>Call me back</a:t>
            </a:r>
            <a:endParaRPr lang="en-US" sz="800" dirty="0"/>
          </a:p>
        </p:txBody>
      </p:sp>
      <p:sp>
        <p:nvSpPr>
          <p:cNvPr id="25" name="Shape 22"/>
          <p:cNvSpPr/>
          <p:nvPr/>
        </p:nvSpPr>
        <p:spPr>
          <a:xfrm>
            <a:off x="8551599" y="1463040"/>
            <a:ext cx="1490864" cy="548640"/>
          </a:xfrm>
          <a:prstGeom prst="rect">
            <a:avLst/>
          </a:prstGeom>
          <a:solidFill>
            <a:srgbClr val="126E35"/>
          </a:solidFill>
          <a:ln w="12700">
            <a:solidFill>
              <a:srgbClr val="126E35"/>
            </a:solidFill>
            <a:prstDash val="solid"/>
          </a:ln>
        </p:spPr>
      </p:sp>
      <p:sp>
        <p:nvSpPr>
          <p:cNvPr id="26" name="Text 23"/>
          <p:cNvSpPr txBox="1"/>
          <p:nvPr/>
        </p:nvSpPr>
        <p:spPr>
          <a:xfrm>
            <a:off x="8624751" y="1463040"/>
            <a:ext cx="1344560" cy="548640"/>
          </a:xfrm>
          <a:prstGeom prst="rect">
            <a:avLst/>
          </a:prstGeom>
          <a:noFill/>
          <a:ln/>
        </p:spPr>
        <p:txBody>
          <a:bodyPr wrap="square" lIns="0" tIns="0" rIns="0" bIns="0" rtlCol="0" anchor="ctr"/>
          <a:lstStyle/>
          <a:p>
            <a:pPr indent="0" marL="0">
              <a:buNone/>
            </a:pPr>
            <a:r>
              <a:rPr lang="en-US" sz="1100" b="1" dirty="0">
                <a:solidFill>
                  <a:srgbClr val="FFFFFF"/>
                </a:solidFill>
              </a:rPr>
              <a:t>Taking it</a:t>
            </a:r>
            <a:endParaRPr lang="en-US" sz="1100" dirty="0"/>
          </a:p>
          <a:p>
            <a:pPr indent="0" marL="0">
              <a:buNone/>
            </a:pPr>
            <a:r>
              <a:rPr lang="en-US" sz="900" dirty="0">
                <a:solidFill>
                  <a:srgbClr val="BFE3CF"/>
                </a:solidFill>
              </a:rPr>
              <a:t>20 items</a:t>
            </a:r>
            <a:endParaRPr lang="en-US" sz="1100" dirty="0"/>
          </a:p>
        </p:txBody>
      </p:sp>
      <p:sp>
        <p:nvSpPr>
          <p:cNvPr id="27" name="Shape 24"/>
          <p:cNvSpPr/>
          <p:nvPr/>
        </p:nvSpPr>
        <p:spPr>
          <a:xfrm>
            <a:off x="8551599" y="2057400"/>
            <a:ext cx="1490864" cy="4297680"/>
          </a:xfrm>
          <a:prstGeom prst="rect">
            <a:avLst/>
          </a:prstGeom>
          <a:solidFill>
            <a:srgbClr val="F4F8F5"/>
          </a:solidFill>
          <a:ln w="6350">
            <a:solidFill>
              <a:srgbClr val="D7DDD9"/>
            </a:solidFill>
            <a:prstDash val="solid"/>
          </a:ln>
        </p:spPr>
      </p:sp>
      <p:sp>
        <p:nvSpPr>
          <p:cNvPr id="28" name="Text 25"/>
          <p:cNvSpPr txBox="1"/>
          <p:nvPr/>
        </p:nvSpPr>
        <p:spPr>
          <a:xfrm>
            <a:off x="8624751" y="2121408"/>
            <a:ext cx="1344560" cy="4160520"/>
          </a:xfrm>
          <a:prstGeom prst="rect">
            <a:avLst/>
          </a:prstGeom>
          <a:noFill/>
          <a:ln/>
        </p:spPr>
        <p:txBody>
          <a:bodyPr wrap="square" lIns="0" tIns="0" rIns="0" bIns="0" rtlCol="0" anchor="t"/>
          <a:lstStyle/>
          <a:p>
            <a:pPr indent="0" marL="0">
              <a:spcAft>
                <a:spcPts val="100"/>
              </a:spcAft>
              <a:buNone/>
            </a:pPr>
            <a:r>
              <a:rPr lang="en-US" sz="800" dirty="0">
                <a:solidFill>
                  <a:srgbClr val="1D1D1D"/>
                </a:solidFill>
              </a:rPr>
              <a:t>Household profile</a:t>
            </a:r>
            <a:endParaRPr lang="en-US" sz="800" dirty="0"/>
          </a:p>
          <a:p>
            <a:pPr indent="0" marL="0">
              <a:spcAft>
                <a:spcPts val="100"/>
              </a:spcAft>
              <a:buNone/>
            </a:pPr>
            <a:r>
              <a:rPr lang="en-US" sz="800" dirty="0">
                <a:solidFill>
                  <a:srgbClr val="1D1D1D"/>
                </a:solidFill>
              </a:rPr>
              <a:t>Carer consent that travels</a:t>
            </a:r>
            <a:endParaRPr lang="en-US" sz="800" dirty="0"/>
          </a:p>
          <a:p>
            <a:pPr indent="0" marL="0">
              <a:spcAft>
                <a:spcPts val="100"/>
              </a:spcAft>
              <a:buNone/>
            </a:pPr>
            <a:r>
              <a:rPr lang="en-US" sz="800" dirty="0">
                <a:solidFill>
                  <a:srgbClr val="1D1D1D"/>
                </a:solidFill>
              </a:rPr>
              <a:t>Preferences honoured everywhere</a:t>
            </a:r>
            <a:endParaRPr lang="en-US" sz="800" dirty="0"/>
          </a:p>
          <a:p>
            <a:pPr indent="0" marL="0">
              <a:spcAft>
                <a:spcPts val="100"/>
              </a:spcAft>
              <a:buNone/>
            </a:pPr>
            <a:r>
              <a:rPr lang="en-US" sz="800" dirty="0">
                <a:solidFill>
                  <a:srgbClr val="1D1D1D"/>
                </a:solidFill>
              </a:rPr>
              <a:t>Carer authority policy</a:t>
            </a:r>
            <a:endParaRPr lang="en-US" sz="800" dirty="0"/>
          </a:p>
          <a:p>
            <a:pPr indent="0" marL="0">
              <a:spcAft>
                <a:spcPts val="100"/>
              </a:spcAft>
              <a:buNone/>
            </a:pPr>
            <a:r>
              <a:rPr lang="en-US" sz="800" dirty="0">
                <a:solidFill>
                  <a:srgbClr val="1D1D1D"/>
                </a:solidFill>
              </a:rPr>
              <a:t>Proactive script renewal</a:t>
            </a:r>
            <a:endParaRPr lang="en-US" sz="800" dirty="0"/>
          </a:p>
          <a:p>
            <a:pPr indent="0" marL="0">
              <a:spcAft>
                <a:spcPts val="100"/>
              </a:spcAft>
              <a:buNone/>
            </a:pPr>
            <a:r>
              <a:rPr lang="en-US" sz="800" dirty="0">
                <a:solidFill>
                  <a:srgbClr val="1D1D1D"/>
                </a:solidFill>
              </a:rPr>
              <a:t>Repeat service commercial model</a:t>
            </a:r>
            <a:endParaRPr lang="en-US" sz="800" dirty="0"/>
          </a:p>
          <a:p>
            <a:pPr indent="0" marL="0">
              <a:spcAft>
                <a:spcPts val="100"/>
              </a:spcAft>
              <a:buNone/>
            </a:pPr>
            <a:r>
              <a:rPr lang="en-US" sz="800" dirty="0">
                <a:solidFill>
                  <a:srgbClr val="1D1D1D"/>
                </a:solidFill>
              </a:rPr>
              <a:t>Pharmacist in the thread</a:t>
            </a:r>
            <a:endParaRPr lang="en-US" sz="800" dirty="0"/>
          </a:p>
          <a:p>
            <a:pPr indent="0" marL="0">
              <a:spcAft>
                <a:spcPts val="100"/>
              </a:spcAft>
              <a:buNone/>
            </a:pPr>
            <a:r>
              <a:rPr lang="en-US" sz="800" dirty="0">
                <a:solidFill>
                  <a:srgbClr val="1D1D1D"/>
                </a:solidFill>
              </a:rPr>
              <a:t>Remote pharmacist service</a:t>
            </a:r>
            <a:endParaRPr lang="en-US" sz="800" dirty="0"/>
          </a:p>
          <a:p>
            <a:pPr indent="0" marL="0">
              <a:spcAft>
                <a:spcPts val="100"/>
              </a:spcAft>
              <a:buNone/>
            </a:pPr>
            <a:r>
              <a:rPr lang="en-US" sz="800" dirty="0">
                <a:solidFill>
                  <a:srgbClr val="1D1D1D"/>
                </a:solidFill>
              </a:rPr>
              <a:t>Dose-pack production</a:t>
            </a:r>
            <a:endParaRPr lang="en-US" sz="800" dirty="0"/>
          </a:p>
          <a:p>
            <a:pPr indent="0" marL="0">
              <a:spcAft>
                <a:spcPts val="100"/>
              </a:spcAft>
              <a:buNone/>
            </a:pPr>
            <a:r>
              <a:rPr lang="en-US" sz="800" dirty="0">
                <a:solidFill>
                  <a:srgbClr val="1D1D1D"/>
                </a:solidFill>
              </a:rPr>
              <a:t>Dose-pack proposition</a:t>
            </a:r>
            <a:endParaRPr lang="en-US" sz="800" dirty="0"/>
          </a:p>
          <a:p>
            <a:pPr indent="0" marL="0">
              <a:spcAft>
                <a:spcPts val="100"/>
              </a:spcAft>
              <a:buNone/>
            </a:pPr>
            <a:r>
              <a:rPr lang="en-US" sz="800" dirty="0">
                <a:solidFill>
                  <a:srgbClr val="1D1D1D"/>
                </a:solidFill>
              </a:rPr>
              <a:t>Patient-controlled reminders</a:t>
            </a:r>
            <a:endParaRPr lang="en-US" sz="800" dirty="0"/>
          </a:p>
          <a:p>
            <a:pPr indent="0" marL="0">
              <a:spcAft>
                <a:spcPts val="100"/>
              </a:spcAft>
              <a:buNone/>
            </a:pPr>
            <a:r>
              <a:rPr lang="en-US" sz="800" dirty="0">
                <a:solidFill>
                  <a:srgbClr val="1D1D1D"/>
                </a:solidFill>
              </a:rPr>
              <a:t>Contact and opt-out policy</a:t>
            </a:r>
            <a:endParaRPr lang="en-US" sz="800" dirty="0"/>
          </a:p>
          <a:p>
            <a:pPr indent="0" marL="0">
              <a:spcAft>
                <a:spcPts val="100"/>
              </a:spcAft>
              <a:buNone/>
            </a:pPr>
            <a:r>
              <a:rPr lang="en-US" sz="800" dirty="0">
                <a:solidFill>
                  <a:srgbClr val="1D1D1D"/>
                </a:solidFill>
              </a:rPr>
              <a:t>Household medicine cabinet</a:t>
            </a:r>
            <a:endParaRPr lang="en-US" sz="800" dirty="0"/>
          </a:p>
          <a:p>
            <a:pPr indent="0" marL="0">
              <a:spcAft>
                <a:spcPts val="100"/>
              </a:spcAft>
              <a:buNone/>
            </a:pPr>
            <a:r>
              <a:rPr lang="en-US" sz="800" dirty="0">
                <a:solidFill>
                  <a:srgbClr val="1D1D1D"/>
                </a:solidFill>
              </a:rPr>
              <a:t>Usage instruction library</a:t>
            </a:r>
            <a:endParaRPr lang="en-US" sz="800" dirty="0"/>
          </a:p>
          <a:p>
            <a:pPr indent="0" marL="0">
              <a:spcAft>
                <a:spcPts val="100"/>
              </a:spcAft>
              <a:buNone/>
            </a:pPr>
            <a:r>
              <a:rPr lang="en-US" sz="800" dirty="0">
                <a:solidFill>
                  <a:srgbClr val="1D1D1D"/>
                </a:solidFill>
              </a:rPr>
              <a:t>Label design system</a:t>
            </a:r>
            <a:endParaRPr lang="en-US" sz="800" dirty="0"/>
          </a:p>
          <a:p>
            <a:pPr indent="0" marL="0">
              <a:spcAft>
                <a:spcPts val="100"/>
              </a:spcAft>
              <a:buNone/>
            </a:pPr>
            <a:r>
              <a:rPr lang="en-US" sz="800" dirty="0">
                <a:solidFill>
                  <a:srgbClr val="1D1D1D"/>
                </a:solidFill>
              </a:rPr>
              <a:t>Instructions in SA languages</a:t>
            </a:r>
            <a:endParaRPr lang="en-US" sz="800" dirty="0"/>
          </a:p>
          <a:p>
            <a:pPr indent="0" marL="0">
              <a:spcAft>
                <a:spcPts val="100"/>
              </a:spcAft>
              <a:buNone/>
            </a:pPr>
            <a:r>
              <a:rPr lang="en-US" sz="800" dirty="0">
                <a:solidFill>
                  <a:srgbClr val="1D1D1D"/>
                </a:solidFill>
              </a:rPr>
              <a:t>Per-person label printing</a:t>
            </a:r>
            <a:endParaRPr lang="en-US" sz="800" dirty="0"/>
          </a:p>
          <a:p>
            <a:pPr indent="0" marL="0">
              <a:spcAft>
                <a:spcPts val="100"/>
              </a:spcAft>
              <a:buNone/>
            </a:pPr>
            <a:r>
              <a:rPr lang="en-US" sz="800" dirty="0">
                <a:solidFill>
                  <a:srgbClr val="1D1D1D"/>
                </a:solidFill>
              </a:rPr>
              <a:t>Labelling rules check</a:t>
            </a:r>
            <a:endParaRPr lang="en-US" sz="800" dirty="0"/>
          </a:p>
          <a:p>
            <a:pPr indent="0" marL="0">
              <a:spcAft>
                <a:spcPts val="100"/>
              </a:spcAft>
              <a:buNone/>
            </a:pPr>
            <a:r>
              <a:rPr lang="en-US" sz="800" dirty="0">
                <a:solidFill>
                  <a:srgbClr val="1D1D1D"/>
                </a:solidFill>
              </a:rPr>
              <a:t>WhatsApp service platform</a:t>
            </a:r>
            <a:endParaRPr lang="en-US" sz="800" dirty="0"/>
          </a:p>
          <a:p>
            <a:pPr indent="0" marL="0">
              <a:spcAft>
                <a:spcPts val="100"/>
              </a:spcAft>
              <a:buNone/>
            </a:pPr>
            <a:r>
              <a:rPr lang="en-US" sz="800" dirty="0">
                <a:solidFill>
                  <a:srgbClr val="1D1D1D"/>
                </a:solidFill>
              </a:rPr>
              <a:t>Conversation console</a:t>
            </a:r>
            <a:endParaRPr lang="en-US" sz="800" dirty="0"/>
          </a:p>
        </p:txBody>
      </p:sp>
      <p:sp>
        <p:nvSpPr>
          <p:cNvPr id="29" name="Shape 26"/>
          <p:cNvSpPr/>
          <p:nvPr/>
        </p:nvSpPr>
        <p:spPr>
          <a:xfrm>
            <a:off x="10152191" y="1463040"/>
            <a:ext cx="1490864" cy="548640"/>
          </a:xfrm>
          <a:prstGeom prst="rect">
            <a:avLst/>
          </a:prstGeom>
          <a:solidFill>
            <a:srgbClr val="126E35"/>
          </a:solidFill>
          <a:ln w="12700">
            <a:solidFill>
              <a:srgbClr val="126E35"/>
            </a:solidFill>
            <a:prstDash val="solid"/>
          </a:ln>
        </p:spPr>
      </p:sp>
      <p:sp>
        <p:nvSpPr>
          <p:cNvPr id="30" name="Text 27"/>
          <p:cNvSpPr txBox="1"/>
          <p:nvPr/>
        </p:nvSpPr>
        <p:spPr>
          <a:xfrm>
            <a:off x="10225343" y="1463040"/>
            <a:ext cx="1344560" cy="548640"/>
          </a:xfrm>
          <a:prstGeom prst="rect">
            <a:avLst/>
          </a:prstGeom>
          <a:noFill/>
          <a:ln/>
        </p:spPr>
        <p:txBody>
          <a:bodyPr wrap="square" lIns="0" tIns="0" rIns="0" bIns="0" rtlCol="0" anchor="ctr"/>
          <a:lstStyle/>
          <a:p>
            <a:pPr indent="0" marL="0">
              <a:buNone/>
            </a:pPr>
            <a:r>
              <a:rPr lang="en-US" sz="1100" b="1" dirty="0">
                <a:solidFill>
                  <a:srgbClr val="FFFFFF"/>
                </a:solidFill>
              </a:rPr>
              <a:t>When something breaks</a:t>
            </a:r>
            <a:endParaRPr lang="en-US" sz="1100" dirty="0"/>
          </a:p>
          <a:p>
            <a:pPr indent="0" marL="0">
              <a:buNone/>
            </a:pPr>
            <a:r>
              <a:rPr lang="en-US" sz="900" dirty="0">
                <a:solidFill>
                  <a:srgbClr val="BFE3CF"/>
                </a:solidFill>
              </a:rPr>
              <a:t>27 items</a:t>
            </a:r>
            <a:endParaRPr lang="en-US" sz="1100" dirty="0"/>
          </a:p>
        </p:txBody>
      </p:sp>
      <p:sp>
        <p:nvSpPr>
          <p:cNvPr id="31" name="Shape 28"/>
          <p:cNvSpPr/>
          <p:nvPr/>
        </p:nvSpPr>
        <p:spPr>
          <a:xfrm>
            <a:off x="10152191" y="2057400"/>
            <a:ext cx="1490864" cy="4297680"/>
          </a:xfrm>
          <a:prstGeom prst="rect">
            <a:avLst/>
          </a:prstGeom>
          <a:solidFill>
            <a:srgbClr val="F4F8F5"/>
          </a:solidFill>
          <a:ln w="6350">
            <a:solidFill>
              <a:srgbClr val="D7DDD9"/>
            </a:solidFill>
            <a:prstDash val="solid"/>
          </a:ln>
        </p:spPr>
      </p:sp>
      <p:sp>
        <p:nvSpPr>
          <p:cNvPr id="32" name="Text 29"/>
          <p:cNvSpPr txBox="1"/>
          <p:nvPr/>
        </p:nvSpPr>
        <p:spPr>
          <a:xfrm>
            <a:off x="10225343" y="2121408"/>
            <a:ext cx="1344560" cy="4160520"/>
          </a:xfrm>
          <a:prstGeom prst="rect">
            <a:avLst/>
          </a:prstGeom>
          <a:noFill/>
          <a:ln/>
        </p:spPr>
        <p:txBody>
          <a:bodyPr wrap="square" lIns="0" tIns="0" rIns="0" bIns="0" rtlCol="0" anchor="t"/>
          <a:lstStyle/>
          <a:p>
            <a:pPr indent="0" marL="0">
              <a:spcAft>
                <a:spcPts val="100"/>
              </a:spcAft>
              <a:buNone/>
            </a:pPr>
            <a:r>
              <a:rPr lang="en-US" sz="800" dirty="0">
                <a:solidFill>
                  <a:srgbClr val="1D1D1D"/>
                </a:solidFill>
              </a:rPr>
              <a:t>Schedule-aware repeat rules</a:t>
            </a:r>
            <a:endParaRPr lang="en-US" sz="800" dirty="0"/>
          </a:p>
          <a:p>
            <a:pPr indent="0" marL="0">
              <a:spcAft>
                <a:spcPts val="100"/>
              </a:spcAft>
              <a:buNone/>
            </a:pPr>
            <a:r>
              <a:rPr lang="en-US" sz="800" dirty="0">
                <a:solidFill>
                  <a:srgbClr val="1D1D1D"/>
                </a:solidFill>
              </a:rPr>
              <a:t>Repeats for chronic Schedule 6</a:t>
            </a:r>
            <a:endParaRPr lang="en-US" sz="800" dirty="0"/>
          </a:p>
          <a:p>
            <a:pPr indent="0" marL="0">
              <a:spcAft>
                <a:spcPts val="100"/>
              </a:spcAft>
              <a:buNone/>
            </a:pPr>
            <a:r>
              <a:rPr lang="en-US" sz="800" dirty="0">
                <a:solidFill>
                  <a:srgbClr val="1D1D1D"/>
                </a:solidFill>
              </a:rPr>
              <a:t>Proactive script renewal</a:t>
            </a:r>
            <a:endParaRPr lang="en-US" sz="800" dirty="0"/>
          </a:p>
          <a:p>
            <a:pPr indent="0" marL="0">
              <a:spcAft>
                <a:spcPts val="100"/>
              </a:spcAft>
              <a:buNone/>
            </a:pPr>
            <a:r>
              <a:rPr lang="en-US" sz="800" dirty="0">
                <a:solidFill>
                  <a:srgbClr val="1D1D1D"/>
                </a:solidFill>
              </a:rPr>
              <a:t>Renewal status for customers</a:t>
            </a:r>
            <a:endParaRPr lang="en-US" sz="800" dirty="0"/>
          </a:p>
          <a:p>
            <a:pPr indent="0" marL="0">
              <a:spcAft>
                <a:spcPts val="100"/>
              </a:spcAft>
              <a:buNone/>
            </a:pPr>
            <a:r>
              <a:rPr lang="en-US" sz="800" dirty="0">
                <a:solidFill>
                  <a:srgbClr val="1D1D1D"/>
                </a:solidFill>
              </a:rPr>
              <a:t>Prescriber renewal link</a:t>
            </a:r>
            <a:endParaRPr lang="en-US" sz="800" dirty="0"/>
          </a:p>
          <a:p>
            <a:pPr indent="0" marL="0">
              <a:spcAft>
                <a:spcPts val="100"/>
              </a:spcAft>
              <a:buNone/>
            </a:pPr>
            <a:r>
              <a:rPr lang="en-US" sz="800" dirty="0">
                <a:solidFill>
                  <a:srgbClr val="1D1D1D"/>
                </a:solidFill>
              </a:rPr>
              <a:t>Bridging supply rules</a:t>
            </a:r>
            <a:endParaRPr lang="en-US" sz="800" dirty="0"/>
          </a:p>
          <a:p>
            <a:pPr indent="0" marL="0">
              <a:spcAft>
                <a:spcPts val="100"/>
              </a:spcAft>
              <a:buNone/>
            </a:pPr>
            <a:r>
              <a:rPr lang="en-US" sz="800" dirty="0">
                <a:solidFill>
                  <a:srgbClr val="1D1D1D"/>
                </a:solidFill>
              </a:rPr>
              <a:t>Scheme check before the notice</a:t>
            </a:r>
            <a:endParaRPr lang="en-US" sz="800" dirty="0"/>
          </a:p>
          <a:p>
            <a:pPr indent="0" marL="0">
              <a:spcAft>
                <a:spcPts val="100"/>
              </a:spcAft>
              <a:buNone/>
            </a:pPr>
            <a:r>
              <a:rPr lang="en-US" sz="800" dirty="0">
                <a:solidFill>
                  <a:srgbClr val="1D1D1D"/>
                </a:solidFill>
              </a:rPr>
              <a:t>Saved payment and decline rule</a:t>
            </a:r>
            <a:endParaRPr lang="en-US" sz="800" dirty="0"/>
          </a:p>
          <a:p>
            <a:pPr indent="0" marL="0">
              <a:spcAft>
                <a:spcPts val="100"/>
              </a:spcAft>
              <a:buNone/>
            </a:pPr>
            <a:r>
              <a:rPr lang="en-US" sz="800" dirty="0">
                <a:solidFill>
                  <a:srgbClr val="1D1D1D"/>
                </a:solidFill>
              </a:rPr>
              <a:t>Decline choices message</a:t>
            </a:r>
            <a:endParaRPr lang="en-US" sz="800" dirty="0"/>
          </a:p>
          <a:p>
            <a:pPr indent="0" marL="0">
              <a:spcAft>
                <a:spcPts val="100"/>
              </a:spcAft>
              <a:buNone/>
            </a:pPr>
            <a:r>
              <a:rPr lang="en-US" sz="800" dirty="0">
                <a:solidFill>
                  <a:srgbClr val="1D1D1D"/>
                </a:solidFill>
              </a:rPr>
              <a:t>Live stock visibility</a:t>
            </a:r>
            <a:endParaRPr lang="en-US" sz="800" dirty="0"/>
          </a:p>
          <a:p>
            <a:pPr indent="0" marL="0">
              <a:spcAft>
                <a:spcPts val="100"/>
              </a:spcAft>
              <a:buNone/>
            </a:pPr>
            <a:r>
              <a:rPr lang="en-US" sz="800" dirty="0">
                <a:solidFill>
                  <a:srgbClr val="1D1D1D"/>
                </a:solidFill>
              </a:rPr>
              <a:t>Stock held for predicted repeats</a:t>
            </a:r>
            <a:endParaRPr lang="en-US" sz="800" dirty="0"/>
          </a:p>
          <a:p>
            <a:pPr indent="0" marL="0">
              <a:spcAft>
                <a:spcPts val="100"/>
              </a:spcAft>
              <a:buNone/>
            </a:pPr>
            <a:r>
              <a:rPr lang="en-US" sz="800" dirty="0">
                <a:solidFill>
                  <a:srgbClr val="1D1D1D"/>
                </a:solidFill>
              </a:rPr>
              <a:t>Stock recorded as it moves</a:t>
            </a:r>
            <a:endParaRPr lang="en-US" sz="800" dirty="0"/>
          </a:p>
          <a:p>
            <a:pPr indent="0" marL="0">
              <a:spcAft>
                <a:spcPts val="100"/>
              </a:spcAft>
              <a:buNone/>
            </a:pPr>
            <a:r>
              <a:rPr lang="en-US" sz="800" dirty="0">
                <a:solidFill>
                  <a:srgbClr val="1D1D1D"/>
                </a:solidFill>
              </a:rPr>
              <a:t>Out-of-stock choices</a:t>
            </a:r>
            <a:endParaRPr lang="en-US" sz="800" dirty="0"/>
          </a:p>
          <a:p>
            <a:pPr indent="0" marL="0">
              <a:spcAft>
                <a:spcPts val="100"/>
              </a:spcAft>
              <a:buNone/>
            </a:pPr>
            <a:r>
              <a:rPr lang="en-US" sz="800" dirty="0">
                <a:solidFill>
                  <a:srgbClr val="1D1D1D"/>
                </a:solidFill>
              </a:rPr>
              <a:t>Explained generic switch</a:t>
            </a:r>
            <a:endParaRPr lang="en-US" sz="800" dirty="0"/>
          </a:p>
          <a:p>
            <a:pPr indent="0" marL="0">
              <a:spcAft>
                <a:spcPts val="100"/>
              </a:spcAft>
              <a:buNone/>
            </a:pPr>
            <a:r>
              <a:rPr lang="en-US" sz="800" dirty="0">
                <a:solidFill>
                  <a:srgbClr val="1D1D1D"/>
                </a:solidFill>
              </a:rPr>
              <a:t>Pharmacist in the thread</a:t>
            </a:r>
            <a:endParaRPr lang="en-US" sz="800" dirty="0"/>
          </a:p>
          <a:p>
            <a:pPr indent="0" marL="0">
              <a:spcAft>
                <a:spcPts val="100"/>
              </a:spcAft>
              <a:buNone/>
            </a:pPr>
            <a:r>
              <a:rPr lang="en-US" sz="800" dirty="0">
                <a:solidFill>
                  <a:srgbClr val="1D1D1D"/>
                </a:solidFill>
              </a:rPr>
              <a:t>Remote pharmacist service</a:t>
            </a:r>
            <a:endParaRPr lang="en-US" sz="800" dirty="0"/>
          </a:p>
          <a:p>
            <a:pPr indent="0" marL="0">
              <a:spcAft>
                <a:spcPts val="100"/>
              </a:spcAft>
              <a:buNone/>
            </a:pPr>
            <a:r>
              <a:rPr lang="en-US" sz="800" dirty="0">
                <a:solidFill>
                  <a:srgbClr val="1D1D1D"/>
                </a:solidFill>
              </a:rPr>
              <a:t>Closed-loop handover code</a:t>
            </a:r>
            <a:endParaRPr lang="en-US" sz="800" dirty="0"/>
          </a:p>
          <a:p>
            <a:pPr indent="0" marL="0">
              <a:spcAft>
                <a:spcPts val="100"/>
              </a:spcAft>
              <a:buNone/>
            </a:pPr>
            <a:r>
              <a:rPr lang="en-US" sz="800" dirty="0">
                <a:solidFill>
                  <a:srgbClr val="1D1D1D"/>
                </a:solidFill>
              </a:rPr>
              <a:t>Failed delivery re-planned</a:t>
            </a:r>
            <a:endParaRPr lang="en-US" sz="800" dirty="0"/>
          </a:p>
          <a:p>
            <a:pPr indent="0" marL="0">
              <a:spcAft>
                <a:spcPts val="100"/>
              </a:spcAft>
              <a:buNone/>
            </a:pPr>
            <a:r>
              <a:rPr lang="en-US" sz="800" dirty="0">
                <a:solidFill>
                  <a:srgbClr val="1D1D1D"/>
                </a:solidFill>
              </a:rPr>
              <a:t>Split delivery on stock-out</a:t>
            </a:r>
            <a:endParaRPr lang="en-US" sz="800" dirty="0"/>
          </a:p>
          <a:p>
            <a:pPr indent="0" marL="0">
              <a:spcAft>
                <a:spcPts val="100"/>
              </a:spcAft>
              <a:buNone/>
            </a:pPr>
            <a:r>
              <a:rPr lang="en-US" sz="800" dirty="0">
                <a:solidFill>
                  <a:srgbClr val="1D1D1D"/>
                </a:solidFill>
              </a:rPr>
              <a:t>Collect any order at any counter</a:t>
            </a:r>
            <a:endParaRPr lang="en-US" sz="800" dirty="0"/>
          </a:p>
          <a:p>
            <a:pPr indent="0" marL="0">
              <a:spcAft>
                <a:spcPts val="100"/>
              </a:spcAft>
              <a:buNone/>
            </a:pPr>
            <a:r>
              <a:rPr lang="en-US" sz="800" dirty="0">
                <a:solidFill>
                  <a:srgbClr val="1D1D1D"/>
                </a:solidFill>
              </a:rPr>
              <a:t>Locker integration</a:t>
            </a:r>
            <a:endParaRPr lang="en-US" sz="800" dirty="0"/>
          </a:p>
          <a:p>
            <a:pPr indent="0" marL="0">
              <a:spcAft>
                <a:spcPts val="100"/>
              </a:spcAft>
              <a:buNone/>
            </a:pPr>
            <a:r>
              <a:rPr lang="en-US" sz="800" dirty="0">
                <a:solidFill>
                  <a:srgbClr val="1D1D1D"/>
                </a:solidFill>
              </a:rPr>
              <a:t>Service message library</a:t>
            </a:r>
            <a:endParaRPr lang="en-US" sz="800" dirty="0"/>
          </a:p>
          <a:p>
            <a:pPr indent="0" marL="0">
              <a:spcAft>
                <a:spcPts val="100"/>
              </a:spcAft>
              <a:buNone/>
            </a:pPr>
            <a:r>
              <a:rPr lang="en-US" sz="800" dirty="0">
                <a:solidFill>
                  <a:srgbClr val="1D1D1D"/>
                </a:solidFill>
              </a:rPr>
              <a:t>WhatsApp service platform</a:t>
            </a:r>
            <a:endParaRPr lang="en-US" sz="800" dirty="0"/>
          </a:p>
          <a:p>
            <a:pPr indent="0" marL="0">
              <a:spcAft>
                <a:spcPts val="100"/>
              </a:spcAft>
              <a:buNone/>
            </a:pPr>
            <a:r>
              <a:rPr lang="en-US" sz="800" dirty="0">
                <a:solidFill>
                  <a:srgbClr val="1D1D1D"/>
                </a:solidFill>
              </a:rPr>
              <a:t>Call me back</a:t>
            </a:r>
            <a:endParaRPr lang="en-US" sz="800" dirty="0"/>
          </a:p>
          <a:p>
            <a:pPr indent="0" marL="0">
              <a:spcAft>
                <a:spcPts val="100"/>
              </a:spcAft>
              <a:buNone/>
            </a:pPr>
            <a:r>
              <a:rPr lang="en-US" sz="800" dirty="0">
                <a:solidFill>
                  <a:srgbClr val="1D1D1D"/>
                </a:solidFill>
              </a:rPr>
              <a:t>Conversation console</a:t>
            </a:r>
            <a:endParaRPr lang="en-US" sz="800" dirty="0"/>
          </a:p>
          <a:p>
            <a:pPr indent="0" marL="0">
              <a:spcAft>
                <a:spcPts val="100"/>
              </a:spcAft>
              <a:buNone/>
            </a:pPr>
            <a:r>
              <a:rPr lang="en-US" sz="800" dirty="0">
                <a:solidFill>
                  <a:srgbClr val="1D1D1D"/>
                </a:solidFill>
              </a:rPr>
              <a:t>Multilingual call-back team</a:t>
            </a:r>
            <a:endParaRPr lang="en-US" sz="800" dirty="0"/>
          </a:p>
          <a:p>
            <a:pPr indent="0" marL="0">
              <a:spcAft>
                <a:spcPts val="100"/>
              </a:spcAft>
              <a:buNone/>
            </a:pPr>
            <a:r>
              <a:rPr lang="en-US" sz="800" dirty="0">
                <a:solidFill>
                  <a:srgbClr val="1D1D1D"/>
                </a:solidFill>
              </a:rPr>
              <a:t>One owner per problem</a:t>
            </a:r>
            <a:endParaRPr lang="en-US" sz="8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t"/>
          <a:lstStyle/>
          <a:p>
            <a:pPr indent="0" marL="0">
              <a:buNone/>
            </a:pPr>
            <a:r>
              <a:rPr lang="en-US" sz="2800" b="1" dirty="0">
                <a:solidFill>
                  <a:srgbClr val="1D1D1D"/>
                </a:solidFill>
              </a:rPr>
              <a:t>The principles each item is tagged against</a:t>
            </a:r>
            <a:endParaRPr lang="en-US" sz="2800" dirty="0"/>
          </a:p>
        </p:txBody>
      </p:sp>
      <p:sp>
        <p:nvSpPr>
          <p:cNvPr id="3" name="Text 1"/>
          <p:cNvSpPr txBox="1"/>
          <p:nvPr/>
        </p:nvSpPr>
        <p:spPr>
          <a:xfrm>
            <a:off x="548640" y="960120"/>
            <a:ext cx="11094415" cy="457200"/>
          </a:xfrm>
          <a:prstGeom prst="rect">
            <a:avLst/>
          </a:prstGeom>
          <a:noFill/>
          <a:ln/>
        </p:spPr>
        <p:txBody>
          <a:bodyPr wrap="square" lIns="0" tIns="0" rIns="0" bIns="0" rtlCol="0" anchor="t"/>
          <a:lstStyle/>
          <a:p>
            <a:pPr indent="0" marL="0">
              <a:buNone/>
            </a:pPr>
            <a:r>
              <a:rPr lang="en-US" sz="1400" dirty="0">
                <a:solidFill>
                  <a:srgbClr val="52525B"/>
                </a:solidFill>
              </a:rPr>
              <a:t>Tamsin's future-state service design principles, under one rule: optimise for speed and convenience, never at the expense of trust.</a:t>
            </a:r>
            <a:endParaRPr lang="en-US" sz="1400" dirty="0"/>
          </a:p>
        </p:txBody>
      </p:sp>
      <p:sp>
        <p:nvSpPr>
          <p:cNvPr id="5" name="Text 2"/>
          <p:cNvSpPr txBox="1"/>
          <p:nvPr/>
        </p:nvSpPr>
        <p:spPr>
          <a:xfrm>
            <a:off x="548640" y="1554480"/>
            <a:ext cx="5455768" cy="320040"/>
          </a:xfrm>
          <a:prstGeom prst="rect">
            <a:avLst/>
          </a:prstGeom>
          <a:noFill/>
          <a:ln/>
        </p:spPr>
        <p:txBody>
          <a:bodyPr wrap="square" lIns="0" tIns="0" rIns="0" bIns="0" rtlCol="0" anchor="ctr"/>
          <a:lstStyle/>
          <a:p>
            <a:pPr indent="0" marL="0">
              <a:buNone/>
            </a:pPr>
            <a:r>
              <a:rPr lang="en-US" sz="1500" b="1" dirty="0">
                <a:solidFill>
                  <a:srgbClr val="1A9B4A"/>
                </a:solidFill>
              </a:rPr>
              <a:t>Customer principles</a:t>
            </a:r>
            <a:endParaRPr lang="en-US" sz="1500" dirty="0"/>
          </a:p>
        </p:txBody>
      </p:sp>
      <p:sp>
        <p:nvSpPr>
          <p:cNvPr id="6" name="Shape 3"/>
          <p:cNvSpPr/>
          <p:nvPr/>
        </p:nvSpPr>
        <p:spPr>
          <a:xfrm>
            <a:off x="548640" y="1965960"/>
            <a:ext cx="5455768" cy="402336"/>
          </a:xfrm>
          <a:prstGeom prst="rect">
            <a:avLst/>
          </a:prstGeom>
          <a:solidFill>
            <a:srgbClr val="F4F8F5"/>
          </a:solidFill>
          <a:ln w="6350">
            <a:solidFill>
              <a:srgbClr val="D7DDD9"/>
            </a:solidFill>
            <a:prstDash val="solid"/>
          </a:ln>
        </p:spPr>
      </p:sp>
      <p:sp>
        <p:nvSpPr>
          <p:cNvPr id="7" name="Text 4"/>
          <p:cNvSpPr txBox="1"/>
          <p:nvPr/>
        </p:nvSpPr>
        <p:spPr>
          <a:xfrm>
            <a:off x="685800" y="1965960"/>
            <a:ext cx="4541368" cy="402336"/>
          </a:xfrm>
          <a:prstGeom prst="rect">
            <a:avLst/>
          </a:prstGeom>
          <a:noFill/>
          <a:ln/>
        </p:spPr>
        <p:txBody>
          <a:bodyPr wrap="square" lIns="0" tIns="0" rIns="0" bIns="0" rtlCol="0" anchor="ctr"/>
          <a:lstStyle/>
          <a:p>
            <a:pPr indent="0" marL="0">
              <a:buNone/>
            </a:pPr>
            <a:r>
              <a:rPr lang="en-US" sz="1300" dirty="0">
                <a:solidFill>
                  <a:srgbClr val="1D1D1D"/>
                </a:solidFill>
              </a:rPr>
              <a:t>Repeats should just repeat</a:t>
            </a:r>
            <a:endParaRPr lang="en-US" sz="1300" dirty="0"/>
          </a:p>
        </p:txBody>
      </p:sp>
      <p:sp>
        <p:nvSpPr>
          <p:cNvPr id="8" name="Text 5"/>
          <p:cNvSpPr txBox="1"/>
          <p:nvPr/>
        </p:nvSpPr>
        <p:spPr>
          <a:xfrm>
            <a:off x="5318608" y="1965960"/>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18</a:t>
            </a:r>
            <a:endParaRPr lang="en-US" sz="1500" dirty="0"/>
          </a:p>
        </p:txBody>
      </p:sp>
      <p:sp>
        <p:nvSpPr>
          <p:cNvPr id="9" name="Shape 6"/>
          <p:cNvSpPr/>
          <p:nvPr/>
        </p:nvSpPr>
        <p:spPr>
          <a:xfrm>
            <a:off x="548640" y="2441448"/>
            <a:ext cx="5455768" cy="402336"/>
          </a:xfrm>
          <a:prstGeom prst="rect">
            <a:avLst/>
          </a:prstGeom>
          <a:solidFill>
            <a:srgbClr val="F4F8F5"/>
          </a:solidFill>
          <a:ln w="6350">
            <a:solidFill>
              <a:srgbClr val="D7DDD9"/>
            </a:solidFill>
            <a:prstDash val="solid"/>
          </a:ln>
        </p:spPr>
      </p:sp>
      <p:sp>
        <p:nvSpPr>
          <p:cNvPr id="10" name="Text 7"/>
          <p:cNvSpPr txBox="1"/>
          <p:nvPr/>
        </p:nvSpPr>
        <p:spPr>
          <a:xfrm>
            <a:off x="685800" y="2441448"/>
            <a:ext cx="4541368" cy="402336"/>
          </a:xfrm>
          <a:prstGeom prst="rect">
            <a:avLst/>
          </a:prstGeom>
          <a:noFill/>
          <a:ln/>
        </p:spPr>
        <p:txBody>
          <a:bodyPr wrap="square" lIns="0" tIns="0" rIns="0" bIns="0" rtlCol="0" anchor="ctr"/>
          <a:lstStyle/>
          <a:p>
            <a:pPr indent="0" marL="0">
              <a:buNone/>
            </a:pPr>
            <a:r>
              <a:rPr lang="en-US" sz="1300" dirty="0">
                <a:solidFill>
                  <a:srgbClr val="1D1D1D"/>
                </a:solidFill>
              </a:rPr>
              <a:t>Give me all the variables upfront</a:t>
            </a:r>
            <a:endParaRPr lang="en-US" sz="1300" dirty="0"/>
          </a:p>
        </p:txBody>
      </p:sp>
      <p:sp>
        <p:nvSpPr>
          <p:cNvPr id="11" name="Text 8"/>
          <p:cNvSpPr txBox="1"/>
          <p:nvPr/>
        </p:nvSpPr>
        <p:spPr>
          <a:xfrm>
            <a:off x="5318608" y="2441448"/>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8</a:t>
            </a:r>
            <a:endParaRPr lang="en-US" sz="1500" dirty="0"/>
          </a:p>
        </p:txBody>
      </p:sp>
      <p:sp>
        <p:nvSpPr>
          <p:cNvPr id="12" name="Shape 9"/>
          <p:cNvSpPr/>
          <p:nvPr/>
        </p:nvSpPr>
        <p:spPr>
          <a:xfrm>
            <a:off x="548640" y="2916936"/>
            <a:ext cx="5455768" cy="402336"/>
          </a:xfrm>
          <a:prstGeom prst="rect">
            <a:avLst/>
          </a:prstGeom>
          <a:solidFill>
            <a:srgbClr val="F4F8F5"/>
          </a:solidFill>
          <a:ln w="6350">
            <a:solidFill>
              <a:srgbClr val="D7DDD9"/>
            </a:solidFill>
            <a:prstDash val="solid"/>
          </a:ln>
        </p:spPr>
      </p:sp>
      <p:sp>
        <p:nvSpPr>
          <p:cNvPr id="13" name="Text 10"/>
          <p:cNvSpPr txBox="1"/>
          <p:nvPr/>
        </p:nvSpPr>
        <p:spPr>
          <a:xfrm>
            <a:off x="685800" y="2916936"/>
            <a:ext cx="4541368" cy="402336"/>
          </a:xfrm>
          <a:prstGeom prst="rect">
            <a:avLst/>
          </a:prstGeom>
          <a:noFill/>
          <a:ln/>
        </p:spPr>
        <p:txBody>
          <a:bodyPr wrap="square" lIns="0" tIns="0" rIns="0" bIns="0" rtlCol="0" anchor="ctr"/>
          <a:lstStyle/>
          <a:p>
            <a:pPr indent="0" marL="0">
              <a:buNone/>
            </a:pPr>
            <a:r>
              <a:rPr lang="en-US" sz="1300" dirty="0">
                <a:solidFill>
                  <a:srgbClr val="1D1D1D"/>
                </a:solidFill>
              </a:rPr>
              <a:t>Don't leave me in the dark</a:t>
            </a:r>
            <a:endParaRPr lang="en-US" sz="1300" dirty="0"/>
          </a:p>
        </p:txBody>
      </p:sp>
      <p:sp>
        <p:nvSpPr>
          <p:cNvPr id="14" name="Text 11"/>
          <p:cNvSpPr txBox="1"/>
          <p:nvPr/>
        </p:nvSpPr>
        <p:spPr>
          <a:xfrm>
            <a:off x="5318608" y="2916936"/>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15</a:t>
            </a:r>
            <a:endParaRPr lang="en-US" sz="1500" dirty="0"/>
          </a:p>
        </p:txBody>
      </p:sp>
      <p:sp>
        <p:nvSpPr>
          <p:cNvPr id="15" name="Shape 12"/>
          <p:cNvSpPr/>
          <p:nvPr/>
        </p:nvSpPr>
        <p:spPr>
          <a:xfrm>
            <a:off x="548640" y="3392424"/>
            <a:ext cx="5455768" cy="402336"/>
          </a:xfrm>
          <a:prstGeom prst="rect">
            <a:avLst/>
          </a:prstGeom>
          <a:solidFill>
            <a:srgbClr val="F4F8F5"/>
          </a:solidFill>
          <a:ln w="6350">
            <a:solidFill>
              <a:srgbClr val="D7DDD9"/>
            </a:solidFill>
            <a:prstDash val="solid"/>
          </a:ln>
        </p:spPr>
      </p:sp>
      <p:sp>
        <p:nvSpPr>
          <p:cNvPr id="16" name="Text 13"/>
          <p:cNvSpPr txBox="1"/>
          <p:nvPr/>
        </p:nvSpPr>
        <p:spPr>
          <a:xfrm>
            <a:off x="685800" y="3392424"/>
            <a:ext cx="4541368" cy="402336"/>
          </a:xfrm>
          <a:prstGeom prst="rect">
            <a:avLst/>
          </a:prstGeom>
          <a:noFill/>
          <a:ln/>
        </p:spPr>
        <p:txBody>
          <a:bodyPr wrap="square" lIns="0" tIns="0" rIns="0" bIns="0" rtlCol="0" anchor="ctr"/>
          <a:lstStyle/>
          <a:p>
            <a:pPr indent="0" marL="0">
              <a:buNone/>
            </a:pPr>
            <a:r>
              <a:rPr lang="en-US" sz="1300" dirty="0">
                <a:solidFill>
                  <a:srgbClr val="1D1D1D"/>
                </a:solidFill>
              </a:rPr>
              <a:t>Get the basics right, every time</a:t>
            </a:r>
            <a:endParaRPr lang="en-US" sz="1300" dirty="0"/>
          </a:p>
        </p:txBody>
      </p:sp>
      <p:sp>
        <p:nvSpPr>
          <p:cNvPr id="17" name="Text 14"/>
          <p:cNvSpPr txBox="1"/>
          <p:nvPr/>
        </p:nvSpPr>
        <p:spPr>
          <a:xfrm>
            <a:off x="5318608" y="3392424"/>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23</a:t>
            </a:r>
            <a:endParaRPr lang="en-US" sz="1500" dirty="0"/>
          </a:p>
        </p:txBody>
      </p:sp>
      <p:sp>
        <p:nvSpPr>
          <p:cNvPr id="18" name="Shape 15"/>
          <p:cNvSpPr/>
          <p:nvPr/>
        </p:nvSpPr>
        <p:spPr>
          <a:xfrm>
            <a:off x="548640" y="3867912"/>
            <a:ext cx="5455768" cy="402336"/>
          </a:xfrm>
          <a:prstGeom prst="rect">
            <a:avLst/>
          </a:prstGeom>
          <a:solidFill>
            <a:srgbClr val="F4F8F5"/>
          </a:solidFill>
          <a:ln w="6350">
            <a:solidFill>
              <a:srgbClr val="D7DDD9"/>
            </a:solidFill>
            <a:prstDash val="solid"/>
          </a:ln>
        </p:spPr>
      </p:sp>
      <p:sp>
        <p:nvSpPr>
          <p:cNvPr id="19" name="Text 16"/>
          <p:cNvSpPr txBox="1"/>
          <p:nvPr/>
        </p:nvSpPr>
        <p:spPr>
          <a:xfrm>
            <a:off x="685800" y="3867912"/>
            <a:ext cx="4541368" cy="402336"/>
          </a:xfrm>
          <a:prstGeom prst="rect">
            <a:avLst/>
          </a:prstGeom>
          <a:noFill/>
          <a:ln/>
        </p:spPr>
        <p:txBody>
          <a:bodyPr wrap="square" lIns="0" tIns="0" rIns="0" bIns="0" rtlCol="0" anchor="ctr"/>
          <a:lstStyle/>
          <a:p>
            <a:pPr indent="0" marL="0">
              <a:buNone/>
            </a:pPr>
            <a:r>
              <a:rPr lang="en-US" sz="1300" dirty="0">
                <a:solidFill>
                  <a:srgbClr val="1D1D1D"/>
                </a:solidFill>
              </a:rPr>
              <a:t>Care extends beyond the counter</a:t>
            </a:r>
            <a:endParaRPr lang="en-US" sz="1300" dirty="0"/>
          </a:p>
        </p:txBody>
      </p:sp>
      <p:sp>
        <p:nvSpPr>
          <p:cNvPr id="20" name="Text 17"/>
          <p:cNvSpPr txBox="1"/>
          <p:nvPr/>
        </p:nvSpPr>
        <p:spPr>
          <a:xfrm>
            <a:off x="5318608" y="3867912"/>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10</a:t>
            </a:r>
            <a:endParaRPr lang="en-US" sz="1500" dirty="0"/>
          </a:p>
        </p:txBody>
      </p:sp>
      <p:sp>
        <p:nvSpPr>
          <p:cNvPr id="21" name="Shape 18"/>
          <p:cNvSpPr/>
          <p:nvPr/>
        </p:nvSpPr>
        <p:spPr>
          <a:xfrm>
            <a:off x="548640" y="4343400"/>
            <a:ext cx="5455768" cy="402336"/>
          </a:xfrm>
          <a:prstGeom prst="rect">
            <a:avLst/>
          </a:prstGeom>
          <a:solidFill>
            <a:srgbClr val="F4F8F5"/>
          </a:solidFill>
          <a:ln w="6350">
            <a:solidFill>
              <a:srgbClr val="D7DDD9"/>
            </a:solidFill>
            <a:prstDash val="solid"/>
          </a:ln>
        </p:spPr>
      </p:sp>
      <p:sp>
        <p:nvSpPr>
          <p:cNvPr id="22" name="Text 19"/>
          <p:cNvSpPr txBox="1"/>
          <p:nvPr/>
        </p:nvSpPr>
        <p:spPr>
          <a:xfrm>
            <a:off x="685800" y="4343400"/>
            <a:ext cx="4541368" cy="402336"/>
          </a:xfrm>
          <a:prstGeom prst="rect">
            <a:avLst/>
          </a:prstGeom>
          <a:noFill/>
          <a:ln/>
        </p:spPr>
        <p:txBody>
          <a:bodyPr wrap="square" lIns="0" tIns="0" rIns="0" bIns="0" rtlCol="0" anchor="ctr"/>
          <a:lstStyle/>
          <a:p>
            <a:pPr indent="0" marL="0">
              <a:buNone/>
            </a:pPr>
            <a:r>
              <a:rPr lang="en-US" sz="1300" dirty="0">
                <a:solidFill>
                  <a:srgbClr val="1D1D1D"/>
                </a:solidFill>
              </a:rPr>
              <a:t>My pharmacist is my front door to care</a:t>
            </a:r>
            <a:endParaRPr lang="en-US" sz="1300" dirty="0"/>
          </a:p>
        </p:txBody>
      </p:sp>
      <p:sp>
        <p:nvSpPr>
          <p:cNvPr id="23" name="Text 20"/>
          <p:cNvSpPr txBox="1"/>
          <p:nvPr/>
        </p:nvSpPr>
        <p:spPr>
          <a:xfrm>
            <a:off x="5318608" y="4343400"/>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5</a:t>
            </a:r>
            <a:endParaRPr lang="en-US" sz="1500" dirty="0"/>
          </a:p>
        </p:txBody>
      </p:sp>
      <p:sp>
        <p:nvSpPr>
          <p:cNvPr id="24" name="Text 21"/>
          <p:cNvSpPr txBox="1"/>
          <p:nvPr/>
        </p:nvSpPr>
        <p:spPr>
          <a:xfrm>
            <a:off x="6187288" y="1554480"/>
            <a:ext cx="5455768" cy="320040"/>
          </a:xfrm>
          <a:prstGeom prst="rect">
            <a:avLst/>
          </a:prstGeom>
          <a:noFill/>
          <a:ln/>
        </p:spPr>
        <p:txBody>
          <a:bodyPr wrap="square" lIns="0" tIns="0" rIns="0" bIns="0" rtlCol="0" anchor="ctr"/>
          <a:lstStyle/>
          <a:p>
            <a:pPr indent="0" marL="0">
              <a:buNone/>
            </a:pPr>
            <a:r>
              <a:rPr lang="en-US" sz="1500" b="1" dirty="0">
                <a:solidFill>
                  <a:srgbClr val="1A9B4A"/>
                </a:solidFill>
              </a:rPr>
              <a:t>Dispenser principles</a:t>
            </a:r>
            <a:endParaRPr lang="en-US" sz="1500" dirty="0"/>
          </a:p>
        </p:txBody>
      </p:sp>
      <p:sp>
        <p:nvSpPr>
          <p:cNvPr id="25" name="Shape 22"/>
          <p:cNvSpPr/>
          <p:nvPr/>
        </p:nvSpPr>
        <p:spPr>
          <a:xfrm>
            <a:off x="6187288" y="1965960"/>
            <a:ext cx="5455768" cy="402336"/>
          </a:xfrm>
          <a:prstGeom prst="rect">
            <a:avLst/>
          </a:prstGeom>
          <a:solidFill>
            <a:srgbClr val="F4F8F5"/>
          </a:solidFill>
          <a:ln w="6350">
            <a:solidFill>
              <a:srgbClr val="D7DDD9"/>
            </a:solidFill>
            <a:prstDash val="solid"/>
          </a:ln>
        </p:spPr>
      </p:sp>
      <p:sp>
        <p:nvSpPr>
          <p:cNvPr id="26" name="Text 23"/>
          <p:cNvSpPr txBox="1"/>
          <p:nvPr/>
        </p:nvSpPr>
        <p:spPr>
          <a:xfrm>
            <a:off x="6324448" y="1965960"/>
            <a:ext cx="4541368" cy="402336"/>
          </a:xfrm>
          <a:prstGeom prst="rect">
            <a:avLst/>
          </a:prstGeom>
          <a:noFill/>
          <a:ln/>
        </p:spPr>
        <p:txBody>
          <a:bodyPr wrap="square" lIns="0" tIns="0" rIns="0" bIns="0" rtlCol="0" anchor="ctr"/>
          <a:lstStyle/>
          <a:p>
            <a:pPr indent="0" marL="0">
              <a:buNone/>
            </a:pPr>
            <a:r>
              <a:rPr lang="en-US" sz="1300" dirty="0">
                <a:solidFill>
                  <a:srgbClr val="1D1D1D"/>
                </a:solidFill>
              </a:rPr>
              <a:t>The counter is for care, not admin</a:t>
            </a:r>
            <a:endParaRPr lang="en-US" sz="1300" dirty="0"/>
          </a:p>
        </p:txBody>
      </p:sp>
      <p:sp>
        <p:nvSpPr>
          <p:cNvPr id="27" name="Text 24"/>
          <p:cNvSpPr txBox="1"/>
          <p:nvPr/>
        </p:nvSpPr>
        <p:spPr>
          <a:xfrm>
            <a:off x="10957255" y="1965960"/>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2</a:t>
            </a:r>
            <a:endParaRPr lang="en-US" sz="1500" dirty="0"/>
          </a:p>
        </p:txBody>
      </p:sp>
      <p:sp>
        <p:nvSpPr>
          <p:cNvPr id="28" name="Shape 25"/>
          <p:cNvSpPr/>
          <p:nvPr/>
        </p:nvSpPr>
        <p:spPr>
          <a:xfrm>
            <a:off x="6187288" y="2441448"/>
            <a:ext cx="5455768" cy="402336"/>
          </a:xfrm>
          <a:prstGeom prst="rect">
            <a:avLst/>
          </a:prstGeom>
          <a:solidFill>
            <a:srgbClr val="F4F8F5"/>
          </a:solidFill>
          <a:ln w="6350">
            <a:solidFill>
              <a:srgbClr val="D7DDD9"/>
            </a:solidFill>
            <a:prstDash val="solid"/>
          </a:ln>
        </p:spPr>
      </p:sp>
      <p:sp>
        <p:nvSpPr>
          <p:cNvPr id="29" name="Text 26"/>
          <p:cNvSpPr txBox="1"/>
          <p:nvPr/>
        </p:nvSpPr>
        <p:spPr>
          <a:xfrm>
            <a:off x="6324448" y="2441448"/>
            <a:ext cx="4541368" cy="402336"/>
          </a:xfrm>
          <a:prstGeom prst="rect">
            <a:avLst/>
          </a:prstGeom>
          <a:noFill/>
          <a:ln/>
        </p:spPr>
        <p:txBody>
          <a:bodyPr wrap="square" lIns="0" tIns="0" rIns="0" bIns="0" rtlCol="0" anchor="ctr"/>
          <a:lstStyle/>
          <a:p>
            <a:pPr indent="0" marL="0">
              <a:buNone/>
            </a:pPr>
            <a:r>
              <a:rPr lang="en-US" sz="1300" dirty="0">
                <a:solidFill>
                  <a:srgbClr val="1D1D1D"/>
                </a:solidFill>
              </a:rPr>
              <a:t>Never turn your back on the customer</a:t>
            </a:r>
            <a:endParaRPr lang="en-US" sz="1300" dirty="0"/>
          </a:p>
        </p:txBody>
      </p:sp>
      <p:sp>
        <p:nvSpPr>
          <p:cNvPr id="30" name="Text 27"/>
          <p:cNvSpPr txBox="1"/>
          <p:nvPr/>
        </p:nvSpPr>
        <p:spPr>
          <a:xfrm>
            <a:off x="10957255" y="2441448"/>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5</a:t>
            </a:r>
            <a:endParaRPr lang="en-US" sz="1500" dirty="0"/>
          </a:p>
        </p:txBody>
      </p:sp>
      <p:sp>
        <p:nvSpPr>
          <p:cNvPr id="31" name="Shape 28"/>
          <p:cNvSpPr/>
          <p:nvPr/>
        </p:nvSpPr>
        <p:spPr>
          <a:xfrm>
            <a:off x="6187288" y="2916936"/>
            <a:ext cx="5455768" cy="402336"/>
          </a:xfrm>
          <a:prstGeom prst="rect">
            <a:avLst/>
          </a:prstGeom>
          <a:solidFill>
            <a:srgbClr val="F4F8F5"/>
          </a:solidFill>
          <a:ln w="6350">
            <a:solidFill>
              <a:srgbClr val="D7DDD9"/>
            </a:solidFill>
            <a:prstDash val="solid"/>
          </a:ln>
        </p:spPr>
      </p:sp>
      <p:sp>
        <p:nvSpPr>
          <p:cNvPr id="32" name="Text 29"/>
          <p:cNvSpPr txBox="1"/>
          <p:nvPr/>
        </p:nvSpPr>
        <p:spPr>
          <a:xfrm>
            <a:off x="6324448" y="2916936"/>
            <a:ext cx="4541368" cy="402336"/>
          </a:xfrm>
          <a:prstGeom prst="rect">
            <a:avLst/>
          </a:prstGeom>
          <a:noFill/>
          <a:ln/>
        </p:spPr>
        <p:txBody>
          <a:bodyPr wrap="square" lIns="0" tIns="0" rIns="0" bIns="0" rtlCol="0" anchor="ctr"/>
          <a:lstStyle/>
          <a:p>
            <a:pPr indent="0" marL="0">
              <a:buNone/>
            </a:pPr>
            <a:r>
              <a:rPr lang="en-US" sz="1300" dirty="0">
                <a:solidFill>
                  <a:srgbClr val="1D1D1D"/>
                </a:solidFill>
              </a:rPr>
              <a:t>Separation &amp; specialisation create focus</a:t>
            </a:r>
            <a:endParaRPr lang="en-US" sz="1300" dirty="0"/>
          </a:p>
        </p:txBody>
      </p:sp>
      <p:sp>
        <p:nvSpPr>
          <p:cNvPr id="33" name="Text 30"/>
          <p:cNvSpPr txBox="1"/>
          <p:nvPr/>
        </p:nvSpPr>
        <p:spPr>
          <a:xfrm>
            <a:off x="10957255" y="2916936"/>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3</a:t>
            </a:r>
            <a:endParaRPr lang="en-US" sz="1500" dirty="0"/>
          </a:p>
        </p:txBody>
      </p:sp>
      <p:sp>
        <p:nvSpPr>
          <p:cNvPr id="34" name="Shape 31"/>
          <p:cNvSpPr/>
          <p:nvPr/>
        </p:nvSpPr>
        <p:spPr>
          <a:xfrm>
            <a:off x="6187288" y="3392424"/>
            <a:ext cx="5455768" cy="402336"/>
          </a:xfrm>
          <a:prstGeom prst="rect">
            <a:avLst/>
          </a:prstGeom>
          <a:solidFill>
            <a:srgbClr val="F4F8F5"/>
          </a:solidFill>
          <a:ln w="6350">
            <a:solidFill>
              <a:srgbClr val="D7DDD9"/>
            </a:solidFill>
            <a:prstDash val="solid"/>
          </a:ln>
        </p:spPr>
      </p:sp>
      <p:sp>
        <p:nvSpPr>
          <p:cNvPr id="35" name="Text 32"/>
          <p:cNvSpPr txBox="1"/>
          <p:nvPr/>
        </p:nvSpPr>
        <p:spPr>
          <a:xfrm>
            <a:off x="6324448" y="3392424"/>
            <a:ext cx="4541368" cy="402336"/>
          </a:xfrm>
          <a:prstGeom prst="rect">
            <a:avLst/>
          </a:prstGeom>
          <a:noFill/>
          <a:ln/>
        </p:spPr>
        <p:txBody>
          <a:bodyPr wrap="square" lIns="0" tIns="0" rIns="0" bIns="0" rtlCol="0" anchor="ctr"/>
          <a:lstStyle/>
          <a:p>
            <a:pPr indent="0" marL="0">
              <a:buNone/>
            </a:pPr>
            <a:r>
              <a:rPr lang="en-US" sz="1300" dirty="0">
                <a:solidFill>
                  <a:srgbClr val="1D1D1D"/>
                </a:solidFill>
              </a:rPr>
              <a:t>Fulfilment like a production line</a:t>
            </a:r>
            <a:endParaRPr lang="en-US" sz="1300" dirty="0"/>
          </a:p>
        </p:txBody>
      </p:sp>
      <p:sp>
        <p:nvSpPr>
          <p:cNvPr id="36" name="Text 33"/>
          <p:cNvSpPr txBox="1"/>
          <p:nvPr/>
        </p:nvSpPr>
        <p:spPr>
          <a:xfrm>
            <a:off x="10957255" y="3392424"/>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4</a:t>
            </a:r>
            <a:endParaRPr lang="en-US" sz="1500" dirty="0"/>
          </a:p>
        </p:txBody>
      </p:sp>
      <p:sp>
        <p:nvSpPr>
          <p:cNvPr id="37" name="Shape 34"/>
          <p:cNvSpPr/>
          <p:nvPr/>
        </p:nvSpPr>
        <p:spPr>
          <a:xfrm>
            <a:off x="6187288" y="3867912"/>
            <a:ext cx="5455768" cy="402336"/>
          </a:xfrm>
          <a:prstGeom prst="rect">
            <a:avLst/>
          </a:prstGeom>
          <a:solidFill>
            <a:srgbClr val="F4F8F5"/>
          </a:solidFill>
          <a:ln w="6350">
            <a:solidFill>
              <a:srgbClr val="D7DDD9"/>
            </a:solidFill>
            <a:prstDash val="solid"/>
          </a:ln>
        </p:spPr>
      </p:sp>
      <p:sp>
        <p:nvSpPr>
          <p:cNvPr id="38" name="Text 35"/>
          <p:cNvSpPr txBox="1"/>
          <p:nvPr/>
        </p:nvSpPr>
        <p:spPr>
          <a:xfrm>
            <a:off x="6324448" y="3867912"/>
            <a:ext cx="4541368" cy="402336"/>
          </a:xfrm>
          <a:prstGeom prst="rect">
            <a:avLst/>
          </a:prstGeom>
          <a:noFill/>
          <a:ln/>
        </p:spPr>
        <p:txBody>
          <a:bodyPr wrap="square" lIns="0" tIns="0" rIns="0" bIns="0" rtlCol="0" anchor="ctr"/>
          <a:lstStyle/>
          <a:p>
            <a:pPr indent="0" marL="0">
              <a:buNone/>
            </a:pPr>
            <a:r>
              <a:rPr lang="en-US" sz="1300" dirty="0">
                <a:solidFill>
                  <a:srgbClr val="1D1D1D"/>
                </a:solidFill>
              </a:rPr>
              <a:t>Remove noise to protect flow</a:t>
            </a:r>
            <a:endParaRPr lang="en-US" sz="1300" dirty="0"/>
          </a:p>
        </p:txBody>
      </p:sp>
      <p:sp>
        <p:nvSpPr>
          <p:cNvPr id="39" name="Text 36"/>
          <p:cNvSpPr txBox="1"/>
          <p:nvPr/>
        </p:nvSpPr>
        <p:spPr>
          <a:xfrm>
            <a:off x="10957255" y="3867912"/>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2</a:t>
            </a:r>
            <a:endParaRPr lang="en-US" sz="1500" dirty="0"/>
          </a:p>
        </p:txBody>
      </p:sp>
      <p:sp>
        <p:nvSpPr>
          <p:cNvPr id="40" name="Shape 37"/>
          <p:cNvSpPr/>
          <p:nvPr/>
        </p:nvSpPr>
        <p:spPr>
          <a:xfrm>
            <a:off x="6187288" y="4343400"/>
            <a:ext cx="5455768" cy="402336"/>
          </a:xfrm>
          <a:prstGeom prst="rect">
            <a:avLst/>
          </a:prstGeom>
          <a:solidFill>
            <a:srgbClr val="F4F8F5"/>
          </a:solidFill>
          <a:ln w="6350">
            <a:solidFill>
              <a:srgbClr val="D7DDD9"/>
            </a:solidFill>
            <a:prstDash val="solid"/>
          </a:ln>
        </p:spPr>
      </p:sp>
      <p:sp>
        <p:nvSpPr>
          <p:cNvPr id="41" name="Text 38"/>
          <p:cNvSpPr txBox="1"/>
          <p:nvPr/>
        </p:nvSpPr>
        <p:spPr>
          <a:xfrm>
            <a:off x="6324448" y="4343400"/>
            <a:ext cx="4541368" cy="402336"/>
          </a:xfrm>
          <a:prstGeom prst="rect">
            <a:avLst/>
          </a:prstGeom>
          <a:noFill/>
          <a:ln/>
        </p:spPr>
        <p:txBody>
          <a:bodyPr wrap="square" lIns="0" tIns="0" rIns="0" bIns="0" rtlCol="0" anchor="ctr"/>
          <a:lstStyle/>
          <a:p>
            <a:pPr indent="0" marL="0">
              <a:buNone/>
            </a:pPr>
            <a:r>
              <a:rPr lang="en-US" sz="1300" dirty="0">
                <a:solidFill>
                  <a:srgbClr val="1D1D1D"/>
                </a:solidFill>
              </a:rPr>
              <a:t>Many inputs, one controlled funnel</a:t>
            </a:r>
            <a:endParaRPr lang="en-US" sz="1300" dirty="0"/>
          </a:p>
        </p:txBody>
      </p:sp>
      <p:sp>
        <p:nvSpPr>
          <p:cNvPr id="42" name="Text 39"/>
          <p:cNvSpPr txBox="1"/>
          <p:nvPr/>
        </p:nvSpPr>
        <p:spPr>
          <a:xfrm>
            <a:off x="10957255" y="4343400"/>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2</a:t>
            </a:r>
            <a:endParaRPr lang="en-US" sz="1500" dirty="0"/>
          </a:p>
        </p:txBody>
      </p:sp>
      <p:sp>
        <p:nvSpPr>
          <p:cNvPr id="43" name="Shape 40"/>
          <p:cNvSpPr/>
          <p:nvPr/>
        </p:nvSpPr>
        <p:spPr>
          <a:xfrm>
            <a:off x="6187288" y="4818888"/>
            <a:ext cx="5455768" cy="402336"/>
          </a:xfrm>
          <a:prstGeom prst="rect">
            <a:avLst/>
          </a:prstGeom>
          <a:solidFill>
            <a:srgbClr val="F4F8F5"/>
          </a:solidFill>
          <a:ln w="6350">
            <a:solidFill>
              <a:srgbClr val="D7DDD9"/>
            </a:solidFill>
            <a:prstDash val="solid"/>
          </a:ln>
        </p:spPr>
      </p:sp>
      <p:sp>
        <p:nvSpPr>
          <p:cNvPr id="44" name="Text 41"/>
          <p:cNvSpPr txBox="1"/>
          <p:nvPr/>
        </p:nvSpPr>
        <p:spPr>
          <a:xfrm>
            <a:off x="6324448" y="4818888"/>
            <a:ext cx="4541368" cy="402336"/>
          </a:xfrm>
          <a:prstGeom prst="rect">
            <a:avLst/>
          </a:prstGeom>
          <a:noFill/>
          <a:ln/>
        </p:spPr>
        <p:txBody>
          <a:bodyPr wrap="square" lIns="0" tIns="0" rIns="0" bIns="0" rtlCol="0" anchor="ctr"/>
          <a:lstStyle/>
          <a:p>
            <a:pPr indent="0" marL="0">
              <a:buNone/>
            </a:pPr>
            <a:r>
              <a:rPr lang="en-US" sz="1300" dirty="0">
                <a:solidFill>
                  <a:srgbClr val="1D1D1D"/>
                </a:solidFill>
              </a:rPr>
              <a:t>The system prioritises the work</a:t>
            </a:r>
            <a:endParaRPr lang="en-US" sz="1300" dirty="0"/>
          </a:p>
        </p:txBody>
      </p:sp>
      <p:sp>
        <p:nvSpPr>
          <p:cNvPr id="45" name="Text 42"/>
          <p:cNvSpPr txBox="1"/>
          <p:nvPr/>
        </p:nvSpPr>
        <p:spPr>
          <a:xfrm>
            <a:off x="10957255" y="4818888"/>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3</a:t>
            </a:r>
            <a:endParaRPr lang="en-US" sz="1500" dirty="0"/>
          </a:p>
        </p:txBody>
      </p:sp>
      <p:sp>
        <p:nvSpPr>
          <p:cNvPr id="46" name="Shape 43"/>
          <p:cNvSpPr/>
          <p:nvPr/>
        </p:nvSpPr>
        <p:spPr>
          <a:xfrm>
            <a:off x="6187288" y="5294376"/>
            <a:ext cx="5455768" cy="402336"/>
          </a:xfrm>
          <a:prstGeom prst="rect">
            <a:avLst/>
          </a:prstGeom>
          <a:solidFill>
            <a:srgbClr val="F4F8F5"/>
          </a:solidFill>
          <a:ln w="6350">
            <a:solidFill>
              <a:srgbClr val="D7DDD9"/>
            </a:solidFill>
            <a:prstDash val="solid"/>
          </a:ln>
        </p:spPr>
      </p:sp>
      <p:sp>
        <p:nvSpPr>
          <p:cNvPr id="47" name="Text 44"/>
          <p:cNvSpPr txBox="1"/>
          <p:nvPr/>
        </p:nvSpPr>
        <p:spPr>
          <a:xfrm>
            <a:off x="6324448" y="5294376"/>
            <a:ext cx="4541368" cy="402336"/>
          </a:xfrm>
          <a:prstGeom prst="rect">
            <a:avLst/>
          </a:prstGeom>
          <a:noFill/>
          <a:ln/>
        </p:spPr>
        <p:txBody>
          <a:bodyPr wrap="square" lIns="0" tIns="0" rIns="0" bIns="0" rtlCol="0" anchor="ctr"/>
          <a:lstStyle/>
          <a:p>
            <a:pPr indent="0" marL="0">
              <a:buNone/>
            </a:pPr>
            <a:r>
              <a:rPr lang="en-US" sz="1300" dirty="0">
                <a:solidFill>
                  <a:srgbClr val="1D1D1D"/>
                </a:solidFill>
              </a:rPr>
              <a:t>Proximity without exposure</a:t>
            </a:r>
            <a:endParaRPr lang="en-US" sz="1300" dirty="0"/>
          </a:p>
        </p:txBody>
      </p:sp>
      <p:sp>
        <p:nvSpPr>
          <p:cNvPr id="48" name="Text 45"/>
          <p:cNvSpPr txBox="1"/>
          <p:nvPr/>
        </p:nvSpPr>
        <p:spPr>
          <a:xfrm>
            <a:off x="10957255" y="5294376"/>
            <a:ext cx="548640" cy="402336"/>
          </a:xfrm>
          <a:prstGeom prst="rect">
            <a:avLst/>
          </a:prstGeom>
          <a:noFill/>
          <a:ln/>
        </p:spPr>
        <p:txBody>
          <a:bodyPr wrap="square" lIns="0" tIns="0" rIns="0" bIns="0" rtlCol="0" anchor="ctr"/>
          <a:lstStyle/>
          <a:p>
            <a:pPr algn="r" indent="0" marL="0">
              <a:buNone/>
            </a:pPr>
            <a:r>
              <a:rPr lang="en-US" sz="1500" b="1" dirty="0">
                <a:solidFill>
                  <a:srgbClr val="1A9B4A"/>
                </a:solidFill>
              </a:rPr>
              <a:t>1</a:t>
            </a:r>
            <a:endParaRPr lang="en-US" sz="15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8F8C"/>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Work-to-be-done catalogue</dc:title>
  <dc:subject>PptxGenJS Presentation</dc:subject>
  <dc:creator>Bigly Labs</dc:creator>
  <cp:lastModifiedBy>Bigly Labs</cp:lastModifiedBy>
  <cp:revision>1</cp:revision>
  <dcterms:created xsi:type="dcterms:W3CDTF">2026-10-04T11:02:32Z</dcterms:created>
  <dcterms:modified xsi:type="dcterms:W3CDTF">2026-10-04T11:02:32Z</dcterms:modified>
</cp:coreProperties>
</file>