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Written last. Every line traces to a slide in the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SteerCo #1 pack and decision log (Nov 2025); Bigly dispenser principles; OTC brainstorm 2 Sep 2026 (space rationale, legacy OTC wall objections).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CAVEAT: there are reports that some Irene pharmacists walk to the back and pick the OTC item themselves rather than waiting for it to be brought forward. If that is happening, it breaks 'never turn your back'. Confirm with the business analyst's ticketing data before presenting the Irene path as clean.
DATA STILL NEEDED: ticket volume and time to serve at Irene by OTC vs script, month by month.
Irene's dispensary manager reports no OTC complaints since the change and no fairness complaints from script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Store count and dates from the programme rollout plan (Sep 2026). The ROWA figures (first store 2027, about a third of the estate) are the team's working numbers from the 2 September session and need confirming with the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Time-to-serve figures are the team's working numbers, TO BE CONFIRMED against the product manager's data before this pack is presented.
DATA STILL NEEDED: ticket volume and time to serve for both stores, split OTC vs script, month by month since opening.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pharmacy managers and hub advisors of both stores (10 Sep workshop); Careline complaints; mystery shops by the team; the Jan 2026 customer study for "waiting is fine, being unsure isn't". Most of this comes from the people running the two stores. Customer measurement is still to 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figures are the managers' own working numbers.
DATA STILL NEEDED: pharmacy revenue and transaction volume for both stores, split OTC vs script, month by month since opening, against the programme's original projections. Visit-level reporting for both stores.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CHECK WITH FIRAZ: weekday vs weekend ticket split; share of customers he recognises as regulars; the nearest legacy Dis-Chem and whether he sees customers switching to it; his busiest hour; floor area of Melrose vs Irene. The business-park reading, the leakage point and the 'one box of Adcodol' line are the team's, to be confirmed with him.
DATA STILL NEEDED: ticket volume and time to serve by OTC vs script, monthly; revenue and transactions vs projections, monthly; Careline complaints coded.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scripts this is the pharmacy as designed. Decoupling still happens. It happens after the pharmacist knows what the order is, instead of at the ticket before anyone does.
The time is the promise. "Waiting is fine, being unsure isn't" was the clearest finding of the January customer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STILL NEEDED: SKU-level OTC volume curve from Unisolv (share of OTC-only transactions the top 100 lines cover). At Irene, per order: line count and item type against pick time, and against whether the item was handed over at the counter or fell back to collections. How often the Irene fast path falls back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earlier guardrails still hold and sit beneath this one: never turn your back on the customer; never trade off the urgently sick customer; keep the pharmacy's health authority visible; the script flow for orders that need preparation is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and effort are the team's judgement from the two workshops, not measured. Regulatory flag on every screen option: Schedule 0 and 1 medicines may be advertised to the public, Schedule 2 may not, and whether an in-pharmacy display of stock counts as advertising is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 as proposed by the team; to be confirmed with each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420"/>
        </a:solidFill>
      </p:bgPr>
    </p:bg>
    <p:spTree>
      <p:nvGrpSpPr>
        <p:cNvPr id="1" name=""/>
        <p:cNvGrpSpPr/>
        <p:nvPr/>
      </p:nvGrpSpPr>
      <p:grpSpPr>
        <a:xfrm>
          <a:off x="0" y="0"/>
          <a:ext cx="0" cy="0"/>
          <a:chOff x="0" y="0"/>
          <a:chExt cx="0" cy="0"/>
        </a:xfrm>
      </p:grpSpPr>
      <p:sp>
        <p:nvSpPr>
          <p:cNvPr id="2" name="Text 0"/>
          <p:cNvSpPr txBox="1"/>
          <p:nvPr/>
        </p:nvSpPr>
        <p:spPr>
          <a:xfrm>
            <a:off x="457200" y="1097280"/>
            <a:ext cx="8229600" cy="274320"/>
          </a:xfrm>
          <a:prstGeom prst="rect">
            <a:avLst/>
          </a:prstGeom>
          <a:noFill/>
          <a:ln/>
        </p:spPr>
        <p:txBody>
          <a:bodyPr wrap="square" lIns="0" tIns="0" rIns="0" bIns="0" rtlCol="0" anchor="ctr"/>
          <a:lstStyle/>
          <a:p>
            <a:pPr indent="0" marL="0">
              <a:buNone/>
            </a:pPr>
            <a:r>
              <a:rPr lang="en-US" sz="1000" b="1" spc="200" kern="0" dirty="0">
                <a:solidFill>
                  <a:srgbClr val="E3B71E"/>
                </a:solidFill>
                <a:latin typeface="Arial" pitchFamily="34" charset="0"/>
                <a:ea typeface="Arial" pitchFamily="34" charset="-122"/>
                <a:cs typeface="Arial" pitchFamily="34" charset="-120"/>
              </a:rPr>
              <a:t>STORE OF THE FUTURE  ·  STEER GROUP PACK  ·  DRAFT</a:t>
            </a:r>
            <a:endParaRPr lang="en-US" sz="1000" dirty="0"/>
          </a:p>
        </p:txBody>
      </p:sp>
      <p:sp>
        <p:nvSpPr>
          <p:cNvPr id="3" name="Text 1"/>
          <p:cNvSpPr txBox="1"/>
          <p:nvPr/>
        </p:nvSpPr>
        <p:spPr>
          <a:xfrm>
            <a:off x="457200" y="1463040"/>
            <a:ext cx="8229600" cy="100584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The OTC Solve</a:t>
            </a:r>
            <a:endParaRPr lang="en-US" sz="5400" dirty="0"/>
          </a:p>
        </p:txBody>
      </p:sp>
      <p:sp>
        <p:nvSpPr>
          <p:cNvPr id="4" name="Text 2"/>
          <p:cNvSpPr txBox="1"/>
          <p:nvPr/>
        </p:nvSpPr>
        <p:spPr>
          <a:xfrm>
            <a:off x="457200" y="2560320"/>
            <a:ext cx="6858000" cy="1097280"/>
          </a:xfrm>
          <a:prstGeom prst="rect">
            <a:avLst/>
          </a:prstGeom>
          <a:noFill/>
          <a:ln/>
        </p:spPr>
        <p:txBody>
          <a:bodyPr wrap="square" lIns="0" tIns="0" rIns="0" bIns="0" rtlCol="0" anchor="ctr"/>
          <a:lstStyle/>
          <a:p>
            <a:pPr indent="0" marL="0">
              <a:buNone/>
            </a:pPr>
            <a:r>
              <a:rPr lang="en-US" sz="1300" dirty="0">
                <a:solidFill>
                  <a:srgbClr val="CFD8D2"/>
                </a:solidFill>
                <a:latin typeface="Arial" pitchFamily="34" charset="0"/>
                <a:ea typeface="Arial" pitchFamily="34" charset="-122"/>
                <a:cs typeface="Arial" pitchFamily="34" charset="-120"/>
              </a:rPr>
              <a:t>Two Store of the Future pharmacies are live. Scripts are served faster than before. Over-the-counter medicine, folded into the same process, is where the friction sits. This pack plays back what changed, what the two stores have taught us, where the pharmacy should go, and how we get there.</a:t>
            </a:r>
            <a:endParaRPr lang="en-US" sz="1300" dirty="0"/>
          </a:p>
        </p:txBody>
      </p:sp>
      <p:sp>
        <p:nvSpPr>
          <p:cNvPr id="5" name="Text 3"/>
          <p:cNvSpPr txBox="1"/>
          <p:nvPr/>
        </p:nvSpPr>
        <p:spPr>
          <a:xfrm>
            <a:off x="457200" y="4503420"/>
            <a:ext cx="8229600" cy="274320"/>
          </a:xfrm>
          <a:prstGeom prst="rect">
            <a:avLst/>
          </a:prstGeom>
          <a:noFill/>
          <a:ln/>
        </p:spPr>
        <p:txBody>
          <a:bodyPr wrap="square" lIns="0" tIns="0" rIns="0" bIns="0" rtlCol="0" anchor="ctr"/>
          <a:lstStyle/>
          <a:p>
            <a:pPr indent="0" marL="0">
              <a:buNone/>
            </a:pPr>
            <a:r>
              <a:rPr lang="en-US" sz="900" dirty="0">
                <a:solidFill>
                  <a:srgbClr val="84908A"/>
                </a:solidFill>
                <a:latin typeface="Arial" pitchFamily="34" charset="0"/>
                <a:ea typeface="Arial" pitchFamily="34" charset="-122"/>
                <a:cs typeface="Arial" pitchFamily="34" charset="-120"/>
              </a:rPr>
              <a:t>Bigly Labs for Dis-Chem  ·  September 2026  ·  figures marked as working numbers until pulled from reporting</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38912"/>
            <a:ext cx="8229600" cy="731520"/>
          </a:xfrm>
          <a:prstGeom prst="rect">
            <a:avLst/>
          </a:prstGeom>
          <a:noFill/>
          <a:ln/>
        </p:spPr>
        <p:txBody>
          <a:bodyPr wrap="square" lIns="0" tIns="0" rIns="0" bIns="0" rtlCol="0" anchor="t">
            <a:normAutofit/>
          </a:bodyPr>
          <a:lstStyle/>
          <a:p>
            <a:pPr indent="0" marL="0">
              <a:buNone/>
            </a:pPr>
            <a:r>
              <a:rPr lang="en-US" sz="2100" b="1" dirty="0">
                <a:solidFill>
                  <a:srgbClr val="1C2420"/>
                </a:solidFill>
                <a:latin typeface="Arial" pitchFamily="34" charset="0"/>
                <a:ea typeface="Arial" pitchFamily="34" charset="-122"/>
                <a:cs typeface="Arial" pitchFamily="34" charset="-120"/>
              </a:rPr>
              <a:t>Four questions</a:t>
            </a:r>
            <a:endParaRPr lang="en-US" sz="2100" dirty="0"/>
          </a:p>
        </p:txBody>
      </p:sp>
      <p:sp>
        <p:nvSpPr>
          <p:cNvPr id="3" name="Shape 1"/>
          <p:cNvSpPr/>
          <p:nvPr/>
        </p:nvSpPr>
        <p:spPr>
          <a:xfrm>
            <a:off x="457200" y="1371600"/>
            <a:ext cx="1965960" cy="2377440"/>
          </a:xfrm>
          <a:prstGeom prst="rect">
            <a:avLst/>
          </a:prstGeom>
          <a:solidFill>
            <a:srgbClr val="F7F6F2"/>
          </a:solidFill>
          <a:ln w="9525">
            <a:solidFill>
              <a:srgbClr val="DCDFD8"/>
            </a:solidFill>
            <a:prstDash val="solid"/>
          </a:ln>
        </p:spPr>
      </p:sp>
      <p:sp>
        <p:nvSpPr>
          <p:cNvPr id="4" name="Shape 2"/>
          <p:cNvSpPr/>
          <p:nvPr/>
        </p:nvSpPr>
        <p:spPr>
          <a:xfrm>
            <a:off x="640080" y="1554480"/>
            <a:ext cx="457200" cy="457200"/>
          </a:xfrm>
          <a:prstGeom prst="ellipse">
            <a:avLst/>
          </a:prstGeom>
          <a:solidFill>
            <a:srgbClr val="0A7A44"/>
          </a:solidFill>
          <a:ln w="12700">
            <a:solidFill>
              <a:srgbClr val="0A7A44"/>
            </a:solidFill>
            <a:prstDash val="solid"/>
          </a:ln>
        </p:spPr>
      </p:sp>
      <p:sp>
        <p:nvSpPr>
          <p:cNvPr id="5" name="Text 3"/>
          <p:cNvSpPr txBox="1"/>
          <p:nvPr/>
        </p:nvSpPr>
        <p:spPr>
          <a:xfrm>
            <a:off x="640080"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640080" y="2148840"/>
            <a:ext cx="1600200" cy="548640"/>
          </a:xfrm>
          <a:prstGeom prst="rect">
            <a:avLst/>
          </a:prstGeom>
          <a:noFill/>
          <a:ln/>
        </p:spPr>
        <p:txBody>
          <a:bodyPr wrap="square" lIns="0" tIns="0" rIns="0" bIns="0" rtlCol="0" anchor="ctr"/>
          <a:lstStyle/>
          <a:p>
            <a:pPr indent="0" marL="0">
              <a:buNone/>
            </a:pPr>
            <a:r>
              <a:rPr lang="en-US" sz="1500" b="1" dirty="0">
                <a:solidFill>
                  <a:srgbClr val="1C2420"/>
                </a:solidFill>
                <a:latin typeface="Arial" pitchFamily="34" charset="0"/>
                <a:ea typeface="Arial" pitchFamily="34" charset="-122"/>
                <a:cs typeface="Arial" pitchFamily="34" charset="-120"/>
              </a:rPr>
              <a:t>Where are we now?</a:t>
            </a:r>
            <a:endParaRPr lang="en-US" sz="1500" dirty="0"/>
          </a:p>
        </p:txBody>
      </p:sp>
      <p:sp>
        <p:nvSpPr>
          <p:cNvPr id="7" name="Text 5"/>
          <p:cNvSpPr txBox="1"/>
          <p:nvPr/>
        </p:nvSpPr>
        <p:spPr>
          <a:xfrm>
            <a:off x="640080" y="2697480"/>
            <a:ext cx="1600200" cy="960120"/>
          </a:xfrm>
          <a:prstGeom prst="rect">
            <a:avLst/>
          </a:prstGeom>
          <a:noFill/>
          <a:ln/>
        </p:spPr>
        <p:txBody>
          <a:bodyPr wrap="square" lIns="0" tIns="0" rIns="0" bIns="0" rtlCol="0" anchor="t"/>
          <a:lstStyle/>
          <a:p>
            <a:pPr indent="0" marL="0">
              <a:buNone/>
            </a:pPr>
            <a:r>
              <a:rPr lang="en-US" sz="1000" dirty="0">
                <a:solidFill>
                  <a:srgbClr val="4C5A52"/>
                </a:solidFill>
                <a:latin typeface="Arial" pitchFamily="34" charset="0"/>
                <a:ea typeface="Arial" pitchFamily="34" charset="-122"/>
                <a:cs typeface="Arial" pitchFamily="34" charset="-120"/>
              </a:rPr>
              <a:t>What changed in the pharmacy, how two live stores run it, and how many follow before Christmas.</a:t>
            </a:r>
            <a:endParaRPr lang="en-US" sz="1000" dirty="0"/>
          </a:p>
        </p:txBody>
      </p:sp>
      <p:sp>
        <p:nvSpPr>
          <p:cNvPr id="8" name="Shape 6"/>
          <p:cNvSpPr/>
          <p:nvPr/>
        </p:nvSpPr>
        <p:spPr>
          <a:xfrm>
            <a:off x="2560320" y="1371600"/>
            <a:ext cx="1965960" cy="2377440"/>
          </a:xfrm>
          <a:prstGeom prst="rect">
            <a:avLst/>
          </a:prstGeom>
          <a:solidFill>
            <a:srgbClr val="F7F6F2"/>
          </a:solidFill>
          <a:ln w="9525">
            <a:solidFill>
              <a:srgbClr val="DCDFD8"/>
            </a:solidFill>
            <a:prstDash val="solid"/>
          </a:ln>
        </p:spPr>
      </p:sp>
      <p:sp>
        <p:nvSpPr>
          <p:cNvPr id="9" name="Shape 7"/>
          <p:cNvSpPr/>
          <p:nvPr/>
        </p:nvSpPr>
        <p:spPr>
          <a:xfrm>
            <a:off x="2743200" y="1554480"/>
            <a:ext cx="457200" cy="457200"/>
          </a:xfrm>
          <a:prstGeom prst="ellipse">
            <a:avLst/>
          </a:prstGeom>
          <a:solidFill>
            <a:srgbClr val="0A7A44"/>
          </a:solidFill>
          <a:ln w="12700">
            <a:solidFill>
              <a:srgbClr val="0A7A44"/>
            </a:solidFill>
            <a:prstDash val="solid"/>
          </a:ln>
        </p:spPr>
      </p:sp>
      <p:sp>
        <p:nvSpPr>
          <p:cNvPr id="10" name="Text 8"/>
          <p:cNvSpPr txBox="1"/>
          <p:nvPr/>
        </p:nvSpPr>
        <p:spPr>
          <a:xfrm>
            <a:off x="2743200"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1" name="Text 9"/>
          <p:cNvSpPr txBox="1"/>
          <p:nvPr/>
        </p:nvSpPr>
        <p:spPr>
          <a:xfrm>
            <a:off x="2743200" y="2148840"/>
            <a:ext cx="1600200" cy="548640"/>
          </a:xfrm>
          <a:prstGeom prst="rect">
            <a:avLst/>
          </a:prstGeom>
          <a:noFill/>
          <a:ln/>
        </p:spPr>
        <p:txBody>
          <a:bodyPr wrap="square" lIns="0" tIns="0" rIns="0" bIns="0" rtlCol="0" anchor="ctr"/>
          <a:lstStyle/>
          <a:p>
            <a:pPr indent="0" marL="0">
              <a:buNone/>
            </a:pPr>
            <a:r>
              <a:rPr lang="en-US" sz="1500" b="1" dirty="0">
                <a:solidFill>
                  <a:srgbClr val="1C2420"/>
                </a:solidFill>
                <a:latin typeface="Arial" pitchFamily="34" charset="0"/>
                <a:ea typeface="Arial" pitchFamily="34" charset="-122"/>
                <a:cs typeface="Arial" pitchFamily="34" charset="-120"/>
              </a:rPr>
              <a:t>What have we learned?</a:t>
            </a:r>
            <a:endParaRPr lang="en-US" sz="1500" dirty="0"/>
          </a:p>
        </p:txBody>
      </p:sp>
      <p:sp>
        <p:nvSpPr>
          <p:cNvPr id="12" name="Text 10"/>
          <p:cNvSpPr txBox="1"/>
          <p:nvPr/>
        </p:nvSpPr>
        <p:spPr>
          <a:xfrm>
            <a:off x="2743200" y="2697480"/>
            <a:ext cx="1600200" cy="960120"/>
          </a:xfrm>
          <a:prstGeom prst="rect">
            <a:avLst/>
          </a:prstGeom>
          <a:noFill/>
          <a:ln/>
        </p:spPr>
        <p:txBody>
          <a:bodyPr wrap="square" lIns="0" tIns="0" rIns="0" bIns="0" rtlCol="0" anchor="t"/>
          <a:lstStyle/>
          <a:p>
            <a:pPr indent="0" marL="0">
              <a:buNone/>
            </a:pPr>
            <a:r>
              <a:rPr lang="en-US" sz="1000" dirty="0">
                <a:solidFill>
                  <a:srgbClr val="4C5A52"/>
                </a:solidFill>
                <a:latin typeface="Arial" pitchFamily="34" charset="0"/>
                <a:ea typeface="Arial" pitchFamily="34" charset="-122"/>
                <a:cs typeface="Arial" pitchFamily="34" charset="-120"/>
              </a:rPr>
              <a:t>What is working, where the friction sits, what it costs, and what the two stores teach side by side.</a:t>
            </a:r>
            <a:endParaRPr lang="en-US" sz="1000" dirty="0"/>
          </a:p>
        </p:txBody>
      </p:sp>
      <p:sp>
        <p:nvSpPr>
          <p:cNvPr id="13" name="Shape 11"/>
          <p:cNvSpPr/>
          <p:nvPr/>
        </p:nvSpPr>
        <p:spPr>
          <a:xfrm>
            <a:off x="4663440" y="1371600"/>
            <a:ext cx="1965960" cy="2377440"/>
          </a:xfrm>
          <a:prstGeom prst="rect">
            <a:avLst/>
          </a:prstGeom>
          <a:solidFill>
            <a:srgbClr val="F7F6F2"/>
          </a:solidFill>
          <a:ln w="9525">
            <a:solidFill>
              <a:srgbClr val="DCDFD8"/>
            </a:solidFill>
            <a:prstDash val="solid"/>
          </a:ln>
        </p:spPr>
      </p:sp>
      <p:sp>
        <p:nvSpPr>
          <p:cNvPr id="14" name="Shape 12"/>
          <p:cNvSpPr/>
          <p:nvPr/>
        </p:nvSpPr>
        <p:spPr>
          <a:xfrm>
            <a:off x="4846320" y="1554480"/>
            <a:ext cx="457200" cy="457200"/>
          </a:xfrm>
          <a:prstGeom prst="ellipse">
            <a:avLst/>
          </a:prstGeom>
          <a:solidFill>
            <a:srgbClr val="0A7A44"/>
          </a:solidFill>
          <a:ln w="12700">
            <a:solidFill>
              <a:srgbClr val="0A7A44"/>
            </a:solidFill>
            <a:prstDash val="solid"/>
          </a:ln>
        </p:spPr>
      </p:sp>
      <p:sp>
        <p:nvSpPr>
          <p:cNvPr id="15" name="Text 13"/>
          <p:cNvSpPr txBox="1"/>
          <p:nvPr/>
        </p:nvSpPr>
        <p:spPr>
          <a:xfrm>
            <a:off x="4846320"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6" name="Text 14"/>
          <p:cNvSpPr txBox="1"/>
          <p:nvPr/>
        </p:nvSpPr>
        <p:spPr>
          <a:xfrm>
            <a:off x="4846320" y="2148840"/>
            <a:ext cx="1600200" cy="548640"/>
          </a:xfrm>
          <a:prstGeom prst="rect">
            <a:avLst/>
          </a:prstGeom>
          <a:noFill/>
          <a:ln/>
        </p:spPr>
        <p:txBody>
          <a:bodyPr wrap="square" lIns="0" tIns="0" rIns="0" bIns="0" rtlCol="0" anchor="ctr"/>
          <a:lstStyle/>
          <a:p>
            <a:pPr indent="0" marL="0">
              <a:buNone/>
            </a:pPr>
            <a:r>
              <a:rPr lang="en-US" sz="1500" b="1" dirty="0">
                <a:solidFill>
                  <a:srgbClr val="1C2420"/>
                </a:solidFill>
                <a:latin typeface="Arial" pitchFamily="34" charset="0"/>
                <a:ea typeface="Arial" pitchFamily="34" charset="-122"/>
                <a:cs typeface="Arial" pitchFamily="34" charset="-120"/>
              </a:rPr>
              <a:t>Where are we going?</a:t>
            </a:r>
            <a:endParaRPr lang="en-US" sz="1500" dirty="0"/>
          </a:p>
        </p:txBody>
      </p:sp>
      <p:sp>
        <p:nvSpPr>
          <p:cNvPr id="17" name="Text 15"/>
          <p:cNvSpPr txBox="1"/>
          <p:nvPr/>
        </p:nvSpPr>
        <p:spPr>
          <a:xfrm>
            <a:off x="4846320" y="2697480"/>
            <a:ext cx="1600200" cy="960120"/>
          </a:xfrm>
          <a:prstGeom prst="rect">
            <a:avLst/>
          </a:prstGeom>
          <a:noFill/>
          <a:ln/>
        </p:spPr>
        <p:txBody>
          <a:bodyPr wrap="square" lIns="0" tIns="0" rIns="0" bIns="0" rtlCol="0" anchor="t"/>
          <a:lstStyle/>
          <a:p>
            <a:pPr indent="0" marL="0">
              <a:buNone/>
            </a:pPr>
            <a:r>
              <a:rPr lang="en-US" sz="1000" dirty="0">
                <a:solidFill>
                  <a:srgbClr val="4C5A52"/>
                </a:solidFill>
                <a:latin typeface="Arial" pitchFamily="34" charset="0"/>
                <a:ea typeface="Arial" pitchFamily="34" charset="-122"/>
                <a:cs typeface="Arial" pitchFamily="34" charset="-120"/>
              </a:rPr>
              <a:t>The target pharmacy in the simplest terms we can state it, so the roadmap follows from it.</a:t>
            </a:r>
            <a:endParaRPr lang="en-US" sz="1000" dirty="0"/>
          </a:p>
        </p:txBody>
      </p:sp>
      <p:sp>
        <p:nvSpPr>
          <p:cNvPr id="18" name="Shape 16"/>
          <p:cNvSpPr/>
          <p:nvPr/>
        </p:nvSpPr>
        <p:spPr>
          <a:xfrm>
            <a:off x="6766560" y="1371600"/>
            <a:ext cx="1965960" cy="2377440"/>
          </a:xfrm>
          <a:prstGeom prst="rect">
            <a:avLst/>
          </a:prstGeom>
          <a:solidFill>
            <a:srgbClr val="F7F6F2"/>
          </a:solidFill>
          <a:ln w="9525">
            <a:solidFill>
              <a:srgbClr val="DCDFD8"/>
            </a:solidFill>
            <a:prstDash val="solid"/>
          </a:ln>
        </p:spPr>
      </p:sp>
      <p:sp>
        <p:nvSpPr>
          <p:cNvPr id="19" name="Shape 17"/>
          <p:cNvSpPr/>
          <p:nvPr/>
        </p:nvSpPr>
        <p:spPr>
          <a:xfrm>
            <a:off x="6949440" y="1554480"/>
            <a:ext cx="457200" cy="457200"/>
          </a:xfrm>
          <a:prstGeom prst="ellipse">
            <a:avLst/>
          </a:prstGeom>
          <a:solidFill>
            <a:srgbClr val="0A7A44"/>
          </a:solidFill>
          <a:ln w="12700">
            <a:solidFill>
              <a:srgbClr val="0A7A44"/>
            </a:solidFill>
            <a:prstDash val="solid"/>
          </a:ln>
        </p:spPr>
      </p:sp>
      <p:sp>
        <p:nvSpPr>
          <p:cNvPr id="20" name="Text 18"/>
          <p:cNvSpPr txBox="1"/>
          <p:nvPr/>
        </p:nvSpPr>
        <p:spPr>
          <a:xfrm>
            <a:off x="6949440"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1" name="Text 19"/>
          <p:cNvSpPr txBox="1"/>
          <p:nvPr/>
        </p:nvSpPr>
        <p:spPr>
          <a:xfrm>
            <a:off x="6949440" y="2148840"/>
            <a:ext cx="1600200" cy="548640"/>
          </a:xfrm>
          <a:prstGeom prst="rect">
            <a:avLst/>
          </a:prstGeom>
          <a:noFill/>
          <a:ln/>
        </p:spPr>
        <p:txBody>
          <a:bodyPr wrap="square" lIns="0" tIns="0" rIns="0" bIns="0" rtlCol="0" anchor="ctr"/>
          <a:lstStyle/>
          <a:p>
            <a:pPr indent="0" marL="0">
              <a:buNone/>
            </a:pPr>
            <a:r>
              <a:rPr lang="en-US" sz="1500" b="1" dirty="0">
                <a:solidFill>
                  <a:srgbClr val="1C2420"/>
                </a:solidFill>
                <a:latin typeface="Arial" pitchFamily="34" charset="0"/>
                <a:ea typeface="Arial" pitchFamily="34" charset="-122"/>
                <a:cs typeface="Arial" pitchFamily="34" charset="-120"/>
              </a:rPr>
              <a:t>How do we get there?</a:t>
            </a:r>
            <a:endParaRPr lang="en-US" sz="1500" dirty="0"/>
          </a:p>
        </p:txBody>
      </p:sp>
      <p:sp>
        <p:nvSpPr>
          <p:cNvPr id="22" name="Text 20"/>
          <p:cNvSpPr txBox="1"/>
          <p:nvPr/>
        </p:nvSpPr>
        <p:spPr>
          <a:xfrm>
            <a:off x="6949440" y="2697480"/>
            <a:ext cx="1600200" cy="960120"/>
          </a:xfrm>
          <a:prstGeom prst="rect">
            <a:avLst/>
          </a:prstGeom>
          <a:noFill/>
          <a:ln/>
        </p:spPr>
        <p:txBody>
          <a:bodyPr wrap="square" lIns="0" tIns="0" rIns="0" bIns="0" rtlCol="0" anchor="t"/>
          <a:lstStyle/>
          <a:p>
            <a:pPr indent="0" marL="0">
              <a:buNone/>
            </a:pPr>
            <a:r>
              <a:rPr lang="en-US" sz="1000" dirty="0">
                <a:solidFill>
                  <a:srgbClr val="4C5A52"/>
                </a:solidFill>
                <a:latin typeface="Arial" pitchFamily="34" charset="0"/>
                <a:ea typeface="Arial" pitchFamily="34" charset="-122"/>
                <a:cs typeface="Arial" pitchFamily="34" charset="-120"/>
              </a:rPr>
              <a:t>Three routes, every option placed, and the decisions we ask the Steer Group to make.</a:t>
            </a:r>
            <a:endParaRPr lang="en-US" sz="1000" dirty="0"/>
          </a:p>
        </p:txBody>
      </p:sp>
      <p:sp>
        <p:nvSpPr>
          <p:cNvPr id="23" name="Text 21"/>
          <p:cNvSpPr txBox="1"/>
          <p:nvPr/>
        </p:nvSpPr>
        <p:spPr>
          <a:xfrm>
            <a:off x="457200" y="4023360"/>
            <a:ext cx="8229600" cy="274320"/>
          </a:xfrm>
          <a:prstGeom prst="rect">
            <a:avLst/>
          </a:prstGeom>
          <a:noFill/>
          <a:ln/>
        </p:spPr>
        <p:txBody>
          <a:bodyPr wrap="square" lIns="0" tIns="0" rIns="0" bIns="0" rtlCol="0" anchor="ctr"/>
          <a:lstStyle/>
          <a:p>
            <a:pPr indent="0" marL="0">
              <a:buNone/>
            </a:pPr>
            <a:r>
              <a:rPr lang="en-US" sz="1000" dirty="0">
                <a:solidFill>
                  <a:srgbClr val="7D8A82"/>
                </a:solidFill>
                <a:latin typeface="Arial" pitchFamily="34" charset="0"/>
                <a:ea typeface="Arial" pitchFamily="34" charset="-122"/>
                <a:cs typeface="Arial" pitchFamily="34" charset="-120"/>
              </a:rPr>
              <a:t>An answer slide sits in front. An evidence appendix sits behind.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657600" cy="228600"/>
          </a:xfrm>
          <a:prstGeom prst="rect">
            <a:avLst/>
          </a:prstGeom>
          <a:noFill/>
          <a:ln/>
        </p:spPr>
        <p:txBody>
          <a:bodyPr wrap="square" lIns="0" tIns="0" rIns="0" bIns="0" rtlCol="0" anchor="ctr"/>
          <a:lstStyle/>
          <a:p>
            <a:pPr indent="0" marL="0">
              <a:buNone/>
            </a:pPr>
            <a:r>
              <a:rPr lang="en-US" sz="900" b="1" spc="200" kern="0" dirty="0">
                <a:solidFill>
                  <a:srgbClr val="0A7A44"/>
                </a:solidFill>
                <a:latin typeface="Arial" pitchFamily="34" charset="0"/>
                <a:ea typeface="Arial" pitchFamily="34" charset="-122"/>
                <a:cs typeface="Arial" pitchFamily="34" charset="-120"/>
              </a:rPr>
              <a:t>THE ANSWER</a:t>
            </a:r>
            <a:endParaRPr lang="en-US" sz="900" dirty="0"/>
          </a:p>
        </p:txBody>
      </p:sp>
      <p:sp>
        <p:nvSpPr>
          <p:cNvPr id="3" name="Text 1"/>
          <p:cNvSpPr txBox="1"/>
          <p:nvPr/>
        </p:nvSpPr>
        <p:spPr>
          <a:xfrm>
            <a:off x="6400800" y="201168"/>
            <a:ext cx="2286000" cy="228600"/>
          </a:xfrm>
          <a:prstGeom prst="rect">
            <a:avLst/>
          </a:prstGeom>
          <a:noFill/>
          <a:ln/>
        </p:spPr>
        <p:txBody>
          <a:bodyPr wrap="square" lIns="0" tIns="0" rIns="0" bIns="0" rtlCol="0" anchor="ctr"/>
          <a:lstStyle/>
          <a:p>
            <a:pPr algn="r" indent="0" marL="0">
              <a:buNone/>
            </a:pPr>
            <a:r>
              <a:rPr lang="en-US" sz="900" dirty="0">
                <a:solidFill>
                  <a:srgbClr val="7D8A82"/>
                </a:solidFill>
                <a:latin typeface="Arial" pitchFamily="34" charset="0"/>
                <a:ea typeface="Arial" pitchFamily="34" charset="-122"/>
                <a:cs typeface="Arial" pitchFamily="34" charset="-120"/>
              </a:rPr>
              <a:t>Slide 0.1</a:t>
            </a:r>
            <a:endParaRPr lang="en-US" sz="900" dirty="0"/>
          </a:p>
        </p:txBody>
      </p:sp>
      <p:sp>
        <p:nvSpPr>
          <p:cNvPr id="4" name="Text 2"/>
          <p:cNvSpPr txBox="1"/>
          <p:nvPr/>
        </p:nvSpPr>
        <p:spPr>
          <a:xfrm>
            <a:off x="457200" y="438912"/>
            <a:ext cx="8229600" cy="731520"/>
          </a:xfrm>
          <a:prstGeom prst="rect">
            <a:avLst/>
          </a:prstGeom>
          <a:noFill/>
          <a:ln/>
        </p:spPr>
        <p:txBody>
          <a:bodyPr wrap="square" lIns="0" tIns="0" rIns="0" bIns="0" rtlCol="0" anchor="t">
            <a:normAutofit/>
          </a:bodyPr>
          <a:lstStyle/>
          <a:p>
            <a:pPr indent="0" marL="0">
              <a:buNone/>
            </a:pPr>
            <a:r>
              <a:rPr lang="en-US" sz="2100" b="1" dirty="0">
                <a:solidFill>
                  <a:srgbClr val="1C2420"/>
                </a:solidFill>
                <a:latin typeface="Arial" pitchFamily="34" charset="0"/>
                <a:ea typeface="Arial" pitchFamily="34" charset="-122"/>
                <a:cs typeface="Arial" pitchFamily="34" charset="-120"/>
              </a:rPr>
              <a:t>The answer on one slide</a:t>
            </a:r>
            <a:endParaRPr lang="en-US" sz="2100" dirty="0"/>
          </a:p>
        </p:txBody>
      </p:sp>
      <p:sp>
        <p:nvSpPr>
          <p:cNvPr id="5" name="Text 3"/>
          <p:cNvSpPr txBox="1"/>
          <p:nvPr/>
        </p:nvSpPr>
        <p:spPr>
          <a:xfrm>
            <a:off x="457200" y="1152144"/>
            <a:ext cx="8229600" cy="475488"/>
          </a:xfrm>
          <a:prstGeom prst="rect">
            <a:avLst/>
          </a:prstGeom>
          <a:noFill/>
          <a:ln/>
        </p:spPr>
        <p:txBody>
          <a:bodyPr wrap="square" lIns="0" tIns="0" rIns="0" bIns="0" rtlCol="0" anchor="t">
            <a:normAutofit/>
          </a:bodyPr>
          <a:lstStyle/>
          <a:p>
            <a:pPr indent="0" marL="0">
              <a:buNone/>
            </a:pPr>
            <a:r>
              <a:rPr lang="en-US" sz="1100" dirty="0">
                <a:solidFill>
                  <a:srgbClr val="4C5A52"/>
                </a:solidFill>
                <a:latin typeface="Arial" pitchFamily="34" charset="0"/>
                <a:ea typeface="Arial" pitchFamily="34" charset="-122"/>
                <a:cs typeface="Arial" pitchFamily="34" charset="-120"/>
              </a:rPr>
              <a:t>What we found, what we recommend, and what we need from the room.</a:t>
            </a:r>
            <a:endParaRPr lang="en-US" sz="1100" dirty="0"/>
          </a:p>
        </p:txBody>
      </p:sp>
      <p:sp>
        <p:nvSpPr>
          <p:cNvPr id="7" name="Text 4"/>
          <p:cNvSpPr txBox="1"/>
          <p:nvPr/>
        </p:nvSpPr>
        <p:spPr>
          <a:xfrm>
            <a:off x="457200" y="1600200"/>
            <a:ext cx="8229600" cy="310896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200" dirty="0">
                <a:solidFill>
                  <a:srgbClr val="1C2420"/>
                </a:solidFill>
                <a:latin typeface="Arial" pitchFamily="34" charset="0"/>
                <a:ea typeface="Arial" pitchFamily="34" charset="-122"/>
                <a:cs typeface="Arial" pitchFamily="34" charset="-120"/>
              </a:rPr>
              <a:t>Store of the Future serves scripts faster. A five-item script that took fifteen minutes at the counter now takes about five, and the frontline wants to keep it that way.</a:t>
            </a:r>
            <a:endParaRPr lang="en-US" sz="1200" dirty="0"/>
          </a:p>
          <a:p>
            <a:pPr marL="342900" indent="-342900">
              <a:spcAft>
                <a:spcPts val="600"/>
              </a:spcAft>
              <a:buSzPct val="100000"/>
              <a:buChar char="•"/>
            </a:pPr>
            <a:r>
              <a:rPr lang="en-US" sz="1200" dirty="0">
                <a:solidFill>
                  <a:srgbClr val="1C2420"/>
                </a:solidFill>
                <a:latin typeface="Arial" pitchFamily="34" charset="0"/>
                <a:ea typeface="Arial" pitchFamily="34" charset="-122"/>
                <a:cs typeface="Arial" pitchFamily="34" charset="-120"/>
              </a:rPr>
              <a:t>Over-the-counter medicine went into the same process, and that is where the friction sits. A customer who came for one box takes a ticket, waits twice and walks three times for an item every other Dis-Chem hands over in under a minute. Irene's team changed it in the first weeks. Melrose's OTC turnover runs R50-100k a month below a lower-income comparator.</a:t>
            </a:r>
            <a:endParaRPr lang="en-US" sz="1200" dirty="0"/>
          </a:p>
          <a:p>
            <a:pPr marL="342900" indent="-342900">
              <a:spcAft>
                <a:spcPts val="600"/>
              </a:spcAft>
              <a:buSzPct val="100000"/>
              <a:buChar char="•"/>
            </a:pPr>
            <a:r>
              <a:rPr lang="en-US" sz="1200" dirty="0">
                <a:solidFill>
                  <a:srgbClr val="1C2420"/>
                </a:solidFill>
                <a:latin typeface="Arial" pitchFamily="34" charset="0"/>
                <a:ea typeface="Arial" pitchFamily="34" charset="-122"/>
                <a:cs typeface="Arial" pitchFamily="34" charset="-120"/>
              </a:rPr>
              <a:t>The fix is one rule at the counter: what is within the pharmacist's reach goes now; what is not gets a time. A shelf of the top OTC lines behind the pharmacist is the default threshold. Data widens it.</a:t>
            </a:r>
            <a:endParaRPr lang="en-US" sz="1200" dirty="0"/>
          </a:p>
          <a:p>
            <a:pPr marL="342900" indent="-342900">
              <a:spcAft>
                <a:spcPts val="600"/>
              </a:spcAft>
              <a:buSzPct val="100000"/>
              <a:buChar char="•"/>
            </a:pPr>
            <a:r>
              <a:rPr lang="en-US" sz="1200" dirty="0">
                <a:solidFill>
                  <a:srgbClr val="1C2420"/>
                </a:solidFill>
                <a:latin typeface="Arial" pitchFamily="34" charset="0"/>
                <a:ea typeface="Arial" pitchFamily="34" charset="-122"/>
                <a:cs typeface="Arial" pitchFamily="34" charset="-120"/>
              </a:rPr>
              <a:t>The rule holds in every store size and needs no new systems. Fifteen stores open before Christmas, the first in five weeks; they should open on it.</a:t>
            </a:r>
            <a:endParaRPr lang="en-US" sz="1200" dirty="0"/>
          </a:p>
          <a:p>
            <a:pPr marL="342900" indent="-342900">
              <a:spcAft>
                <a:spcPts val="600"/>
              </a:spcAft>
              <a:buSzPct val="100000"/>
              <a:buChar char="•"/>
            </a:pPr>
            <a:r>
              <a:rPr lang="en-US" sz="1200" dirty="0">
                <a:solidFill>
                  <a:srgbClr val="1C2420"/>
                </a:solidFill>
                <a:latin typeface="Arial" pitchFamily="34" charset="0"/>
                <a:ea typeface="Arial" pitchFamily="34" charset="-122"/>
                <a:cs typeface="Arial" pitchFamily="34" charset="-120"/>
              </a:rPr>
              <a:t>We ask the Steer Group to adopt the rule, approve three changes to the Q4 training, approve the data plan, and review in January with three months of data.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657600" cy="228600"/>
          </a:xfrm>
          <a:prstGeom prst="rect">
            <a:avLst/>
          </a:prstGeom>
          <a:noFill/>
          <a:ln/>
        </p:spPr>
        <p:txBody>
          <a:bodyPr wrap="square" lIns="0" tIns="0" rIns="0" bIns="0" rtlCol="0" anchor="ctr"/>
          <a:lstStyle/>
          <a:p>
            <a:pPr indent="0" marL="0">
              <a:buNone/>
            </a:pPr>
            <a:r>
              <a:rPr lang="en-US" sz="900" b="1" spc="200" kern="0" dirty="0">
                <a:solidFill>
                  <a:srgbClr val="0A7A44"/>
                </a:solidFill>
                <a:latin typeface="Arial" pitchFamily="34" charset="0"/>
                <a:ea typeface="Arial" pitchFamily="34" charset="-122"/>
                <a:cs typeface="Arial" pitchFamily="34" charset="-120"/>
              </a:rPr>
              <a:t>SECTION 1 · WHERE ARE WE NOW?</a:t>
            </a:r>
            <a:endParaRPr lang="en-US" sz="900" dirty="0"/>
          </a:p>
        </p:txBody>
      </p:sp>
      <p:sp>
        <p:nvSpPr>
          <p:cNvPr id="3" name="Text 1"/>
          <p:cNvSpPr txBox="1"/>
          <p:nvPr/>
        </p:nvSpPr>
        <p:spPr>
          <a:xfrm>
            <a:off x="6400800" y="201168"/>
            <a:ext cx="2286000" cy="228600"/>
          </a:xfrm>
          <a:prstGeom prst="rect">
            <a:avLst/>
          </a:prstGeom>
          <a:noFill/>
          <a:ln/>
        </p:spPr>
        <p:txBody>
          <a:bodyPr wrap="square" lIns="0" tIns="0" rIns="0" bIns="0" rtlCol="0" anchor="ctr"/>
          <a:lstStyle/>
          <a:p>
            <a:pPr algn="r" indent="0" marL="0">
              <a:buNone/>
            </a:pPr>
            <a:r>
              <a:rPr lang="en-US" sz="900" dirty="0">
                <a:solidFill>
                  <a:srgbClr val="7D8A82"/>
                </a:solidFill>
                <a:latin typeface="Arial" pitchFamily="34" charset="0"/>
                <a:ea typeface="Arial" pitchFamily="34" charset="-122"/>
                <a:cs typeface="Arial" pitchFamily="34" charset="-120"/>
              </a:rPr>
              <a:t>Slide 1.1</a:t>
            </a:r>
            <a:endParaRPr lang="en-US" sz="900" dirty="0"/>
          </a:p>
        </p:txBody>
      </p:sp>
      <p:sp>
        <p:nvSpPr>
          <p:cNvPr id="4" name="Text 2"/>
          <p:cNvSpPr txBox="1"/>
          <p:nvPr/>
        </p:nvSpPr>
        <p:spPr>
          <a:xfrm>
            <a:off x="457200" y="438912"/>
            <a:ext cx="8229600" cy="731520"/>
          </a:xfrm>
          <a:prstGeom prst="rect">
            <a:avLst/>
          </a:prstGeom>
          <a:noFill/>
          <a:ln/>
        </p:spPr>
        <p:txBody>
          <a:bodyPr wrap="square" lIns="0" tIns="0" rIns="0" bIns="0" rtlCol="0" anchor="t">
            <a:normAutofit/>
          </a:bodyPr>
          <a:lstStyle/>
          <a:p>
            <a:pPr indent="0" marL="0">
              <a:buNone/>
            </a:pPr>
            <a:r>
              <a:rPr lang="en-US" sz="2100" b="1" dirty="0">
                <a:solidFill>
                  <a:srgbClr val="1C2420"/>
                </a:solidFill>
                <a:latin typeface="Arial" pitchFamily="34" charset="0"/>
                <a:ea typeface="Arial" pitchFamily="34" charset="-122"/>
                <a:cs typeface="Arial" pitchFamily="34" charset="-120"/>
              </a:rPr>
              <a:t>Three changes to the pharmacy, and the problem each one solved</a:t>
            </a:r>
            <a:endParaRPr lang="en-US" sz="2100" dirty="0"/>
          </a:p>
        </p:txBody>
      </p:sp>
      <p:sp>
        <p:nvSpPr>
          <p:cNvPr id="5" name="Text 3"/>
          <p:cNvSpPr txBox="1"/>
          <p:nvPr/>
        </p:nvSpPr>
        <p:spPr>
          <a:xfrm>
            <a:off x="457200" y="1152144"/>
            <a:ext cx="8229600" cy="475488"/>
          </a:xfrm>
          <a:prstGeom prst="rect">
            <a:avLst/>
          </a:prstGeom>
          <a:noFill/>
          <a:ln/>
        </p:spPr>
        <p:txBody>
          <a:bodyPr wrap="square" lIns="0" tIns="0" rIns="0" bIns="0" rtlCol="0" anchor="t">
            <a:normAutofit/>
          </a:bodyPr>
          <a:lstStyle/>
          <a:p>
            <a:pPr indent="0" marL="0">
              <a:buNone/>
            </a:pPr>
            <a:r>
              <a:rPr lang="en-US" sz="1100" dirty="0">
                <a:solidFill>
                  <a:srgbClr val="4C5A52"/>
                </a:solidFill>
                <a:latin typeface="Arial" pitchFamily="34" charset="0"/>
                <a:ea typeface="Arial" pitchFamily="34" charset="-122"/>
                <a:cs typeface="Arial" pitchFamily="34" charset="-120"/>
              </a:rPr>
              <a:t>Store of the Future changed three things about how a customer gets medicine. Each was made on purpose, and the reasons behind them still hold.</a:t>
            </a:r>
            <a:endParaRPr lang="en-US" sz="1100" dirty="0"/>
          </a:p>
        </p:txBody>
      </p:sp>
      <p:sp>
        <p:nvSpPr>
          <p:cNvPr id="7" name="Shape 4"/>
          <p:cNvSpPr/>
          <p:nvPr/>
        </p:nvSpPr>
        <p:spPr>
          <a:xfrm>
            <a:off x="457200" y="1691640"/>
            <a:ext cx="2651760" cy="2606040"/>
          </a:xfrm>
          <a:prstGeom prst="rect">
            <a:avLst/>
          </a:prstGeom>
          <a:solidFill>
            <a:srgbClr val="F7F6F2"/>
          </a:solidFill>
          <a:ln w="9525">
            <a:solidFill>
              <a:srgbClr val="DCDFD8"/>
            </a:solidFill>
            <a:prstDash val="solid"/>
          </a:ln>
        </p:spPr>
      </p:sp>
      <p:sp>
        <p:nvSpPr>
          <p:cNvPr id="8" name="Text 5"/>
          <p:cNvSpPr txBox="1"/>
          <p:nvPr/>
        </p:nvSpPr>
        <p:spPr>
          <a:xfrm>
            <a:off x="594360" y="1801368"/>
            <a:ext cx="237744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CHANGE 1</a:t>
            </a:r>
            <a:endParaRPr lang="en-US" sz="800" dirty="0"/>
          </a:p>
        </p:txBody>
      </p:sp>
      <p:sp>
        <p:nvSpPr>
          <p:cNvPr id="9" name="Text 6"/>
          <p:cNvSpPr txBox="1"/>
          <p:nvPr/>
        </p:nvSpPr>
        <p:spPr>
          <a:xfrm>
            <a:off x="594360" y="2020824"/>
            <a:ext cx="2377440" cy="310896"/>
          </a:xfrm>
          <a:prstGeom prst="rect">
            <a:avLst/>
          </a:prstGeom>
          <a:noFill/>
          <a:ln/>
        </p:spPr>
        <p:txBody>
          <a:bodyPr wrap="square" lIns="0" tIns="0" rIns="0" bIns="0" rtlCol="0" anchor="t">
            <a:normAutofit/>
          </a:bodyPr>
          <a:lstStyle/>
          <a:p>
            <a:pPr indent="0" marL="0">
              <a:buNone/>
            </a:pPr>
            <a:r>
              <a:rPr lang="en-US" sz="1050" b="1" dirty="0">
                <a:solidFill>
                  <a:srgbClr val="1C2420"/>
                </a:solidFill>
                <a:latin typeface="Arial" pitchFamily="34" charset="0"/>
                <a:ea typeface="Arial" pitchFamily="34" charset="-122"/>
                <a:cs typeface="Arial" pitchFamily="34" charset="-120"/>
              </a:rPr>
              <a:t>Decoupled counters</a:t>
            </a:r>
            <a:endParaRPr lang="en-US" sz="1050" dirty="0"/>
          </a:p>
        </p:txBody>
      </p:sp>
      <p:sp>
        <p:nvSpPr>
          <p:cNvPr id="10" name="Text 7"/>
          <p:cNvSpPr txBox="1"/>
          <p:nvPr/>
        </p:nvSpPr>
        <p:spPr>
          <a:xfrm>
            <a:off x="594360" y="2350008"/>
            <a:ext cx="2377440" cy="1837944"/>
          </a:xfrm>
          <a:prstGeom prst="rect">
            <a:avLst/>
          </a:prstGeom>
          <a:noFill/>
          <a:ln/>
        </p:spPr>
        <p:txBody>
          <a:bodyPr wrap="square" lIns="0" tIns="0" rIns="0" bIns="0" rtlCol="0" anchor="t">
            <a:normAutofit/>
          </a:bodyPr>
          <a:lstStyle/>
          <a:p>
            <a:pPr indent="0" marL="0">
              <a:spcAft>
                <a:spcPts val="400"/>
              </a:spcAft>
              <a:buNone/>
            </a:pPr>
            <a:r>
              <a:rPr lang="en-US" sz="850" dirty="0">
                <a:solidFill>
                  <a:srgbClr val="4C5A52"/>
                </a:solidFill>
                <a:latin typeface="Arial" pitchFamily="34" charset="0"/>
                <a:ea typeface="Arial" pitchFamily="34" charset="-122"/>
                <a:cs typeface="Arial" pitchFamily="34" charset="-120"/>
              </a:rPr>
              <a:t>The customer hands in at one counter and collects at another, with the picking done out of sight in between.</a:t>
            </a:r>
            <a:endParaRPr lang="en-US" sz="850" dirty="0"/>
          </a:p>
          <a:p>
            <a:pPr indent="0" marL="0">
              <a:spcAft>
                <a:spcPts val="400"/>
              </a:spcAft>
              <a:buNone/>
            </a:pPr>
            <a:endParaRPr lang="en-US" sz="850" dirty="0"/>
          </a:p>
          <a:p>
            <a:pPr indent="0" marL="0">
              <a:spcAft>
                <a:spcPts val="400"/>
              </a:spcAft>
              <a:buNone/>
            </a:pPr>
            <a:r>
              <a:rPr lang="en-US" sz="850" dirty="0">
                <a:solidFill>
                  <a:srgbClr val="4C5A52"/>
                </a:solidFill>
                <a:latin typeface="Arial" pitchFamily="34" charset="0"/>
                <a:ea typeface="Arial" pitchFamily="34" charset="-122"/>
                <a:cs typeface="Arial" pitchFamily="34" charset="-120"/>
              </a:rPr>
              <a:t>In a legacy store the pharmacist takes the script, turns round, and hunts stock for up to five minutes while the customer stands at the counter. Decoupling keeps the pharmacist facing the customer and turns the picking into a production line, so a long script no longer holds up the counter and a customer with time to wait can roam the store instead of standing in a queue.</a:t>
            </a:r>
            <a:endParaRPr lang="en-US" sz="850" dirty="0"/>
          </a:p>
        </p:txBody>
      </p:sp>
      <p:sp>
        <p:nvSpPr>
          <p:cNvPr id="11" name="Shape 8"/>
          <p:cNvSpPr/>
          <p:nvPr/>
        </p:nvSpPr>
        <p:spPr>
          <a:xfrm>
            <a:off x="3246120" y="1691640"/>
            <a:ext cx="2651760" cy="2606040"/>
          </a:xfrm>
          <a:prstGeom prst="rect">
            <a:avLst/>
          </a:prstGeom>
          <a:solidFill>
            <a:srgbClr val="F7F6F2"/>
          </a:solidFill>
          <a:ln w="9525">
            <a:solidFill>
              <a:srgbClr val="DCDFD8"/>
            </a:solidFill>
            <a:prstDash val="solid"/>
          </a:ln>
        </p:spPr>
      </p:sp>
      <p:sp>
        <p:nvSpPr>
          <p:cNvPr id="12" name="Text 9"/>
          <p:cNvSpPr txBox="1"/>
          <p:nvPr/>
        </p:nvSpPr>
        <p:spPr>
          <a:xfrm>
            <a:off x="3383280" y="1801368"/>
            <a:ext cx="237744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CHANGE 2</a:t>
            </a:r>
            <a:endParaRPr lang="en-US" sz="800" dirty="0"/>
          </a:p>
        </p:txBody>
      </p:sp>
      <p:sp>
        <p:nvSpPr>
          <p:cNvPr id="13" name="Text 10"/>
          <p:cNvSpPr txBox="1"/>
          <p:nvPr/>
        </p:nvSpPr>
        <p:spPr>
          <a:xfrm>
            <a:off x="3383280" y="2020824"/>
            <a:ext cx="2377440" cy="310896"/>
          </a:xfrm>
          <a:prstGeom prst="rect">
            <a:avLst/>
          </a:prstGeom>
          <a:noFill/>
          <a:ln/>
        </p:spPr>
        <p:txBody>
          <a:bodyPr wrap="square" lIns="0" tIns="0" rIns="0" bIns="0" rtlCol="0" anchor="t">
            <a:normAutofit/>
          </a:bodyPr>
          <a:lstStyle/>
          <a:p>
            <a:pPr indent="0" marL="0">
              <a:buNone/>
            </a:pPr>
            <a:r>
              <a:rPr lang="en-US" sz="1050" b="1" dirty="0">
                <a:solidFill>
                  <a:srgbClr val="1C2420"/>
                </a:solidFill>
                <a:latin typeface="Arial" pitchFamily="34" charset="0"/>
                <a:ea typeface="Arial" pitchFamily="34" charset="-122"/>
                <a:cs typeface="Arial" pitchFamily="34" charset="-120"/>
              </a:rPr>
              <a:t>One queue for everything</a:t>
            </a:r>
            <a:endParaRPr lang="en-US" sz="1050" dirty="0"/>
          </a:p>
        </p:txBody>
      </p:sp>
      <p:sp>
        <p:nvSpPr>
          <p:cNvPr id="14" name="Text 11"/>
          <p:cNvSpPr txBox="1"/>
          <p:nvPr/>
        </p:nvSpPr>
        <p:spPr>
          <a:xfrm>
            <a:off x="3383280" y="2350008"/>
            <a:ext cx="2377440" cy="1837944"/>
          </a:xfrm>
          <a:prstGeom prst="rect">
            <a:avLst/>
          </a:prstGeom>
          <a:noFill/>
          <a:ln/>
        </p:spPr>
        <p:txBody>
          <a:bodyPr wrap="square" lIns="0" tIns="0" rIns="0" bIns="0" rtlCol="0" anchor="t">
            <a:normAutofit/>
          </a:bodyPr>
          <a:lstStyle/>
          <a:p>
            <a:pPr indent="0" marL="0">
              <a:spcAft>
                <a:spcPts val="400"/>
              </a:spcAft>
              <a:buNone/>
            </a:pPr>
            <a:r>
              <a:rPr lang="en-US" sz="800" dirty="0">
                <a:solidFill>
                  <a:srgbClr val="4C5A52"/>
                </a:solidFill>
                <a:latin typeface="Arial" pitchFamily="34" charset="0"/>
                <a:ea typeface="Arial" pitchFamily="34" charset="-122"/>
                <a:cs typeface="Arial" pitchFamily="34" charset="-120"/>
              </a:rPr>
              <a:t>Scripts and over-the-counter medicine (OTC: the pain, cold, allergy and stomach lines a pharmacist can sell without a prescription) go through the same ticket, the same counter and the same pick-and-pack.</a:t>
            </a:r>
            <a:endParaRPr lang="en-US" sz="800" dirty="0"/>
          </a:p>
          <a:p>
            <a:pPr indent="0" marL="0">
              <a:spcAft>
                <a:spcPts val="400"/>
              </a:spcAft>
              <a:buNone/>
            </a:pPr>
            <a:endParaRPr lang="en-US" sz="800" dirty="0"/>
          </a:p>
          <a:p>
            <a:pPr indent="0" marL="0">
              <a:spcAft>
                <a:spcPts val="400"/>
              </a:spcAft>
              <a:buNone/>
            </a:pPr>
            <a:r>
              <a:rPr lang="en-US" sz="800" dirty="0">
                <a:solidFill>
                  <a:srgbClr val="4C5A52"/>
                </a:solidFill>
                <a:latin typeface="Arial" pitchFamily="34" charset="0"/>
                <a:ea typeface="Arial" pitchFamily="34" charset="-122"/>
                <a:cs typeface="Arial" pitchFamily="34" charset="-120"/>
              </a:rPr>
              <a:t>One process means less counter space given to the pharmacy, one set of staff to train, and no second counter to run. It also changes how customers think. With one counter for everything, they stop treating scripts and OTC as two separate errands and stop forgetting to ask for the OTC item at the dispensing counter. Every visit becomes one combined script-and-OTC conversation, and one combined sale.</a:t>
            </a:r>
            <a:endParaRPr lang="en-US" sz="800" dirty="0"/>
          </a:p>
        </p:txBody>
      </p:sp>
      <p:sp>
        <p:nvSpPr>
          <p:cNvPr id="15" name="Shape 12"/>
          <p:cNvSpPr/>
          <p:nvPr/>
        </p:nvSpPr>
        <p:spPr>
          <a:xfrm>
            <a:off x="6035040" y="1691640"/>
            <a:ext cx="2651760" cy="2606040"/>
          </a:xfrm>
          <a:prstGeom prst="rect">
            <a:avLst/>
          </a:prstGeom>
          <a:solidFill>
            <a:srgbClr val="F7F6F2"/>
          </a:solidFill>
          <a:ln w="9525">
            <a:solidFill>
              <a:srgbClr val="DCDFD8"/>
            </a:solidFill>
            <a:prstDash val="solid"/>
          </a:ln>
        </p:spPr>
      </p:sp>
      <p:sp>
        <p:nvSpPr>
          <p:cNvPr id="16" name="Text 13"/>
          <p:cNvSpPr txBox="1"/>
          <p:nvPr/>
        </p:nvSpPr>
        <p:spPr>
          <a:xfrm>
            <a:off x="6172200" y="1801368"/>
            <a:ext cx="237744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CHANGE 3</a:t>
            </a:r>
            <a:endParaRPr lang="en-US" sz="800" dirty="0"/>
          </a:p>
        </p:txBody>
      </p:sp>
      <p:sp>
        <p:nvSpPr>
          <p:cNvPr id="17" name="Text 14"/>
          <p:cNvSpPr txBox="1"/>
          <p:nvPr/>
        </p:nvSpPr>
        <p:spPr>
          <a:xfrm>
            <a:off x="6172200" y="2020824"/>
            <a:ext cx="2377440" cy="310896"/>
          </a:xfrm>
          <a:prstGeom prst="rect">
            <a:avLst/>
          </a:prstGeom>
          <a:noFill/>
          <a:ln/>
        </p:spPr>
        <p:txBody>
          <a:bodyPr wrap="square" lIns="0" tIns="0" rIns="0" bIns="0" rtlCol="0" anchor="t">
            <a:normAutofit/>
          </a:bodyPr>
          <a:lstStyle/>
          <a:p>
            <a:pPr indent="0" marL="0">
              <a:buNone/>
            </a:pPr>
            <a:r>
              <a:rPr lang="en-US" sz="1050" b="1" dirty="0">
                <a:solidFill>
                  <a:srgbClr val="1C2420"/>
                </a:solidFill>
                <a:latin typeface="Arial" pitchFamily="34" charset="0"/>
                <a:ea typeface="Arial" pitchFamily="34" charset="-122"/>
                <a:cs typeface="Arial" pitchFamily="34" charset="-120"/>
              </a:rPr>
              <a:t>No visible stock</a:t>
            </a:r>
            <a:endParaRPr lang="en-US" sz="1050" dirty="0"/>
          </a:p>
        </p:txBody>
      </p:sp>
      <p:sp>
        <p:nvSpPr>
          <p:cNvPr id="18" name="Text 15"/>
          <p:cNvSpPr txBox="1"/>
          <p:nvPr/>
        </p:nvSpPr>
        <p:spPr>
          <a:xfrm>
            <a:off x="6172200" y="2350008"/>
            <a:ext cx="2377440" cy="1837944"/>
          </a:xfrm>
          <a:prstGeom prst="rect">
            <a:avLst/>
          </a:prstGeom>
          <a:noFill/>
          <a:ln/>
        </p:spPr>
        <p:txBody>
          <a:bodyPr wrap="square" lIns="0" tIns="0" rIns="0" bIns="0" rtlCol="0" anchor="t">
            <a:normAutofit/>
          </a:bodyPr>
          <a:lstStyle/>
          <a:p>
            <a:pPr indent="0" marL="0">
              <a:spcAft>
                <a:spcPts val="400"/>
              </a:spcAft>
              <a:buNone/>
            </a:pPr>
            <a:r>
              <a:rPr lang="en-US" sz="800" dirty="0">
                <a:solidFill>
                  <a:srgbClr val="4C5A52"/>
                </a:solidFill>
                <a:latin typeface="Arial" pitchFamily="34" charset="0"/>
                <a:ea typeface="Arial" pitchFamily="34" charset="-122"/>
                <a:cs typeface="Arial" pitchFamily="34" charset="-120"/>
              </a:rPr>
              <a:t>Every medicine sits behind the wall. Nothing is on a shelf the customer can see or the pharmacist can reach.</a:t>
            </a:r>
            <a:endParaRPr lang="en-US" sz="800" dirty="0"/>
          </a:p>
          <a:p>
            <a:pPr indent="0" marL="0">
              <a:spcAft>
                <a:spcPts val="400"/>
              </a:spcAft>
              <a:buNone/>
            </a:pPr>
            <a:endParaRPr lang="en-US" sz="800" dirty="0"/>
          </a:p>
          <a:p>
            <a:pPr indent="0" marL="0">
              <a:spcAft>
                <a:spcPts val="400"/>
              </a:spcAft>
              <a:buNone/>
            </a:pPr>
            <a:r>
              <a:rPr lang="en-US" sz="800" dirty="0">
                <a:solidFill>
                  <a:srgbClr val="4C5A52"/>
                </a:solidFill>
                <a:latin typeface="Arial" pitchFamily="34" charset="0"/>
                <a:ea typeface="Arial" pitchFamily="34" charset="-122"/>
                <a:cs typeface="Arial" pitchFamily="34" charset="-120"/>
              </a:rPr>
              <a:t>This protects the decoupling: if stock is within reach, the pharmacist will turn round and fetch it, and the customer, seeing it there, will ask why they must wait for a picker when the pharmacist could just turn round. Moving the stock out of reach removes both the temptation and the complaint. It also retired the legacy OTC wall, which was untidy, carried slow stock for years, and let the queue see what the person in front was buying.</a:t>
            </a:r>
            <a:endParaRPr lang="en-US" sz="800" dirty="0"/>
          </a:p>
        </p:txBody>
      </p:sp>
      <p:sp>
        <p:nvSpPr>
          <p:cNvPr id="19" name="Shape 16"/>
          <p:cNvSpPr/>
          <p:nvPr/>
        </p:nvSpPr>
        <p:spPr>
          <a:xfrm>
            <a:off x="457200" y="4370832"/>
            <a:ext cx="8229600" cy="548640"/>
          </a:xfrm>
          <a:prstGeom prst="rect">
            <a:avLst/>
          </a:prstGeom>
          <a:solidFill>
            <a:srgbClr val="FAF3D9"/>
          </a:solidFill>
          <a:ln w="12700">
            <a:solidFill>
              <a:srgbClr val="FAF3D9"/>
            </a:solidFill>
            <a:prstDash val="solid"/>
          </a:ln>
        </p:spPr>
      </p:sp>
      <p:sp>
        <p:nvSpPr>
          <p:cNvPr id="20" name="Text 17"/>
          <p:cNvSpPr txBox="1"/>
          <p:nvPr/>
        </p:nvSpPr>
        <p:spPr>
          <a:xfrm>
            <a:off x="621792" y="4443984"/>
            <a:ext cx="7900416" cy="402336"/>
          </a:xfrm>
          <a:prstGeom prst="rect">
            <a:avLst/>
          </a:prstGeom>
          <a:noFill/>
          <a:ln/>
        </p:spPr>
        <p:txBody>
          <a:bodyPr wrap="square" lIns="0" tIns="0" rIns="0" bIns="0" rtlCol="0" anchor="ctr">
            <a:normAutofit/>
          </a:bodyPr>
          <a:lstStyle/>
          <a:p>
            <a:pPr indent="0" marL="0">
              <a:buNone/>
            </a:pPr>
            <a:r>
              <a:rPr lang="en-US" sz="950" dirty="0">
                <a:solidFill>
                  <a:srgbClr val="1C2420"/>
                </a:solidFill>
                <a:latin typeface="Arial" pitchFamily="34" charset="0"/>
                <a:ea typeface="Arial" pitchFamily="34" charset="-122"/>
                <a:cs typeface="Arial" pitchFamily="34" charset="-120"/>
              </a:rPr>
              <a:t>These three came from the programme's own design principles for the dispenser, agreed before Melrose Arch opened: never turn your back on the customer, fulfil like a production line, keep the counter for care. This pack scores every option against them.</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657600" cy="228600"/>
          </a:xfrm>
          <a:prstGeom prst="rect">
            <a:avLst/>
          </a:prstGeom>
          <a:noFill/>
          <a:ln/>
        </p:spPr>
        <p:txBody>
          <a:bodyPr wrap="square" lIns="0" tIns="0" rIns="0" bIns="0" rtlCol="0" anchor="ctr"/>
          <a:lstStyle/>
          <a:p>
            <a:pPr indent="0" marL="0">
              <a:buNone/>
            </a:pPr>
            <a:r>
              <a:rPr lang="en-US" sz="900" b="1" spc="200" kern="0" dirty="0">
                <a:solidFill>
                  <a:srgbClr val="0A7A44"/>
                </a:solidFill>
                <a:latin typeface="Arial" pitchFamily="34" charset="0"/>
                <a:ea typeface="Arial" pitchFamily="34" charset="-122"/>
                <a:cs typeface="Arial" pitchFamily="34" charset="-120"/>
              </a:rPr>
              <a:t>SECTION 1 · WHERE ARE WE NOW?</a:t>
            </a:r>
            <a:endParaRPr lang="en-US" sz="900" dirty="0"/>
          </a:p>
        </p:txBody>
      </p:sp>
      <p:sp>
        <p:nvSpPr>
          <p:cNvPr id="3" name="Text 1"/>
          <p:cNvSpPr txBox="1"/>
          <p:nvPr/>
        </p:nvSpPr>
        <p:spPr>
          <a:xfrm>
            <a:off x="6400800" y="201168"/>
            <a:ext cx="2286000" cy="228600"/>
          </a:xfrm>
          <a:prstGeom prst="rect">
            <a:avLst/>
          </a:prstGeom>
          <a:noFill/>
          <a:ln/>
        </p:spPr>
        <p:txBody>
          <a:bodyPr wrap="square" lIns="0" tIns="0" rIns="0" bIns="0" rtlCol="0" anchor="ctr"/>
          <a:lstStyle/>
          <a:p>
            <a:pPr algn="r" indent="0" marL="0">
              <a:buNone/>
            </a:pPr>
            <a:r>
              <a:rPr lang="en-US" sz="900" dirty="0">
                <a:solidFill>
                  <a:srgbClr val="7D8A82"/>
                </a:solidFill>
                <a:latin typeface="Arial" pitchFamily="34" charset="0"/>
                <a:ea typeface="Arial" pitchFamily="34" charset="-122"/>
                <a:cs typeface="Arial" pitchFamily="34" charset="-120"/>
              </a:rPr>
              <a:t>Slide 1.2</a:t>
            </a:r>
            <a:endParaRPr lang="en-US" sz="900" dirty="0"/>
          </a:p>
        </p:txBody>
      </p:sp>
      <p:sp>
        <p:nvSpPr>
          <p:cNvPr id="4" name="Text 2"/>
          <p:cNvSpPr txBox="1"/>
          <p:nvPr/>
        </p:nvSpPr>
        <p:spPr>
          <a:xfrm>
            <a:off x="457200" y="438912"/>
            <a:ext cx="8229600" cy="731520"/>
          </a:xfrm>
          <a:prstGeom prst="rect">
            <a:avLst/>
          </a:prstGeom>
          <a:noFill/>
          <a:ln/>
        </p:spPr>
        <p:txBody>
          <a:bodyPr wrap="square" lIns="0" tIns="0" rIns="0" bIns="0" rtlCol="0" anchor="t">
            <a:normAutofit/>
          </a:bodyPr>
          <a:lstStyle/>
          <a:p>
            <a:pPr indent="0" marL="0">
              <a:buNone/>
            </a:pPr>
            <a:r>
              <a:rPr lang="en-US" sz="2100" b="1" dirty="0">
                <a:solidFill>
                  <a:srgbClr val="1C2420"/>
                </a:solidFill>
                <a:latin typeface="Arial" pitchFamily="34" charset="0"/>
                <a:ea typeface="Arial" pitchFamily="34" charset="-122"/>
                <a:cs typeface="Arial" pitchFamily="34" charset="-120"/>
              </a:rPr>
              <a:t>Two stores are live. They run the pharmacy two different ways</a:t>
            </a:r>
            <a:endParaRPr lang="en-US" sz="2100" dirty="0"/>
          </a:p>
        </p:txBody>
      </p:sp>
      <p:sp>
        <p:nvSpPr>
          <p:cNvPr id="5" name="Text 3"/>
          <p:cNvSpPr txBox="1"/>
          <p:nvPr/>
        </p:nvSpPr>
        <p:spPr>
          <a:xfrm>
            <a:off x="457200" y="1152144"/>
            <a:ext cx="8229600" cy="475488"/>
          </a:xfrm>
          <a:prstGeom prst="rect">
            <a:avLst/>
          </a:prstGeom>
          <a:noFill/>
          <a:ln/>
        </p:spPr>
        <p:txBody>
          <a:bodyPr wrap="square" lIns="0" tIns="0" rIns="0" bIns="0" rtlCol="0" anchor="t">
            <a:normAutofit/>
          </a:bodyPr>
          <a:lstStyle/>
          <a:p>
            <a:pPr indent="0" marL="0">
              <a:buNone/>
            </a:pPr>
            <a:r>
              <a:rPr lang="en-US" sz="1100" dirty="0">
                <a:solidFill>
                  <a:srgbClr val="4C5A52"/>
                </a:solidFill>
                <a:latin typeface="Arial" pitchFamily="34" charset="0"/>
                <a:ea typeface="Arial" pitchFamily="34" charset="-122"/>
                <a:cs typeface="Arial" pitchFamily="34" charset="-120"/>
              </a:rPr>
              <a:t>Melrose Arch runs the pharmacy as it was trained. Irene runs the same process for scripts and a faster path for OTC that its own team built in the first weeks. Both are worth understanding before we change anything.</a:t>
            </a:r>
            <a:endParaRPr lang="en-US" sz="1100" dirty="0"/>
          </a:p>
        </p:txBody>
      </p:sp>
      <p:sp>
        <p:nvSpPr>
          <p:cNvPr id="7" name="Text 4"/>
          <p:cNvSpPr txBox="1"/>
          <p:nvPr/>
        </p:nvSpPr>
        <p:spPr>
          <a:xfrm>
            <a:off x="457200" y="1691640"/>
            <a:ext cx="402336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MELROSE ARCH · OPENED 7 MAY 2026 · THE PROCESS AS TRAINED</a:t>
            </a:r>
            <a:endParaRPr lang="en-US" sz="800" dirty="0"/>
          </a:p>
        </p:txBody>
      </p:sp>
      <p:sp>
        <p:nvSpPr>
          <p:cNvPr id="8" name="Shape 5"/>
          <p:cNvSpPr/>
          <p:nvPr/>
        </p:nvSpPr>
        <p:spPr>
          <a:xfrm>
            <a:off x="457200" y="1938528"/>
            <a:ext cx="237744" cy="237744"/>
          </a:xfrm>
          <a:prstGeom prst="ellipse">
            <a:avLst/>
          </a:prstGeom>
          <a:solidFill>
            <a:srgbClr val="0A7A44"/>
          </a:solidFill>
          <a:ln w="12700">
            <a:solidFill>
              <a:srgbClr val="0A7A44"/>
            </a:solidFill>
            <a:prstDash val="solid"/>
          </a:ln>
        </p:spPr>
      </p:sp>
      <p:sp>
        <p:nvSpPr>
          <p:cNvPr id="9" name="Text 6"/>
          <p:cNvSpPr txBox="1"/>
          <p:nvPr/>
        </p:nvSpPr>
        <p:spPr>
          <a:xfrm>
            <a:off x="457200" y="193852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0" name="Text 7"/>
          <p:cNvSpPr txBox="1"/>
          <p:nvPr/>
        </p:nvSpPr>
        <p:spPr>
          <a:xfrm>
            <a:off x="786384" y="1920240"/>
            <a:ext cx="3694176" cy="393192"/>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Ticket at the Health Hub, digital or printed.</a:t>
            </a:r>
            <a:endParaRPr lang="en-US" sz="900" dirty="0"/>
          </a:p>
        </p:txBody>
      </p:sp>
      <p:sp>
        <p:nvSpPr>
          <p:cNvPr id="11" name="Shape 8"/>
          <p:cNvSpPr/>
          <p:nvPr/>
        </p:nvSpPr>
        <p:spPr>
          <a:xfrm>
            <a:off x="457200" y="2368296"/>
            <a:ext cx="237744" cy="237744"/>
          </a:xfrm>
          <a:prstGeom prst="ellipse">
            <a:avLst/>
          </a:prstGeom>
          <a:solidFill>
            <a:srgbClr val="0A7A44"/>
          </a:solidFill>
          <a:ln w="12700">
            <a:solidFill>
              <a:srgbClr val="0A7A44"/>
            </a:solidFill>
            <a:prstDash val="solid"/>
          </a:ln>
        </p:spPr>
      </p:sp>
      <p:sp>
        <p:nvSpPr>
          <p:cNvPr id="12" name="Text 9"/>
          <p:cNvSpPr txBox="1"/>
          <p:nvPr/>
        </p:nvSpPr>
        <p:spPr>
          <a:xfrm>
            <a:off x="457200" y="236829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3" name="Text 10"/>
          <p:cNvSpPr txBox="1"/>
          <p:nvPr/>
        </p:nvSpPr>
        <p:spPr>
          <a:xfrm>
            <a:off x="786384" y="2350008"/>
            <a:ext cx="3694176" cy="393192"/>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Roam until called to the drop-off counter. The dispenser takes the script or the OTC request, captures it, and upsells there.</a:t>
            </a:r>
            <a:endParaRPr lang="en-US" sz="900" dirty="0"/>
          </a:p>
        </p:txBody>
      </p:sp>
      <p:sp>
        <p:nvSpPr>
          <p:cNvPr id="14" name="Shape 11"/>
          <p:cNvSpPr/>
          <p:nvPr/>
        </p:nvSpPr>
        <p:spPr>
          <a:xfrm>
            <a:off x="457200" y="2798064"/>
            <a:ext cx="237744" cy="237744"/>
          </a:xfrm>
          <a:prstGeom prst="ellipse">
            <a:avLst/>
          </a:prstGeom>
          <a:solidFill>
            <a:srgbClr val="0A7A44"/>
          </a:solidFill>
          <a:ln w="12700">
            <a:solidFill>
              <a:srgbClr val="0A7A44"/>
            </a:solidFill>
            <a:prstDash val="solid"/>
          </a:ln>
        </p:spPr>
      </p:sp>
      <p:sp>
        <p:nvSpPr>
          <p:cNvPr id="15" name="Text 12"/>
          <p:cNvSpPr txBox="1"/>
          <p:nvPr/>
        </p:nvSpPr>
        <p:spPr>
          <a:xfrm>
            <a:off x="457200" y="279806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16" name="Text 13"/>
          <p:cNvSpPr txBox="1"/>
          <p:nvPr/>
        </p:nvSpPr>
        <p:spPr>
          <a:xfrm>
            <a:off x="786384" y="2779776"/>
            <a:ext cx="3694176" cy="393192"/>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Roam again while the order goes through pick-and-pack. The dashboard prioritises the work.</a:t>
            </a:r>
            <a:endParaRPr lang="en-US" sz="900" dirty="0"/>
          </a:p>
        </p:txBody>
      </p:sp>
      <p:sp>
        <p:nvSpPr>
          <p:cNvPr id="17" name="Shape 14"/>
          <p:cNvSpPr/>
          <p:nvPr/>
        </p:nvSpPr>
        <p:spPr>
          <a:xfrm>
            <a:off x="457200" y="3227832"/>
            <a:ext cx="237744" cy="237744"/>
          </a:xfrm>
          <a:prstGeom prst="ellipse">
            <a:avLst/>
          </a:prstGeom>
          <a:solidFill>
            <a:srgbClr val="0A7A44"/>
          </a:solidFill>
          <a:ln w="12700">
            <a:solidFill>
              <a:srgbClr val="0A7A44"/>
            </a:solidFill>
            <a:prstDash val="solid"/>
          </a:ln>
        </p:spPr>
      </p:sp>
      <p:sp>
        <p:nvSpPr>
          <p:cNvPr id="18" name="Text 15"/>
          <p:cNvSpPr txBox="1"/>
          <p:nvPr/>
        </p:nvSpPr>
        <p:spPr>
          <a:xfrm>
            <a:off x="457200" y="322783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19" name="Text 16"/>
          <p:cNvSpPr txBox="1"/>
          <p:nvPr/>
        </p:nvSpPr>
        <p:spPr>
          <a:xfrm>
            <a:off x="786384" y="3209544"/>
            <a:ext cx="3694176" cy="393192"/>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Called to the collections counter. Sign, take the bag.</a:t>
            </a:r>
            <a:endParaRPr lang="en-US" sz="900" dirty="0"/>
          </a:p>
        </p:txBody>
      </p:sp>
      <p:sp>
        <p:nvSpPr>
          <p:cNvPr id="20" name="Shape 17"/>
          <p:cNvSpPr/>
          <p:nvPr/>
        </p:nvSpPr>
        <p:spPr>
          <a:xfrm>
            <a:off x="457200" y="3657600"/>
            <a:ext cx="237744" cy="237744"/>
          </a:xfrm>
          <a:prstGeom prst="ellipse">
            <a:avLst/>
          </a:prstGeom>
          <a:solidFill>
            <a:srgbClr val="0A7A44"/>
          </a:solidFill>
          <a:ln w="12700">
            <a:solidFill>
              <a:srgbClr val="0A7A44"/>
            </a:solidFill>
            <a:prstDash val="solid"/>
          </a:ln>
        </p:spPr>
      </p:sp>
      <p:sp>
        <p:nvSpPr>
          <p:cNvPr id="21" name="Text 18"/>
          <p:cNvSpPr txBox="1"/>
          <p:nvPr/>
        </p:nvSpPr>
        <p:spPr>
          <a:xfrm>
            <a:off x="457200" y="365760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22" name="Text 19"/>
          <p:cNvSpPr txBox="1"/>
          <p:nvPr/>
        </p:nvSpPr>
        <p:spPr>
          <a:xfrm>
            <a:off x="786384" y="3639312"/>
            <a:ext cx="3694176" cy="393192"/>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Pay at the front-shop till (payment at the pharmacy counter is planned for 2028).</a:t>
            </a:r>
            <a:endParaRPr lang="en-US" sz="900" dirty="0"/>
          </a:p>
        </p:txBody>
      </p:sp>
      <p:sp>
        <p:nvSpPr>
          <p:cNvPr id="23" name="Text 20"/>
          <p:cNvSpPr txBox="1"/>
          <p:nvPr/>
        </p:nvSpPr>
        <p:spPr>
          <a:xfrm>
            <a:off x="457200" y="4114800"/>
            <a:ext cx="4023360" cy="274320"/>
          </a:xfrm>
          <a:prstGeom prst="rect">
            <a:avLst/>
          </a:prstGeom>
          <a:noFill/>
          <a:ln/>
        </p:spPr>
        <p:txBody>
          <a:bodyPr wrap="square" lIns="0" tIns="0" rIns="0" bIns="0" rtlCol="0" anchor="ctr"/>
          <a:lstStyle/>
          <a:p>
            <a:pPr indent="0" marL="0">
              <a:buNone/>
            </a:pPr>
            <a:r>
              <a:rPr lang="en-US" sz="850" i="1" dirty="0">
                <a:solidFill>
                  <a:srgbClr val="4C5A52"/>
                </a:solidFill>
                <a:latin typeface="Arial" pitchFamily="34" charset="0"/>
                <a:ea typeface="Arial" pitchFamily="34" charset="-122"/>
                <a:cs typeface="Arial" pitchFamily="34" charset="-120"/>
              </a:rPr>
              <a:t>The same five steps apply whether the customer has a 24-item script or a single box of antihistamine.</a:t>
            </a:r>
            <a:endParaRPr lang="en-US" sz="850" dirty="0"/>
          </a:p>
        </p:txBody>
      </p:sp>
      <p:sp>
        <p:nvSpPr>
          <p:cNvPr id="24" name="Text 21"/>
          <p:cNvSpPr txBox="1"/>
          <p:nvPr/>
        </p:nvSpPr>
        <p:spPr>
          <a:xfrm>
            <a:off x="4754880" y="1691640"/>
            <a:ext cx="393192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IRENE · LIVE SINCE JULY 2026 · THE PROCESS AS RUN</a:t>
            </a:r>
            <a:endParaRPr lang="en-US" sz="800" dirty="0"/>
          </a:p>
        </p:txBody>
      </p:sp>
      <p:sp>
        <p:nvSpPr>
          <p:cNvPr id="25" name="Shape 22"/>
          <p:cNvSpPr/>
          <p:nvPr/>
        </p:nvSpPr>
        <p:spPr>
          <a:xfrm>
            <a:off x="4754880" y="1938528"/>
            <a:ext cx="237744" cy="237744"/>
          </a:xfrm>
          <a:prstGeom prst="ellipse">
            <a:avLst/>
          </a:prstGeom>
          <a:solidFill>
            <a:srgbClr val="E3B71E"/>
          </a:solidFill>
          <a:ln w="12700">
            <a:solidFill>
              <a:srgbClr val="E3B71E"/>
            </a:solidFill>
            <a:prstDash val="solid"/>
          </a:ln>
        </p:spPr>
      </p:sp>
      <p:sp>
        <p:nvSpPr>
          <p:cNvPr id="26" name="Text 23"/>
          <p:cNvSpPr txBox="1"/>
          <p:nvPr/>
        </p:nvSpPr>
        <p:spPr>
          <a:xfrm>
            <a:off x="4754880" y="1938528"/>
            <a:ext cx="237744" cy="237744"/>
          </a:xfrm>
          <a:prstGeom prst="rect">
            <a:avLst/>
          </a:prstGeom>
          <a:noFill/>
          <a:ln/>
        </p:spPr>
        <p:txBody>
          <a:bodyPr wrap="square" lIns="0" tIns="0" rIns="0" bIns="0" rtlCol="0" anchor="ctr"/>
          <a:lstStyle/>
          <a:p>
            <a:pPr algn="ctr" indent="0" marL="0">
              <a:buNone/>
            </a:pPr>
            <a:r>
              <a:rPr lang="en-US" sz="900" b="1" dirty="0">
                <a:solidFill>
                  <a:srgbClr val="1C2420"/>
                </a:solidFill>
                <a:latin typeface="Arial" pitchFamily="34" charset="0"/>
                <a:ea typeface="Arial" pitchFamily="34" charset="-122"/>
                <a:cs typeface="Arial" pitchFamily="34" charset="-120"/>
              </a:rPr>
              <a:t>1</a:t>
            </a:r>
            <a:endParaRPr lang="en-US" sz="900" dirty="0"/>
          </a:p>
        </p:txBody>
      </p:sp>
      <p:sp>
        <p:nvSpPr>
          <p:cNvPr id="27" name="Text 24"/>
          <p:cNvSpPr txBox="1"/>
          <p:nvPr/>
        </p:nvSpPr>
        <p:spPr>
          <a:xfrm>
            <a:off x="5084064" y="1920240"/>
            <a:ext cx="3602736" cy="448056"/>
          </a:xfrm>
          <a:prstGeom prst="rect">
            <a:avLst/>
          </a:prstGeom>
          <a:noFill/>
          <a:ln/>
        </p:spPr>
        <p:txBody>
          <a:bodyPr wrap="square" lIns="0" tIns="0" rIns="0" bIns="0" rtlCol="0" anchor="t">
            <a:normAutofit/>
          </a:bodyPr>
          <a:lstStyle/>
          <a:p>
            <a:pPr indent="0" marL="0">
              <a:buNone/>
            </a:pPr>
            <a:r>
              <a:rPr lang="en-US" sz="850" dirty="0">
                <a:solidFill>
                  <a:srgbClr val="1C2420"/>
                </a:solidFill>
                <a:latin typeface="Arial" pitchFamily="34" charset="0"/>
                <a:ea typeface="Arial" pitchFamily="34" charset="-122"/>
                <a:cs typeface="Arial" pitchFamily="34" charset="-120"/>
              </a:rPr>
              <a:t>Scripts, and scripts with OTC add-ons, follow the five steps unchanged.</a:t>
            </a:r>
            <a:endParaRPr lang="en-US" sz="850" dirty="0"/>
          </a:p>
        </p:txBody>
      </p:sp>
      <p:sp>
        <p:nvSpPr>
          <p:cNvPr id="28" name="Shape 25"/>
          <p:cNvSpPr/>
          <p:nvPr/>
        </p:nvSpPr>
        <p:spPr>
          <a:xfrm>
            <a:off x="4754880" y="2423160"/>
            <a:ext cx="237744" cy="237744"/>
          </a:xfrm>
          <a:prstGeom prst="ellipse">
            <a:avLst/>
          </a:prstGeom>
          <a:solidFill>
            <a:srgbClr val="E3B71E"/>
          </a:solidFill>
          <a:ln w="12700">
            <a:solidFill>
              <a:srgbClr val="E3B71E"/>
            </a:solidFill>
            <a:prstDash val="solid"/>
          </a:ln>
        </p:spPr>
      </p:sp>
      <p:sp>
        <p:nvSpPr>
          <p:cNvPr id="29" name="Text 26"/>
          <p:cNvSpPr txBox="1"/>
          <p:nvPr/>
        </p:nvSpPr>
        <p:spPr>
          <a:xfrm>
            <a:off x="4754880" y="2423160"/>
            <a:ext cx="237744" cy="237744"/>
          </a:xfrm>
          <a:prstGeom prst="rect">
            <a:avLst/>
          </a:prstGeom>
          <a:noFill/>
          <a:ln/>
        </p:spPr>
        <p:txBody>
          <a:bodyPr wrap="square" lIns="0" tIns="0" rIns="0" bIns="0" rtlCol="0" anchor="ctr"/>
          <a:lstStyle/>
          <a:p>
            <a:pPr algn="ctr" indent="0" marL="0">
              <a:buNone/>
            </a:pPr>
            <a:r>
              <a:rPr lang="en-US" sz="900" b="1" dirty="0">
                <a:solidFill>
                  <a:srgbClr val="1C2420"/>
                </a:solidFill>
                <a:latin typeface="Arial" pitchFamily="34" charset="0"/>
                <a:ea typeface="Arial" pitchFamily="34" charset="-122"/>
                <a:cs typeface="Arial" pitchFamily="34" charset="-120"/>
              </a:rPr>
              <a:t>2</a:t>
            </a:r>
            <a:endParaRPr lang="en-US" sz="900" dirty="0"/>
          </a:p>
        </p:txBody>
      </p:sp>
      <p:sp>
        <p:nvSpPr>
          <p:cNvPr id="30" name="Text 27"/>
          <p:cNvSpPr txBox="1"/>
          <p:nvPr/>
        </p:nvSpPr>
        <p:spPr>
          <a:xfrm>
            <a:off x="5084064" y="2404872"/>
            <a:ext cx="3602736" cy="448056"/>
          </a:xfrm>
          <a:prstGeom prst="rect">
            <a:avLst/>
          </a:prstGeom>
          <a:noFill/>
          <a:ln/>
        </p:spPr>
        <p:txBody>
          <a:bodyPr wrap="square" lIns="0" tIns="0" rIns="0" bIns="0" rtlCol="0" anchor="t">
            <a:normAutofit/>
          </a:bodyPr>
          <a:lstStyle/>
          <a:p>
            <a:pPr indent="0" marL="0">
              <a:buNone/>
            </a:pPr>
            <a:r>
              <a:rPr lang="en-US" sz="850" dirty="0">
                <a:solidFill>
                  <a:srgbClr val="1C2420"/>
                </a:solidFill>
                <a:latin typeface="Arial" pitchFamily="34" charset="0"/>
                <a:ea typeface="Arial" pitchFamily="34" charset="-122"/>
                <a:cs typeface="Arial" pitchFamily="34" charset="-120"/>
              </a:rPr>
              <a:t>An OTC-only customer stays at the drop-off counter. The dispenser captures the sale as normal, but the label prints to a dedicated printer in the back (printer 9).</a:t>
            </a:r>
            <a:endParaRPr lang="en-US" sz="850" dirty="0"/>
          </a:p>
        </p:txBody>
      </p:sp>
      <p:sp>
        <p:nvSpPr>
          <p:cNvPr id="31" name="Shape 28"/>
          <p:cNvSpPr/>
          <p:nvPr/>
        </p:nvSpPr>
        <p:spPr>
          <a:xfrm>
            <a:off x="4754880" y="2907792"/>
            <a:ext cx="237744" cy="237744"/>
          </a:xfrm>
          <a:prstGeom prst="ellipse">
            <a:avLst/>
          </a:prstGeom>
          <a:solidFill>
            <a:srgbClr val="E3B71E"/>
          </a:solidFill>
          <a:ln w="12700">
            <a:solidFill>
              <a:srgbClr val="E3B71E"/>
            </a:solidFill>
            <a:prstDash val="solid"/>
          </a:ln>
        </p:spPr>
      </p:sp>
      <p:sp>
        <p:nvSpPr>
          <p:cNvPr id="32" name="Text 29"/>
          <p:cNvSpPr txBox="1"/>
          <p:nvPr/>
        </p:nvSpPr>
        <p:spPr>
          <a:xfrm>
            <a:off x="4754880" y="2907792"/>
            <a:ext cx="237744" cy="237744"/>
          </a:xfrm>
          <a:prstGeom prst="rect">
            <a:avLst/>
          </a:prstGeom>
          <a:noFill/>
          <a:ln/>
        </p:spPr>
        <p:txBody>
          <a:bodyPr wrap="square" lIns="0" tIns="0" rIns="0" bIns="0" rtlCol="0" anchor="ctr"/>
          <a:lstStyle/>
          <a:p>
            <a:pPr algn="ctr" indent="0" marL="0">
              <a:buNone/>
            </a:pPr>
            <a:r>
              <a:rPr lang="en-US" sz="900" b="1" dirty="0">
                <a:solidFill>
                  <a:srgbClr val="1C2420"/>
                </a:solidFill>
                <a:latin typeface="Arial" pitchFamily="34" charset="0"/>
                <a:ea typeface="Arial" pitchFamily="34" charset="-122"/>
                <a:cs typeface="Arial" pitchFamily="34" charset="-120"/>
              </a:rPr>
              <a:t>3</a:t>
            </a:r>
            <a:endParaRPr lang="en-US" sz="900" dirty="0"/>
          </a:p>
        </p:txBody>
      </p:sp>
      <p:sp>
        <p:nvSpPr>
          <p:cNvPr id="33" name="Text 30"/>
          <p:cNvSpPr txBox="1"/>
          <p:nvPr/>
        </p:nvSpPr>
        <p:spPr>
          <a:xfrm>
            <a:off x="5084064" y="2889504"/>
            <a:ext cx="3602736" cy="448056"/>
          </a:xfrm>
          <a:prstGeom prst="rect">
            <a:avLst/>
          </a:prstGeom>
          <a:noFill/>
          <a:ln/>
        </p:spPr>
        <p:txBody>
          <a:bodyPr wrap="square" lIns="0" tIns="0" rIns="0" bIns="0" rtlCol="0" anchor="t">
            <a:normAutofit/>
          </a:bodyPr>
          <a:lstStyle/>
          <a:p>
            <a:pPr indent="0" marL="0">
              <a:buNone/>
            </a:pPr>
            <a:r>
              <a:rPr lang="en-US" sz="850" dirty="0">
                <a:solidFill>
                  <a:srgbClr val="1C2420"/>
                </a:solidFill>
                <a:latin typeface="Arial" pitchFamily="34" charset="0"/>
                <a:ea typeface="Arial" pitchFamily="34" charset="-122"/>
                <a:cs typeface="Arial" pitchFamily="34" charset="-120"/>
              </a:rPr>
              <a:t>Whoever is free in the back reads that print as a signal, picks the item at once, and brings it to the dispenser.</a:t>
            </a:r>
            <a:endParaRPr lang="en-US" sz="850" dirty="0"/>
          </a:p>
        </p:txBody>
      </p:sp>
      <p:sp>
        <p:nvSpPr>
          <p:cNvPr id="34" name="Shape 31"/>
          <p:cNvSpPr/>
          <p:nvPr/>
        </p:nvSpPr>
        <p:spPr>
          <a:xfrm>
            <a:off x="4754880" y="3392424"/>
            <a:ext cx="237744" cy="237744"/>
          </a:xfrm>
          <a:prstGeom prst="ellipse">
            <a:avLst/>
          </a:prstGeom>
          <a:solidFill>
            <a:srgbClr val="E3B71E"/>
          </a:solidFill>
          <a:ln w="12700">
            <a:solidFill>
              <a:srgbClr val="E3B71E"/>
            </a:solidFill>
            <a:prstDash val="solid"/>
          </a:ln>
        </p:spPr>
      </p:sp>
      <p:sp>
        <p:nvSpPr>
          <p:cNvPr id="35" name="Text 32"/>
          <p:cNvSpPr txBox="1"/>
          <p:nvPr/>
        </p:nvSpPr>
        <p:spPr>
          <a:xfrm>
            <a:off x="4754880" y="3392424"/>
            <a:ext cx="237744" cy="237744"/>
          </a:xfrm>
          <a:prstGeom prst="rect">
            <a:avLst/>
          </a:prstGeom>
          <a:noFill/>
          <a:ln/>
        </p:spPr>
        <p:txBody>
          <a:bodyPr wrap="square" lIns="0" tIns="0" rIns="0" bIns="0" rtlCol="0" anchor="ctr"/>
          <a:lstStyle/>
          <a:p>
            <a:pPr algn="ctr" indent="0" marL="0">
              <a:buNone/>
            </a:pPr>
            <a:r>
              <a:rPr lang="en-US" sz="900" b="1" dirty="0">
                <a:solidFill>
                  <a:srgbClr val="1C2420"/>
                </a:solidFill>
                <a:latin typeface="Arial" pitchFamily="34" charset="0"/>
                <a:ea typeface="Arial" pitchFamily="34" charset="-122"/>
                <a:cs typeface="Arial" pitchFamily="34" charset="-120"/>
              </a:rPr>
              <a:t>4</a:t>
            </a:r>
            <a:endParaRPr lang="en-US" sz="900" dirty="0"/>
          </a:p>
        </p:txBody>
      </p:sp>
      <p:sp>
        <p:nvSpPr>
          <p:cNvPr id="36" name="Text 33"/>
          <p:cNvSpPr txBox="1"/>
          <p:nvPr/>
        </p:nvSpPr>
        <p:spPr>
          <a:xfrm>
            <a:off x="5084064" y="3374136"/>
            <a:ext cx="3602736" cy="448056"/>
          </a:xfrm>
          <a:prstGeom prst="rect">
            <a:avLst/>
          </a:prstGeom>
          <a:noFill/>
          <a:ln/>
        </p:spPr>
        <p:txBody>
          <a:bodyPr wrap="square" lIns="0" tIns="0" rIns="0" bIns="0" rtlCol="0" anchor="t">
            <a:normAutofit/>
          </a:bodyPr>
          <a:lstStyle/>
          <a:p>
            <a:pPr indent="0" marL="0">
              <a:buNone/>
            </a:pPr>
            <a:r>
              <a:rPr lang="en-US" sz="850" dirty="0">
                <a:solidFill>
                  <a:srgbClr val="1C2420"/>
                </a:solidFill>
                <a:latin typeface="Arial" pitchFamily="34" charset="0"/>
                <a:ea typeface="Arial" pitchFamily="34" charset="-122"/>
                <a:cs typeface="Arial" pitchFamily="34" charset="-120"/>
              </a:rPr>
              <a:t>The dispenser hands it over. One stop, no second queue, and the pharmacist never turns away from the customer. Built with no new technology.</a:t>
            </a:r>
            <a:endParaRPr lang="en-US" sz="850" dirty="0"/>
          </a:p>
        </p:txBody>
      </p:sp>
      <p:sp>
        <p:nvSpPr>
          <p:cNvPr id="37" name="Shape 34"/>
          <p:cNvSpPr/>
          <p:nvPr/>
        </p:nvSpPr>
        <p:spPr>
          <a:xfrm>
            <a:off x="4754880" y="3877056"/>
            <a:ext cx="237744" cy="237744"/>
          </a:xfrm>
          <a:prstGeom prst="ellipse">
            <a:avLst/>
          </a:prstGeom>
          <a:solidFill>
            <a:srgbClr val="E3B71E"/>
          </a:solidFill>
          <a:ln w="12700">
            <a:solidFill>
              <a:srgbClr val="E3B71E"/>
            </a:solidFill>
            <a:prstDash val="solid"/>
          </a:ln>
        </p:spPr>
      </p:sp>
      <p:sp>
        <p:nvSpPr>
          <p:cNvPr id="38" name="Text 35"/>
          <p:cNvSpPr txBox="1"/>
          <p:nvPr/>
        </p:nvSpPr>
        <p:spPr>
          <a:xfrm>
            <a:off x="4754880" y="3877056"/>
            <a:ext cx="237744" cy="237744"/>
          </a:xfrm>
          <a:prstGeom prst="rect">
            <a:avLst/>
          </a:prstGeom>
          <a:noFill/>
          <a:ln/>
        </p:spPr>
        <p:txBody>
          <a:bodyPr wrap="square" lIns="0" tIns="0" rIns="0" bIns="0" rtlCol="0" anchor="ctr"/>
          <a:lstStyle/>
          <a:p>
            <a:pPr algn="ctr" indent="0" marL="0">
              <a:buNone/>
            </a:pPr>
            <a:r>
              <a:rPr lang="en-US" sz="900" b="1" dirty="0">
                <a:solidFill>
                  <a:srgbClr val="1C2420"/>
                </a:solidFill>
                <a:latin typeface="Arial" pitchFamily="34" charset="0"/>
                <a:ea typeface="Arial" pitchFamily="34" charset="-122"/>
                <a:cs typeface="Arial" pitchFamily="34" charset="-120"/>
              </a:rPr>
              <a:t>5</a:t>
            </a:r>
            <a:endParaRPr lang="en-US" sz="900" dirty="0"/>
          </a:p>
        </p:txBody>
      </p:sp>
      <p:sp>
        <p:nvSpPr>
          <p:cNvPr id="39" name="Text 36"/>
          <p:cNvSpPr txBox="1"/>
          <p:nvPr/>
        </p:nvSpPr>
        <p:spPr>
          <a:xfrm>
            <a:off x="5084064" y="3858768"/>
            <a:ext cx="3602736" cy="448056"/>
          </a:xfrm>
          <a:prstGeom prst="rect">
            <a:avLst/>
          </a:prstGeom>
          <a:noFill/>
          <a:ln/>
        </p:spPr>
        <p:txBody>
          <a:bodyPr wrap="square" lIns="0" tIns="0" rIns="0" bIns="0" rtlCol="0" anchor="t">
            <a:normAutofit/>
          </a:bodyPr>
          <a:lstStyle/>
          <a:p>
            <a:pPr indent="0" marL="0">
              <a:buNone/>
            </a:pPr>
            <a:r>
              <a:rPr lang="en-US" sz="850" dirty="0">
                <a:solidFill>
                  <a:srgbClr val="1C2420"/>
                </a:solidFill>
                <a:latin typeface="Arial" pitchFamily="34" charset="0"/>
                <a:ea typeface="Arial" pitchFamily="34" charset="-122"/>
                <a:cs typeface="Arial" pitchFamily="34" charset="-120"/>
              </a:rPr>
              <a:t>Collections changed too: any free counter can hand over an order that is ready, so fewer people pile up around the Hub waiting to be called.</a:t>
            </a:r>
            <a:endParaRPr lang="en-US" sz="850" dirty="0"/>
          </a:p>
        </p:txBody>
      </p:sp>
      <p:sp>
        <p:nvSpPr>
          <p:cNvPr id="40" name="Shape 37"/>
          <p:cNvSpPr/>
          <p:nvPr/>
        </p:nvSpPr>
        <p:spPr>
          <a:xfrm>
            <a:off x="457200" y="4434840"/>
            <a:ext cx="8229600" cy="548640"/>
          </a:xfrm>
          <a:prstGeom prst="rect">
            <a:avLst/>
          </a:prstGeom>
          <a:solidFill>
            <a:srgbClr val="FAF3D9"/>
          </a:solidFill>
          <a:ln w="12700">
            <a:solidFill>
              <a:srgbClr val="FAF3D9"/>
            </a:solidFill>
            <a:prstDash val="solid"/>
          </a:ln>
        </p:spPr>
      </p:sp>
      <p:sp>
        <p:nvSpPr>
          <p:cNvPr id="41" name="Text 38"/>
          <p:cNvSpPr txBox="1"/>
          <p:nvPr/>
        </p:nvSpPr>
        <p:spPr>
          <a:xfrm>
            <a:off x="621792" y="4507992"/>
            <a:ext cx="7900416" cy="402336"/>
          </a:xfrm>
          <a:prstGeom prst="rect">
            <a:avLst/>
          </a:prstGeom>
          <a:noFill/>
          <a:ln/>
        </p:spPr>
        <p:txBody>
          <a:bodyPr wrap="square" lIns="0" tIns="0" rIns="0" bIns="0" rtlCol="0" anchor="ctr">
            <a:normAutofit/>
          </a:bodyPr>
          <a:lstStyle/>
          <a:p>
            <a:pPr indent="0" marL="0">
              <a:buNone/>
            </a:pPr>
            <a:r>
              <a:rPr lang="en-US" sz="950" dirty="0">
                <a:solidFill>
                  <a:srgbClr val="1C2420"/>
                </a:solidFill>
                <a:latin typeface="Arial" pitchFamily="34" charset="0"/>
                <a:ea typeface="Arial" pitchFamily="34" charset="-122"/>
                <a:cs typeface="Arial" pitchFamily="34" charset="-120"/>
              </a:rPr>
              <a:t>As described, the Irene path keeps every design principle intact. What it changes is where the OTC customer waits: at the counter, for under a minute, instead of in a second queue. And it takes those customers out of the two places the store bottlenecks, the pick-and-pack dashboard and the collections queue.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657600" cy="228600"/>
          </a:xfrm>
          <a:prstGeom prst="rect">
            <a:avLst/>
          </a:prstGeom>
          <a:noFill/>
          <a:ln/>
        </p:spPr>
        <p:txBody>
          <a:bodyPr wrap="square" lIns="0" tIns="0" rIns="0" bIns="0" rtlCol="0" anchor="ctr"/>
          <a:lstStyle/>
          <a:p>
            <a:pPr indent="0" marL="0">
              <a:buNone/>
            </a:pPr>
            <a:r>
              <a:rPr lang="en-US" sz="900" b="1" spc="200" kern="0" dirty="0">
                <a:solidFill>
                  <a:srgbClr val="0A7A44"/>
                </a:solidFill>
                <a:latin typeface="Arial" pitchFamily="34" charset="0"/>
                <a:ea typeface="Arial" pitchFamily="34" charset="-122"/>
                <a:cs typeface="Arial" pitchFamily="34" charset="-120"/>
              </a:rPr>
              <a:t>SECTION 1 · WHERE ARE WE NOW?</a:t>
            </a:r>
            <a:endParaRPr lang="en-US" sz="900" dirty="0"/>
          </a:p>
        </p:txBody>
      </p:sp>
      <p:sp>
        <p:nvSpPr>
          <p:cNvPr id="3" name="Text 1"/>
          <p:cNvSpPr txBox="1"/>
          <p:nvPr/>
        </p:nvSpPr>
        <p:spPr>
          <a:xfrm>
            <a:off x="6400800" y="201168"/>
            <a:ext cx="2286000" cy="228600"/>
          </a:xfrm>
          <a:prstGeom prst="rect">
            <a:avLst/>
          </a:prstGeom>
          <a:noFill/>
          <a:ln/>
        </p:spPr>
        <p:txBody>
          <a:bodyPr wrap="square" lIns="0" tIns="0" rIns="0" bIns="0" rtlCol="0" anchor="ctr"/>
          <a:lstStyle/>
          <a:p>
            <a:pPr algn="r" indent="0" marL="0">
              <a:buNone/>
            </a:pPr>
            <a:r>
              <a:rPr lang="en-US" sz="900" dirty="0">
                <a:solidFill>
                  <a:srgbClr val="7D8A82"/>
                </a:solidFill>
                <a:latin typeface="Arial" pitchFamily="34" charset="0"/>
                <a:ea typeface="Arial" pitchFamily="34" charset="-122"/>
                <a:cs typeface="Arial" pitchFamily="34" charset="-120"/>
              </a:rPr>
              <a:t>Slide 1.3</a:t>
            </a:r>
            <a:endParaRPr lang="en-US" sz="900" dirty="0"/>
          </a:p>
        </p:txBody>
      </p:sp>
      <p:sp>
        <p:nvSpPr>
          <p:cNvPr id="4" name="Text 2"/>
          <p:cNvSpPr txBox="1"/>
          <p:nvPr/>
        </p:nvSpPr>
        <p:spPr>
          <a:xfrm>
            <a:off x="457200" y="438912"/>
            <a:ext cx="8229600" cy="731520"/>
          </a:xfrm>
          <a:prstGeom prst="rect">
            <a:avLst/>
          </a:prstGeom>
          <a:noFill/>
          <a:ln/>
        </p:spPr>
        <p:txBody>
          <a:bodyPr wrap="square" lIns="0" tIns="0" rIns="0" bIns="0" rtlCol="0" anchor="t">
            <a:normAutofit/>
          </a:bodyPr>
          <a:lstStyle/>
          <a:p>
            <a:pPr indent="0" marL="0">
              <a:buNone/>
            </a:pPr>
            <a:r>
              <a:rPr lang="en-US" sz="2100" b="1" dirty="0">
                <a:solidFill>
                  <a:srgbClr val="1C2420"/>
                </a:solidFill>
                <a:latin typeface="Arial" pitchFamily="34" charset="0"/>
                <a:ea typeface="Arial" pitchFamily="34" charset="-122"/>
                <a:cs typeface="Arial" pitchFamily="34" charset="-120"/>
              </a:rPr>
              <a:t>Fifteen more stores open before Christmas, the first in five weeks</a:t>
            </a:r>
            <a:endParaRPr lang="en-US" sz="2100" dirty="0"/>
          </a:p>
        </p:txBody>
      </p:sp>
      <p:sp>
        <p:nvSpPr>
          <p:cNvPr id="5" name="Text 3"/>
          <p:cNvSpPr txBox="1"/>
          <p:nvPr/>
        </p:nvSpPr>
        <p:spPr>
          <a:xfrm>
            <a:off x="457200" y="1152144"/>
            <a:ext cx="8229600" cy="475488"/>
          </a:xfrm>
          <a:prstGeom prst="rect">
            <a:avLst/>
          </a:prstGeom>
          <a:noFill/>
          <a:ln/>
        </p:spPr>
        <p:txBody>
          <a:bodyPr wrap="square" lIns="0" tIns="0" rIns="0" bIns="0" rtlCol="0" anchor="t">
            <a:normAutofit/>
          </a:bodyPr>
          <a:lstStyle/>
          <a:p>
            <a:pPr indent="0" marL="0">
              <a:buNone/>
            </a:pPr>
            <a:r>
              <a:rPr lang="en-US" sz="1100" dirty="0">
                <a:solidFill>
                  <a:srgbClr val="4C5A52"/>
                </a:solidFill>
                <a:latin typeface="Arial" pitchFamily="34" charset="0"/>
                <a:ea typeface="Arial" pitchFamily="34" charset="-122"/>
                <a:cs typeface="Arial" pitchFamily="34" charset="-120"/>
              </a:rPr>
              <a:t>Melrose Arch and Irene are the only two stores running this pharmacy today. By 3 December there will be seventeen. Every one of them opens with manual pick-and-pack, because the first automated picker store is planned for next year.</a:t>
            </a:r>
            <a:endParaRPr lang="en-US" sz="1100" dirty="0"/>
          </a:p>
        </p:txBody>
      </p:sp>
      <p:sp>
        <p:nvSpPr>
          <p:cNvPr id="7" name="Shape 4"/>
          <p:cNvSpPr/>
          <p:nvPr/>
        </p:nvSpPr>
        <p:spPr>
          <a:xfrm>
            <a:off x="457200" y="2011680"/>
            <a:ext cx="5120640" cy="0"/>
          </a:xfrm>
          <a:prstGeom prst="line">
            <a:avLst/>
          </a:prstGeom>
          <a:noFill/>
          <a:ln w="25400">
            <a:solidFill>
              <a:srgbClr val="DCDFD8"/>
            </a:solidFill>
            <a:prstDash val="solid"/>
          </a:ln>
        </p:spPr>
      </p:sp>
      <p:sp>
        <p:nvSpPr>
          <p:cNvPr id="8" name="Shape 5"/>
          <p:cNvSpPr/>
          <p:nvPr/>
        </p:nvSpPr>
        <p:spPr>
          <a:xfrm>
            <a:off x="402336" y="1956816"/>
            <a:ext cx="109728" cy="109728"/>
          </a:xfrm>
          <a:prstGeom prst="ellipse">
            <a:avLst/>
          </a:prstGeom>
          <a:solidFill>
            <a:srgbClr val="B4552A"/>
          </a:solidFill>
          <a:ln w="12700">
            <a:solidFill>
              <a:srgbClr val="FFFFFF"/>
            </a:solidFill>
            <a:prstDash val="solid"/>
          </a:ln>
        </p:spPr>
      </p:sp>
      <p:sp>
        <p:nvSpPr>
          <p:cNvPr id="9" name="Text 6"/>
          <p:cNvSpPr txBox="1"/>
          <p:nvPr/>
        </p:nvSpPr>
        <p:spPr>
          <a:xfrm>
            <a:off x="0" y="1508760"/>
            <a:ext cx="914400" cy="164592"/>
          </a:xfrm>
          <a:prstGeom prst="rect">
            <a:avLst/>
          </a:prstGeom>
          <a:noFill/>
          <a:ln/>
        </p:spPr>
        <p:txBody>
          <a:bodyPr wrap="square" lIns="0" tIns="0" rIns="0" bIns="0" rtlCol="0" anchor="ctr"/>
          <a:lstStyle/>
          <a:p>
            <a:pPr algn="ctr" indent="0" marL="0">
              <a:buNone/>
            </a:pPr>
            <a:r>
              <a:rPr lang="en-US" sz="800" b="1" dirty="0">
                <a:solidFill>
                  <a:srgbClr val="1C2420"/>
                </a:solidFill>
                <a:latin typeface="Arial" pitchFamily="34" charset="0"/>
                <a:ea typeface="Arial" pitchFamily="34" charset="-122"/>
                <a:cs typeface="Arial" pitchFamily="34" charset="-120"/>
              </a:rPr>
              <a:t>16 Sep</a:t>
            </a:r>
            <a:endParaRPr lang="en-US" sz="800" dirty="0"/>
          </a:p>
        </p:txBody>
      </p:sp>
      <p:sp>
        <p:nvSpPr>
          <p:cNvPr id="10" name="Text 7"/>
          <p:cNvSpPr txBox="1"/>
          <p:nvPr/>
        </p:nvSpPr>
        <p:spPr>
          <a:xfrm>
            <a:off x="0" y="1664208"/>
            <a:ext cx="914400" cy="164592"/>
          </a:xfrm>
          <a:prstGeom prst="rect">
            <a:avLst/>
          </a:prstGeom>
          <a:noFill/>
          <a:ln/>
        </p:spPr>
        <p:txBody>
          <a:bodyPr wrap="square" lIns="0" tIns="0" rIns="0" bIns="0" rtlCol="0" anchor="ctr"/>
          <a:lstStyle/>
          <a:p>
            <a:pPr algn="ctr" indent="0" marL="0">
              <a:buNone/>
            </a:pPr>
            <a:r>
              <a:rPr lang="en-US" sz="750" dirty="0">
                <a:solidFill>
                  <a:srgbClr val="4C5A52"/>
                </a:solidFill>
                <a:latin typeface="Arial" pitchFamily="34" charset="0"/>
                <a:ea typeface="Arial" pitchFamily="34" charset="-122"/>
                <a:cs typeface="Arial" pitchFamily="34" charset="-120"/>
              </a:rPr>
              <a:t>Today</a:t>
            </a:r>
            <a:endParaRPr lang="en-US" sz="750" dirty="0"/>
          </a:p>
        </p:txBody>
      </p:sp>
      <p:sp>
        <p:nvSpPr>
          <p:cNvPr id="11" name="Shape 8"/>
          <p:cNvSpPr/>
          <p:nvPr/>
        </p:nvSpPr>
        <p:spPr>
          <a:xfrm>
            <a:off x="2073859" y="1938528"/>
            <a:ext cx="146304" cy="146304"/>
          </a:xfrm>
          <a:prstGeom prst="ellipse">
            <a:avLst/>
          </a:prstGeom>
          <a:solidFill>
            <a:srgbClr val="0A7A44"/>
          </a:solidFill>
          <a:ln w="12700">
            <a:solidFill>
              <a:srgbClr val="FFFFFF"/>
            </a:solidFill>
            <a:prstDash val="solid"/>
          </a:ln>
        </p:spPr>
      </p:sp>
      <p:sp>
        <p:nvSpPr>
          <p:cNvPr id="12" name="Text 9"/>
          <p:cNvSpPr txBox="1"/>
          <p:nvPr/>
        </p:nvSpPr>
        <p:spPr>
          <a:xfrm>
            <a:off x="1689811" y="2194560"/>
            <a:ext cx="914400" cy="164592"/>
          </a:xfrm>
          <a:prstGeom prst="rect">
            <a:avLst/>
          </a:prstGeom>
          <a:noFill/>
          <a:ln/>
        </p:spPr>
        <p:txBody>
          <a:bodyPr wrap="square" lIns="0" tIns="0" rIns="0" bIns="0" rtlCol="0" anchor="ctr"/>
          <a:lstStyle/>
          <a:p>
            <a:pPr algn="ctr" indent="0" marL="0">
              <a:buNone/>
            </a:pPr>
            <a:r>
              <a:rPr lang="en-US" sz="800" b="1" dirty="0">
                <a:solidFill>
                  <a:srgbClr val="1C2420"/>
                </a:solidFill>
                <a:latin typeface="Arial" pitchFamily="34" charset="0"/>
                <a:ea typeface="Arial" pitchFamily="34" charset="-122"/>
                <a:cs typeface="Arial" pitchFamily="34" charset="-120"/>
              </a:rPr>
              <a:t>22 Oct</a:t>
            </a:r>
            <a:endParaRPr lang="en-US" sz="800" dirty="0"/>
          </a:p>
        </p:txBody>
      </p:sp>
      <p:sp>
        <p:nvSpPr>
          <p:cNvPr id="13" name="Text 10"/>
          <p:cNvSpPr txBox="1"/>
          <p:nvPr/>
        </p:nvSpPr>
        <p:spPr>
          <a:xfrm>
            <a:off x="1689811" y="2350008"/>
            <a:ext cx="914400" cy="164592"/>
          </a:xfrm>
          <a:prstGeom prst="rect">
            <a:avLst/>
          </a:prstGeom>
          <a:noFill/>
          <a:ln/>
        </p:spPr>
        <p:txBody>
          <a:bodyPr wrap="square" lIns="0" tIns="0" rIns="0" bIns="0" rtlCol="0" anchor="ctr"/>
          <a:lstStyle/>
          <a:p>
            <a:pPr algn="ctr" indent="0" marL="0">
              <a:buNone/>
            </a:pPr>
            <a:r>
              <a:rPr lang="en-US" sz="750" dirty="0">
                <a:solidFill>
                  <a:srgbClr val="4C5A52"/>
                </a:solidFill>
                <a:latin typeface="Arial" pitchFamily="34" charset="0"/>
                <a:ea typeface="Arial" pitchFamily="34" charset="-122"/>
                <a:cs typeface="Arial" pitchFamily="34" charset="-120"/>
              </a:rPr>
              <a:t>Rand View · 1</a:t>
            </a:r>
            <a:endParaRPr lang="en-US" sz="750" dirty="0"/>
          </a:p>
        </p:txBody>
      </p:sp>
      <p:sp>
        <p:nvSpPr>
          <p:cNvPr id="14" name="Shape 11"/>
          <p:cNvSpPr/>
          <p:nvPr/>
        </p:nvSpPr>
        <p:spPr>
          <a:xfrm>
            <a:off x="2370125" y="1901952"/>
            <a:ext cx="219456" cy="219456"/>
          </a:xfrm>
          <a:prstGeom prst="ellipse">
            <a:avLst/>
          </a:prstGeom>
          <a:solidFill>
            <a:srgbClr val="0A7A44"/>
          </a:solidFill>
          <a:ln w="12700">
            <a:solidFill>
              <a:srgbClr val="FFFFFF"/>
            </a:solidFill>
            <a:prstDash val="solid"/>
          </a:ln>
        </p:spPr>
      </p:sp>
      <p:sp>
        <p:nvSpPr>
          <p:cNvPr id="15" name="Text 12"/>
          <p:cNvSpPr txBox="1"/>
          <p:nvPr/>
        </p:nvSpPr>
        <p:spPr>
          <a:xfrm>
            <a:off x="2022653" y="1508760"/>
            <a:ext cx="914400" cy="164592"/>
          </a:xfrm>
          <a:prstGeom prst="rect">
            <a:avLst/>
          </a:prstGeom>
          <a:noFill/>
          <a:ln/>
        </p:spPr>
        <p:txBody>
          <a:bodyPr wrap="square" lIns="0" tIns="0" rIns="0" bIns="0" rtlCol="0" anchor="ctr"/>
          <a:lstStyle/>
          <a:p>
            <a:pPr algn="ctr" indent="0" marL="0">
              <a:buNone/>
            </a:pPr>
            <a:r>
              <a:rPr lang="en-US" sz="800" b="1" dirty="0">
                <a:solidFill>
                  <a:srgbClr val="1C2420"/>
                </a:solidFill>
                <a:latin typeface="Arial" pitchFamily="34" charset="0"/>
                <a:ea typeface="Arial" pitchFamily="34" charset="-122"/>
                <a:cs typeface="Arial" pitchFamily="34" charset="-120"/>
              </a:rPr>
              <a:t>29 Oct</a:t>
            </a:r>
            <a:endParaRPr lang="en-US" sz="800" dirty="0"/>
          </a:p>
        </p:txBody>
      </p:sp>
      <p:sp>
        <p:nvSpPr>
          <p:cNvPr id="16" name="Text 13"/>
          <p:cNvSpPr txBox="1"/>
          <p:nvPr/>
        </p:nvSpPr>
        <p:spPr>
          <a:xfrm>
            <a:off x="2022653" y="1664208"/>
            <a:ext cx="914400" cy="164592"/>
          </a:xfrm>
          <a:prstGeom prst="rect">
            <a:avLst/>
          </a:prstGeom>
          <a:noFill/>
          <a:ln/>
        </p:spPr>
        <p:txBody>
          <a:bodyPr wrap="square" lIns="0" tIns="0" rIns="0" bIns="0" rtlCol="0" anchor="ctr"/>
          <a:lstStyle/>
          <a:p>
            <a:pPr algn="ctr" indent="0" marL="0">
              <a:buNone/>
            </a:pPr>
            <a:r>
              <a:rPr lang="en-US" sz="750" dirty="0">
                <a:solidFill>
                  <a:srgbClr val="4C5A52"/>
                </a:solidFill>
                <a:latin typeface="Arial" pitchFamily="34" charset="0"/>
                <a:ea typeface="Arial" pitchFamily="34" charset="-122"/>
                <a:cs typeface="Arial" pitchFamily="34" charset="-120"/>
              </a:rPr>
              <a:t>5 stores</a:t>
            </a:r>
            <a:endParaRPr lang="en-US" sz="750" dirty="0"/>
          </a:p>
        </p:txBody>
      </p:sp>
      <p:sp>
        <p:nvSpPr>
          <p:cNvPr id="17" name="Shape 14"/>
          <p:cNvSpPr/>
          <p:nvPr/>
        </p:nvSpPr>
        <p:spPr>
          <a:xfrm>
            <a:off x="2534717" y="1938528"/>
            <a:ext cx="146304" cy="146304"/>
          </a:xfrm>
          <a:prstGeom prst="ellipse">
            <a:avLst/>
          </a:prstGeom>
          <a:solidFill>
            <a:srgbClr val="0A7A44"/>
          </a:solidFill>
          <a:ln w="12700">
            <a:solidFill>
              <a:srgbClr val="FFFFFF"/>
            </a:solidFill>
            <a:prstDash val="solid"/>
          </a:ln>
        </p:spPr>
      </p:sp>
      <p:sp>
        <p:nvSpPr>
          <p:cNvPr id="18" name="Text 15"/>
          <p:cNvSpPr txBox="1"/>
          <p:nvPr/>
        </p:nvSpPr>
        <p:spPr>
          <a:xfrm>
            <a:off x="2150669" y="2194560"/>
            <a:ext cx="914400" cy="164592"/>
          </a:xfrm>
          <a:prstGeom prst="rect">
            <a:avLst/>
          </a:prstGeom>
          <a:noFill/>
          <a:ln/>
        </p:spPr>
        <p:txBody>
          <a:bodyPr wrap="square" lIns="0" tIns="0" rIns="0" bIns="0" rtlCol="0" anchor="ctr"/>
          <a:lstStyle/>
          <a:p>
            <a:pPr algn="ctr" indent="0" marL="0">
              <a:buNone/>
            </a:pPr>
            <a:r>
              <a:rPr lang="en-US" sz="800" b="1" dirty="0">
                <a:solidFill>
                  <a:srgbClr val="1C2420"/>
                </a:solidFill>
                <a:latin typeface="Arial" pitchFamily="34" charset="0"/>
                <a:ea typeface="Arial" pitchFamily="34" charset="-122"/>
                <a:cs typeface="Arial" pitchFamily="34" charset="-120"/>
              </a:rPr>
              <a:t>1 Nov</a:t>
            </a:r>
            <a:endParaRPr lang="en-US" sz="800" dirty="0"/>
          </a:p>
        </p:txBody>
      </p:sp>
      <p:sp>
        <p:nvSpPr>
          <p:cNvPr id="19" name="Text 16"/>
          <p:cNvSpPr txBox="1"/>
          <p:nvPr/>
        </p:nvSpPr>
        <p:spPr>
          <a:xfrm>
            <a:off x="2150669" y="2350008"/>
            <a:ext cx="914400" cy="164592"/>
          </a:xfrm>
          <a:prstGeom prst="rect">
            <a:avLst/>
          </a:prstGeom>
          <a:noFill/>
          <a:ln/>
        </p:spPr>
        <p:txBody>
          <a:bodyPr wrap="square" lIns="0" tIns="0" rIns="0" bIns="0" rtlCol="0" anchor="ctr"/>
          <a:lstStyle/>
          <a:p>
            <a:pPr algn="ctr" indent="0" marL="0">
              <a:buNone/>
            </a:pPr>
            <a:r>
              <a:rPr lang="en-US" sz="750" dirty="0">
                <a:solidFill>
                  <a:srgbClr val="4C5A52"/>
                </a:solidFill>
                <a:latin typeface="Arial" pitchFamily="34" charset="0"/>
                <a:ea typeface="Arial" pitchFamily="34" charset="-122"/>
                <a:cs typeface="Arial" pitchFamily="34" charset="-120"/>
              </a:rPr>
              <a:t>Umhlanga · 1</a:t>
            </a:r>
            <a:endParaRPr lang="en-US" sz="750" dirty="0"/>
          </a:p>
        </p:txBody>
      </p:sp>
      <p:sp>
        <p:nvSpPr>
          <p:cNvPr id="20" name="Shape 17"/>
          <p:cNvSpPr/>
          <p:nvPr/>
        </p:nvSpPr>
        <p:spPr>
          <a:xfrm>
            <a:off x="3675888" y="1901952"/>
            <a:ext cx="219456" cy="219456"/>
          </a:xfrm>
          <a:prstGeom prst="ellipse">
            <a:avLst/>
          </a:prstGeom>
          <a:solidFill>
            <a:srgbClr val="0A7A44"/>
          </a:solidFill>
          <a:ln w="12700">
            <a:solidFill>
              <a:srgbClr val="FFFFFF"/>
            </a:solidFill>
            <a:prstDash val="solid"/>
          </a:ln>
        </p:spPr>
      </p:sp>
      <p:sp>
        <p:nvSpPr>
          <p:cNvPr id="21" name="Text 18"/>
          <p:cNvSpPr txBox="1"/>
          <p:nvPr/>
        </p:nvSpPr>
        <p:spPr>
          <a:xfrm>
            <a:off x="3328416" y="1508760"/>
            <a:ext cx="914400" cy="164592"/>
          </a:xfrm>
          <a:prstGeom prst="rect">
            <a:avLst/>
          </a:prstGeom>
          <a:noFill/>
          <a:ln/>
        </p:spPr>
        <p:txBody>
          <a:bodyPr wrap="square" lIns="0" tIns="0" rIns="0" bIns="0" rtlCol="0" anchor="ctr"/>
          <a:lstStyle/>
          <a:p>
            <a:pPr algn="ctr" indent="0" marL="0">
              <a:buNone/>
            </a:pPr>
            <a:r>
              <a:rPr lang="en-US" sz="800" b="1" dirty="0">
                <a:solidFill>
                  <a:srgbClr val="1C2420"/>
                </a:solidFill>
                <a:latin typeface="Arial" pitchFamily="34" charset="0"/>
                <a:ea typeface="Arial" pitchFamily="34" charset="-122"/>
                <a:cs typeface="Arial" pitchFamily="34" charset="-120"/>
              </a:rPr>
              <a:t>26 Nov</a:t>
            </a:r>
            <a:endParaRPr lang="en-US" sz="800" dirty="0"/>
          </a:p>
        </p:txBody>
      </p:sp>
      <p:sp>
        <p:nvSpPr>
          <p:cNvPr id="22" name="Text 19"/>
          <p:cNvSpPr txBox="1"/>
          <p:nvPr/>
        </p:nvSpPr>
        <p:spPr>
          <a:xfrm>
            <a:off x="3328416" y="1664208"/>
            <a:ext cx="914400" cy="164592"/>
          </a:xfrm>
          <a:prstGeom prst="rect">
            <a:avLst/>
          </a:prstGeom>
          <a:noFill/>
          <a:ln/>
        </p:spPr>
        <p:txBody>
          <a:bodyPr wrap="square" lIns="0" tIns="0" rIns="0" bIns="0" rtlCol="0" anchor="ctr"/>
          <a:lstStyle/>
          <a:p>
            <a:pPr algn="ctr" indent="0" marL="0">
              <a:buNone/>
            </a:pPr>
            <a:r>
              <a:rPr lang="en-US" sz="750" dirty="0">
                <a:solidFill>
                  <a:srgbClr val="4C5A52"/>
                </a:solidFill>
                <a:latin typeface="Arial" pitchFamily="34" charset="0"/>
                <a:ea typeface="Arial" pitchFamily="34" charset="-122"/>
                <a:cs typeface="Arial" pitchFamily="34" charset="-120"/>
              </a:rPr>
              <a:t>5 stores</a:t>
            </a:r>
            <a:endParaRPr lang="en-US" sz="750" dirty="0"/>
          </a:p>
        </p:txBody>
      </p:sp>
      <p:sp>
        <p:nvSpPr>
          <p:cNvPr id="23" name="Shape 20"/>
          <p:cNvSpPr/>
          <p:nvPr/>
        </p:nvSpPr>
        <p:spPr>
          <a:xfrm>
            <a:off x="4001414" y="1920240"/>
            <a:ext cx="182880" cy="182880"/>
          </a:xfrm>
          <a:prstGeom prst="ellipse">
            <a:avLst/>
          </a:prstGeom>
          <a:solidFill>
            <a:srgbClr val="0A7A44"/>
          </a:solidFill>
          <a:ln w="12700">
            <a:solidFill>
              <a:srgbClr val="FFFFFF"/>
            </a:solidFill>
            <a:prstDash val="solid"/>
          </a:ln>
        </p:spPr>
      </p:sp>
      <p:sp>
        <p:nvSpPr>
          <p:cNvPr id="24" name="Text 21"/>
          <p:cNvSpPr txBox="1"/>
          <p:nvPr/>
        </p:nvSpPr>
        <p:spPr>
          <a:xfrm>
            <a:off x="3635654" y="2194560"/>
            <a:ext cx="914400" cy="164592"/>
          </a:xfrm>
          <a:prstGeom prst="rect">
            <a:avLst/>
          </a:prstGeom>
          <a:noFill/>
          <a:ln/>
        </p:spPr>
        <p:txBody>
          <a:bodyPr wrap="square" lIns="0" tIns="0" rIns="0" bIns="0" rtlCol="0" anchor="ctr"/>
          <a:lstStyle/>
          <a:p>
            <a:pPr algn="ctr" indent="0" marL="0">
              <a:buNone/>
            </a:pPr>
            <a:r>
              <a:rPr lang="en-US" sz="800" b="1" dirty="0">
                <a:solidFill>
                  <a:srgbClr val="1C2420"/>
                </a:solidFill>
                <a:latin typeface="Arial" pitchFamily="34" charset="0"/>
                <a:ea typeface="Arial" pitchFamily="34" charset="-122"/>
                <a:cs typeface="Arial" pitchFamily="34" charset="-120"/>
              </a:rPr>
              <a:t>3 Dec</a:t>
            </a:r>
            <a:endParaRPr lang="en-US" sz="800" dirty="0"/>
          </a:p>
        </p:txBody>
      </p:sp>
      <p:sp>
        <p:nvSpPr>
          <p:cNvPr id="25" name="Text 22"/>
          <p:cNvSpPr txBox="1"/>
          <p:nvPr/>
        </p:nvSpPr>
        <p:spPr>
          <a:xfrm>
            <a:off x="3635654" y="2350008"/>
            <a:ext cx="914400" cy="164592"/>
          </a:xfrm>
          <a:prstGeom prst="rect">
            <a:avLst/>
          </a:prstGeom>
          <a:noFill/>
          <a:ln/>
        </p:spPr>
        <p:txBody>
          <a:bodyPr wrap="square" lIns="0" tIns="0" rIns="0" bIns="0" rtlCol="0" anchor="ctr"/>
          <a:lstStyle/>
          <a:p>
            <a:pPr algn="ctr" indent="0" marL="0">
              <a:buNone/>
            </a:pPr>
            <a:r>
              <a:rPr lang="en-US" sz="750" dirty="0">
                <a:solidFill>
                  <a:srgbClr val="4C5A52"/>
                </a:solidFill>
                <a:latin typeface="Arial" pitchFamily="34" charset="0"/>
                <a:ea typeface="Arial" pitchFamily="34" charset="-122"/>
                <a:cs typeface="Arial" pitchFamily="34" charset="-120"/>
              </a:rPr>
              <a:t>3 stores</a:t>
            </a:r>
            <a:endParaRPr lang="en-US" sz="750" dirty="0"/>
          </a:p>
        </p:txBody>
      </p:sp>
      <p:sp>
        <p:nvSpPr>
          <p:cNvPr id="26" name="Shape 23"/>
          <p:cNvSpPr/>
          <p:nvPr/>
        </p:nvSpPr>
        <p:spPr>
          <a:xfrm>
            <a:off x="4860950" y="1737360"/>
            <a:ext cx="716890" cy="548640"/>
          </a:xfrm>
          <a:prstGeom prst="rect">
            <a:avLst/>
          </a:prstGeom>
          <a:solidFill>
            <a:srgbClr val="E7F2EA"/>
          </a:solidFill>
          <a:ln w="6350">
            <a:solidFill>
              <a:srgbClr val="0A7A44"/>
            </a:solidFill>
            <a:prstDash val="dash"/>
          </a:ln>
        </p:spPr>
      </p:sp>
      <p:sp>
        <p:nvSpPr>
          <p:cNvPr id="27" name="Text 24"/>
          <p:cNvSpPr txBox="1"/>
          <p:nvPr/>
        </p:nvSpPr>
        <p:spPr>
          <a:xfrm>
            <a:off x="4586630" y="2578608"/>
            <a:ext cx="1280160" cy="274320"/>
          </a:xfrm>
          <a:prstGeom prst="rect">
            <a:avLst/>
          </a:prstGeom>
          <a:noFill/>
          <a:ln/>
        </p:spPr>
        <p:txBody>
          <a:bodyPr wrap="square" lIns="0" tIns="0" rIns="0" bIns="0" rtlCol="0" anchor="ctr"/>
          <a:lstStyle/>
          <a:p>
            <a:pPr algn="ctr" indent="0" marL="0">
              <a:buNone/>
            </a:pPr>
            <a:r>
              <a:rPr lang="en-US" sz="750" dirty="0">
                <a:solidFill>
                  <a:srgbClr val="0A7A44"/>
                </a:solidFill>
                <a:latin typeface="Arial" pitchFamily="34" charset="0"/>
                <a:ea typeface="Arial" pitchFamily="34" charset="-122"/>
                <a:cs typeface="Arial" pitchFamily="34" charset="-120"/>
              </a:rPr>
              <a:t>ROWA stores from 2027</a:t>
            </a:r>
            <a:endParaRPr lang="en-US" sz="7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2880360"/>
          <a:ext cx="5120640" cy="914400"/>
        </p:xfrm>
        <a:graphic>
          <a:graphicData uri="http://schemas.openxmlformats.org/drawingml/2006/table">
            <a:tbl>
              <a:tblPr/>
              <a:tblGrid>
                <a:gridCol w="1097280"/>
                <a:gridCol w="822960"/>
                <a:gridCol w="3200400"/>
              </a:tblGrid>
              <a:tr h="237744">
                <a:tc>
                  <a:txBody>
                    <a:bodyPr/>
                    <a:lstStyle/>
                    <a:p>
                      <a:pPr indent="0" marL="0">
                        <a:buNone/>
                      </a:pPr>
                      <a:r>
                        <a:rPr lang="en-US" sz="800" b="1" dirty="0">
                          <a:solidFill>
                            <a:srgbClr val="7D8A82"/>
                          </a:solidFill>
                          <a:latin typeface="Arial" pitchFamily="34" charset="0"/>
                          <a:ea typeface="Arial" pitchFamily="34" charset="-122"/>
                          <a:cs typeface="Arial" pitchFamily="34" charset="-120"/>
                        </a:rPr>
                        <a:t>Opens</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c>
                  <a:txBody>
                    <a:bodyPr/>
                    <a:lstStyle/>
                    <a:p>
                      <a:pPr indent="0" marL="0">
                        <a:buNone/>
                      </a:pPr>
                      <a:r>
                        <a:rPr lang="en-US" sz="800" b="1" dirty="0">
                          <a:solidFill>
                            <a:srgbClr val="7D8A82"/>
                          </a:solidFill>
                          <a:latin typeface="Arial" pitchFamily="34" charset="0"/>
                          <a:ea typeface="Arial" pitchFamily="34" charset="-122"/>
                          <a:cs typeface="Arial" pitchFamily="34" charset="-120"/>
                        </a:rPr>
                        <a:t>Stores</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c>
                  <a:txBody>
                    <a:bodyPr/>
                    <a:lstStyle/>
                    <a:p>
                      <a:pPr indent="0" marL="0">
                        <a:buNone/>
                      </a:pPr>
                      <a:r>
                        <a:rPr lang="en-US" sz="800" b="1" dirty="0">
                          <a:solidFill>
                            <a:srgbClr val="7D8A82"/>
                          </a:solidFill>
                          <a:latin typeface="Arial" pitchFamily="34" charset="0"/>
                          <a:ea typeface="Arial" pitchFamily="34" charset="-122"/>
                          <a:cs typeface="Arial" pitchFamily="34" charset="-120"/>
                        </a:rPr>
                        <a:t>Where</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r>
              <a:tr h="237744">
                <a:tc>
                  <a:txBody>
                    <a:bodyPr/>
                    <a:lstStyle/>
                    <a:p>
                      <a:pPr indent="0" marL="0">
                        <a:buNone/>
                      </a:pPr>
                      <a:r>
                        <a:rPr lang="en-US" sz="850" dirty="0">
                          <a:solidFill>
                            <a:srgbClr val="1C2420"/>
                          </a:solidFill>
                          <a:latin typeface="Arial" pitchFamily="34" charset="0"/>
                          <a:ea typeface="Arial" pitchFamily="34" charset="-122"/>
                          <a:cs typeface="Arial" pitchFamily="34" charset="-120"/>
                        </a:rPr>
                        <a:t>22 Oct</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1</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Rand View</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37744">
                <a:tc>
                  <a:txBody>
                    <a:bodyPr/>
                    <a:lstStyle/>
                    <a:p>
                      <a:pPr indent="0" marL="0">
                        <a:buNone/>
                      </a:pPr>
                      <a:r>
                        <a:rPr lang="en-US" sz="850" dirty="0">
                          <a:solidFill>
                            <a:srgbClr val="1C2420"/>
                          </a:solidFill>
                          <a:latin typeface="Arial" pitchFamily="34" charset="0"/>
                          <a:ea typeface="Arial" pitchFamily="34" charset="-122"/>
                          <a:cs typeface="Arial" pitchFamily="34" charset="-120"/>
                        </a:rPr>
                        <a:t>29 Oct</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5</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October cluster</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37744">
                <a:tc>
                  <a:txBody>
                    <a:bodyPr/>
                    <a:lstStyle/>
                    <a:p>
                      <a:pPr indent="0" marL="0">
                        <a:buNone/>
                      </a:pPr>
                      <a:r>
                        <a:rPr lang="en-US" sz="850" dirty="0">
                          <a:solidFill>
                            <a:srgbClr val="1C2420"/>
                          </a:solidFill>
                          <a:latin typeface="Arial" pitchFamily="34" charset="0"/>
                          <a:ea typeface="Arial" pitchFamily="34" charset="-122"/>
                          <a:cs typeface="Arial" pitchFamily="34" charset="-120"/>
                        </a:rPr>
                        <a:t>1 Nov</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1</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Umhlanga Crescent</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37744">
                <a:tc>
                  <a:txBody>
                    <a:bodyPr/>
                    <a:lstStyle/>
                    <a:p>
                      <a:pPr indent="0" marL="0">
                        <a:buNone/>
                      </a:pPr>
                      <a:r>
                        <a:rPr lang="en-US" sz="850" dirty="0">
                          <a:solidFill>
                            <a:srgbClr val="1C2420"/>
                          </a:solidFill>
                          <a:latin typeface="Arial" pitchFamily="34" charset="0"/>
                          <a:ea typeface="Arial" pitchFamily="34" charset="-122"/>
                          <a:cs typeface="Arial" pitchFamily="34" charset="-120"/>
                        </a:rPr>
                        <a:t>26 Nov</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5</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November cluster</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37744">
                <a:tc>
                  <a:txBody>
                    <a:bodyPr/>
                    <a:lstStyle/>
                    <a:p>
                      <a:pPr indent="0" marL="0">
                        <a:buNone/>
                      </a:pPr>
                      <a:r>
                        <a:rPr lang="en-US" sz="850" dirty="0">
                          <a:solidFill>
                            <a:srgbClr val="1C2420"/>
                          </a:solidFill>
                          <a:latin typeface="Arial" pitchFamily="34" charset="0"/>
                          <a:ea typeface="Arial" pitchFamily="34" charset="-122"/>
                          <a:cs typeface="Arial" pitchFamily="34" charset="-120"/>
                        </a:rPr>
                        <a:t>3 Dec</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3</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December cluster</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37744">
                <a:tc>
                  <a:txBody>
                    <a:bodyPr/>
                    <a:lstStyle/>
                    <a:p>
                      <a:pPr indent="0" marL="0">
                        <a:buNone/>
                      </a:pPr>
                      <a:r>
                        <a:rPr lang="en-US" sz="850" dirty="0">
                          <a:solidFill>
                            <a:srgbClr val="1C2420"/>
                          </a:solidFill>
                          <a:latin typeface="Arial" pitchFamily="34" charset="0"/>
                          <a:ea typeface="Arial" pitchFamily="34" charset="-122"/>
                          <a:cs typeface="Arial" pitchFamily="34" charset="-120"/>
                        </a:rPr>
                        <a:t>On hold</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3</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Awaiting landlord handover</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bl>
          </a:graphicData>
        </a:graphic>
      </p:graphicFrame>
      <p:sp>
        <p:nvSpPr>
          <p:cNvPr id="29" name="Shape 25"/>
          <p:cNvSpPr/>
          <p:nvPr/>
        </p:nvSpPr>
        <p:spPr>
          <a:xfrm>
            <a:off x="5852160" y="1691640"/>
            <a:ext cx="2834640" cy="960120"/>
          </a:xfrm>
          <a:prstGeom prst="rect">
            <a:avLst/>
          </a:prstGeom>
          <a:solidFill>
            <a:srgbClr val="FAF3D9"/>
          </a:solidFill>
          <a:ln w="12700">
            <a:solidFill>
              <a:srgbClr val="FAF3D9"/>
            </a:solidFill>
            <a:prstDash val="solid"/>
          </a:ln>
        </p:spPr>
      </p:sp>
      <p:sp>
        <p:nvSpPr>
          <p:cNvPr id="30" name="Text 26"/>
          <p:cNvSpPr txBox="1"/>
          <p:nvPr/>
        </p:nvSpPr>
        <p:spPr>
          <a:xfrm>
            <a:off x="6016752" y="1783080"/>
            <a:ext cx="2505456" cy="384048"/>
          </a:xfrm>
          <a:prstGeom prst="rect">
            <a:avLst/>
          </a:prstGeom>
          <a:noFill/>
          <a:ln/>
        </p:spPr>
        <p:txBody>
          <a:bodyPr wrap="square" lIns="0" tIns="0" rIns="0" bIns="0" rtlCol="0" anchor="ctr">
            <a:normAutofit/>
          </a:bodyPr>
          <a:lstStyle/>
          <a:p>
            <a:pPr indent="0" marL="0">
              <a:buNone/>
            </a:pPr>
            <a:r>
              <a:rPr lang="en-US" sz="1800" b="1" dirty="0">
                <a:solidFill>
                  <a:srgbClr val="1C2420"/>
                </a:solidFill>
                <a:latin typeface="Arial" pitchFamily="34" charset="0"/>
                <a:ea typeface="Arial" pitchFamily="34" charset="-122"/>
                <a:cs typeface="Arial" pitchFamily="34" charset="-120"/>
              </a:rPr>
              <a:t>15 stores in six weeks</a:t>
            </a:r>
            <a:endParaRPr lang="en-US" sz="1800" dirty="0"/>
          </a:p>
        </p:txBody>
      </p:sp>
      <p:sp>
        <p:nvSpPr>
          <p:cNvPr id="31" name="Text 27"/>
          <p:cNvSpPr txBox="1"/>
          <p:nvPr/>
        </p:nvSpPr>
        <p:spPr>
          <a:xfrm>
            <a:off x="6016752" y="2167128"/>
            <a:ext cx="2505456" cy="411480"/>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Six of them in October. The first opens on 22 October, five weeks from this meeting.</a:t>
            </a:r>
            <a:endParaRPr lang="en-US" sz="900" dirty="0"/>
          </a:p>
        </p:txBody>
      </p:sp>
      <p:sp>
        <p:nvSpPr>
          <p:cNvPr id="32" name="Text 28"/>
          <p:cNvSpPr txBox="1"/>
          <p:nvPr/>
        </p:nvSpPr>
        <p:spPr>
          <a:xfrm>
            <a:off x="5852160" y="2743200"/>
            <a:ext cx="2834640" cy="2240280"/>
          </a:xfrm>
          <a:prstGeom prst="rect">
            <a:avLst/>
          </a:prstGeom>
          <a:noFill/>
          <a:ln/>
        </p:spPr>
        <p:txBody>
          <a:bodyPr wrap="square" lIns="0" tIns="0" rIns="0" bIns="0" rtlCol="0" anchor="t">
            <a:normAutofit/>
          </a:bodyPr>
          <a:lstStyle/>
          <a:p>
            <a:pPr indent="0" marL="0">
              <a:spcAft>
                <a:spcPts val="600"/>
              </a:spcAft>
              <a:buNone/>
            </a:pPr>
            <a:r>
              <a:rPr lang="en-US" sz="850" dirty="0">
                <a:solidFill>
                  <a:srgbClr val="1C2420"/>
                </a:solidFill>
                <a:latin typeface="Arial" pitchFamily="34" charset="0"/>
                <a:ea typeface="Arial" pitchFamily="34" charset="-122"/>
                <a:cs typeface="Arial" pitchFamily="34" charset="-120"/>
              </a:rPr>
              <a:t>Each of these stores will be trained on a pharmacy process in the weeks before it opens. Whatever we decide about OTC, the training either carries the Melrose process as it stands, or it carries a change. After 22 October the decision stops being about two stores and starts being about a network.</a:t>
            </a:r>
            <a:endParaRPr lang="en-US" sz="850" dirty="0"/>
          </a:p>
          <a:p>
            <a:pPr indent="0" marL="0">
              <a:spcAft>
                <a:spcPts val="600"/>
              </a:spcAft>
              <a:buNone/>
            </a:pPr>
            <a:endParaRPr lang="en-US" sz="850" dirty="0"/>
          </a:p>
          <a:p>
            <a:pPr indent="0" marL="0">
              <a:spcAft>
                <a:spcPts val="600"/>
              </a:spcAft>
              <a:buNone/>
            </a:pPr>
            <a:r>
              <a:rPr lang="en-US" sz="850" dirty="0">
                <a:solidFill>
                  <a:srgbClr val="1C2420"/>
                </a:solidFill>
                <a:latin typeface="Arial" pitchFamily="34" charset="0"/>
                <a:ea typeface="Arial" pitchFamily="34" charset="-122"/>
                <a:cs typeface="Arial" pitchFamily="34" charset="-120"/>
              </a:rPr>
              <a:t>The automated picker (ROWA) answers the OTC question on its own, because any item reaches the front counter in seconds. But it arrives in 2027 and covers roughly a third of the estate. The other two thirds will pick by hand for the foreseeable future, so manual OTC needs a proper process of its own, not a stopgap. These fifteen stores are the chance to test that process and get it right before it goes to the rest of the network.</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657600" cy="228600"/>
          </a:xfrm>
          <a:prstGeom prst="rect">
            <a:avLst/>
          </a:prstGeom>
          <a:noFill/>
          <a:ln/>
        </p:spPr>
        <p:txBody>
          <a:bodyPr wrap="square" lIns="0" tIns="0" rIns="0" bIns="0" rtlCol="0" anchor="ctr"/>
          <a:lstStyle/>
          <a:p>
            <a:pPr indent="0" marL="0">
              <a:buNone/>
            </a:pPr>
            <a:r>
              <a:rPr lang="en-US" sz="900" b="1" spc="200" kern="0" dirty="0">
                <a:solidFill>
                  <a:srgbClr val="0A7A44"/>
                </a:solidFill>
                <a:latin typeface="Arial" pitchFamily="34" charset="0"/>
                <a:ea typeface="Arial" pitchFamily="34" charset="-122"/>
                <a:cs typeface="Arial" pitchFamily="34" charset="-120"/>
              </a:rPr>
              <a:t>SECTION 2 · WHAT HAVE WE LEARNED?</a:t>
            </a:r>
            <a:endParaRPr lang="en-US" sz="900" dirty="0"/>
          </a:p>
        </p:txBody>
      </p:sp>
      <p:sp>
        <p:nvSpPr>
          <p:cNvPr id="3" name="Text 1"/>
          <p:cNvSpPr txBox="1"/>
          <p:nvPr/>
        </p:nvSpPr>
        <p:spPr>
          <a:xfrm>
            <a:off x="6400800" y="201168"/>
            <a:ext cx="2286000" cy="228600"/>
          </a:xfrm>
          <a:prstGeom prst="rect">
            <a:avLst/>
          </a:prstGeom>
          <a:noFill/>
          <a:ln/>
        </p:spPr>
        <p:txBody>
          <a:bodyPr wrap="square" lIns="0" tIns="0" rIns="0" bIns="0" rtlCol="0" anchor="ctr"/>
          <a:lstStyle/>
          <a:p>
            <a:pPr algn="r" indent="0" marL="0">
              <a:buNone/>
            </a:pPr>
            <a:r>
              <a:rPr lang="en-US" sz="900" dirty="0">
                <a:solidFill>
                  <a:srgbClr val="7D8A82"/>
                </a:solidFill>
                <a:latin typeface="Arial" pitchFamily="34" charset="0"/>
                <a:ea typeface="Arial" pitchFamily="34" charset="-122"/>
                <a:cs typeface="Arial" pitchFamily="34" charset="-120"/>
              </a:rPr>
              <a:t>Slide 2.1</a:t>
            </a:r>
            <a:endParaRPr lang="en-US" sz="900" dirty="0"/>
          </a:p>
        </p:txBody>
      </p:sp>
      <p:sp>
        <p:nvSpPr>
          <p:cNvPr id="4" name="Text 2"/>
          <p:cNvSpPr txBox="1"/>
          <p:nvPr/>
        </p:nvSpPr>
        <p:spPr>
          <a:xfrm>
            <a:off x="457200" y="438912"/>
            <a:ext cx="8229600" cy="731520"/>
          </a:xfrm>
          <a:prstGeom prst="rect">
            <a:avLst/>
          </a:prstGeom>
          <a:noFill/>
          <a:ln/>
        </p:spPr>
        <p:txBody>
          <a:bodyPr wrap="square" lIns="0" tIns="0" rIns="0" bIns="0" rtlCol="0" anchor="t">
            <a:normAutofit/>
          </a:bodyPr>
          <a:lstStyle/>
          <a:p>
            <a:pPr indent="0" marL="0">
              <a:buNone/>
            </a:pPr>
            <a:r>
              <a:rPr lang="en-US" sz="2100" b="1" dirty="0">
                <a:solidFill>
                  <a:srgbClr val="1C2420"/>
                </a:solidFill>
                <a:latin typeface="Arial" pitchFamily="34" charset="0"/>
                <a:ea typeface="Arial" pitchFamily="34" charset="-122"/>
                <a:cs typeface="Arial" pitchFamily="34" charset="-120"/>
              </a:rPr>
              <a:t>A five-item script took fifteen minutes. It now takes about five</a:t>
            </a:r>
            <a:endParaRPr lang="en-US" sz="2100" dirty="0"/>
          </a:p>
        </p:txBody>
      </p:sp>
      <p:sp>
        <p:nvSpPr>
          <p:cNvPr id="5" name="Text 3"/>
          <p:cNvSpPr txBox="1"/>
          <p:nvPr/>
        </p:nvSpPr>
        <p:spPr>
          <a:xfrm>
            <a:off x="457200" y="1152144"/>
            <a:ext cx="8229600" cy="475488"/>
          </a:xfrm>
          <a:prstGeom prst="rect">
            <a:avLst/>
          </a:prstGeom>
          <a:noFill/>
          <a:ln/>
        </p:spPr>
        <p:txBody>
          <a:bodyPr wrap="square" lIns="0" tIns="0" rIns="0" bIns="0" rtlCol="0" anchor="t">
            <a:normAutofit/>
          </a:bodyPr>
          <a:lstStyle/>
          <a:p>
            <a:pPr indent="0" marL="0">
              <a:buNone/>
            </a:pPr>
            <a:r>
              <a:rPr lang="en-US" sz="1100" dirty="0">
                <a:solidFill>
                  <a:srgbClr val="4C5A52"/>
                </a:solidFill>
                <a:latin typeface="Arial" pitchFamily="34" charset="0"/>
                <a:ea typeface="Arial" pitchFamily="34" charset="-122"/>
                <a:cs typeface="Arial" pitchFamily="34" charset="-120"/>
              </a:rPr>
              <a:t>The pharmacy was redesigned to serve scripts faster and better. On the evidence so far, it does, and the people running it want to keep it that way.</a:t>
            </a:r>
            <a:endParaRPr lang="en-US" sz="1100" dirty="0"/>
          </a:p>
        </p:txBody>
      </p:sp>
      <p:sp>
        <p:nvSpPr>
          <p:cNvPr id="7" name="Shape 4"/>
          <p:cNvSpPr/>
          <p:nvPr/>
        </p:nvSpPr>
        <p:spPr>
          <a:xfrm>
            <a:off x="457200" y="1691640"/>
            <a:ext cx="3749040" cy="1371600"/>
          </a:xfrm>
          <a:prstGeom prst="rect">
            <a:avLst/>
          </a:prstGeom>
          <a:solidFill>
            <a:srgbClr val="FAF3D9"/>
          </a:solidFill>
          <a:ln w="12700">
            <a:solidFill>
              <a:srgbClr val="FAF3D9"/>
            </a:solidFill>
            <a:prstDash val="solid"/>
          </a:ln>
        </p:spPr>
      </p:sp>
      <p:sp>
        <p:nvSpPr>
          <p:cNvPr id="8" name="Text 5"/>
          <p:cNvSpPr txBox="1"/>
          <p:nvPr/>
        </p:nvSpPr>
        <p:spPr>
          <a:xfrm>
            <a:off x="621792" y="1783080"/>
            <a:ext cx="3419856" cy="384048"/>
          </a:xfrm>
          <a:prstGeom prst="rect">
            <a:avLst/>
          </a:prstGeom>
          <a:noFill/>
          <a:ln/>
        </p:spPr>
        <p:txBody>
          <a:bodyPr wrap="square" lIns="0" tIns="0" rIns="0" bIns="0" rtlCol="0" anchor="ctr">
            <a:normAutofit/>
          </a:bodyPr>
          <a:lstStyle/>
          <a:p>
            <a:pPr indent="0" marL="0">
              <a:buNone/>
            </a:pPr>
            <a:r>
              <a:rPr lang="en-US" sz="1800" b="1" dirty="0">
                <a:solidFill>
                  <a:srgbClr val="1C2420"/>
                </a:solidFill>
                <a:latin typeface="Arial" pitchFamily="34" charset="0"/>
                <a:ea typeface="Arial" pitchFamily="34" charset="-122"/>
                <a:cs typeface="Arial" pitchFamily="34" charset="-120"/>
              </a:rPr>
              <a:t>15 min  -&gt;  about 5 min</a:t>
            </a:r>
            <a:endParaRPr lang="en-US" sz="1800" dirty="0"/>
          </a:p>
        </p:txBody>
      </p:sp>
      <p:sp>
        <p:nvSpPr>
          <p:cNvPr id="9" name="Text 6"/>
          <p:cNvSpPr txBox="1"/>
          <p:nvPr/>
        </p:nvSpPr>
        <p:spPr>
          <a:xfrm>
            <a:off x="621792" y="2167128"/>
            <a:ext cx="3419856" cy="822960"/>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Before Store of the Future, a new script with five items took about 15 minutes to dispense at the counter, with the customer standing there for all of it. In the new pharmacy the average time to serve at the dispensary is about 5 minutes.</a:t>
            </a:r>
            <a:endParaRPr lang="en-US" sz="900" dirty="0"/>
          </a:p>
        </p:txBody>
      </p:sp>
      <p:sp>
        <p:nvSpPr>
          <p:cNvPr id="10" name="Text 7"/>
          <p:cNvSpPr txBox="1"/>
          <p:nvPr/>
        </p:nvSpPr>
        <p:spPr>
          <a:xfrm>
            <a:off x="457200" y="3200400"/>
            <a:ext cx="3749040" cy="1463040"/>
          </a:xfrm>
          <a:prstGeom prst="rect">
            <a:avLst/>
          </a:prstGeom>
          <a:noFill/>
          <a:ln/>
        </p:spPr>
        <p:txBody>
          <a:bodyPr wrap="square" lIns="0" tIns="0" rIns="0" bIns="0" rtlCol="0" anchor="t"/>
          <a:lstStyle/>
          <a:p>
            <a:pPr indent="0" marL="0">
              <a:buNone/>
            </a:pPr>
            <a:r>
              <a:rPr lang="en-US" sz="950" dirty="0">
                <a:solidFill>
                  <a:srgbClr val="1C2420"/>
                </a:solidFill>
                <a:latin typeface="Arial" pitchFamily="34" charset="0"/>
                <a:ea typeface="Arial" pitchFamily="34" charset="-122"/>
                <a:cs typeface="Arial" pitchFamily="34" charset="-120"/>
              </a:rPr>
              <a:t>How the time was won: the customer hands in and walks away, the picking happens in the back as a production line, and the counter is used only for the two conversations that need a pharmacist, handing in and handing over. A long script no longer holds up everyone behind it.</a:t>
            </a:r>
            <a:endParaRPr lang="en-US" sz="950" dirty="0"/>
          </a:p>
        </p:txBody>
      </p:sp>
      <p:sp>
        <p:nvSpPr>
          <p:cNvPr id="11" name="Text 8"/>
          <p:cNvSpPr txBox="1"/>
          <p:nvPr/>
        </p:nvSpPr>
        <p:spPr>
          <a:xfrm>
            <a:off x="4526280" y="1691640"/>
            <a:ext cx="416052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WHAT THE STORES SAY IS WORKING</a:t>
            </a:r>
            <a:endParaRPr lang="en-US" sz="800" dirty="0"/>
          </a:p>
        </p:txBody>
      </p:sp>
      <p:sp>
        <p:nvSpPr>
          <p:cNvPr id="12" name="Text 9"/>
          <p:cNvSpPr txBox="1"/>
          <p:nvPr/>
        </p:nvSpPr>
        <p:spPr>
          <a:xfrm>
            <a:off x="4526280" y="1920240"/>
            <a:ext cx="4160520" cy="2926080"/>
          </a:xfrm>
          <a:prstGeom prst="rect">
            <a:avLst/>
          </a:prstGeom>
          <a:noFill/>
          <a:ln/>
        </p:spPr>
        <p:txBody>
          <a:bodyPr wrap="square" lIns="0" tIns="0" rIns="0" bIns="0" rtlCol="0" anchor="t">
            <a:normAutofit/>
          </a:bodyPr>
          <a:lstStyle/>
          <a:p>
            <a:pPr marL="342900" indent="-342900">
              <a:spcAft>
                <a:spcPts val="600"/>
              </a:spcAft>
              <a:buSzPct val="100000"/>
              <a:buChar char="•"/>
            </a:pPr>
            <a:r>
              <a:rPr lang="en-US" sz="900" dirty="0">
                <a:solidFill>
                  <a:srgbClr val="1C2420"/>
                </a:solidFill>
                <a:latin typeface="Arial" pitchFamily="34" charset="0"/>
                <a:ea typeface="Arial" pitchFamily="34" charset="-122"/>
                <a:cs typeface="Arial" pitchFamily="34" charset="-120"/>
              </a:rPr>
              <a:t>Both pharmacy managers want to keep decoupling for scripts. Irene's manager: "we'd rather keep the patients we're getting".</a:t>
            </a:r>
            <a:endParaRPr lang="en-US" sz="900" dirty="0"/>
          </a:p>
          <a:p>
            <a:pPr marL="342900" indent="-342900">
              <a:spcAft>
                <a:spcPts val="600"/>
              </a:spcAft>
              <a:buSzPct val="100000"/>
              <a:buChar char="•"/>
            </a:pPr>
            <a:r>
              <a:rPr lang="en-US" sz="900" dirty="0">
                <a:solidFill>
                  <a:srgbClr val="1C2420"/>
                </a:solidFill>
                <a:latin typeface="Arial" pitchFamily="34" charset="0"/>
                <a:ea typeface="Arial" pitchFamily="34" charset="-122"/>
                <a:cs typeface="Arial" pitchFamily="34" charset="-120"/>
              </a:rPr>
              <a:t>Local doctors who bring four or five scripts at once are impressed, because the first scripts are picked while the later ones are still being captured.</a:t>
            </a:r>
            <a:endParaRPr lang="en-US" sz="900" dirty="0"/>
          </a:p>
          <a:p>
            <a:pPr marL="342900" indent="-342900">
              <a:spcAft>
                <a:spcPts val="600"/>
              </a:spcAft>
              <a:buSzPct val="100000"/>
              <a:buChar char="•"/>
            </a:pPr>
            <a:r>
              <a:rPr lang="en-US" sz="900" dirty="0">
                <a:solidFill>
                  <a:srgbClr val="1C2420"/>
                </a:solidFill>
                <a:latin typeface="Arial" pitchFamily="34" charset="0"/>
                <a:ea typeface="Arial" pitchFamily="34" charset="-122"/>
                <a:cs typeface="Arial" pitchFamily="34" charset="-120"/>
              </a:rPr>
              <a:t>Friction fades as customers learn. At Melrose Arch, four months in, return customers ticket themselves without help, and the daily "why is it like this?" has largely stopped.</a:t>
            </a:r>
            <a:endParaRPr lang="en-US" sz="900" dirty="0"/>
          </a:p>
          <a:p>
            <a:pPr marL="342900" indent="-342900">
              <a:spcAft>
                <a:spcPts val="600"/>
              </a:spcAft>
              <a:buSzPct val="100000"/>
              <a:buChar char="•"/>
            </a:pPr>
            <a:r>
              <a:rPr lang="en-US" sz="900" dirty="0">
                <a:solidFill>
                  <a:srgbClr val="1C2420"/>
                </a:solidFill>
                <a:latin typeface="Arial" pitchFamily="34" charset="0"/>
                <a:ea typeface="Arial" pitchFamily="34" charset="-122"/>
                <a:cs typeface="Arial" pitchFamily="34" charset="-120"/>
              </a:rPr>
              <a:t>The process is faster than it feels. A Melrose customer who complained of a 30-minute wait had waited 44 seconds for the pick and 10 seconds to sign. Time to serve is as much a matter of perception as of the clock.</a:t>
            </a:r>
            <a:endParaRPr lang="en-US" sz="900" dirty="0"/>
          </a:p>
          <a:p>
            <a:pPr marL="342900" indent="-342900">
              <a:spcAft>
                <a:spcPts val="600"/>
              </a:spcAft>
              <a:buSzPct val="100000"/>
              <a:buChar char="•"/>
            </a:pPr>
            <a:r>
              <a:rPr lang="en-US" sz="900" dirty="0">
                <a:solidFill>
                  <a:srgbClr val="1C2420"/>
                </a:solidFill>
                <a:latin typeface="Arial" pitchFamily="34" charset="0"/>
                <a:ea typeface="Arial" pitchFamily="34" charset="-122"/>
                <a:cs typeface="Arial" pitchFamily="34" charset="-120"/>
              </a:rPr>
              <a:t>Fewer visible prices has made premium advice easier to give, and to take. Melrose has sold more of a R394 antihistamine than its manager ever has, because the cheaper anchor is not sitting beside it.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657600" cy="228600"/>
          </a:xfrm>
          <a:prstGeom prst="rect">
            <a:avLst/>
          </a:prstGeom>
          <a:noFill/>
          <a:ln/>
        </p:spPr>
        <p:txBody>
          <a:bodyPr wrap="square" lIns="0" tIns="0" rIns="0" bIns="0" rtlCol="0" anchor="ctr"/>
          <a:lstStyle/>
          <a:p>
            <a:pPr indent="0" marL="0">
              <a:buNone/>
            </a:pPr>
            <a:r>
              <a:rPr lang="en-US" sz="900" b="1" spc="200" kern="0" dirty="0">
                <a:solidFill>
                  <a:srgbClr val="0A7A44"/>
                </a:solidFill>
                <a:latin typeface="Arial" pitchFamily="34" charset="0"/>
                <a:ea typeface="Arial" pitchFamily="34" charset="-122"/>
                <a:cs typeface="Arial" pitchFamily="34" charset="-120"/>
              </a:rPr>
              <a:t>SECTION 2 · WHAT HAVE WE LEARNED?</a:t>
            </a:r>
            <a:endParaRPr lang="en-US" sz="900" dirty="0"/>
          </a:p>
        </p:txBody>
      </p:sp>
      <p:sp>
        <p:nvSpPr>
          <p:cNvPr id="3" name="Text 1"/>
          <p:cNvSpPr txBox="1"/>
          <p:nvPr/>
        </p:nvSpPr>
        <p:spPr>
          <a:xfrm>
            <a:off x="6400800" y="201168"/>
            <a:ext cx="2286000" cy="228600"/>
          </a:xfrm>
          <a:prstGeom prst="rect">
            <a:avLst/>
          </a:prstGeom>
          <a:noFill/>
          <a:ln/>
        </p:spPr>
        <p:txBody>
          <a:bodyPr wrap="square" lIns="0" tIns="0" rIns="0" bIns="0" rtlCol="0" anchor="ctr"/>
          <a:lstStyle/>
          <a:p>
            <a:pPr algn="r" indent="0" marL="0">
              <a:buNone/>
            </a:pPr>
            <a:r>
              <a:rPr lang="en-US" sz="900" dirty="0">
                <a:solidFill>
                  <a:srgbClr val="7D8A82"/>
                </a:solidFill>
                <a:latin typeface="Arial" pitchFamily="34" charset="0"/>
                <a:ea typeface="Arial" pitchFamily="34" charset="-122"/>
                <a:cs typeface="Arial" pitchFamily="34" charset="-120"/>
              </a:rPr>
              <a:t>Slide 2.2</a:t>
            </a:r>
            <a:endParaRPr lang="en-US" sz="900" dirty="0"/>
          </a:p>
        </p:txBody>
      </p:sp>
      <p:sp>
        <p:nvSpPr>
          <p:cNvPr id="4" name="Text 2"/>
          <p:cNvSpPr txBox="1"/>
          <p:nvPr/>
        </p:nvSpPr>
        <p:spPr>
          <a:xfrm>
            <a:off x="457200" y="438912"/>
            <a:ext cx="8229600" cy="731520"/>
          </a:xfrm>
          <a:prstGeom prst="rect">
            <a:avLst/>
          </a:prstGeom>
          <a:noFill/>
          <a:ln/>
        </p:spPr>
        <p:txBody>
          <a:bodyPr wrap="square" lIns="0" tIns="0" rIns="0" bIns="0" rtlCol="0" anchor="t">
            <a:normAutofit/>
          </a:bodyPr>
          <a:lstStyle/>
          <a:p>
            <a:pPr indent="0" marL="0">
              <a:buNone/>
            </a:pPr>
            <a:r>
              <a:rPr lang="en-US" sz="2100" b="1" dirty="0">
                <a:solidFill>
                  <a:srgbClr val="1C2420"/>
                </a:solidFill>
                <a:latin typeface="Arial" pitchFamily="34" charset="0"/>
                <a:ea typeface="Arial" pitchFamily="34" charset="-122"/>
                <a:cs typeface="Arial" pitchFamily="34" charset="-120"/>
              </a:rPr>
              <a:t>The friction sits at three points in the journey, and OTC customers hit all three</a:t>
            </a:r>
            <a:endParaRPr lang="en-US" sz="2100" dirty="0"/>
          </a:p>
        </p:txBody>
      </p:sp>
      <p:sp>
        <p:nvSpPr>
          <p:cNvPr id="5" name="Text 3"/>
          <p:cNvSpPr txBox="1"/>
          <p:nvPr/>
        </p:nvSpPr>
        <p:spPr>
          <a:xfrm>
            <a:off x="457200" y="1152144"/>
            <a:ext cx="8229600" cy="475488"/>
          </a:xfrm>
          <a:prstGeom prst="rect">
            <a:avLst/>
          </a:prstGeom>
          <a:noFill/>
          <a:ln/>
        </p:spPr>
        <p:txBody>
          <a:bodyPr wrap="square" lIns="0" tIns="0" rIns="0" bIns="0" rtlCol="0" anchor="t">
            <a:normAutofit/>
          </a:bodyPr>
          <a:lstStyle/>
          <a:p>
            <a:pPr indent="0" marL="0">
              <a:buNone/>
            </a:pPr>
            <a:r>
              <a:rPr lang="en-US" sz="1100" dirty="0">
                <a:solidFill>
                  <a:srgbClr val="4C5A52"/>
                </a:solidFill>
                <a:latin typeface="Arial" pitchFamily="34" charset="0"/>
                <a:ea typeface="Arial" pitchFamily="34" charset="-122"/>
                <a:cs typeface="Arial" pitchFamily="34" charset="-120"/>
              </a:rPr>
              <a:t>Run the same steps for a script customer and for someone buying one box of painkillers, and the friction lands in different places. For the script customer the process fits the wait. For the OTC customer the wait is the process.</a:t>
            </a:r>
            <a:endParaRPr lang="en-US" sz="1100" dirty="0"/>
          </a:p>
        </p:txBody>
      </p:sp>
      <p:sp>
        <p:nvSpPr>
          <p:cNvPr id="7" name="Shape 4"/>
          <p:cNvSpPr/>
          <p:nvPr/>
        </p:nvSpPr>
        <p:spPr>
          <a:xfrm>
            <a:off x="1371600" y="1691640"/>
            <a:ext cx="1181100" cy="310896"/>
          </a:xfrm>
          <a:prstGeom prst="rect">
            <a:avLst/>
          </a:prstGeom>
          <a:solidFill>
            <a:srgbClr val="0A7A44"/>
          </a:solidFill>
          <a:ln w="12700">
            <a:solidFill>
              <a:srgbClr val="0A7A44"/>
            </a:solidFill>
            <a:prstDash val="solid"/>
          </a:ln>
        </p:spPr>
      </p:sp>
      <p:sp>
        <p:nvSpPr>
          <p:cNvPr id="8" name="Text 5"/>
          <p:cNvSpPr txBox="1"/>
          <p:nvPr/>
        </p:nvSpPr>
        <p:spPr>
          <a:xfrm>
            <a:off x="1371600" y="1691640"/>
            <a:ext cx="1181100"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Ticket at the Hub</a:t>
            </a:r>
            <a:endParaRPr lang="en-US" sz="800" dirty="0"/>
          </a:p>
        </p:txBody>
      </p:sp>
      <p:sp>
        <p:nvSpPr>
          <p:cNvPr id="9" name="Shape 6"/>
          <p:cNvSpPr/>
          <p:nvPr/>
        </p:nvSpPr>
        <p:spPr>
          <a:xfrm>
            <a:off x="2598420" y="1691640"/>
            <a:ext cx="1181100" cy="310896"/>
          </a:xfrm>
          <a:prstGeom prst="rect">
            <a:avLst/>
          </a:prstGeom>
          <a:solidFill>
            <a:srgbClr val="0A7A44"/>
          </a:solidFill>
          <a:ln w="12700">
            <a:solidFill>
              <a:srgbClr val="0A7A44"/>
            </a:solidFill>
            <a:prstDash val="solid"/>
          </a:ln>
        </p:spPr>
      </p:sp>
      <p:sp>
        <p:nvSpPr>
          <p:cNvPr id="10" name="Text 7"/>
          <p:cNvSpPr txBox="1"/>
          <p:nvPr/>
        </p:nvSpPr>
        <p:spPr>
          <a:xfrm>
            <a:off x="2598420" y="1691640"/>
            <a:ext cx="1181100"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Roam</a:t>
            </a:r>
            <a:endParaRPr lang="en-US" sz="800" dirty="0"/>
          </a:p>
        </p:txBody>
      </p:sp>
      <p:sp>
        <p:nvSpPr>
          <p:cNvPr id="11" name="Shape 8"/>
          <p:cNvSpPr/>
          <p:nvPr/>
        </p:nvSpPr>
        <p:spPr>
          <a:xfrm>
            <a:off x="3825240" y="1691640"/>
            <a:ext cx="1181100" cy="310896"/>
          </a:xfrm>
          <a:prstGeom prst="rect">
            <a:avLst/>
          </a:prstGeom>
          <a:solidFill>
            <a:srgbClr val="0A7A44"/>
          </a:solidFill>
          <a:ln w="12700">
            <a:solidFill>
              <a:srgbClr val="0A7A44"/>
            </a:solidFill>
            <a:prstDash val="solid"/>
          </a:ln>
        </p:spPr>
      </p:sp>
      <p:sp>
        <p:nvSpPr>
          <p:cNvPr id="12" name="Text 9"/>
          <p:cNvSpPr txBox="1"/>
          <p:nvPr/>
        </p:nvSpPr>
        <p:spPr>
          <a:xfrm>
            <a:off x="3825240" y="1691640"/>
            <a:ext cx="1181100"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Drop-off counter</a:t>
            </a:r>
            <a:endParaRPr lang="en-US" sz="800" dirty="0"/>
          </a:p>
        </p:txBody>
      </p:sp>
      <p:sp>
        <p:nvSpPr>
          <p:cNvPr id="13" name="Shape 10"/>
          <p:cNvSpPr/>
          <p:nvPr/>
        </p:nvSpPr>
        <p:spPr>
          <a:xfrm>
            <a:off x="5052060" y="1691640"/>
            <a:ext cx="1181100" cy="310896"/>
          </a:xfrm>
          <a:prstGeom prst="rect">
            <a:avLst/>
          </a:prstGeom>
          <a:solidFill>
            <a:srgbClr val="0A7A44"/>
          </a:solidFill>
          <a:ln w="12700">
            <a:solidFill>
              <a:srgbClr val="0A7A44"/>
            </a:solidFill>
            <a:prstDash val="solid"/>
          </a:ln>
        </p:spPr>
      </p:sp>
      <p:sp>
        <p:nvSpPr>
          <p:cNvPr id="14" name="Text 11"/>
          <p:cNvSpPr txBox="1"/>
          <p:nvPr/>
        </p:nvSpPr>
        <p:spPr>
          <a:xfrm>
            <a:off x="5052060" y="1691640"/>
            <a:ext cx="1181100"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Roam again</a:t>
            </a:r>
            <a:endParaRPr lang="en-US" sz="800" dirty="0"/>
          </a:p>
        </p:txBody>
      </p:sp>
      <p:sp>
        <p:nvSpPr>
          <p:cNvPr id="15" name="Shape 12"/>
          <p:cNvSpPr/>
          <p:nvPr/>
        </p:nvSpPr>
        <p:spPr>
          <a:xfrm>
            <a:off x="6278880" y="1691640"/>
            <a:ext cx="1181100" cy="310896"/>
          </a:xfrm>
          <a:prstGeom prst="rect">
            <a:avLst/>
          </a:prstGeom>
          <a:solidFill>
            <a:srgbClr val="0A7A44"/>
          </a:solidFill>
          <a:ln w="12700">
            <a:solidFill>
              <a:srgbClr val="0A7A44"/>
            </a:solidFill>
            <a:prstDash val="solid"/>
          </a:ln>
        </p:spPr>
      </p:sp>
      <p:sp>
        <p:nvSpPr>
          <p:cNvPr id="16" name="Text 13"/>
          <p:cNvSpPr txBox="1"/>
          <p:nvPr/>
        </p:nvSpPr>
        <p:spPr>
          <a:xfrm>
            <a:off x="6278880" y="1691640"/>
            <a:ext cx="1181100"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Collections counter</a:t>
            </a:r>
            <a:endParaRPr lang="en-US" sz="800" dirty="0"/>
          </a:p>
        </p:txBody>
      </p:sp>
      <p:sp>
        <p:nvSpPr>
          <p:cNvPr id="17" name="Shape 14"/>
          <p:cNvSpPr/>
          <p:nvPr/>
        </p:nvSpPr>
        <p:spPr>
          <a:xfrm>
            <a:off x="7505700" y="1691640"/>
            <a:ext cx="1181100" cy="310896"/>
          </a:xfrm>
          <a:prstGeom prst="rect">
            <a:avLst/>
          </a:prstGeom>
          <a:solidFill>
            <a:srgbClr val="0A7A44"/>
          </a:solidFill>
          <a:ln w="12700">
            <a:solidFill>
              <a:srgbClr val="0A7A44"/>
            </a:solidFill>
            <a:prstDash val="solid"/>
          </a:ln>
        </p:spPr>
      </p:sp>
      <p:sp>
        <p:nvSpPr>
          <p:cNvPr id="18" name="Text 15"/>
          <p:cNvSpPr txBox="1"/>
          <p:nvPr/>
        </p:nvSpPr>
        <p:spPr>
          <a:xfrm>
            <a:off x="7505700" y="1691640"/>
            <a:ext cx="1181100"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Pay at front till</a:t>
            </a:r>
            <a:endParaRPr lang="en-US" sz="800" dirty="0"/>
          </a:p>
        </p:txBody>
      </p:sp>
      <p:sp>
        <p:nvSpPr>
          <p:cNvPr id="19" name="Text 16"/>
          <p:cNvSpPr txBox="1"/>
          <p:nvPr/>
        </p:nvSpPr>
        <p:spPr>
          <a:xfrm>
            <a:off x="457200" y="2057400"/>
            <a:ext cx="868680" cy="685800"/>
          </a:xfrm>
          <a:prstGeom prst="rect">
            <a:avLst/>
          </a:prstGeom>
          <a:noFill/>
          <a:ln/>
        </p:spPr>
        <p:txBody>
          <a:bodyPr wrap="square" lIns="0" tIns="0" rIns="0" bIns="0" rtlCol="0" anchor="t"/>
          <a:lstStyle/>
          <a:p>
            <a:pPr indent="0" marL="0">
              <a:buNone/>
            </a:pPr>
            <a:r>
              <a:rPr lang="en-US" sz="700" b="1" dirty="0">
                <a:solidFill>
                  <a:srgbClr val="4C5A52"/>
                </a:solidFill>
                <a:latin typeface="Arial" pitchFamily="34" charset="0"/>
                <a:ea typeface="Arial" pitchFamily="34" charset="-122"/>
                <a:cs typeface="Arial" pitchFamily="34" charset="-120"/>
              </a:rPr>
              <a:t>SCRIPT CUSTOMER</a:t>
            </a:r>
            <a:endParaRPr lang="en-US" sz="700" dirty="0"/>
          </a:p>
        </p:txBody>
      </p:sp>
      <p:sp>
        <p:nvSpPr>
          <p:cNvPr id="20" name="Shape 17"/>
          <p:cNvSpPr/>
          <p:nvPr/>
        </p:nvSpPr>
        <p:spPr>
          <a:xfrm>
            <a:off x="1371600" y="2057400"/>
            <a:ext cx="1181100" cy="685800"/>
          </a:xfrm>
          <a:prstGeom prst="rect">
            <a:avLst/>
          </a:prstGeom>
          <a:solidFill>
            <a:srgbClr val="F7F6F2"/>
          </a:solidFill>
          <a:ln w="6350">
            <a:solidFill>
              <a:srgbClr val="DCDFD8"/>
            </a:solidFill>
            <a:prstDash val="solid"/>
          </a:ln>
        </p:spPr>
      </p:sp>
      <p:sp>
        <p:nvSpPr>
          <p:cNvPr id="21" name="Shape 18"/>
          <p:cNvSpPr/>
          <p:nvPr/>
        </p:nvSpPr>
        <p:spPr>
          <a:xfrm>
            <a:off x="2598420" y="2057400"/>
            <a:ext cx="1181100" cy="685800"/>
          </a:xfrm>
          <a:prstGeom prst="rect">
            <a:avLst/>
          </a:prstGeom>
          <a:solidFill>
            <a:srgbClr val="F7F6F2"/>
          </a:solidFill>
          <a:ln w="6350">
            <a:solidFill>
              <a:srgbClr val="DCDFD8"/>
            </a:solidFill>
            <a:prstDash val="solid"/>
          </a:ln>
        </p:spPr>
      </p:sp>
      <p:sp>
        <p:nvSpPr>
          <p:cNvPr id="22" name="Shape 19"/>
          <p:cNvSpPr/>
          <p:nvPr/>
        </p:nvSpPr>
        <p:spPr>
          <a:xfrm>
            <a:off x="2634996" y="2093976"/>
            <a:ext cx="45720" cy="612648"/>
          </a:xfrm>
          <a:prstGeom prst="rect">
            <a:avLst/>
          </a:prstGeom>
          <a:solidFill>
            <a:srgbClr val="E3B71E"/>
          </a:solidFill>
          <a:ln w="12700">
            <a:solidFill>
              <a:srgbClr val="E3B71E"/>
            </a:solidFill>
            <a:prstDash val="solid"/>
          </a:ln>
        </p:spPr>
      </p:sp>
      <p:sp>
        <p:nvSpPr>
          <p:cNvPr id="23" name="Text 20"/>
          <p:cNvSpPr txBox="1"/>
          <p:nvPr/>
        </p:nvSpPr>
        <p:spPr>
          <a:xfrm>
            <a:off x="2717292" y="2093976"/>
            <a:ext cx="1025652" cy="466344"/>
          </a:xfrm>
          <a:prstGeom prst="rect">
            <a:avLst/>
          </a:prstGeom>
          <a:noFill/>
          <a:ln/>
        </p:spPr>
        <p:txBody>
          <a:bodyPr wrap="square" lIns="0" tIns="0" rIns="0" bIns="0" rtlCol="0" anchor="t">
            <a:normAutofit/>
          </a:bodyPr>
          <a:lstStyle/>
          <a:p>
            <a:pPr indent="0" marL="0">
              <a:buNone/>
            </a:pPr>
            <a:r>
              <a:rPr lang="en-US" sz="700" dirty="0">
                <a:solidFill>
                  <a:srgbClr val="1C2420"/>
                </a:solidFill>
                <a:latin typeface="Arial" pitchFamily="34" charset="0"/>
                <a:ea typeface="Arial" pitchFamily="34" charset="-122"/>
                <a:cs typeface="Arial" pitchFamily="34" charset="-120"/>
              </a:rPr>
              <a:t>Long new scripts (24 items) hold the queue at peak for everyone behind.</a:t>
            </a:r>
            <a:endParaRPr lang="en-US" sz="700" dirty="0"/>
          </a:p>
        </p:txBody>
      </p:sp>
      <p:sp>
        <p:nvSpPr>
          <p:cNvPr id="24" name="Text 21"/>
          <p:cNvSpPr txBox="1"/>
          <p:nvPr/>
        </p:nvSpPr>
        <p:spPr>
          <a:xfrm>
            <a:off x="2717292" y="2560320"/>
            <a:ext cx="1025652" cy="146304"/>
          </a:xfrm>
          <a:prstGeom prst="rect">
            <a:avLst/>
          </a:prstGeom>
          <a:noFill/>
          <a:ln/>
        </p:spPr>
        <p:txBody>
          <a:bodyPr wrap="square" lIns="0" tIns="0" rIns="0" bIns="0" rtlCol="0" anchor="ctr"/>
          <a:lstStyle/>
          <a:p>
            <a:pPr indent="0" marL="0">
              <a:buNone/>
            </a:pPr>
            <a:r>
              <a:rPr lang="en-US" sz="550" dirty="0">
                <a:solidFill>
                  <a:srgbClr val="7D8A82"/>
                </a:solidFill>
                <a:latin typeface="Arial" pitchFamily="34" charset="0"/>
                <a:ea typeface="Arial" pitchFamily="34" charset="-122"/>
                <a:cs typeface="Arial" pitchFamily="34" charset="-120"/>
              </a:rPr>
              <a:t>IRENE MANAGER</a:t>
            </a:r>
            <a:endParaRPr lang="en-US" sz="550" dirty="0"/>
          </a:p>
        </p:txBody>
      </p:sp>
      <p:sp>
        <p:nvSpPr>
          <p:cNvPr id="25" name="Shape 22"/>
          <p:cNvSpPr/>
          <p:nvPr/>
        </p:nvSpPr>
        <p:spPr>
          <a:xfrm>
            <a:off x="3825240" y="2057400"/>
            <a:ext cx="1181100" cy="685800"/>
          </a:xfrm>
          <a:prstGeom prst="rect">
            <a:avLst/>
          </a:prstGeom>
          <a:solidFill>
            <a:srgbClr val="F7F6F2"/>
          </a:solidFill>
          <a:ln w="6350">
            <a:solidFill>
              <a:srgbClr val="DCDFD8"/>
            </a:solidFill>
            <a:prstDash val="solid"/>
          </a:ln>
        </p:spPr>
      </p:sp>
      <p:sp>
        <p:nvSpPr>
          <p:cNvPr id="26" name="Shape 23"/>
          <p:cNvSpPr/>
          <p:nvPr/>
        </p:nvSpPr>
        <p:spPr>
          <a:xfrm>
            <a:off x="5052060" y="2057400"/>
            <a:ext cx="1181100" cy="685800"/>
          </a:xfrm>
          <a:prstGeom prst="rect">
            <a:avLst/>
          </a:prstGeom>
          <a:solidFill>
            <a:srgbClr val="F7F6F2"/>
          </a:solidFill>
          <a:ln w="6350">
            <a:solidFill>
              <a:srgbClr val="DCDFD8"/>
            </a:solidFill>
            <a:prstDash val="solid"/>
          </a:ln>
        </p:spPr>
      </p:sp>
      <p:sp>
        <p:nvSpPr>
          <p:cNvPr id="27" name="Shape 24"/>
          <p:cNvSpPr/>
          <p:nvPr/>
        </p:nvSpPr>
        <p:spPr>
          <a:xfrm>
            <a:off x="6278880" y="2057400"/>
            <a:ext cx="1181100" cy="685800"/>
          </a:xfrm>
          <a:prstGeom prst="rect">
            <a:avLst/>
          </a:prstGeom>
          <a:solidFill>
            <a:srgbClr val="F7F6F2"/>
          </a:solidFill>
          <a:ln w="6350">
            <a:solidFill>
              <a:srgbClr val="DCDFD8"/>
            </a:solidFill>
            <a:prstDash val="solid"/>
          </a:ln>
        </p:spPr>
      </p:sp>
      <p:sp>
        <p:nvSpPr>
          <p:cNvPr id="28" name="Shape 25"/>
          <p:cNvSpPr/>
          <p:nvPr/>
        </p:nvSpPr>
        <p:spPr>
          <a:xfrm>
            <a:off x="6315456" y="2093976"/>
            <a:ext cx="45720" cy="612648"/>
          </a:xfrm>
          <a:prstGeom prst="rect">
            <a:avLst/>
          </a:prstGeom>
          <a:solidFill>
            <a:srgbClr val="E3B71E"/>
          </a:solidFill>
          <a:ln w="12700">
            <a:solidFill>
              <a:srgbClr val="E3B71E"/>
            </a:solidFill>
            <a:prstDash val="solid"/>
          </a:ln>
        </p:spPr>
      </p:sp>
      <p:sp>
        <p:nvSpPr>
          <p:cNvPr id="29" name="Text 26"/>
          <p:cNvSpPr txBox="1"/>
          <p:nvPr/>
        </p:nvSpPr>
        <p:spPr>
          <a:xfrm>
            <a:off x="6397752" y="2093976"/>
            <a:ext cx="1025652" cy="466344"/>
          </a:xfrm>
          <a:prstGeom prst="rect">
            <a:avLst/>
          </a:prstGeom>
          <a:noFill/>
          <a:ln/>
        </p:spPr>
        <p:txBody>
          <a:bodyPr wrap="square" lIns="0" tIns="0" rIns="0" bIns="0" rtlCol="0" anchor="t">
            <a:normAutofit/>
          </a:bodyPr>
          <a:lstStyle/>
          <a:p>
            <a:pPr indent="0" marL="0">
              <a:buNone/>
            </a:pPr>
            <a:r>
              <a:rPr lang="en-US" sz="700" dirty="0">
                <a:solidFill>
                  <a:srgbClr val="1C2420"/>
                </a:solidFill>
                <a:latin typeface="Arial" pitchFamily="34" charset="0"/>
                <a:ea typeface="Arial" pitchFamily="34" charset="-122"/>
                <a:cs typeface="Arial" pitchFamily="34" charset="-120"/>
              </a:rPr>
              <a:t>OTC ticket P006 called before script P005: "why?"</a:t>
            </a:r>
            <a:endParaRPr lang="en-US" sz="700" dirty="0"/>
          </a:p>
        </p:txBody>
      </p:sp>
      <p:sp>
        <p:nvSpPr>
          <p:cNvPr id="30" name="Text 27"/>
          <p:cNvSpPr txBox="1"/>
          <p:nvPr/>
        </p:nvSpPr>
        <p:spPr>
          <a:xfrm>
            <a:off x="6397752" y="2560320"/>
            <a:ext cx="1025652" cy="146304"/>
          </a:xfrm>
          <a:prstGeom prst="rect">
            <a:avLst/>
          </a:prstGeom>
          <a:noFill/>
          <a:ln/>
        </p:spPr>
        <p:txBody>
          <a:bodyPr wrap="square" lIns="0" tIns="0" rIns="0" bIns="0" rtlCol="0" anchor="ctr"/>
          <a:lstStyle/>
          <a:p>
            <a:pPr indent="0" marL="0">
              <a:buNone/>
            </a:pPr>
            <a:r>
              <a:rPr lang="en-US" sz="550" dirty="0">
                <a:solidFill>
                  <a:srgbClr val="7D8A82"/>
                </a:solidFill>
                <a:latin typeface="Arial" pitchFamily="34" charset="0"/>
                <a:ea typeface="Arial" pitchFamily="34" charset="-122"/>
                <a:cs typeface="Arial" pitchFamily="34" charset="-120"/>
              </a:rPr>
              <a:t>MELROSE HUB ADVISOR</a:t>
            </a:r>
            <a:endParaRPr lang="en-US" sz="550" dirty="0"/>
          </a:p>
        </p:txBody>
      </p:sp>
      <p:sp>
        <p:nvSpPr>
          <p:cNvPr id="31" name="Shape 28"/>
          <p:cNvSpPr/>
          <p:nvPr/>
        </p:nvSpPr>
        <p:spPr>
          <a:xfrm>
            <a:off x="7505700" y="2057400"/>
            <a:ext cx="1181100" cy="685800"/>
          </a:xfrm>
          <a:prstGeom prst="rect">
            <a:avLst/>
          </a:prstGeom>
          <a:solidFill>
            <a:srgbClr val="F7F6F2"/>
          </a:solidFill>
          <a:ln w="6350">
            <a:solidFill>
              <a:srgbClr val="DCDFD8"/>
            </a:solidFill>
            <a:prstDash val="solid"/>
          </a:ln>
        </p:spPr>
      </p:sp>
      <p:sp>
        <p:nvSpPr>
          <p:cNvPr id="32" name="Text 29"/>
          <p:cNvSpPr txBox="1"/>
          <p:nvPr/>
        </p:nvSpPr>
        <p:spPr>
          <a:xfrm>
            <a:off x="457200" y="2798064"/>
            <a:ext cx="868680" cy="1600200"/>
          </a:xfrm>
          <a:prstGeom prst="rect">
            <a:avLst/>
          </a:prstGeom>
          <a:noFill/>
          <a:ln/>
        </p:spPr>
        <p:txBody>
          <a:bodyPr wrap="square" lIns="0" tIns="0" rIns="0" bIns="0" rtlCol="0" anchor="t"/>
          <a:lstStyle/>
          <a:p>
            <a:pPr indent="0" marL="0">
              <a:buNone/>
            </a:pPr>
            <a:r>
              <a:rPr lang="en-US" sz="700" b="1" dirty="0">
                <a:solidFill>
                  <a:srgbClr val="4C5A52"/>
                </a:solidFill>
                <a:latin typeface="Arial" pitchFamily="34" charset="0"/>
                <a:ea typeface="Arial" pitchFamily="34" charset="-122"/>
                <a:cs typeface="Arial" pitchFamily="34" charset="-120"/>
              </a:rPr>
              <a:t>OTC-ONLY CUSTOMER</a:t>
            </a:r>
            <a:endParaRPr lang="en-US" sz="700" dirty="0"/>
          </a:p>
        </p:txBody>
      </p:sp>
      <p:sp>
        <p:nvSpPr>
          <p:cNvPr id="33" name="Shape 30"/>
          <p:cNvSpPr/>
          <p:nvPr/>
        </p:nvSpPr>
        <p:spPr>
          <a:xfrm>
            <a:off x="1371600" y="2798064"/>
            <a:ext cx="1181100" cy="1600200"/>
          </a:xfrm>
          <a:prstGeom prst="rect">
            <a:avLst/>
          </a:prstGeom>
          <a:solidFill>
            <a:srgbClr val="F7F6F2"/>
          </a:solidFill>
          <a:ln w="6350">
            <a:solidFill>
              <a:srgbClr val="DCDFD8"/>
            </a:solidFill>
            <a:prstDash val="solid"/>
          </a:ln>
        </p:spPr>
      </p:sp>
      <p:sp>
        <p:nvSpPr>
          <p:cNvPr id="34" name="Shape 31"/>
          <p:cNvSpPr/>
          <p:nvPr/>
        </p:nvSpPr>
        <p:spPr>
          <a:xfrm>
            <a:off x="1408176" y="2834640"/>
            <a:ext cx="45720" cy="1527048"/>
          </a:xfrm>
          <a:prstGeom prst="rect">
            <a:avLst/>
          </a:prstGeom>
          <a:solidFill>
            <a:srgbClr val="B4552A"/>
          </a:solidFill>
          <a:ln w="12700">
            <a:solidFill>
              <a:srgbClr val="B4552A"/>
            </a:solidFill>
            <a:prstDash val="solid"/>
          </a:ln>
        </p:spPr>
      </p:sp>
      <p:sp>
        <p:nvSpPr>
          <p:cNvPr id="35" name="Text 32"/>
          <p:cNvSpPr txBox="1"/>
          <p:nvPr/>
        </p:nvSpPr>
        <p:spPr>
          <a:xfrm>
            <a:off x="1490472" y="2834640"/>
            <a:ext cx="1025652" cy="1380744"/>
          </a:xfrm>
          <a:prstGeom prst="rect">
            <a:avLst/>
          </a:prstGeom>
          <a:noFill/>
          <a:ln/>
        </p:spPr>
        <p:txBody>
          <a:bodyPr wrap="square" lIns="0" tIns="0" rIns="0" bIns="0" rtlCol="0" anchor="t">
            <a:normAutofit/>
          </a:bodyPr>
          <a:lstStyle/>
          <a:p>
            <a:pPr indent="0" marL="0">
              <a:buNone/>
            </a:pPr>
            <a:r>
              <a:rPr lang="en-US" sz="700" dirty="0">
                <a:solidFill>
                  <a:srgbClr val="1C2420"/>
                </a:solidFill>
                <a:latin typeface="Arial" pitchFamily="34" charset="0"/>
                <a:ea typeface="Arial" pitchFamily="34" charset="-122"/>
                <a:cs typeface="Arial" pitchFamily="34" charset="-120"/>
              </a:rPr>
              <a:t>One item, but take a ticket and wait, when every other Dis-Chem hands it over.</a:t>
            </a:r>
            <a:endParaRPr lang="en-US" sz="700" dirty="0"/>
          </a:p>
        </p:txBody>
      </p:sp>
      <p:sp>
        <p:nvSpPr>
          <p:cNvPr id="36" name="Text 33"/>
          <p:cNvSpPr txBox="1"/>
          <p:nvPr/>
        </p:nvSpPr>
        <p:spPr>
          <a:xfrm>
            <a:off x="1490472" y="4215384"/>
            <a:ext cx="1025652" cy="146304"/>
          </a:xfrm>
          <a:prstGeom prst="rect">
            <a:avLst/>
          </a:prstGeom>
          <a:noFill/>
          <a:ln/>
        </p:spPr>
        <p:txBody>
          <a:bodyPr wrap="square" lIns="0" tIns="0" rIns="0" bIns="0" rtlCol="0" anchor="ctr"/>
          <a:lstStyle/>
          <a:p>
            <a:pPr indent="0" marL="0">
              <a:buNone/>
            </a:pPr>
            <a:r>
              <a:rPr lang="en-US" sz="550" dirty="0">
                <a:solidFill>
                  <a:srgbClr val="7D8A82"/>
                </a:solidFill>
                <a:latin typeface="Arial" pitchFamily="34" charset="0"/>
                <a:ea typeface="Arial" pitchFamily="34" charset="-122"/>
                <a:cs typeface="Arial" pitchFamily="34" charset="-120"/>
              </a:rPr>
              <a:t>BOTH MANAGERS · CARELINE</a:t>
            </a:r>
            <a:endParaRPr lang="en-US" sz="550" dirty="0"/>
          </a:p>
        </p:txBody>
      </p:sp>
      <p:sp>
        <p:nvSpPr>
          <p:cNvPr id="37" name="Shape 34"/>
          <p:cNvSpPr/>
          <p:nvPr/>
        </p:nvSpPr>
        <p:spPr>
          <a:xfrm>
            <a:off x="2598420" y="2798064"/>
            <a:ext cx="1181100" cy="1600200"/>
          </a:xfrm>
          <a:prstGeom prst="rect">
            <a:avLst/>
          </a:prstGeom>
          <a:solidFill>
            <a:srgbClr val="F7F6F2"/>
          </a:solidFill>
          <a:ln w="6350">
            <a:solidFill>
              <a:srgbClr val="DCDFD8"/>
            </a:solidFill>
            <a:prstDash val="solid"/>
          </a:ln>
        </p:spPr>
      </p:sp>
      <p:sp>
        <p:nvSpPr>
          <p:cNvPr id="38" name="Shape 35"/>
          <p:cNvSpPr/>
          <p:nvPr/>
        </p:nvSpPr>
        <p:spPr>
          <a:xfrm>
            <a:off x="2634996" y="2834640"/>
            <a:ext cx="45720" cy="1527048"/>
          </a:xfrm>
          <a:prstGeom prst="rect">
            <a:avLst/>
          </a:prstGeom>
          <a:solidFill>
            <a:srgbClr val="B4552A"/>
          </a:solidFill>
          <a:ln w="12700">
            <a:solidFill>
              <a:srgbClr val="B4552A"/>
            </a:solidFill>
            <a:prstDash val="solid"/>
          </a:ln>
        </p:spPr>
      </p:sp>
      <p:sp>
        <p:nvSpPr>
          <p:cNvPr id="39" name="Text 36"/>
          <p:cNvSpPr txBox="1"/>
          <p:nvPr/>
        </p:nvSpPr>
        <p:spPr>
          <a:xfrm>
            <a:off x="2717292" y="2834640"/>
            <a:ext cx="1025652" cy="1380744"/>
          </a:xfrm>
          <a:prstGeom prst="rect">
            <a:avLst/>
          </a:prstGeom>
          <a:noFill/>
          <a:ln/>
        </p:spPr>
        <p:txBody>
          <a:bodyPr wrap="square" lIns="0" tIns="0" rIns="0" bIns="0" rtlCol="0" anchor="t">
            <a:normAutofit/>
          </a:bodyPr>
          <a:lstStyle/>
          <a:p>
            <a:pPr indent="0" marL="0">
              <a:buNone/>
            </a:pPr>
            <a:r>
              <a:rPr lang="en-US" sz="700" dirty="0">
                <a:solidFill>
                  <a:srgbClr val="1C2420"/>
                </a:solidFill>
                <a:latin typeface="Arial" pitchFamily="34" charset="0"/>
                <a:ea typeface="Arial" pitchFamily="34" charset="-122"/>
                <a:cs typeface="Arial" pitchFamily="34" charset="-120"/>
              </a:rPr>
              <a:t>~80% of Irene customers do not want to shop; they hover round the four-seat Hub. The post-op husband in the car: his wife told to "go shop".</a:t>
            </a:r>
            <a:endParaRPr lang="en-US" sz="700" dirty="0"/>
          </a:p>
        </p:txBody>
      </p:sp>
      <p:sp>
        <p:nvSpPr>
          <p:cNvPr id="40" name="Text 37"/>
          <p:cNvSpPr txBox="1"/>
          <p:nvPr/>
        </p:nvSpPr>
        <p:spPr>
          <a:xfrm>
            <a:off x="2717292" y="4215384"/>
            <a:ext cx="1025652" cy="146304"/>
          </a:xfrm>
          <a:prstGeom prst="rect">
            <a:avLst/>
          </a:prstGeom>
          <a:noFill/>
          <a:ln/>
        </p:spPr>
        <p:txBody>
          <a:bodyPr wrap="square" lIns="0" tIns="0" rIns="0" bIns="0" rtlCol="0" anchor="ctr"/>
          <a:lstStyle/>
          <a:p>
            <a:pPr indent="0" marL="0">
              <a:buNone/>
            </a:pPr>
            <a:r>
              <a:rPr lang="en-US" sz="550" dirty="0">
                <a:solidFill>
                  <a:srgbClr val="7D8A82"/>
                </a:solidFill>
                <a:latin typeface="Arial" pitchFamily="34" charset="0"/>
                <a:ea typeface="Arial" pitchFamily="34" charset="-122"/>
                <a:cs typeface="Arial" pitchFamily="34" charset="-120"/>
              </a:rPr>
              <a:t>IRENE MANAGER · CARELINE</a:t>
            </a:r>
            <a:endParaRPr lang="en-US" sz="550" dirty="0"/>
          </a:p>
        </p:txBody>
      </p:sp>
      <p:sp>
        <p:nvSpPr>
          <p:cNvPr id="41" name="Shape 38"/>
          <p:cNvSpPr/>
          <p:nvPr/>
        </p:nvSpPr>
        <p:spPr>
          <a:xfrm>
            <a:off x="3825240" y="2798064"/>
            <a:ext cx="1181100" cy="1600200"/>
          </a:xfrm>
          <a:prstGeom prst="rect">
            <a:avLst/>
          </a:prstGeom>
          <a:solidFill>
            <a:srgbClr val="F7F6F2"/>
          </a:solidFill>
          <a:ln w="6350">
            <a:solidFill>
              <a:srgbClr val="DCDFD8"/>
            </a:solidFill>
            <a:prstDash val="solid"/>
          </a:ln>
        </p:spPr>
      </p:sp>
      <p:sp>
        <p:nvSpPr>
          <p:cNvPr id="42" name="Shape 39"/>
          <p:cNvSpPr/>
          <p:nvPr/>
        </p:nvSpPr>
        <p:spPr>
          <a:xfrm>
            <a:off x="3861816" y="2834640"/>
            <a:ext cx="45720" cy="1527048"/>
          </a:xfrm>
          <a:prstGeom prst="rect">
            <a:avLst/>
          </a:prstGeom>
          <a:solidFill>
            <a:srgbClr val="B4552A"/>
          </a:solidFill>
          <a:ln w="12700">
            <a:solidFill>
              <a:srgbClr val="B4552A"/>
            </a:solidFill>
            <a:prstDash val="solid"/>
          </a:ln>
        </p:spPr>
      </p:sp>
      <p:sp>
        <p:nvSpPr>
          <p:cNvPr id="43" name="Text 40"/>
          <p:cNvSpPr txBox="1"/>
          <p:nvPr/>
        </p:nvSpPr>
        <p:spPr>
          <a:xfrm>
            <a:off x="3944112" y="2834640"/>
            <a:ext cx="1025652" cy="1380744"/>
          </a:xfrm>
          <a:prstGeom prst="rect">
            <a:avLst/>
          </a:prstGeom>
          <a:noFill/>
          <a:ln/>
        </p:spPr>
        <p:txBody>
          <a:bodyPr wrap="square" lIns="0" tIns="0" rIns="0" bIns="0" rtlCol="0" anchor="t">
            <a:normAutofit/>
          </a:bodyPr>
          <a:lstStyle/>
          <a:p>
            <a:pPr indent="0" marL="0">
              <a:buNone/>
            </a:pPr>
            <a:r>
              <a:rPr lang="en-US" sz="700" dirty="0">
                <a:solidFill>
                  <a:srgbClr val="1C2420"/>
                </a:solidFill>
                <a:latin typeface="Arial" pitchFamily="34" charset="0"/>
                <a:ea typeface="Arial" pitchFamily="34" charset="-122"/>
                <a:cs typeface="Arial" pitchFamily="34" charset="-120"/>
              </a:rPr>
              <a:t>Nothing to point at: no side-by-side options, no jogged memory. The second sale rests on the dispenser's selling skill.</a:t>
            </a:r>
            <a:endParaRPr lang="en-US" sz="700" dirty="0"/>
          </a:p>
        </p:txBody>
      </p:sp>
      <p:sp>
        <p:nvSpPr>
          <p:cNvPr id="44" name="Text 41"/>
          <p:cNvSpPr txBox="1"/>
          <p:nvPr/>
        </p:nvSpPr>
        <p:spPr>
          <a:xfrm>
            <a:off x="3944112" y="4215384"/>
            <a:ext cx="1025652" cy="146304"/>
          </a:xfrm>
          <a:prstGeom prst="rect">
            <a:avLst/>
          </a:prstGeom>
          <a:noFill/>
          <a:ln/>
        </p:spPr>
        <p:txBody>
          <a:bodyPr wrap="square" lIns="0" tIns="0" rIns="0" bIns="0" rtlCol="0" anchor="ctr"/>
          <a:lstStyle/>
          <a:p>
            <a:pPr indent="0" marL="0">
              <a:buNone/>
            </a:pPr>
            <a:r>
              <a:rPr lang="en-US" sz="550" dirty="0">
                <a:solidFill>
                  <a:srgbClr val="7D8A82"/>
                </a:solidFill>
                <a:latin typeface="Arial" pitchFamily="34" charset="0"/>
                <a:ea typeface="Arial" pitchFamily="34" charset="-122"/>
                <a:cs typeface="Arial" pitchFamily="34" charset="-120"/>
              </a:rPr>
              <a:t>BOTH STORES</a:t>
            </a:r>
            <a:endParaRPr lang="en-US" sz="550" dirty="0"/>
          </a:p>
        </p:txBody>
      </p:sp>
      <p:sp>
        <p:nvSpPr>
          <p:cNvPr id="45" name="Shape 42"/>
          <p:cNvSpPr/>
          <p:nvPr/>
        </p:nvSpPr>
        <p:spPr>
          <a:xfrm>
            <a:off x="5052060" y="2798064"/>
            <a:ext cx="1181100" cy="1600200"/>
          </a:xfrm>
          <a:prstGeom prst="rect">
            <a:avLst/>
          </a:prstGeom>
          <a:solidFill>
            <a:srgbClr val="F7F6F2"/>
          </a:solidFill>
          <a:ln w="6350">
            <a:solidFill>
              <a:srgbClr val="DCDFD8"/>
            </a:solidFill>
            <a:prstDash val="solid"/>
          </a:ln>
        </p:spPr>
      </p:sp>
      <p:sp>
        <p:nvSpPr>
          <p:cNvPr id="46" name="Shape 43"/>
          <p:cNvSpPr/>
          <p:nvPr/>
        </p:nvSpPr>
        <p:spPr>
          <a:xfrm>
            <a:off x="5088636" y="2834640"/>
            <a:ext cx="45720" cy="1527048"/>
          </a:xfrm>
          <a:prstGeom prst="rect">
            <a:avLst/>
          </a:prstGeom>
          <a:solidFill>
            <a:srgbClr val="B4552A"/>
          </a:solidFill>
          <a:ln w="12700">
            <a:solidFill>
              <a:srgbClr val="B4552A"/>
            </a:solidFill>
            <a:prstDash val="solid"/>
          </a:ln>
        </p:spPr>
      </p:sp>
      <p:sp>
        <p:nvSpPr>
          <p:cNvPr id="47" name="Text 44"/>
          <p:cNvSpPr txBox="1"/>
          <p:nvPr/>
        </p:nvSpPr>
        <p:spPr>
          <a:xfrm>
            <a:off x="5170932" y="2834640"/>
            <a:ext cx="1025652" cy="1380744"/>
          </a:xfrm>
          <a:prstGeom prst="rect">
            <a:avLst/>
          </a:prstGeom>
          <a:noFill/>
          <a:ln/>
        </p:spPr>
        <p:txBody>
          <a:bodyPr wrap="square" lIns="0" tIns="0" rIns="0" bIns="0" rtlCol="0" anchor="t">
            <a:normAutofit/>
          </a:bodyPr>
          <a:lstStyle/>
          <a:p>
            <a:pPr indent="0" marL="0">
              <a:buNone/>
            </a:pPr>
            <a:r>
              <a:rPr lang="en-US" sz="700" dirty="0">
                <a:solidFill>
                  <a:srgbClr val="1C2420"/>
                </a:solidFill>
                <a:latin typeface="Arial" pitchFamily="34" charset="0"/>
                <a:ea typeface="Arial" pitchFamily="34" charset="-122"/>
                <a:cs typeface="Arial" pitchFamily="34" charset="-120"/>
              </a:rPr>
              <a:t>Feels far longer than it is: A to B to C with nobody visibly working. "If I can't see you, I can't put pressure on you."</a:t>
            </a:r>
            <a:endParaRPr lang="en-US" sz="700" dirty="0"/>
          </a:p>
        </p:txBody>
      </p:sp>
      <p:sp>
        <p:nvSpPr>
          <p:cNvPr id="48" name="Text 45"/>
          <p:cNvSpPr txBox="1"/>
          <p:nvPr/>
        </p:nvSpPr>
        <p:spPr>
          <a:xfrm>
            <a:off x="5170932" y="4215384"/>
            <a:ext cx="1025652" cy="146304"/>
          </a:xfrm>
          <a:prstGeom prst="rect">
            <a:avLst/>
          </a:prstGeom>
          <a:noFill/>
          <a:ln/>
        </p:spPr>
        <p:txBody>
          <a:bodyPr wrap="square" lIns="0" tIns="0" rIns="0" bIns="0" rtlCol="0" anchor="ctr"/>
          <a:lstStyle/>
          <a:p>
            <a:pPr indent="0" marL="0">
              <a:buNone/>
            </a:pPr>
            <a:r>
              <a:rPr lang="en-US" sz="550" dirty="0">
                <a:solidFill>
                  <a:srgbClr val="7D8A82"/>
                </a:solidFill>
                <a:latin typeface="Arial" pitchFamily="34" charset="0"/>
                <a:ea typeface="Arial" pitchFamily="34" charset="-122"/>
                <a:cs typeface="Arial" pitchFamily="34" charset="-120"/>
              </a:rPr>
              <a:t>MELROSE MANAGER</a:t>
            </a:r>
            <a:endParaRPr lang="en-US" sz="550" dirty="0"/>
          </a:p>
        </p:txBody>
      </p:sp>
      <p:sp>
        <p:nvSpPr>
          <p:cNvPr id="49" name="Shape 46"/>
          <p:cNvSpPr/>
          <p:nvPr/>
        </p:nvSpPr>
        <p:spPr>
          <a:xfrm>
            <a:off x="6278880" y="2798064"/>
            <a:ext cx="1181100" cy="1600200"/>
          </a:xfrm>
          <a:prstGeom prst="rect">
            <a:avLst/>
          </a:prstGeom>
          <a:solidFill>
            <a:srgbClr val="F7F6F2"/>
          </a:solidFill>
          <a:ln w="6350">
            <a:solidFill>
              <a:srgbClr val="DCDFD8"/>
            </a:solidFill>
            <a:prstDash val="solid"/>
          </a:ln>
        </p:spPr>
      </p:sp>
      <p:sp>
        <p:nvSpPr>
          <p:cNvPr id="50" name="Shape 47"/>
          <p:cNvSpPr/>
          <p:nvPr/>
        </p:nvSpPr>
        <p:spPr>
          <a:xfrm>
            <a:off x="6315456" y="2834640"/>
            <a:ext cx="45720" cy="1527048"/>
          </a:xfrm>
          <a:prstGeom prst="rect">
            <a:avLst/>
          </a:prstGeom>
          <a:solidFill>
            <a:srgbClr val="B4552A"/>
          </a:solidFill>
          <a:ln w="12700">
            <a:solidFill>
              <a:srgbClr val="B4552A"/>
            </a:solidFill>
            <a:prstDash val="solid"/>
          </a:ln>
        </p:spPr>
      </p:sp>
      <p:sp>
        <p:nvSpPr>
          <p:cNvPr id="51" name="Text 48"/>
          <p:cNvSpPr txBox="1"/>
          <p:nvPr/>
        </p:nvSpPr>
        <p:spPr>
          <a:xfrm>
            <a:off x="6397752" y="2834640"/>
            <a:ext cx="1025652" cy="1380744"/>
          </a:xfrm>
          <a:prstGeom prst="rect">
            <a:avLst/>
          </a:prstGeom>
          <a:noFill/>
          <a:ln/>
        </p:spPr>
        <p:txBody>
          <a:bodyPr wrap="square" lIns="0" tIns="0" rIns="0" bIns="0" rtlCol="0" anchor="t">
            <a:normAutofit/>
          </a:bodyPr>
          <a:lstStyle/>
          <a:p>
            <a:pPr indent="0" marL="0">
              <a:buNone/>
            </a:pPr>
            <a:r>
              <a:rPr lang="en-US" sz="700" dirty="0">
                <a:solidFill>
                  <a:srgbClr val="1C2420"/>
                </a:solidFill>
                <a:latin typeface="Arial" pitchFamily="34" charset="0"/>
                <a:ea typeface="Arial" pitchFamily="34" charset="-122"/>
                <a:cs typeface="Arial" pitchFamily="34" charset="-120"/>
              </a:rPr>
              <a:t>A second queue, shared with scripts, for an item that took under a minute to pick.</a:t>
            </a:r>
            <a:endParaRPr lang="en-US" sz="700" dirty="0"/>
          </a:p>
        </p:txBody>
      </p:sp>
      <p:sp>
        <p:nvSpPr>
          <p:cNvPr id="52" name="Text 49"/>
          <p:cNvSpPr txBox="1"/>
          <p:nvPr/>
        </p:nvSpPr>
        <p:spPr>
          <a:xfrm>
            <a:off x="6397752" y="4215384"/>
            <a:ext cx="1025652" cy="146304"/>
          </a:xfrm>
          <a:prstGeom prst="rect">
            <a:avLst/>
          </a:prstGeom>
          <a:noFill/>
          <a:ln/>
        </p:spPr>
        <p:txBody>
          <a:bodyPr wrap="square" lIns="0" tIns="0" rIns="0" bIns="0" rtlCol="0" anchor="ctr"/>
          <a:lstStyle/>
          <a:p>
            <a:pPr indent="0" marL="0">
              <a:buNone/>
            </a:pPr>
            <a:r>
              <a:rPr lang="en-US" sz="550" dirty="0">
                <a:solidFill>
                  <a:srgbClr val="7D8A82"/>
                </a:solidFill>
                <a:latin typeface="Arial" pitchFamily="34" charset="0"/>
                <a:ea typeface="Arial" pitchFamily="34" charset="-122"/>
                <a:cs typeface="Arial" pitchFamily="34" charset="-120"/>
              </a:rPr>
              <a:t>BOTH STORES · MYSTERY SHOP</a:t>
            </a:r>
            <a:endParaRPr lang="en-US" sz="550" dirty="0"/>
          </a:p>
        </p:txBody>
      </p:sp>
      <p:sp>
        <p:nvSpPr>
          <p:cNvPr id="53" name="Shape 50"/>
          <p:cNvSpPr/>
          <p:nvPr/>
        </p:nvSpPr>
        <p:spPr>
          <a:xfrm>
            <a:off x="7505700" y="2798064"/>
            <a:ext cx="1181100" cy="1600200"/>
          </a:xfrm>
          <a:prstGeom prst="rect">
            <a:avLst/>
          </a:prstGeom>
          <a:solidFill>
            <a:srgbClr val="F7F6F2"/>
          </a:solidFill>
          <a:ln w="6350">
            <a:solidFill>
              <a:srgbClr val="DCDFD8"/>
            </a:solidFill>
            <a:prstDash val="solid"/>
          </a:ln>
        </p:spPr>
      </p:sp>
      <p:sp>
        <p:nvSpPr>
          <p:cNvPr id="54" name="Shape 51"/>
          <p:cNvSpPr/>
          <p:nvPr/>
        </p:nvSpPr>
        <p:spPr>
          <a:xfrm>
            <a:off x="7542276" y="2834640"/>
            <a:ext cx="45720" cy="1527048"/>
          </a:xfrm>
          <a:prstGeom prst="rect">
            <a:avLst/>
          </a:prstGeom>
          <a:solidFill>
            <a:srgbClr val="B4552A"/>
          </a:solidFill>
          <a:ln w="12700">
            <a:solidFill>
              <a:srgbClr val="B4552A"/>
            </a:solidFill>
            <a:prstDash val="solid"/>
          </a:ln>
        </p:spPr>
      </p:sp>
      <p:sp>
        <p:nvSpPr>
          <p:cNvPr id="55" name="Text 52"/>
          <p:cNvSpPr txBox="1"/>
          <p:nvPr/>
        </p:nvSpPr>
        <p:spPr>
          <a:xfrm>
            <a:off x="7624572" y="2834640"/>
            <a:ext cx="1025652" cy="1380744"/>
          </a:xfrm>
          <a:prstGeom prst="rect">
            <a:avLst/>
          </a:prstGeom>
          <a:noFill/>
          <a:ln/>
        </p:spPr>
        <p:txBody>
          <a:bodyPr wrap="square" lIns="0" tIns="0" rIns="0" bIns="0" rtlCol="0" anchor="t">
            <a:normAutofit/>
          </a:bodyPr>
          <a:lstStyle/>
          <a:p>
            <a:pPr indent="0" marL="0">
              <a:buNone/>
            </a:pPr>
            <a:r>
              <a:rPr lang="en-US" sz="700" dirty="0">
                <a:solidFill>
                  <a:srgbClr val="1C2420"/>
                </a:solidFill>
                <a:latin typeface="Arial" pitchFamily="34" charset="0"/>
                <a:ea typeface="Arial" pitchFamily="34" charset="-122"/>
                <a:cs typeface="Arial" pitchFamily="34" charset="-120"/>
              </a:rPr>
              <a:t>A third stop, at a till the customer walked past to get here.</a:t>
            </a:r>
            <a:endParaRPr lang="en-US" sz="700" dirty="0"/>
          </a:p>
        </p:txBody>
      </p:sp>
      <p:sp>
        <p:nvSpPr>
          <p:cNvPr id="56" name="Text 53"/>
          <p:cNvSpPr txBox="1"/>
          <p:nvPr/>
        </p:nvSpPr>
        <p:spPr>
          <a:xfrm>
            <a:off x="7624572" y="4215384"/>
            <a:ext cx="1025652" cy="146304"/>
          </a:xfrm>
          <a:prstGeom prst="rect">
            <a:avLst/>
          </a:prstGeom>
          <a:noFill/>
          <a:ln/>
        </p:spPr>
        <p:txBody>
          <a:bodyPr wrap="square" lIns="0" tIns="0" rIns="0" bIns="0" rtlCol="0" anchor="ctr"/>
          <a:lstStyle/>
          <a:p>
            <a:pPr indent="0" marL="0">
              <a:buNone/>
            </a:pPr>
            <a:r>
              <a:rPr lang="en-US" sz="550" dirty="0">
                <a:solidFill>
                  <a:srgbClr val="7D8A82"/>
                </a:solidFill>
                <a:latin typeface="Arial" pitchFamily="34" charset="0"/>
                <a:ea typeface="Arial" pitchFamily="34" charset="-122"/>
                <a:cs typeface="Arial" pitchFamily="34" charset="-120"/>
              </a:rPr>
              <a:t>LAUNCH PROCESS</a:t>
            </a:r>
            <a:endParaRPr lang="en-US" sz="550" dirty="0"/>
          </a:p>
        </p:txBody>
      </p:sp>
      <p:sp>
        <p:nvSpPr>
          <p:cNvPr id="57" name="Text 54"/>
          <p:cNvSpPr txBox="1"/>
          <p:nvPr/>
        </p:nvSpPr>
        <p:spPr>
          <a:xfrm>
            <a:off x="457200" y="4453128"/>
            <a:ext cx="868680" cy="502920"/>
          </a:xfrm>
          <a:prstGeom prst="rect">
            <a:avLst/>
          </a:prstGeom>
          <a:noFill/>
          <a:ln/>
        </p:spPr>
        <p:txBody>
          <a:bodyPr wrap="square" lIns="0" tIns="0" rIns="0" bIns="0" rtlCol="0" anchor="t"/>
          <a:lstStyle/>
          <a:p>
            <a:pPr indent="0" marL="0">
              <a:buNone/>
            </a:pPr>
            <a:r>
              <a:rPr lang="en-US" sz="700" b="1" dirty="0">
                <a:solidFill>
                  <a:srgbClr val="4C5A52"/>
                </a:solidFill>
                <a:latin typeface="Arial" pitchFamily="34" charset="0"/>
                <a:ea typeface="Arial" pitchFamily="34" charset="-122"/>
                <a:cs typeface="Arial" pitchFamily="34" charset="-120"/>
              </a:rPr>
              <a:t>WHAT DIS-CHEM PAYS</a:t>
            </a:r>
            <a:endParaRPr lang="en-US" sz="700" dirty="0"/>
          </a:p>
        </p:txBody>
      </p:sp>
      <p:sp>
        <p:nvSpPr>
          <p:cNvPr id="58" name="Shape 55"/>
          <p:cNvSpPr/>
          <p:nvPr/>
        </p:nvSpPr>
        <p:spPr>
          <a:xfrm>
            <a:off x="1371600" y="4453128"/>
            <a:ext cx="1181100" cy="502920"/>
          </a:xfrm>
          <a:prstGeom prst="rect">
            <a:avLst/>
          </a:prstGeom>
          <a:solidFill>
            <a:srgbClr val="F7F6F2"/>
          </a:solidFill>
          <a:ln w="6350">
            <a:solidFill>
              <a:srgbClr val="DCDFD8"/>
            </a:solidFill>
            <a:prstDash val="solid"/>
          </a:ln>
        </p:spPr>
      </p:sp>
      <p:sp>
        <p:nvSpPr>
          <p:cNvPr id="59" name="Shape 56"/>
          <p:cNvSpPr/>
          <p:nvPr/>
        </p:nvSpPr>
        <p:spPr>
          <a:xfrm>
            <a:off x="1408176" y="4489704"/>
            <a:ext cx="45720" cy="429768"/>
          </a:xfrm>
          <a:prstGeom prst="rect">
            <a:avLst/>
          </a:prstGeom>
          <a:solidFill>
            <a:srgbClr val="7D8A82"/>
          </a:solidFill>
          <a:ln w="12700">
            <a:solidFill>
              <a:srgbClr val="7D8A82"/>
            </a:solidFill>
            <a:prstDash val="solid"/>
          </a:ln>
        </p:spPr>
      </p:sp>
      <p:sp>
        <p:nvSpPr>
          <p:cNvPr id="60" name="Text 57"/>
          <p:cNvSpPr txBox="1"/>
          <p:nvPr/>
        </p:nvSpPr>
        <p:spPr>
          <a:xfrm>
            <a:off x="1490472" y="4489704"/>
            <a:ext cx="1025652" cy="429768"/>
          </a:xfrm>
          <a:prstGeom prst="rect">
            <a:avLst/>
          </a:prstGeom>
          <a:noFill/>
          <a:ln/>
        </p:spPr>
        <p:txBody>
          <a:bodyPr wrap="square" lIns="0" tIns="0" rIns="0" bIns="0" rtlCol="0" anchor="t">
            <a:normAutofit/>
          </a:bodyPr>
          <a:lstStyle/>
          <a:p>
            <a:pPr indent="0" marL="0">
              <a:buNone/>
            </a:pPr>
            <a:r>
              <a:rPr lang="en-US" sz="700" dirty="0">
                <a:solidFill>
                  <a:srgbClr val="1C2420"/>
                </a:solidFill>
                <a:latin typeface="Arial" pitchFamily="34" charset="0"/>
                <a:ea typeface="Arial" pitchFamily="34" charset="-122"/>
                <a:cs typeface="Arial" pitchFamily="34" charset="-120"/>
              </a:rPr>
              <a:t>Hub congestion at peak</a:t>
            </a:r>
            <a:endParaRPr lang="en-US" sz="700" dirty="0"/>
          </a:p>
        </p:txBody>
      </p:sp>
      <p:sp>
        <p:nvSpPr>
          <p:cNvPr id="61" name="Shape 58"/>
          <p:cNvSpPr/>
          <p:nvPr/>
        </p:nvSpPr>
        <p:spPr>
          <a:xfrm>
            <a:off x="2598420" y="4453128"/>
            <a:ext cx="1181100" cy="502920"/>
          </a:xfrm>
          <a:prstGeom prst="rect">
            <a:avLst/>
          </a:prstGeom>
          <a:solidFill>
            <a:srgbClr val="F7F6F2"/>
          </a:solidFill>
          <a:ln w="6350">
            <a:solidFill>
              <a:srgbClr val="DCDFD8"/>
            </a:solidFill>
            <a:prstDash val="solid"/>
          </a:ln>
        </p:spPr>
      </p:sp>
      <p:sp>
        <p:nvSpPr>
          <p:cNvPr id="62" name="Shape 59"/>
          <p:cNvSpPr/>
          <p:nvPr/>
        </p:nvSpPr>
        <p:spPr>
          <a:xfrm>
            <a:off x="2634996" y="4489704"/>
            <a:ext cx="45720" cy="429768"/>
          </a:xfrm>
          <a:prstGeom prst="rect">
            <a:avLst/>
          </a:prstGeom>
          <a:solidFill>
            <a:srgbClr val="7D8A82"/>
          </a:solidFill>
          <a:ln w="12700">
            <a:solidFill>
              <a:srgbClr val="7D8A82"/>
            </a:solidFill>
            <a:prstDash val="solid"/>
          </a:ln>
        </p:spPr>
      </p:sp>
      <p:sp>
        <p:nvSpPr>
          <p:cNvPr id="63" name="Text 60"/>
          <p:cNvSpPr txBox="1"/>
          <p:nvPr/>
        </p:nvSpPr>
        <p:spPr>
          <a:xfrm>
            <a:off x="2717292" y="4489704"/>
            <a:ext cx="1025652" cy="429768"/>
          </a:xfrm>
          <a:prstGeom prst="rect">
            <a:avLst/>
          </a:prstGeom>
          <a:noFill/>
          <a:ln/>
        </p:spPr>
        <p:txBody>
          <a:bodyPr wrap="square" lIns="0" tIns="0" rIns="0" bIns="0" rtlCol="0" anchor="t">
            <a:normAutofit/>
          </a:bodyPr>
          <a:lstStyle/>
          <a:p>
            <a:pPr indent="0" marL="0">
              <a:buNone/>
            </a:pPr>
            <a:r>
              <a:rPr lang="en-US" sz="700" dirty="0">
                <a:solidFill>
                  <a:srgbClr val="1C2420"/>
                </a:solidFill>
                <a:latin typeface="Arial" pitchFamily="34" charset="0"/>
                <a:ea typeface="Arial" pitchFamily="34" charset="-122"/>
                <a:cs typeface="Arial" pitchFamily="34" charset="-120"/>
              </a:rPr>
              <a:t>Hub advisors explaining, not serving</a:t>
            </a:r>
            <a:endParaRPr lang="en-US" sz="700" dirty="0"/>
          </a:p>
        </p:txBody>
      </p:sp>
      <p:sp>
        <p:nvSpPr>
          <p:cNvPr id="64" name="Shape 61"/>
          <p:cNvSpPr/>
          <p:nvPr/>
        </p:nvSpPr>
        <p:spPr>
          <a:xfrm>
            <a:off x="3825240" y="4453128"/>
            <a:ext cx="1181100" cy="502920"/>
          </a:xfrm>
          <a:prstGeom prst="rect">
            <a:avLst/>
          </a:prstGeom>
          <a:solidFill>
            <a:srgbClr val="F7F6F2"/>
          </a:solidFill>
          <a:ln w="6350">
            <a:solidFill>
              <a:srgbClr val="DCDFD8"/>
            </a:solidFill>
            <a:prstDash val="solid"/>
          </a:ln>
        </p:spPr>
      </p:sp>
      <p:sp>
        <p:nvSpPr>
          <p:cNvPr id="65" name="Shape 62"/>
          <p:cNvSpPr/>
          <p:nvPr/>
        </p:nvSpPr>
        <p:spPr>
          <a:xfrm>
            <a:off x="3861816" y="4489704"/>
            <a:ext cx="45720" cy="429768"/>
          </a:xfrm>
          <a:prstGeom prst="rect">
            <a:avLst/>
          </a:prstGeom>
          <a:solidFill>
            <a:srgbClr val="7D8A82"/>
          </a:solidFill>
          <a:ln w="12700">
            <a:solidFill>
              <a:srgbClr val="7D8A82"/>
            </a:solidFill>
            <a:prstDash val="solid"/>
          </a:ln>
        </p:spPr>
      </p:sp>
      <p:sp>
        <p:nvSpPr>
          <p:cNvPr id="66" name="Text 63"/>
          <p:cNvSpPr txBox="1"/>
          <p:nvPr/>
        </p:nvSpPr>
        <p:spPr>
          <a:xfrm>
            <a:off x="3944112" y="4489704"/>
            <a:ext cx="1025652" cy="429768"/>
          </a:xfrm>
          <a:prstGeom prst="rect">
            <a:avLst/>
          </a:prstGeom>
          <a:noFill/>
          <a:ln/>
        </p:spPr>
        <p:txBody>
          <a:bodyPr wrap="square" lIns="0" tIns="0" rIns="0" bIns="0" rtlCol="0" anchor="t">
            <a:normAutofit/>
          </a:bodyPr>
          <a:lstStyle/>
          <a:p>
            <a:pPr indent="0" marL="0">
              <a:buNone/>
            </a:pPr>
            <a:r>
              <a:rPr lang="en-US" sz="700" dirty="0">
                <a:solidFill>
                  <a:srgbClr val="1C2420"/>
                </a:solidFill>
                <a:latin typeface="Arial" pitchFamily="34" charset="0"/>
                <a:ea typeface="Arial" pitchFamily="34" charset="-122"/>
                <a:cs typeface="Arial" pitchFamily="34" charset="-120"/>
              </a:rPr>
              <a:t>Dispenser time on a one-item order</a:t>
            </a:r>
            <a:endParaRPr lang="en-US" sz="700" dirty="0"/>
          </a:p>
        </p:txBody>
      </p:sp>
      <p:sp>
        <p:nvSpPr>
          <p:cNvPr id="67" name="Shape 64"/>
          <p:cNvSpPr/>
          <p:nvPr/>
        </p:nvSpPr>
        <p:spPr>
          <a:xfrm>
            <a:off x="5052060" y="4453128"/>
            <a:ext cx="1181100" cy="502920"/>
          </a:xfrm>
          <a:prstGeom prst="rect">
            <a:avLst/>
          </a:prstGeom>
          <a:solidFill>
            <a:srgbClr val="F7F6F2"/>
          </a:solidFill>
          <a:ln w="6350">
            <a:solidFill>
              <a:srgbClr val="DCDFD8"/>
            </a:solidFill>
            <a:prstDash val="solid"/>
          </a:ln>
        </p:spPr>
      </p:sp>
      <p:sp>
        <p:nvSpPr>
          <p:cNvPr id="68" name="Shape 65"/>
          <p:cNvSpPr/>
          <p:nvPr/>
        </p:nvSpPr>
        <p:spPr>
          <a:xfrm>
            <a:off x="5088636" y="4489704"/>
            <a:ext cx="45720" cy="429768"/>
          </a:xfrm>
          <a:prstGeom prst="rect">
            <a:avLst/>
          </a:prstGeom>
          <a:solidFill>
            <a:srgbClr val="7D8A82"/>
          </a:solidFill>
          <a:ln w="12700">
            <a:solidFill>
              <a:srgbClr val="7D8A82"/>
            </a:solidFill>
            <a:prstDash val="solid"/>
          </a:ln>
        </p:spPr>
      </p:sp>
      <p:sp>
        <p:nvSpPr>
          <p:cNvPr id="69" name="Text 66"/>
          <p:cNvSpPr txBox="1"/>
          <p:nvPr/>
        </p:nvSpPr>
        <p:spPr>
          <a:xfrm>
            <a:off x="5170932" y="4489704"/>
            <a:ext cx="1025652" cy="429768"/>
          </a:xfrm>
          <a:prstGeom prst="rect">
            <a:avLst/>
          </a:prstGeom>
          <a:noFill/>
          <a:ln/>
        </p:spPr>
        <p:txBody>
          <a:bodyPr wrap="square" lIns="0" tIns="0" rIns="0" bIns="0" rtlCol="0" anchor="t">
            <a:normAutofit/>
          </a:bodyPr>
          <a:lstStyle/>
          <a:p>
            <a:pPr indent="0" marL="0">
              <a:buNone/>
            </a:pPr>
            <a:r>
              <a:rPr lang="en-US" sz="700" dirty="0">
                <a:solidFill>
                  <a:srgbClr val="1C2420"/>
                </a:solidFill>
                <a:latin typeface="Arial" pitchFamily="34" charset="0"/>
                <a:ea typeface="Arial" pitchFamily="34" charset="-122"/>
                <a:cs typeface="Arial" pitchFamily="34" charset="-120"/>
              </a:rPr>
              <a:t>Picker time on the same order</a:t>
            </a:r>
            <a:endParaRPr lang="en-US" sz="700" dirty="0"/>
          </a:p>
        </p:txBody>
      </p:sp>
      <p:sp>
        <p:nvSpPr>
          <p:cNvPr id="70" name="Shape 67"/>
          <p:cNvSpPr/>
          <p:nvPr/>
        </p:nvSpPr>
        <p:spPr>
          <a:xfrm>
            <a:off x="6278880" y="4453128"/>
            <a:ext cx="1181100" cy="502920"/>
          </a:xfrm>
          <a:prstGeom prst="rect">
            <a:avLst/>
          </a:prstGeom>
          <a:solidFill>
            <a:srgbClr val="F7F6F2"/>
          </a:solidFill>
          <a:ln w="6350">
            <a:solidFill>
              <a:srgbClr val="DCDFD8"/>
            </a:solidFill>
            <a:prstDash val="solid"/>
          </a:ln>
        </p:spPr>
      </p:sp>
      <p:sp>
        <p:nvSpPr>
          <p:cNvPr id="71" name="Shape 68"/>
          <p:cNvSpPr/>
          <p:nvPr/>
        </p:nvSpPr>
        <p:spPr>
          <a:xfrm>
            <a:off x="6315456" y="4489704"/>
            <a:ext cx="45720" cy="429768"/>
          </a:xfrm>
          <a:prstGeom prst="rect">
            <a:avLst/>
          </a:prstGeom>
          <a:solidFill>
            <a:srgbClr val="7D8A82"/>
          </a:solidFill>
          <a:ln w="12700">
            <a:solidFill>
              <a:srgbClr val="7D8A82"/>
            </a:solidFill>
            <a:prstDash val="solid"/>
          </a:ln>
        </p:spPr>
      </p:sp>
      <p:sp>
        <p:nvSpPr>
          <p:cNvPr id="72" name="Text 69"/>
          <p:cNvSpPr txBox="1"/>
          <p:nvPr/>
        </p:nvSpPr>
        <p:spPr>
          <a:xfrm>
            <a:off x="6397752" y="4489704"/>
            <a:ext cx="1025652" cy="429768"/>
          </a:xfrm>
          <a:prstGeom prst="rect">
            <a:avLst/>
          </a:prstGeom>
          <a:noFill/>
          <a:ln/>
        </p:spPr>
        <p:txBody>
          <a:bodyPr wrap="square" lIns="0" tIns="0" rIns="0" bIns="0" rtlCol="0" anchor="t">
            <a:normAutofit/>
          </a:bodyPr>
          <a:lstStyle/>
          <a:p>
            <a:pPr indent="0" marL="0">
              <a:buNone/>
            </a:pPr>
            <a:r>
              <a:rPr lang="en-US" sz="700" dirty="0">
                <a:solidFill>
                  <a:srgbClr val="1C2420"/>
                </a:solidFill>
                <a:latin typeface="Arial" pitchFamily="34" charset="0"/>
                <a:ea typeface="Arial" pitchFamily="34" charset="-122"/>
                <a:cs typeface="Arial" pitchFamily="34" charset="-120"/>
              </a:rPr>
              <a:t>Collections queue shared with scripts</a:t>
            </a:r>
            <a:endParaRPr lang="en-US" sz="700" dirty="0"/>
          </a:p>
        </p:txBody>
      </p:sp>
      <p:sp>
        <p:nvSpPr>
          <p:cNvPr id="73" name="Shape 70"/>
          <p:cNvSpPr/>
          <p:nvPr/>
        </p:nvSpPr>
        <p:spPr>
          <a:xfrm>
            <a:off x="7505700" y="4453128"/>
            <a:ext cx="1181100" cy="502920"/>
          </a:xfrm>
          <a:prstGeom prst="rect">
            <a:avLst/>
          </a:prstGeom>
          <a:solidFill>
            <a:srgbClr val="F7F6F2"/>
          </a:solidFill>
          <a:ln w="6350">
            <a:solidFill>
              <a:srgbClr val="DCDFD8"/>
            </a:solidFill>
            <a:prstDash val="solid"/>
          </a:ln>
        </p:spPr>
      </p:sp>
      <p:sp>
        <p:nvSpPr>
          <p:cNvPr id="74" name="Shape 71"/>
          <p:cNvSpPr/>
          <p:nvPr/>
        </p:nvSpPr>
        <p:spPr>
          <a:xfrm>
            <a:off x="7542276" y="4489704"/>
            <a:ext cx="45720" cy="429768"/>
          </a:xfrm>
          <a:prstGeom prst="rect">
            <a:avLst/>
          </a:prstGeom>
          <a:solidFill>
            <a:srgbClr val="7D8A82"/>
          </a:solidFill>
          <a:ln w="12700">
            <a:solidFill>
              <a:srgbClr val="7D8A82"/>
            </a:solidFill>
            <a:prstDash val="solid"/>
          </a:ln>
        </p:spPr>
      </p:sp>
      <p:sp>
        <p:nvSpPr>
          <p:cNvPr id="75" name="Text 72"/>
          <p:cNvSpPr txBox="1"/>
          <p:nvPr/>
        </p:nvSpPr>
        <p:spPr>
          <a:xfrm>
            <a:off x="7624572" y="4489704"/>
            <a:ext cx="1025652" cy="429768"/>
          </a:xfrm>
          <a:prstGeom prst="rect">
            <a:avLst/>
          </a:prstGeom>
          <a:noFill/>
          <a:ln/>
        </p:spPr>
        <p:txBody>
          <a:bodyPr wrap="square" lIns="0" tIns="0" rIns="0" bIns="0" rtlCol="0" anchor="t">
            <a:normAutofit/>
          </a:bodyPr>
          <a:lstStyle/>
          <a:p>
            <a:pPr indent="0" marL="0">
              <a:buNone/>
            </a:pPr>
            <a:r>
              <a:rPr lang="en-US" sz="700" dirty="0">
                <a:solidFill>
                  <a:srgbClr val="1C2420"/>
                </a:solidFill>
                <a:latin typeface="Arial" pitchFamily="34" charset="0"/>
                <a:ea typeface="Arial" pitchFamily="34" charset="-122"/>
                <a:cs typeface="Arial" pitchFamily="34" charset="-120"/>
              </a:rPr>
              <a:t>A missed second sale</a:t>
            </a:r>
            <a:endParaRPr lang="en-US" sz="700" dirty="0"/>
          </a:p>
        </p:txBody>
      </p:sp>
      <p:sp>
        <p:nvSpPr>
          <p:cNvPr id="76" name="Text 73"/>
          <p:cNvSpPr txBox="1"/>
          <p:nvPr/>
        </p:nvSpPr>
        <p:spPr>
          <a:xfrm>
            <a:off x="457200" y="4732020"/>
            <a:ext cx="8229600" cy="274320"/>
          </a:xfrm>
          <a:prstGeom prst="rect">
            <a:avLst/>
          </a:prstGeom>
          <a:noFill/>
          <a:ln/>
        </p:spPr>
        <p:txBody>
          <a:bodyPr wrap="square" lIns="0" tIns="0" rIns="0" bIns="0" rtlCol="0" anchor="ctr"/>
          <a:lstStyle/>
          <a:p>
            <a:pPr indent="0" marL="0">
              <a:buNone/>
            </a:pPr>
            <a:r>
              <a:rPr lang="en-US" sz="750" dirty="0">
                <a:solidFill>
                  <a:srgbClr val="7D8A82"/>
                </a:solidFill>
                <a:latin typeface="Arial" pitchFamily="34" charset="0"/>
                <a:ea typeface="Arial" pitchFamily="34" charset="-122"/>
                <a:cs typeface="Arial" pitchFamily="34" charset="-120"/>
              </a:rPr>
              <a:t>Pin colour: gold = script friction · orange = OTC friction · grey = cost to Dis-Chem. Each pin names its source. Most are frontline-reported; customer measurement is still to come.</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657600" cy="228600"/>
          </a:xfrm>
          <a:prstGeom prst="rect">
            <a:avLst/>
          </a:prstGeom>
          <a:noFill/>
          <a:ln/>
        </p:spPr>
        <p:txBody>
          <a:bodyPr wrap="square" lIns="0" tIns="0" rIns="0" bIns="0" rtlCol="0" anchor="ctr"/>
          <a:lstStyle/>
          <a:p>
            <a:pPr indent="0" marL="0">
              <a:buNone/>
            </a:pPr>
            <a:r>
              <a:rPr lang="en-US" sz="900" b="1" spc="200" kern="0" dirty="0">
                <a:solidFill>
                  <a:srgbClr val="0A7A44"/>
                </a:solidFill>
                <a:latin typeface="Arial" pitchFamily="34" charset="0"/>
                <a:ea typeface="Arial" pitchFamily="34" charset="-122"/>
                <a:cs typeface="Arial" pitchFamily="34" charset="-120"/>
              </a:rPr>
              <a:t>SECTION 2 · WHAT HAVE WE LEARNED?</a:t>
            </a:r>
            <a:endParaRPr lang="en-US" sz="900" dirty="0"/>
          </a:p>
        </p:txBody>
      </p:sp>
      <p:sp>
        <p:nvSpPr>
          <p:cNvPr id="3" name="Text 1"/>
          <p:cNvSpPr txBox="1"/>
          <p:nvPr/>
        </p:nvSpPr>
        <p:spPr>
          <a:xfrm>
            <a:off x="6400800" y="201168"/>
            <a:ext cx="2286000" cy="228600"/>
          </a:xfrm>
          <a:prstGeom prst="rect">
            <a:avLst/>
          </a:prstGeom>
          <a:noFill/>
          <a:ln/>
        </p:spPr>
        <p:txBody>
          <a:bodyPr wrap="square" lIns="0" tIns="0" rIns="0" bIns="0" rtlCol="0" anchor="ctr"/>
          <a:lstStyle/>
          <a:p>
            <a:pPr algn="r" indent="0" marL="0">
              <a:buNone/>
            </a:pPr>
            <a:r>
              <a:rPr lang="en-US" sz="900" dirty="0">
                <a:solidFill>
                  <a:srgbClr val="7D8A82"/>
                </a:solidFill>
                <a:latin typeface="Arial" pitchFamily="34" charset="0"/>
                <a:ea typeface="Arial" pitchFamily="34" charset="-122"/>
                <a:cs typeface="Arial" pitchFamily="34" charset="-120"/>
              </a:rPr>
              <a:t>Slide 2.3</a:t>
            </a:r>
            <a:endParaRPr lang="en-US" sz="900" dirty="0"/>
          </a:p>
        </p:txBody>
      </p:sp>
      <p:sp>
        <p:nvSpPr>
          <p:cNvPr id="4" name="Text 2"/>
          <p:cNvSpPr txBox="1"/>
          <p:nvPr/>
        </p:nvSpPr>
        <p:spPr>
          <a:xfrm>
            <a:off x="457200" y="438912"/>
            <a:ext cx="8229600" cy="731520"/>
          </a:xfrm>
          <a:prstGeom prst="rect">
            <a:avLst/>
          </a:prstGeom>
          <a:noFill/>
          <a:ln/>
        </p:spPr>
        <p:txBody>
          <a:bodyPr wrap="square" lIns="0" tIns="0" rIns="0" bIns="0" rtlCol="0" anchor="t">
            <a:normAutofit/>
          </a:bodyPr>
          <a:lstStyle/>
          <a:p>
            <a:pPr indent="0" marL="0">
              <a:buNone/>
            </a:pPr>
            <a:r>
              <a:rPr lang="en-US" sz="2100" b="1" dirty="0">
                <a:solidFill>
                  <a:srgbClr val="1C2420"/>
                </a:solidFill>
                <a:latin typeface="Arial" pitchFamily="34" charset="0"/>
                <a:ea typeface="Arial" pitchFamily="34" charset="-122"/>
                <a:cs typeface="Arial" pitchFamily="34" charset="-120"/>
              </a:rPr>
              <a:t>The cost to Dis-Chem: FTE, congestion, and an early sales signal</a:t>
            </a:r>
            <a:endParaRPr lang="en-US" sz="2100" dirty="0"/>
          </a:p>
        </p:txBody>
      </p:sp>
      <p:sp>
        <p:nvSpPr>
          <p:cNvPr id="5" name="Text 3"/>
          <p:cNvSpPr txBox="1"/>
          <p:nvPr/>
        </p:nvSpPr>
        <p:spPr>
          <a:xfrm>
            <a:off x="457200" y="1152144"/>
            <a:ext cx="8229600" cy="475488"/>
          </a:xfrm>
          <a:prstGeom prst="rect">
            <a:avLst/>
          </a:prstGeom>
          <a:noFill/>
          <a:ln/>
        </p:spPr>
        <p:txBody>
          <a:bodyPr wrap="square" lIns="0" tIns="0" rIns="0" bIns="0" rtlCol="0" anchor="t">
            <a:normAutofit/>
          </a:bodyPr>
          <a:lstStyle/>
          <a:p>
            <a:pPr indent="0" marL="0">
              <a:buNone/>
            </a:pPr>
            <a:r>
              <a:rPr lang="en-US" sz="1100" dirty="0">
                <a:solidFill>
                  <a:srgbClr val="4C5A52"/>
                </a:solidFill>
                <a:latin typeface="Arial" pitchFamily="34" charset="0"/>
                <a:ea typeface="Arial" pitchFamily="34" charset="-122"/>
                <a:cs typeface="Arial" pitchFamily="34" charset="-120"/>
              </a:rPr>
              <a:t>The OTC friction has a cost to the customer and a cost to the business. Three show up already, and two of them come with numbers we still need to firm up.</a:t>
            </a:r>
            <a:endParaRPr lang="en-US" sz="1100" dirty="0"/>
          </a:p>
        </p:txBody>
      </p:sp>
      <p:sp>
        <p:nvSpPr>
          <p:cNvPr id="7" name="Shape 4"/>
          <p:cNvSpPr/>
          <p:nvPr/>
        </p:nvSpPr>
        <p:spPr>
          <a:xfrm>
            <a:off x="457200" y="1691640"/>
            <a:ext cx="2651760" cy="2423160"/>
          </a:xfrm>
          <a:prstGeom prst="rect">
            <a:avLst/>
          </a:prstGeom>
          <a:solidFill>
            <a:srgbClr val="F7F6F2"/>
          </a:solidFill>
          <a:ln w="9525">
            <a:solidFill>
              <a:srgbClr val="DCDFD8"/>
            </a:solidFill>
            <a:prstDash val="solid"/>
          </a:ln>
        </p:spPr>
      </p:sp>
      <p:sp>
        <p:nvSpPr>
          <p:cNvPr id="8" name="Text 5"/>
          <p:cNvSpPr txBox="1"/>
          <p:nvPr/>
        </p:nvSpPr>
        <p:spPr>
          <a:xfrm>
            <a:off x="594360" y="1801368"/>
            <a:ext cx="237744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FTE</a:t>
            </a:r>
            <a:endParaRPr lang="en-US" sz="800" dirty="0"/>
          </a:p>
        </p:txBody>
      </p:sp>
      <p:sp>
        <p:nvSpPr>
          <p:cNvPr id="9" name="Text 6"/>
          <p:cNvSpPr txBox="1"/>
          <p:nvPr/>
        </p:nvSpPr>
        <p:spPr>
          <a:xfrm>
            <a:off x="594360" y="2020824"/>
            <a:ext cx="2377440" cy="310896"/>
          </a:xfrm>
          <a:prstGeom prst="rect">
            <a:avLst/>
          </a:prstGeom>
          <a:noFill/>
          <a:ln/>
        </p:spPr>
        <p:txBody>
          <a:bodyPr wrap="square" lIns="0" tIns="0" rIns="0" bIns="0" rtlCol="0" anchor="t">
            <a:normAutofit/>
          </a:bodyPr>
          <a:lstStyle/>
          <a:p>
            <a:pPr indent="0" marL="0">
              <a:buNone/>
            </a:pPr>
            <a:r>
              <a:rPr lang="en-US" sz="1050" b="1" dirty="0">
                <a:solidFill>
                  <a:srgbClr val="1C2420"/>
                </a:solidFill>
                <a:latin typeface="Arial" pitchFamily="34" charset="0"/>
                <a:ea typeface="Arial" pitchFamily="34" charset="-122"/>
                <a:cs typeface="Arial" pitchFamily="34" charset="-120"/>
              </a:rPr>
              <a:t>One picker for every dispenser</a:t>
            </a:r>
            <a:endParaRPr lang="en-US" sz="1050" dirty="0"/>
          </a:p>
        </p:txBody>
      </p:sp>
      <p:sp>
        <p:nvSpPr>
          <p:cNvPr id="10" name="Text 7"/>
          <p:cNvSpPr txBox="1"/>
          <p:nvPr/>
        </p:nvSpPr>
        <p:spPr>
          <a:xfrm>
            <a:off x="594360" y="2350008"/>
            <a:ext cx="2377440" cy="1655064"/>
          </a:xfrm>
          <a:prstGeom prst="rect">
            <a:avLst/>
          </a:prstGeom>
          <a:noFill/>
          <a:ln/>
        </p:spPr>
        <p:txBody>
          <a:bodyPr wrap="square" lIns="0" tIns="0" rIns="0" bIns="0" rtlCol="0" anchor="t">
            <a:normAutofit/>
          </a:bodyPr>
          <a:lstStyle/>
          <a:p>
            <a:pPr indent="0" marL="0">
              <a:spcAft>
                <a:spcPts val="400"/>
              </a:spcAft>
              <a:buNone/>
            </a:pPr>
            <a:r>
              <a:rPr lang="en-US" sz="800" dirty="0">
                <a:solidFill>
                  <a:srgbClr val="4C5A52"/>
                </a:solidFill>
                <a:latin typeface="Arial" pitchFamily="34" charset="0"/>
                <a:ea typeface="Arial" pitchFamily="34" charset="-122"/>
                <a:cs typeface="Arial" pitchFamily="34" charset="-120"/>
              </a:rPr>
              <a:t>Running submission, picking and collection as separate jobs needs roughly one picker in the back for every dispenser at the front. Both pharmacy managers arrived at that ratio independently. Overweight the front and the queue moves to pick-and-pack, where the customer cannot see it, and trust drops.</a:t>
            </a:r>
            <a:endParaRPr lang="en-US" sz="800" dirty="0"/>
          </a:p>
          <a:p>
            <a:pPr indent="0" marL="0">
              <a:spcAft>
                <a:spcPts val="400"/>
              </a:spcAft>
              <a:buNone/>
            </a:pPr>
            <a:endParaRPr lang="en-US" sz="800" dirty="0"/>
          </a:p>
          <a:p>
            <a:pPr indent="0" marL="0">
              <a:spcAft>
                <a:spcPts val="400"/>
              </a:spcAft>
              <a:buNone/>
            </a:pPr>
            <a:r>
              <a:rPr lang="en-US" sz="800" dirty="0">
                <a:solidFill>
                  <a:srgbClr val="4C5A52"/>
                </a:solidFill>
                <a:latin typeface="Arial" pitchFamily="34" charset="0"/>
                <a:ea typeface="Arial" pitchFamily="34" charset="-122"/>
                <a:cs typeface="Arial" pitchFamily="34" charset="-120"/>
              </a:rPr>
              <a:t>Irene needs eight on a Saturday and its takings justify six. Melrose opened with nine, twice a conventional store of its turnover, and is stress-testing at five or six. Small stores, some with three permanent staff and under R1m a month, cannot split roles at all.</a:t>
            </a:r>
            <a:endParaRPr lang="en-US" sz="800" dirty="0"/>
          </a:p>
        </p:txBody>
      </p:sp>
      <p:sp>
        <p:nvSpPr>
          <p:cNvPr id="11" name="Shape 8"/>
          <p:cNvSpPr/>
          <p:nvPr/>
        </p:nvSpPr>
        <p:spPr>
          <a:xfrm>
            <a:off x="3246120" y="1691640"/>
            <a:ext cx="2651760" cy="2423160"/>
          </a:xfrm>
          <a:prstGeom prst="rect">
            <a:avLst/>
          </a:prstGeom>
          <a:solidFill>
            <a:srgbClr val="F7F6F2"/>
          </a:solidFill>
          <a:ln w="9525">
            <a:solidFill>
              <a:srgbClr val="DCDFD8"/>
            </a:solidFill>
            <a:prstDash val="solid"/>
          </a:ln>
        </p:spPr>
      </p:sp>
      <p:sp>
        <p:nvSpPr>
          <p:cNvPr id="12" name="Text 9"/>
          <p:cNvSpPr txBox="1"/>
          <p:nvPr/>
        </p:nvSpPr>
        <p:spPr>
          <a:xfrm>
            <a:off x="3383280" y="1801368"/>
            <a:ext cx="237744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CONGESTION</a:t>
            </a:r>
            <a:endParaRPr lang="en-US" sz="800" dirty="0"/>
          </a:p>
        </p:txBody>
      </p:sp>
      <p:sp>
        <p:nvSpPr>
          <p:cNvPr id="13" name="Text 10"/>
          <p:cNvSpPr txBox="1"/>
          <p:nvPr/>
        </p:nvSpPr>
        <p:spPr>
          <a:xfrm>
            <a:off x="3383280" y="2020824"/>
            <a:ext cx="2377440" cy="310896"/>
          </a:xfrm>
          <a:prstGeom prst="rect">
            <a:avLst/>
          </a:prstGeom>
          <a:noFill/>
          <a:ln/>
        </p:spPr>
        <p:txBody>
          <a:bodyPr wrap="square" lIns="0" tIns="0" rIns="0" bIns="0" rtlCol="0" anchor="t">
            <a:normAutofit/>
          </a:bodyPr>
          <a:lstStyle/>
          <a:p>
            <a:pPr indent="0" marL="0">
              <a:buNone/>
            </a:pPr>
            <a:r>
              <a:rPr lang="en-US" sz="1050" b="1" dirty="0">
                <a:solidFill>
                  <a:srgbClr val="1C2420"/>
                </a:solidFill>
                <a:latin typeface="Arial" pitchFamily="34" charset="0"/>
                <a:ea typeface="Arial" pitchFamily="34" charset="-122"/>
                <a:cs typeface="Arial" pitchFamily="34" charset="-120"/>
              </a:rPr>
              <a:t>A four-seat Hub that fills on quiet days</a:t>
            </a:r>
            <a:endParaRPr lang="en-US" sz="1050" dirty="0"/>
          </a:p>
        </p:txBody>
      </p:sp>
      <p:sp>
        <p:nvSpPr>
          <p:cNvPr id="14" name="Text 11"/>
          <p:cNvSpPr txBox="1"/>
          <p:nvPr/>
        </p:nvSpPr>
        <p:spPr>
          <a:xfrm>
            <a:off x="3383280" y="2350008"/>
            <a:ext cx="2377440" cy="1655064"/>
          </a:xfrm>
          <a:prstGeom prst="rect">
            <a:avLst/>
          </a:prstGeom>
          <a:noFill/>
          <a:ln/>
        </p:spPr>
        <p:txBody>
          <a:bodyPr wrap="square" lIns="0" tIns="0" rIns="0" bIns="0" rtlCol="0" anchor="t">
            <a:normAutofit/>
          </a:bodyPr>
          <a:lstStyle/>
          <a:p>
            <a:pPr indent="0" marL="0">
              <a:spcAft>
                <a:spcPts val="400"/>
              </a:spcAft>
              <a:buNone/>
            </a:pPr>
            <a:r>
              <a:rPr lang="en-US" sz="850" dirty="0">
                <a:solidFill>
                  <a:srgbClr val="4C5A52"/>
                </a:solidFill>
                <a:latin typeface="Arial" pitchFamily="34" charset="0"/>
                <a:ea typeface="Arial" pitchFamily="34" charset="-122"/>
                <a:cs typeface="Arial" pitchFamily="34" charset="-120"/>
              </a:rPr>
              <a:t>The Health Hub fills even on quiet days. On a busy Saturday two long scripts are enough to fill the shared queue, and the hub advisors spend their shift steering people rather than serving them.</a:t>
            </a:r>
            <a:endParaRPr lang="en-US" sz="850" dirty="0"/>
          </a:p>
        </p:txBody>
      </p:sp>
      <p:sp>
        <p:nvSpPr>
          <p:cNvPr id="15" name="Shape 12"/>
          <p:cNvSpPr/>
          <p:nvPr/>
        </p:nvSpPr>
        <p:spPr>
          <a:xfrm>
            <a:off x="6035040" y="1691640"/>
            <a:ext cx="2651760" cy="2423160"/>
          </a:xfrm>
          <a:prstGeom prst="rect">
            <a:avLst/>
          </a:prstGeom>
          <a:solidFill>
            <a:srgbClr val="F7F6F2"/>
          </a:solidFill>
          <a:ln w="9525">
            <a:solidFill>
              <a:srgbClr val="DCDFD8"/>
            </a:solidFill>
            <a:prstDash val="solid"/>
          </a:ln>
        </p:spPr>
      </p:sp>
      <p:sp>
        <p:nvSpPr>
          <p:cNvPr id="16" name="Text 13"/>
          <p:cNvSpPr txBox="1"/>
          <p:nvPr/>
        </p:nvSpPr>
        <p:spPr>
          <a:xfrm>
            <a:off x="6172200" y="1801368"/>
            <a:ext cx="237744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SALES</a:t>
            </a:r>
            <a:endParaRPr lang="en-US" sz="800" dirty="0"/>
          </a:p>
        </p:txBody>
      </p:sp>
      <p:sp>
        <p:nvSpPr>
          <p:cNvPr id="17" name="Text 14"/>
          <p:cNvSpPr txBox="1"/>
          <p:nvPr/>
        </p:nvSpPr>
        <p:spPr>
          <a:xfrm>
            <a:off x="6172200" y="2020824"/>
            <a:ext cx="2377440" cy="310896"/>
          </a:xfrm>
          <a:prstGeom prst="rect">
            <a:avLst/>
          </a:prstGeom>
          <a:noFill/>
          <a:ln/>
        </p:spPr>
        <p:txBody>
          <a:bodyPr wrap="square" lIns="0" tIns="0" rIns="0" bIns="0" rtlCol="0" anchor="t">
            <a:normAutofit/>
          </a:bodyPr>
          <a:lstStyle/>
          <a:p>
            <a:pPr indent="0" marL="0">
              <a:buNone/>
            </a:pPr>
            <a:r>
              <a:rPr lang="en-US" sz="1050" b="1" dirty="0">
                <a:solidFill>
                  <a:srgbClr val="1C2420"/>
                </a:solidFill>
                <a:latin typeface="Arial" pitchFamily="34" charset="0"/>
                <a:ea typeface="Arial" pitchFamily="34" charset="-122"/>
                <a:cs typeface="Arial" pitchFamily="34" charset="-120"/>
              </a:rPr>
              <a:t>An early gap against a lower-income store</a:t>
            </a:r>
            <a:endParaRPr lang="en-US" sz="1050" dirty="0"/>
          </a:p>
        </p:txBody>
      </p:sp>
      <p:sp>
        <p:nvSpPr>
          <p:cNvPr id="18" name="Text 15"/>
          <p:cNvSpPr txBox="1"/>
          <p:nvPr/>
        </p:nvSpPr>
        <p:spPr>
          <a:xfrm>
            <a:off x="6172200" y="2350008"/>
            <a:ext cx="2377440" cy="1655064"/>
          </a:xfrm>
          <a:prstGeom prst="rect">
            <a:avLst/>
          </a:prstGeom>
          <a:noFill/>
          <a:ln/>
        </p:spPr>
        <p:txBody>
          <a:bodyPr wrap="square" lIns="0" tIns="0" rIns="0" bIns="0" rtlCol="0" anchor="t">
            <a:normAutofit/>
          </a:bodyPr>
          <a:lstStyle/>
          <a:p>
            <a:pPr indent="0" marL="0">
              <a:spcAft>
                <a:spcPts val="400"/>
              </a:spcAft>
              <a:buNone/>
            </a:pPr>
            <a:r>
              <a:rPr lang="en-US" sz="800" dirty="0">
                <a:solidFill>
                  <a:srgbClr val="4C5A52"/>
                </a:solidFill>
                <a:latin typeface="Arial" pitchFamily="34" charset="0"/>
                <a:ea typeface="Arial" pitchFamily="34" charset="-122"/>
                <a:cs typeface="Arial" pitchFamily="34" charset="-120"/>
              </a:rPr>
              <a:t>Melrose Arch's manager benchmarks his OTC turnover against two stores of similar size that opened a month earlier. Blueberry Square, in a lower income area where OTC sales would normally be lower, takes R50,000 to R100,000 a month more in OTC than Melrose.</a:t>
            </a:r>
            <a:endParaRPr lang="en-US" sz="800" dirty="0"/>
          </a:p>
          <a:p>
            <a:pPr indent="0" marL="0">
              <a:spcAft>
                <a:spcPts val="400"/>
              </a:spcAft>
              <a:buNone/>
            </a:pPr>
            <a:endParaRPr lang="en-US" sz="800" dirty="0"/>
          </a:p>
          <a:p>
            <a:pPr indent="0" marL="0">
              <a:spcAft>
                <a:spcPts val="400"/>
              </a:spcAft>
              <a:buNone/>
            </a:pPr>
            <a:r>
              <a:rPr lang="en-US" sz="800" dirty="0">
                <a:solidFill>
                  <a:srgbClr val="4C5A52"/>
                </a:solidFill>
                <a:latin typeface="Arial" pitchFamily="34" charset="0"/>
                <a:ea typeface="Arial" pitchFamily="34" charset="-122"/>
                <a:cs typeface="Arial" pitchFamily="34" charset="-120"/>
              </a:rPr>
              <a:t>He puts the gap down to the missing display, not the process: "six out of every ten patients who come to buy one item will see a second item on the shelf". With no shelf, the whole job of prompting a second item sits with the dispenser, and dispensers differ in how good they are at selling. Against that, hidden prices have made premium advice easier to sell.</a:t>
            </a:r>
            <a:endParaRPr lang="en-US" sz="800" dirty="0"/>
          </a:p>
        </p:txBody>
      </p:sp>
      <p:sp>
        <p:nvSpPr>
          <p:cNvPr id="19" name="Shape 16"/>
          <p:cNvSpPr/>
          <p:nvPr/>
        </p:nvSpPr>
        <p:spPr>
          <a:xfrm>
            <a:off x="457200" y="4187952"/>
            <a:ext cx="8229600" cy="777240"/>
          </a:xfrm>
          <a:prstGeom prst="rect">
            <a:avLst/>
          </a:prstGeom>
          <a:solidFill>
            <a:srgbClr val="FAF3D9"/>
          </a:solidFill>
          <a:ln w="12700">
            <a:solidFill>
              <a:srgbClr val="FAF3D9"/>
            </a:solidFill>
            <a:prstDash val="solid"/>
          </a:ln>
        </p:spPr>
      </p:sp>
      <p:sp>
        <p:nvSpPr>
          <p:cNvPr id="20" name="Text 17"/>
          <p:cNvSpPr txBox="1"/>
          <p:nvPr/>
        </p:nvSpPr>
        <p:spPr>
          <a:xfrm>
            <a:off x="621792" y="4279392"/>
            <a:ext cx="7900416" cy="384048"/>
          </a:xfrm>
          <a:prstGeom prst="rect">
            <a:avLst/>
          </a:prstGeom>
          <a:noFill/>
          <a:ln/>
        </p:spPr>
        <p:txBody>
          <a:bodyPr wrap="square" lIns="0" tIns="0" rIns="0" bIns="0" rtlCol="0" anchor="ctr">
            <a:normAutofit/>
          </a:bodyPr>
          <a:lstStyle/>
          <a:p>
            <a:pPr indent="0" marL="0">
              <a:buNone/>
            </a:pPr>
            <a:r>
              <a:rPr lang="en-US" sz="1800" b="1" dirty="0">
                <a:solidFill>
                  <a:srgbClr val="1C2420"/>
                </a:solidFill>
                <a:latin typeface="Arial" pitchFamily="34" charset="0"/>
                <a:ea typeface="Arial" pitchFamily="34" charset="-122"/>
                <a:cs typeface="Arial" pitchFamily="34" charset="-120"/>
              </a:rPr>
              <a:t>R50-100k a month</a:t>
            </a:r>
            <a:endParaRPr lang="en-US" sz="1800" dirty="0"/>
          </a:p>
        </p:txBody>
      </p:sp>
      <p:sp>
        <p:nvSpPr>
          <p:cNvPr id="21" name="Text 18"/>
          <p:cNvSpPr txBox="1"/>
          <p:nvPr/>
        </p:nvSpPr>
        <p:spPr>
          <a:xfrm>
            <a:off x="621792" y="4663440"/>
            <a:ext cx="7900416" cy="228600"/>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The OTC turnover gap between Melrose Arch and a lower-income comparator store, as reported by the Melrose dispensary manager. A working number until pulled from reporting.</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657600" cy="228600"/>
          </a:xfrm>
          <a:prstGeom prst="rect">
            <a:avLst/>
          </a:prstGeom>
          <a:noFill/>
          <a:ln/>
        </p:spPr>
        <p:txBody>
          <a:bodyPr wrap="square" lIns="0" tIns="0" rIns="0" bIns="0" rtlCol="0" anchor="ctr"/>
          <a:lstStyle/>
          <a:p>
            <a:pPr indent="0" marL="0">
              <a:buNone/>
            </a:pPr>
            <a:r>
              <a:rPr lang="en-US" sz="900" b="1" spc="200" kern="0" dirty="0">
                <a:solidFill>
                  <a:srgbClr val="0A7A44"/>
                </a:solidFill>
                <a:latin typeface="Arial" pitchFamily="34" charset="0"/>
                <a:ea typeface="Arial" pitchFamily="34" charset="-122"/>
                <a:cs typeface="Arial" pitchFamily="34" charset="-120"/>
              </a:rPr>
              <a:t>SECTION 2 · WHAT HAVE WE LEARNED?</a:t>
            </a:r>
            <a:endParaRPr lang="en-US" sz="900" dirty="0"/>
          </a:p>
        </p:txBody>
      </p:sp>
      <p:sp>
        <p:nvSpPr>
          <p:cNvPr id="3" name="Text 1"/>
          <p:cNvSpPr txBox="1"/>
          <p:nvPr/>
        </p:nvSpPr>
        <p:spPr>
          <a:xfrm>
            <a:off x="6400800" y="201168"/>
            <a:ext cx="2286000" cy="228600"/>
          </a:xfrm>
          <a:prstGeom prst="rect">
            <a:avLst/>
          </a:prstGeom>
          <a:noFill/>
          <a:ln/>
        </p:spPr>
        <p:txBody>
          <a:bodyPr wrap="square" lIns="0" tIns="0" rIns="0" bIns="0" rtlCol="0" anchor="ctr"/>
          <a:lstStyle/>
          <a:p>
            <a:pPr algn="r" indent="0" marL="0">
              <a:buNone/>
            </a:pPr>
            <a:r>
              <a:rPr lang="en-US" sz="900" dirty="0">
                <a:solidFill>
                  <a:srgbClr val="7D8A82"/>
                </a:solidFill>
                <a:latin typeface="Arial" pitchFamily="34" charset="0"/>
                <a:ea typeface="Arial" pitchFamily="34" charset="-122"/>
                <a:cs typeface="Arial" pitchFamily="34" charset="-120"/>
              </a:rPr>
              <a:t>Slide 2.4</a:t>
            </a:r>
            <a:endParaRPr lang="en-US" sz="900" dirty="0"/>
          </a:p>
        </p:txBody>
      </p:sp>
      <p:sp>
        <p:nvSpPr>
          <p:cNvPr id="4" name="Text 2"/>
          <p:cNvSpPr txBox="1"/>
          <p:nvPr/>
        </p:nvSpPr>
        <p:spPr>
          <a:xfrm>
            <a:off x="457200" y="438912"/>
            <a:ext cx="8229600" cy="731520"/>
          </a:xfrm>
          <a:prstGeom prst="rect">
            <a:avLst/>
          </a:prstGeom>
          <a:noFill/>
          <a:ln/>
        </p:spPr>
        <p:txBody>
          <a:bodyPr wrap="square" lIns="0" tIns="0" rIns="0" bIns="0" rtlCol="0" anchor="t">
            <a:normAutofit/>
          </a:bodyPr>
          <a:lstStyle/>
          <a:p>
            <a:pPr indent="0" marL="0">
              <a:buNone/>
            </a:pPr>
            <a:r>
              <a:rPr lang="en-US" sz="2100" b="1" dirty="0">
                <a:solidFill>
                  <a:srgbClr val="1C2420"/>
                </a:solidFill>
                <a:latin typeface="Arial" pitchFamily="34" charset="0"/>
                <a:ea typeface="Arial" pitchFamily="34" charset="-122"/>
                <a:cs typeface="Arial" pitchFamily="34" charset="-120"/>
              </a:rPr>
              <a:t>Melrose Arch vs Irene: comparative learnings</a:t>
            </a:r>
            <a:endParaRPr lang="en-US" sz="2100" dirty="0"/>
          </a:p>
        </p:txBody>
      </p:sp>
      <p:sp>
        <p:nvSpPr>
          <p:cNvPr id="5" name="Text 3"/>
          <p:cNvSpPr txBox="1"/>
          <p:nvPr/>
        </p:nvSpPr>
        <p:spPr>
          <a:xfrm>
            <a:off x="457200" y="1152144"/>
            <a:ext cx="8229600" cy="475488"/>
          </a:xfrm>
          <a:prstGeom prst="rect">
            <a:avLst/>
          </a:prstGeom>
          <a:noFill/>
          <a:ln/>
        </p:spPr>
        <p:txBody>
          <a:bodyPr wrap="square" lIns="0" tIns="0" rIns="0" bIns="0" rtlCol="0" anchor="t">
            <a:normAutofit/>
          </a:bodyPr>
          <a:lstStyle/>
          <a:p>
            <a:pPr indent="0" marL="0">
              <a:buNone/>
            </a:pPr>
            <a:r>
              <a:rPr lang="en-US" sz="1100" dirty="0">
                <a:solidFill>
                  <a:srgbClr val="4C5A52"/>
                </a:solidFill>
                <a:latin typeface="Arial" pitchFamily="34" charset="0"/>
                <a:ea typeface="Arial" pitchFamily="34" charset="-122"/>
                <a:cs typeface="Arial" pitchFamily="34" charset="-120"/>
              </a:rPr>
              <a:t>One store kept to the process and one changed it. That is not a verdict on the process. It says a lot about the two stores, and what it says is useful.</a:t>
            </a:r>
            <a:endParaRPr lang="en-US" sz="1100" dirty="0"/>
          </a:p>
        </p:txBody>
      </p:sp>
      <p:sp>
        <p:nvSpPr>
          <p:cNvPr id="7" name="Text 4"/>
          <p:cNvSpPr txBox="1"/>
          <p:nvPr/>
        </p:nvSpPr>
        <p:spPr>
          <a:xfrm>
            <a:off x="457200" y="1691640"/>
            <a:ext cx="402336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WHY MELROSE ARCH HOLDS TO THE PROCESS, AND WHY IT WORKS THERE</a:t>
            </a:r>
            <a:endParaRPr lang="en-US" sz="800" dirty="0"/>
          </a:p>
        </p:txBody>
      </p:sp>
      <p:sp>
        <p:nvSpPr>
          <p:cNvPr id="8" name="Text 5"/>
          <p:cNvSpPr txBox="1"/>
          <p:nvPr/>
        </p:nvSpPr>
        <p:spPr>
          <a:xfrm>
            <a:off x="457200" y="1920240"/>
            <a:ext cx="4023360" cy="3017520"/>
          </a:xfrm>
          <a:prstGeom prst="rect">
            <a:avLst/>
          </a:prstGeom>
          <a:noFill/>
          <a:ln/>
        </p:spPr>
        <p:txBody>
          <a:bodyPr wrap="square" lIns="0" tIns="0" rIns="0" bIns="0" rtlCol="0" anchor="t">
            <a:normAutofit/>
          </a:bodyPr>
          <a:lstStyle/>
          <a:p>
            <a:pPr marL="342900" indent="-342900">
              <a:spcAft>
                <a:spcPts val="600"/>
              </a:spcAft>
              <a:buSzPct val="100000"/>
              <a:buChar char="•"/>
            </a:pPr>
            <a:r>
              <a:rPr lang="en-US" sz="850" dirty="0">
                <a:solidFill>
                  <a:srgbClr val="1C2420"/>
                </a:solidFill>
                <a:latin typeface="Arial" pitchFamily="34" charset="0"/>
                <a:ea typeface="Arial" pitchFamily="34" charset="-122"/>
                <a:cs typeface="Arial" pitchFamily="34" charset="-120"/>
              </a:rPr>
              <a:t>Exposure. A small store in a business park. The same office workers come back several times a month, so each customer meets the process many times and gets used to it. People still complain, but far less than at opening and far less than at Irene.</a:t>
            </a:r>
            <a:endParaRPr lang="en-US" sz="850" dirty="0"/>
          </a:p>
          <a:p>
            <a:pPr marL="342900" indent="-342900">
              <a:spcAft>
                <a:spcPts val="600"/>
              </a:spcAft>
              <a:buSzPct val="100000"/>
              <a:buChar char="•"/>
            </a:pPr>
            <a:r>
              <a:rPr lang="en-US" sz="850" dirty="0">
                <a:solidFill>
                  <a:srgbClr val="1C2420"/>
                </a:solidFill>
                <a:latin typeface="Arial" pitchFamily="34" charset="0"/>
                <a:ea typeface="Arial" pitchFamily="34" charset="-122"/>
                <a:cs typeface="Arial" pitchFamily="34" charset="-120"/>
              </a:rPr>
              <a:t>Visit intent. A lunch-break customer came for something specific and expected a queue. Fewer wait complaints, but also less browsing, which is where the OTC sales gap shows up.</a:t>
            </a:r>
            <a:endParaRPr lang="en-US" sz="850" dirty="0"/>
          </a:p>
          <a:p>
            <a:pPr marL="342900" indent="-342900">
              <a:spcAft>
                <a:spcPts val="600"/>
              </a:spcAft>
              <a:buSzPct val="100000"/>
              <a:buChar char="•"/>
            </a:pPr>
            <a:r>
              <a:rPr lang="en-US" sz="850" dirty="0">
                <a:solidFill>
                  <a:srgbClr val="1C2420"/>
                </a:solidFill>
                <a:latin typeface="Arial" pitchFamily="34" charset="0"/>
                <a:ea typeface="Arial" pitchFamily="34" charset="-122"/>
                <a:cs typeface="Arial" pitchFamily="34" charset="-120"/>
              </a:rPr>
              <a:t>Size and shape. Short walks from Hub to drop-off to collections, and weekday traffic never builds the Saturday wall that drowns Irene.</a:t>
            </a:r>
            <a:endParaRPr lang="en-US" sz="850" dirty="0"/>
          </a:p>
          <a:p>
            <a:pPr marL="342900" indent="-342900">
              <a:spcAft>
                <a:spcPts val="600"/>
              </a:spcAft>
              <a:buSzPct val="100000"/>
              <a:buChar char="•"/>
            </a:pPr>
            <a:r>
              <a:rPr lang="en-US" sz="850" dirty="0">
                <a:solidFill>
                  <a:srgbClr val="1C2420"/>
                </a:solidFill>
                <a:latin typeface="Arial" pitchFamily="34" charset="0"/>
                <a:ea typeface="Arial" pitchFamily="34" charset="-122"/>
                <a:cs typeface="Arial" pitchFamily="34" charset="-120"/>
              </a:rPr>
              <a:t>Leakage. A legacy Dis-Chem nearby. Customers who truly dislike the process most likely go there. We hear the complaints of the people who stayed.</a:t>
            </a:r>
            <a:endParaRPr lang="en-US" sz="850" dirty="0"/>
          </a:p>
          <a:p>
            <a:pPr marL="342900" indent="-342900">
              <a:spcAft>
                <a:spcPts val="600"/>
              </a:spcAft>
              <a:buSzPct val="100000"/>
              <a:buChar char="•"/>
            </a:pPr>
            <a:r>
              <a:rPr lang="en-US" sz="850" dirty="0">
                <a:solidFill>
                  <a:srgbClr val="1C2420"/>
                </a:solidFill>
                <a:latin typeface="Arial" pitchFamily="34" charset="0"/>
                <a:ea typeface="Arial" pitchFamily="34" charset="-122"/>
                <a:cs typeface="Arial" pitchFamily="34" charset="-120"/>
              </a:rPr>
              <a:t>The same complaint, even here. The unhappy customers came for one item, most often OTC. Before, OTC took almost no effort. Now it takes a ticket and two queues. "Why all this effort for one box of Adcodol?"</a:t>
            </a:r>
            <a:endParaRPr lang="en-US" sz="850" dirty="0"/>
          </a:p>
        </p:txBody>
      </p:sp>
      <p:sp>
        <p:nvSpPr>
          <p:cNvPr id="9" name="Text 6"/>
          <p:cNvSpPr txBox="1"/>
          <p:nvPr/>
        </p:nvSpPr>
        <p:spPr>
          <a:xfrm>
            <a:off x="4754880" y="1691640"/>
            <a:ext cx="393192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WHY IRENE CHANGED, AND WHAT THE CHANGE DOES</a:t>
            </a:r>
            <a:endParaRPr lang="en-US" sz="800" dirty="0"/>
          </a:p>
        </p:txBody>
      </p:sp>
      <p:sp>
        <p:nvSpPr>
          <p:cNvPr id="10" name="Text 7"/>
          <p:cNvSpPr txBox="1"/>
          <p:nvPr/>
        </p:nvSpPr>
        <p:spPr>
          <a:xfrm>
            <a:off x="4754880" y="1920240"/>
            <a:ext cx="3931920" cy="1371600"/>
          </a:xfrm>
          <a:prstGeom prst="rect">
            <a:avLst/>
          </a:prstGeom>
          <a:noFill/>
          <a:ln/>
        </p:spPr>
        <p:txBody>
          <a:bodyPr wrap="square" lIns="0" tIns="0" rIns="0" bIns="0" rtlCol="0" anchor="t">
            <a:normAutofit/>
          </a:bodyPr>
          <a:lstStyle/>
          <a:p>
            <a:pPr marL="342900" indent="-342900">
              <a:spcAft>
                <a:spcPts val="600"/>
              </a:spcAft>
              <a:buSzPct val="100000"/>
              <a:buChar char="•"/>
            </a:pPr>
            <a:r>
              <a:rPr lang="en-US" sz="850" dirty="0">
                <a:solidFill>
                  <a:srgbClr val="1C2420"/>
                </a:solidFill>
                <a:latin typeface="Arial" pitchFamily="34" charset="0"/>
                <a:ea typeface="Arial" pitchFamily="34" charset="-122"/>
                <a:cs typeface="Arial" pitchFamily="34" charset="-120"/>
              </a:rPr>
              <a:t>Pressure. Weekend peaks, new patients with very long scripts, and about 80% of customers who do not want to shop. One-item customers waited six or seven minutes behind a 24-item script: "queuing twice".</a:t>
            </a:r>
            <a:endParaRPr lang="en-US" sz="850" dirty="0"/>
          </a:p>
          <a:p>
            <a:pPr marL="342900" indent="-342900">
              <a:spcAft>
                <a:spcPts val="600"/>
              </a:spcAft>
              <a:buSzPct val="100000"/>
              <a:buChar char="•"/>
            </a:pPr>
            <a:r>
              <a:rPr lang="en-US" sz="850" dirty="0">
                <a:solidFill>
                  <a:srgbClr val="1C2420"/>
                </a:solidFill>
                <a:latin typeface="Arial" pitchFamily="34" charset="0"/>
                <a:ea typeface="Arial" pitchFamily="34" charset="-122"/>
                <a:cs typeface="Arial" pitchFamily="34" charset="-120"/>
              </a:rPr>
              <a:t>The fix removes people from the bottlenecks. The OTC path takes the one-item customer out of the pick-and-pack dashboard and out of the collections queue, instead of sending them into the same jams a little faster.</a:t>
            </a:r>
            <a:endParaRPr lang="en-US" sz="850" dirty="0"/>
          </a:p>
          <a:p>
            <a:pPr marL="342900" indent="-342900">
              <a:spcAft>
                <a:spcPts val="600"/>
              </a:spcAft>
              <a:buSzPct val="100000"/>
              <a:buChar char="•"/>
            </a:pPr>
            <a:r>
              <a:rPr lang="en-US" sz="850" dirty="0">
                <a:solidFill>
                  <a:srgbClr val="1C2420"/>
                </a:solidFill>
                <a:latin typeface="Arial" pitchFamily="34" charset="0"/>
                <a:ea typeface="Arial" pitchFamily="34" charset="-122"/>
                <a:cs typeface="Arial" pitchFamily="34" charset="-120"/>
              </a:rPr>
              <a:t>The residual Saturday chaos is understaffing (six on shift when the store needs eight) and long new scripts, not OTC.</a:t>
            </a:r>
            <a:endParaRPr lang="en-US" sz="850" dirty="0"/>
          </a:p>
        </p:txBody>
      </p:sp>
      <p:sp>
        <p:nvSpPr>
          <p:cNvPr id="11" name="Text 8"/>
          <p:cNvSpPr txBox="1"/>
          <p:nvPr/>
        </p:nvSpPr>
        <p:spPr>
          <a:xfrm>
            <a:off x="4754880" y="3337560"/>
            <a:ext cx="393192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THREE DIFFERENCES TO CONTROL FOR</a:t>
            </a:r>
            <a:endParaRPr lang="en-US" sz="800" dirty="0"/>
          </a:p>
        </p:txBody>
      </p:sp>
      <p:sp>
        <p:nvSpPr>
          <p:cNvPr id="12" name="Shape 9"/>
          <p:cNvSpPr/>
          <p:nvPr/>
        </p:nvSpPr>
        <p:spPr>
          <a:xfrm>
            <a:off x="4754880" y="3584448"/>
            <a:ext cx="237744" cy="237744"/>
          </a:xfrm>
          <a:prstGeom prst="ellipse">
            <a:avLst/>
          </a:prstGeom>
          <a:solidFill>
            <a:srgbClr val="E3B71E"/>
          </a:solidFill>
          <a:ln w="12700">
            <a:solidFill>
              <a:srgbClr val="E3B71E"/>
            </a:solidFill>
            <a:prstDash val="solid"/>
          </a:ln>
        </p:spPr>
      </p:sp>
      <p:sp>
        <p:nvSpPr>
          <p:cNvPr id="13" name="Text 10"/>
          <p:cNvSpPr txBox="1"/>
          <p:nvPr/>
        </p:nvSpPr>
        <p:spPr>
          <a:xfrm>
            <a:off x="4754880" y="3584448"/>
            <a:ext cx="237744" cy="237744"/>
          </a:xfrm>
          <a:prstGeom prst="rect">
            <a:avLst/>
          </a:prstGeom>
          <a:noFill/>
          <a:ln/>
        </p:spPr>
        <p:txBody>
          <a:bodyPr wrap="square" lIns="0" tIns="0" rIns="0" bIns="0" rtlCol="0" anchor="ctr"/>
          <a:lstStyle/>
          <a:p>
            <a:pPr algn="ctr" indent="0" marL="0">
              <a:buNone/>
            </a:pPr>
            <a:r>
              <a:rPr lang="en-US" sz="900" b="1" dirty="0">
                <a:solidFill>
                  <a:srgbClr val="1C2420"/>
                </a:solidFill>
                <a:latin typeface="Arial" pitchFamily="34" charset="0"/>
                <a:ea typeface="Arial" pitchFamily="34" charset="-122"/>
                <a:cs typeface="Arial" pitchFamily="34" charset="-120"/>
              </a:rPr>
              <a:t>1</a:t>
            </a:r>
            <a:endParaRPr lang="en-US" sz="900" dirty="0"/>
          </a:p>
        </p:txBody>
      </p:sp>
      <p:sp>
        <p:nvSpPr>
          <p:cNvPr id="14" name="Text 11"/>
          <p:cNvSpPr txBox="1"/>
          <p:nvPr/>
        </p:nvSpPr>
        <p:spPr>
          <a:xfrm>
            <a:off x="5084064" y="3566160"/>
            <a:ext cx="3602736" cy="420624"/>
          </a:xfrm>
          <a:prstGeom prst="rect">
            <a:avLst/>
          </a:prstGeom>
          <a:noFill/>
          <a:ln/>
        </p:spPr>
        <p:txBody>
          <a:bodyPr wrap="square" lIns="0" tIns="0" rIns="0" bIns="0" rtlCol="0" anchor="t">
            <a:normAutofit/>
          </a:bodyPr>
          <a:lstStyle/>
          <a:p>
            <a:pPr indent="0" marL="0">
              <a:buNone/>
            </a:pPr>
            <a:r>
              <a:rPr lang="en-US" sz="800" dirty="0">
                <a:solidFill>
                  <a:srgbClr val="1C2420"/>
                </a:solidFill>
                <a:latin typeface="Arial" pitchFamily="34" charset="0"/>
                <a:ea typeface="Arial" pitchFamily="34" charset="-122"/>
                <a:cs typeface="Arial" pitchFamily="34" charset="-120"/>
              </a:rPr>
              <a:t>Age of store. New stores open OTC-heavy and drift to scripts. Melrose: 72% OTC at opening, about 45% now. Irene at 60-70% expects the same drift.</a:t>
            </a:r>
            <a:endParaRPr lang="en-US" sz="800" dirty="0"/>
          </a:p>
        </p:txBody>
      </p:sp>
      <p:sp>
        <p:nvSpPr>
          <p:cNvPr id="15" name="Shape 12"/>
          <p:cNvSpPr/>
          <p:nvPr/>
        </p:nvSpPr>
        <p:spPr>
          <a:xfrm>
            <a:off x="4754880" y="4041648"/>
            <a:ext cx="237744" cy="237744"/>
          </a:xfrm>
          <a:prstGeom prst="ellipse">
            <a:avLst/>
          </a:prstGeom>
          <a:solidFill>
            <a:srgbClr val="E3B71E"/>
          </a:solidFill>
          <a:ln w="12700">
            <a:solidFill>
              <a:srgbClr val="E3B71E"/>
            </a:solidFill>
            <a:prstDash val="solid"/>
          </a:ln>
        </p:spPr>
      </p:sp>
      <p:sp>
        <p:nvSpPr>
          <p:cNvPr id="16" name="Text 13"/>
          <p:cNvSpPr txBox="1"/>
          <p:nvPr/>
        </p:nvSpPr>
        <p:spPr>
          <a:xfrm>
            <a:off x="4754880" y="4041648"/>
            <a:ext cx="237744" cy="237744"/>
          </a:xfrm>
          <a:prstGeom prst="rect">
            <a:avLst/>
          </a:prstGeom>
          <a:noFill/>
          <a:ln/>
        </p:spPr>
        <p:txBody>
          <a:bodyPr wrap="square" lIns="0" tIns="0" rIns="0" bIns="0" rtlCol="0" anchor="ctr"/>
          <a:lstStyle/>
          <a:p>
            <a:pPr algn="ctr" indent="0" marL="0">
              <a:buNone/>
            </a:pPr>
            <a:r>
              <a:rPr lang="en-US" sz="900" b="1" dirty="0">
                <a:solidFill>
                  <a:srgbClr val="1C2420"/>
                </a:solidFill>
                <a:latin typeface="Arial" pitchFamily="34" charset="0"/>
                <a:ea typeface="Arial" pitchFamily="34" charset="-122"/>
                <a:cs typeface="Arial" pitchFamily="34" charset="-120"/>
              </a:rPr>
              <a:t>2</a:t>
            </a:r>
            <a:endParaRPr lang="en-US" sz="900" dirty="0"/>
          </a:p>
        </p:txBody>
      </p:sp>
      <p:sp>
        <p:nvSpPr>
          <p:cNvPr id="17" name="Text 14"/>
          <p:cNvSpPr txBox="1"/>
          <p:nvPr/>
        </p:nvSpPr>
        <p:spPr>
          <a:xfrm>
            <a:off x="5084064" y="4023360"/>
            <a:ext cx="3602736" cy="420624"/>
          </a:xfrm>
          <a:prstGeom prst="rect">
            <a:avLst/>
          </a:prstGeom>
          <a:noFill/>
          <a:ln/>
        </p:spPr>
        <p:txBody>
          <a:bodyPr wrap="square" lIns="0" tIns="0" rIns="0" bIns="0" rtlCol="0" anchor="t">
            <a:normAutofit/>
          </a:bodyPr>
          <a:lstStyle/>
          <a:p>
            <a:pPr indent="0" marL="0">
              <a:buNone/>
            </a:pPr>
            <a:r>
              <a:rPr lang="en-US" sz="800" dirty="0">
                <a:solidFill>
                  <a:srgbClr val="1C2420"/>
                </a:solidFill>
                <a:latin typeface="Arial" pitchFamily="34" charset="0"/>
                <a:ea typeface="Arial" pitchFamily="34" charset="-122"/>
                <a:cs typeface="Arial" pitchFamily="34" charset="-120"/>
              </a:rPr>
              <a:t>Staffing. Irene ran six on Saturdays when it needs eight. Melrose opened with nine.</a:t>
            </a:r>
            <a:endParaRPr lang="en-US" sz="800" dirty="0"/>
          </a:p>
        </p:txBody>
      </p:sp>
      <p:sp>
        <p:nvSpPr>
          <p:cNvPr id="18" name="Shape 15"/>
          <p:cNvSpPr/>
          <p:nvPr/>
        </p:nvSpPr>
        <p:spPr>
          <a:xfrm>
            <a:off x="4754880" y="4498848"/>
            <a:ext cx="237744" cy="237744"/>
          </a:xfrm>
          <a:prstGeom prst="ellipse">
            <a:avLst/>
          </a:prstGeom>
          <a:solidFill>
            <a:srgbClr val="E3B71E"/>
          </a:solidFill>
          <a:ln w="12700">
            <a:solidFill>
              <a:srgbClr val="E3B71E"/>
            </a:solidFill>
            <a:prstDash val="solid"/>
          </a:ln>
        </p:spPr>
      </p:sp>
      <p:sp>
        <p:nvSpPr>
          <p:cNvPr id="19" name="Text 16"/>
          <p:cNvSpPr txBox="1"/>
          <p:nvPr/>
        </p:nvSpPr>
        <p:spPr>
          <a:xfrm>
            <a:off x="4754880" y="4498848"/>
            <a:ext cx="237744" cy="237744"/>
          </a:xfrm>
          <a:prstGeom prst="rect">
            <a:avLst/>
          </a:prstGeom>
          <a:noFill/>
          <a:ln/>
        </p:spPr>
        <p:txBody>
          <a:bodyPr wrap="square" lIns="0" tIns="0" rIns="0" bIns="0" rtlCol="0" anchor="ctr"/>
          <a:lstStyle/>
          <a:p>
            <a:pPr algn="ctr" indent="0" marL="0">
              <a:buNone/>
            </a:pPr>
            <a:r>
              <a:rPr lang="en-US" sz="900" b="1" dirty="0">
                <a:solidFill>
                  <a:srgbClr val="1C2420"/>
                </a:solidFill>
                <a:latin typeface="Arial" pitchFamily="34" charset="0"/>
                <a:ea typeface="Arial" pitchFamily="34" charset="-122"/>
                <a:cs typeface="Arial" pitchFamily="34" charset="-120"/>
              </a:rPr>
              <a:t>3</a:t>
            </a:r>
            <a:endParaRPr lang="en-US" sz="900" dirty="0"/>
          </a:p>
        </p:txBody>
      </p:sp>
      <p:sp>
        <p:nvSpPr>
          <p:cNvPr id="20" name="Text 17"/>
          <p:cNvSpPr txBox="1"/>
          <p:nvPr/>
        </p:nvSpPr>
        <p:spPr>
          <a:xfrm>
            <a:off x="5084064" y="4480560"/>
            <a:ext cx="3602736" cy="420624"/>
          </a:xfrm>
          <a:prstGeom prst="rect">
            <a:avLst/>
          </a:prstGeom>
          <a:noFill/>
          <a:ln/>
        </p:spPr>
        <p:txBody>
          <a:bodyPr wrap="square" lIns="0" tIns="0" rIns="0" bIns="0" rtlCol="0" anchor="t">
            <a:normAutofit/>
          </a:bodyPr>
          <a:lstStyle/>
          <a:p>
            <a:pPr indent="0" marL="0">
              <a:buNone/>
            </a:pPr>
            <a:r>
              <a:rPr lang="en-US" sz="800" dirty="0">
                <a:solidFill>
                  <a:srgbClr val="1C2420"/>
                </a:solidFill>
                <a:latin typeface="Arial" pitchFamily="34" charset="0"/>
                <a:ea typeface="Arial" pitchFamily="34" charset="-122"/>
                <a:cs typeface="Arial" pitchFamily="34" charset="-120"/>
              </a:rPr>
              <a:t>Technology. Irene has a collections call-out flow Melrose lacks: "Melrose is now the forgotten child."</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657600" cy="228600"/>
          </a:xfrm>
          <a:prstGeom prst="rect">
            <a:avLst/>
          </a:prstGeom>
          <a:noFill/>
          <a:ln/>
        </p:spPr>
        <p:txBody>
          <a:bodyPr wrap="square" lIns="0" tIns="0" rIns="0" bIns="0" rtlCol="0" anchor="ctr"/>
          <a:lstStyle/>
          <a:p>
            <a:pPr indent="0" marL="0">
              <a:buNone/>
            </a:pPr>
            <a:r>
              <a:rPr lang="en-US" sz="900" b="1" spc="200" kern="0" dirty="0">
                <a:solidFill>
                  <a:srgbClr val="0A7A44"/>
                </a:solidFill>
                <a:latin typeface="Arial" pitchFamily="34" charset="0"/>
                <a:ea typeface="Arial" pitchFamily="34" charset="-122"/>
                <a:cs typeface="Arial" pitchFamily="34" charset="-120"/>
              </a:rPr>
              <a:t>SECTION 3 · WHERE ARE WE GOING?</a:t>
            </a:r>
            <a:endParaRPr lang="en-US" sz="900" dirty="0"/>
          </a:p>
        </p:txBody>
      </p:sp>
      <p:sp>
        <p:nvSpPr>
          <p:cNvPr id="3" name="Text 1"/>
          <p:cNvSpPr txBox="1"/>
          <p:nvPr/>
        </p:nvSpPr>
        <p:spPr>
          <a:xfrm>
            <a:off x="6400800" y="201168"/>
            <a:ext cx="2286000" cy="228600"/>
          </a:xfrm>
          <a:prstGeom prst="rect">
            <a:avLst/>
          </a:prstGeom>
          <a:noFill/>
          <a:ln/>
        </p:spPr>
        <p:txBody>
          <a:bodyPr wrap="square" lIns="0" tIns="0" rIns="0" bIns="0" rtlCol="0" anchor="ctr"/>
          <a:lstStyle/>
          <a:p>
            <a:pPr algn="r" indent="0" marL="0">
              <a:buNone/>
            </a:pPr>
            <a:r>
              <a:rPr lang="en-US" sz="900" dirty="0">
                <a:solidFill>
                  <a:srgbClr val="7D8A82"/>
                </a:solidFill>
                <a:latin typeface="Arial" pitchFamily="34" charset="0"/>
                <a:ea typeface="Arial" pitchFamily="34" charset="-122"/>
                <a:cs typeface="Arial" pitchFamily="34" charset="-120"/>
              </a:rPr>
              <a:t>Slide 3.1</a:t>
            </a:r>
            <a:endParaRPr lang="en-US" sz="900" dirty="0"/>
          </a:p>
        </p:txBody>
      </p:sp>
      <p:sp>
        <p:nvSpPr>
          <p:cNvPr id="4" name="Text 2"/>
          <p:cNvSpPr txBox="1"/>
          <p:nvPr/>
        </p:nvSpPr>
        <p:spPr>
          <a:xfrm>
            <a:off x="457200" y="438912"/>
            <a:ext cx="8229600" cy="731520"/>
          </a:xfrm>
          <a:prstGeom prst="rect">
            <a:avLst/>
          </a:prstGeom>
          <a:noFill/>
          <a:ln/>
        </p:spPr>
        <p:txBody>
          <a:bodyPr wrap="square" lIns="0" tIns="0" rIns="0" bIns="0" rtlCol="0" anchor="t">
            <a:normAutofit/>
          </a:bodyPr>
          <a:lstStyle/>
          <a:p>
            <a:pPr indent="0" marL="0">
              <a:buNone/>
            </a:pPr>
            <a:r>
              <a:rPr lang="en-US" sz="2100" b="1" dirty="0">
                <a:solidFill>
                  <a:srgbClr val="1C2420"/>
                </a:solidFill>
                <a:latin typeface="Arial" pitchFamily="34" charset="0"/>
                <a:ea typeface="Arial" pitchFamily="34" charset="-122"/>
                <a:cs typeface="Arial" pitchFamily="34" charset="-120"/>
              </a:rPr>
              <a:t>Two questions decide every pharmacy visit</a:t>
            </a:r>
            <a:endParaRPr lang="en-US" sz="2100" dirty="0"/>
          </a:p>
        </p:txBody>
      </p:sp>
      <p:sp>
        <p:nvSpPr>
          <p:cNvPr id="5" name="Text 3"/>
          <p:cNvSpPr txBox="1"/>
          <p:nvPr/>
        </p:nvSpPr>
        <p:spPr>
          <a:xfrm>
            <a:off x="457200" y="1152144"/>
            <a:ext cx="8229600" cy="475488"/>
          </a:xfrm>
          <a:prstGeom prst="rect">
            <a:avLst/>
          </a:prstGeom>
          <a:noFill/>
          <a:ln/>
        </p:spPr>
        <p:txBody>
          <a:bodyPr wrap="square" lIns="0" tIns="0" rIns="0" bIns="0" rtlCol="0" anchor="t">
            <a:normAutofit/>
          </a:bodyPr>
          <a:lstStyle/>
          <a:p>
            <a:pPr indent="0" marL="0">
              <a:buNone/>
            </a:pPr>
            <a:r>
              <a:rPr lang="en-US" sz="1100" dirty="0">
                <a:solidFill>
                  <a:srgbClr val="4C5A52"/>
                </a:solidFill>
                <a:latin typeface="Arial" pitchFamily="34" charset="0"/>
                <a:ea typeface="Arial" pitchFamily="34" charset="-122"/>
                <a:cs typeface="Arial" pitchFamily="34" charset="-120"/>
              </a:rPr>
              <a:t>The future pharmacy asks the customer one question at the kiosk and the pharmacist one question at the counter. Everything else is a mechanism for making the answers true.</a:t>
            </a:r>
            <a:endParaRPr lang="en-US" sz="1100" dirty="0"/>
          </a:p>
        </p:txBody>
      </p:sp>
      <p:sp>
        <p:nvSpPr>
          <p:cNvPr id="7" name="Text 4"/>
          <p:cNvSpPr txBox="1"/>
          <p:nvPr/>
        </p:nvSpPr>
        <p:spPr>
          <a:xfrm>
            <a:off x="457200" y="1691640"/>
            <a:ext cx="402336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AT THE KIOSK · TALK TO A PHARMACIST, OR DO YOU KNOW WHAT YOU WANT?</a:t>
            </a:r>
            <a:endParaRPr lang="en-US" sz="800" dirty="0"/>
          </a:p>
        </p:txBody>
      </p:sp>
      <p:sp>
        <p:nvSpPr>
          <p:cNvPr id="8" name="Shape 5"/>
          <p:cNvSpPr/>
          <p:nvPr/>
        </p:nvSpPr>
        <p:spPr>
          <a:xfrm>
            <a:off x="457200" y="1920240"/>
            <a:ext cx="4023360" cy="1005840"/>
          </a:xfrm>
          <a:prstGeom prst="rect">
            <a:avLst/>
          </a:prstGeom>
          <a:solidFill>
            <a:srgbClr val="F7F6F2"/>
          </a:solidFill>
          <a:ln w="9525">
            <a:solidFill>
              <a:srgbClr val="DCDFD8"/>
            </a:solidFill>
            <a:prstDash val="solid"/>
          </a:ln>
        </p:spPr>
      </p:sp>
      <p:sp>
        <p:nvSpPr>
          <p:cNvPr id="9" name="Text 6"/>
          <p:cNvSpPr txBox="1"/>
          <p:nvPr/>
        </p:nvSpPr>
        <p:spPr>
          <a:xfrm>
            <a:off x="594360" y="2029968"/>
            <a:ext cx="3749040" cy="310896"/>
          </a:xfrm>
          <a:prstGeom prst="rect">
            <a:avLst/>
          </a:prstGeom>
          <a:noFill/>
          <a:ln/>
        </p:spPr>
        <p:txBody>
          <a:bodyPr wrap="square" lIns="0" tIns="0" rIns="0" bIns="0" rtlCol="0" anchor="t">
            <a:normAutofit/>
          </a:bodyPr>
          <a:lstStyle/>
          <a:p>
            <a:pPr indent="0" marL="0">
              <a:buNone/>
            </a:pPr>
            <a:r>
              <a:rPr lang="en-US" sz="1050" b="1" dirty="0">
                <a:solidFill>
                  <a:srgbClr val="1C2420"/>
                </a:solidFill>
                <a:latin typeface="Arial" pitchFamily="34" charset="0"/>
                <a:ea typeface="Arial" pitchFamily="34" charset="-122"/>
                <a:cs typeface="Arial" pitchFamily="34" charset="-120"/>
              </a:rPr>
              <a:t>Talk to a pharmacist</a:t>
            </a:r>
            <a:endParaRPr lang="en-US" sz="1050" dirty="0"/>
          </a:p>
        </p:txBody>
      </p:sp>
      <p:sp>
        <p:nvSpPr>
          <p:cNvPr id="10" name="Text 7"/>
          <p:cNvSpPr txBox="1"/>
          <p:nvPr/>
        </p:nvSpPr>
        <p:spPr>
          <a:xfrm>
            <a:off x="594360" y="2359152"/>
            <a:ext cx="3749040" cy="457200"/>
          </a:xfrm>
          <a:prstGeom prst="rect">
            <a:avLst/>
          </a:prstGeom>
          <a:noFill/>
          <a:ln/>
        </p:spPr>
        <p:txBody>
          <a:bodyPr wrap="square" lIns="0" tIns="0" rIns="0" bIns="0" rtlCol="0" anchor="t">
            <a:normAutofit/>
          </a:bodyPr>
          <a:lstStyle/>
          <a:p>
            <a:pPr indent="0" marL="0">
              <a:spcAft>
                <a:spcPts val="400"/>
              </a:spcAft>
              <a:buNone/>
            </a:pPr>
            <a:r>
              <a:rPr lang="en-US" sz="850" dirty="0">
                <a:solidFill>
                  <a:srgbClr val="4C5A52"/>
                </a:solidFill>
                <a:latin typeface="Arial" pitchFamily="34" charset="0"/>
                <a:ea typeface="Arial" pitchFamily="34" charset="-122"/>
                <a:cs typeface="Arial" pitchFamily="34" charset="-120"/>
              </a:rPr>
              <a:t>Take a ticket. Scan your script at the kiosk if you have one, so it is open in front of the pharmacist when you are called. One conversation covers the script, generics, anything else you need, and how to take it.</a:t>
            </a:r>
            <a:endParaRPr lang="en-US" sz="850" dirty="0"/>
          </a:p>
        </p:txBody>
      </p:sp>
      <p:sp>
        <p:nvSpPr>
          <p:cNvPr id="11" name="Shape 8"/>
          <p:cNvSpPr/>
          <p:nvPr/>
        </p:nvSpPr>
        <p:spPr>
          <a:xfrm>
            <a:off x="457200" y="2990088"/>
            <a:ext cx="4023360" cy="1371600"/>
          </a:xfrm>
          <a:prstGeom prst="rect">
            <a:avLst/>
          </a:prstGeom>
          <a:solidFill>
            <a:srgbClr val="F7F6F2"/>
          </a:solidFill>
          <a:ln w="9525">
            <a:solidFill>
              <a:srgbClr val="DCDFD8"/>
            </a:solidFill>
            <a:prstDash val="solid"/>
          </a:ln>
        </p:spPr>
      </p:sp>
      <p:sp>
        <p:nvSpPr>
          <p:cNvPr id="12" name="Text 9"/>
          <p:cNvSpPr txBox="1"/>
          <p:nvPr/>
        </p:nvSpPr>
        <p:spPr>
          <a:xfrm>
            <a:off x="594360" y="3099816"/>
            <a:ext cx="3749040" cy="310896"/>
          </a:xfrm>
          <a:prstGeom prst="rect">
            <a:avLst/>
          </a:prstGeom>
          <a:noFill/>
          <a:ln/>
        </p:spPr>
        <p:txBody>
          <a:bodyPr wrap="square" lIns="0" tIns="0" rIns="0" bIns="0" rtlCol="0" anchor="t">
            <a:normAutofit/>
          </a:bodyPr>
          <a:lstStyle/>
          <a:p>
            <a:pPr indent="0" marL="0">
              <a:buNone/>
            </a:pPr>
            <a:r>
              <a:rPr lang="en-US" sz="1050" b="1" dirty="0">
                <a:solidFill>
                  <a:srgbClr val="1C2420"/>
                </a:solidFill>
                <a:latin typeface="Arial" pitchFamily="34" charset="0"/>
                <a:ea typeface="Arial" pitchFamily="34" charset="-122"/>
                <a:cs typeface="Arial" pitchFamily="34" charset="-120"/>
              </a:rPr>
              <a:t>I know what I want</a:t>
            </a:r>
            <a:endParaRPr lang="en-US" sz="1050" dirty="0"/>
          </a:p>
        </p:txBody>
      </p:sp>
      <p:sp>
        <p:nvSpPr>
          <p:cNvPr id="13" name="Text 10"/>
          <p:cNvSpPr txBox="1"/>
          <p:nvPr/>
        </p:nvSpPr>
        <p:spPr>
          <a:xfrm>
            <a:off x="594360" y="3429000"/>
            <a:ext cx="3749040" cy="822960"/>
          </a:xfrm>
          <a:prstGeom prst="rect">
            <a:avLst/>
          </a:prstGeom>
          <a:noFill/>
          <a:ln/>
        </p:spPr>
        <p:txBody>
          <a:bodyPr wrap="square" lIns="0" tIns="0" rIns="0" bIns="0" rtlCol="0" anchor="t">
            <a:normAutofit/>
          </a:bodyPr>
          <a:lstStyle/>
          <a:p>
            <a:pPr indent="0" marL="0">
              <a:spcAft>
                <a:spcPts val="400"/>
              </a:spcAft>
              <a:buNone/>
            </a:pPr>
            <a:r>
              <a:rPr lang="en-US" sz="850" dirty="0">
                <a:solidFill>
                  <a:srgbClr val="4C5A52"/>
                </a:solidFill>
                <a:latin typeface="Arial" pitchFamily="34" charset="0"/>
                <a:ea typeface="Arial" pitchFamily="34" charset="-122"/>
                <a:cs typeface="Arial" pitchFamily="34" charset="-120"/>
              </a:rPr>
              <a:t>Build the order at the kiosk or on your phone: repeats from your profile, over-the-counter items from a categorised list. Your details are captured there, so nobody asks again. Collect at the collections counter when it is ready. Pharmacy-only medicines are still handed over by pharmacy staff, as the law requires. The conversation is the part you skip, not the pharmacist.</a:t>
            </a:r>
            <a:endParaRPr lang="en-US" sz="850" dirty="0"/>
          </a:p>
        </p:txBody>
      </p:sp>
      <p:sp>
        <p:nvSpPr>
          <p:cNvPr id="14" name="Text 11"/>
          <p:cNvSpPr txBox="1"/>
          <p:nvPr/>
        </p:nvSpPr>
        <p:spPr>
          <a:xfrm>
            <a:off x="4754880" y="1691640"/>
            <a:ext cx="393192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AT THE COUNTER · IS EVERYTHING ON THIS ORDER WITHIN MY REACH?</a:t>
            </a:r>
            <a:endParaRPr lang="en-US" sz="800" dirty="0"/>
          </a:p>
        </p:txBody>
      </p:sp>
      <p:sp>
        <p:nvSpPr>
          <p:cNvPr id="15" name="Shape 12"/>
          <p:cNvSpPr/>
          <p:nvPr/>
        </p:nvSpPr>
        <p:spPr>
          <a:xfrm>
            <a:off x="4754880" y="1920240"/>
            <a:ext cx="3931920" cy="777240"/>
          </a:xfrm>
          <a:prstGeom prst="rect">
            <a:avLst/>
          </a:prstGeom>
          <a:solidFill>
            <a:srgbClr val="E7F2EA"/>
          </a:solidFill>
          <a:ln w="19050">
            <a:solidFill>
              <a:srgbClr val="0A7A44"/>
            </a:solidFill>
            <a:prstDash val="solid"/>
          </a:ln>
        </p:spPr>
      </p:sp>
      <p:sp>
        <p:nvSpPr>
          <p:cNvPr id="16" name="Text 13"/>
          <p:cNvSpPr txBox="1"/>
          <p:nvPr/>
        </p:nvSpPr>
        <p:spPr>
          <a:xfrm>
            <a:off x="4892040" y="2029968"/>
            <a:ext cx="3657600" cy="310896"/>
          </a:xfrm>
          <a:prstGeom prst="rect">
            <a:avLst/>
          </a:prstGeom>
          <a:noFill/>
          <a:ln/>
        </p:spPr>
        <p:txBody>
          <a:bodyPr wrap="square" lIns="0" tIns="0" rIns="0" bIns="0" rtlCol="0" anchor="t">
            <a:normAutofit/>
          </a:bodyPr>
          <a:lstStyle/>
          <a:p>
            <a:pPr indent="0" marL="0">
              <a:buNone/>
            </a:pPr>
            <a:r>
              <a:rPr lang="en-US" sz="1050" b="1" dirty="0">
                <a:solidFill>
                  <a:srgbClr val="1C2420"/>
                </a:solidFill>
                <a:latin typeface="Arial" pitchFamily="34" charset="0"/>
                <a:ea typeface="Arial" pitchFamily="34" charset="-122"/>
                <a:cs typeface="Arial" pitchFamily="34" charset="-120"/>
              </a:rPr>
              <a:t>Yes. It goes now.</a:t>
            </a:r>
            <a:endParaRPr lang="en-US" sz="1050" dirty="0"/>
          </a:p>
        </p:txBody>
      </p:sp>
      <p:sp>
        <p:nvSpPr>
          <p:cNvPr id="17" name="Text 14"/>
          <p:cNvSpPr txBox="1"/>
          <p:nvPr/>
        </p:nvSpPr>
        <p:spPr>
          <a:xfrm>
            <a:off x="4892040" y="2359152"/>
            <a:ext cx="3657600" cy="228600"/>
          </a:xfrm>
          <a:prstGeom prst="rect">
            <a:avLst/>
          </a:prstGeom>
          <a:noFill/>
          <a:ln/>
        </p:spPr>
        <p:txBody>
          <a:bodyPr wrap="square" lIns="0" tIns="0" rIns="0" bIns="0" rtlCol="0" anchor="t">
            <a:normAutofit/>
          </a:bodyPr>
          <a:lstStyle/>
          <a:p>
            <a:pPr indent="0" marL="0">
              <a:spcAft>
                <a:spcPts val="400"/>
              </a:spcAft>
              <a:buNone/>
            </a:pPr>
            <a:r>
              <a:rPr lang="en-US" sz="850" dirty="0">
                <a:solidFill>
                  <a:srgbClr val="4C5A52"/>
                </a:solidFill>
                <a:latin typeface="Arial" pitchFamily="34" charset="0"/>
                <a:ea typeface="Arial" pitchFamily="34" charset="-122"/>
                <a:cs typeface="Arial" pitchFamily="34" charset="-120"/>
              </a:rPr>
              <a:t>The pharmacist reaches for it, explains it, hands it over. One stop.</a:t>
            </a:r>
            <a:endParaRPr lang="en-US" sz="850" dirty="0"/>
          </a:p>
        </p:txBody>
      </p:sp>
      <p:sp>
        <p:nvSpPr>
          <p:cNvPr id="18" name="Shape 15"/>
          <p:cNvSpPr/>
          <p:nvPr/>
        </p:nvSpPr>
        <p:spPr>
          <a:xfrm>
            <a:off x="4754880" y="2761488"/>
            <a:ext cx="3931920" cy="822960"/>
          </a:xfrm>
          <a:prstGeom prst="rect">
            <a:avLst/>
          </a:prstGeom>
          <a:solidFill>
            <a:srgbClr val="F7F6F2"/>
          </a:solidFill>
          <a:ln w="9525">
            <a:solidFill>
              <a:srgbClr val="DCDFD8"/>
            </a:solidFill>
            <a:prstDash val="solid"/>
          </a:ln>
        </p:spPr>
      </p:sp>
      <p:sp>
        <p:nvSpPr>
          <p:cNvPr id="19" name="Text 16"/>
          <p:cNvSpPr txBox="1"/>
          <p:nvPr/>
        </p:nvSpPr>
        <p:spPr>
          <a:xfrm>
            <a:off x="4892040" y="2871216"/>
            <a:ext cx="3657600" cy="310896"/>
          </a:xfrm>
          <a:prstGeom prst="rect">
            <a:avLst/>
          </a:prstGeom>
          <a:noFill/>
          <a:ln/>
        </p:spPr>
        <p:txBody>
          <a:bodyPr wrap="square" lIns="0" tIns="0" rIns="0" bIns="0" rtlCol="0" anchor="t">
            <a:normAutofit/>
          </a:bodyPr>
          <a:lstStyle/>
          <a:p>
            <a:pPr indent="0" marL="0">
              <a:buNone/>
            </a:pPr>
            <a:r>
              <a:rPr lang="en-US" sz="1050" b="1" dirty="0">
                <a:solidFill>
                  <a:srgbClr val="1C2420"/>
                </a:solidFill>
                <a:latin typeface="Arial" pitchFamily="34" charset="0"/>
                <a:ea typeface="Arial" pitchFamily="34" charset="-122"/>
                <a:cs typeface="Arial" pitchFamily="34" charset="-120"/>
              </a:rPr>
              <a:t>No. It needs preparation time.</a:t>
            </a:r>
            <a:endParaRPr lang="en-US" sz="1050" dirty="0"/>
          </a:p>
        </p:txBody>
      </p:sp>
      <p:sp>
        <p:nvSpPr>
          <p:cNvPr id="20" name="Text 17"/>
          <p:cNvSpPr txBox="1"/>
          <p:nvPr/>
        </p:nvSpPr>
        <p:spPr>
          <a:xfrm>
            <a:off x="4892040" y="3200400"/>
            <a:ext cx="3657600" cy="274320"/>
          </a:xfrm>
          <a:prstGeom prst="rect">
            <a:avLst/>
          </a:prstGeom>
          <a:noFill/>
          <a:ln/>
        </p:spPr>
        <p:txBody>
          <a:bodyPr wrap="square" lIns="0" tIns="0" rIns="0" bIns="0" rtlCol="0" anchor="t">
            <a:normAutofit/>
          </a:bodyPr>
          <a:lstStyle/>
          <a:p>
            <a:pPr indent="0" marL="0">
              <a:spcAft>
                <a:spcPts val="400"/>
              </a:spcAft>
              <a:buNone/>
            </a:pPr>
            <a:r>
              <a:rPr lang="en-US" sz="850" dirty="0">
                <a:solidFill>
                  <a:srgbClr val="4C5A52"/>
                </a:solidFill>
                <a:latin typeface="Arial" pitchFamily="34" charset="0"/>
                <a:ea typeface="Arial" pitchFamily="34" charset="-122"/>
                <a:cs typeface="Arial" pitchFamily="34" charset="-120"/>
              </a:rPr>
              <a:t>The pharmacist says how long. The customer collects at the collections counter, or roams, or leaves and comes back.</a:t>
            </a:r>
            <a:endParaRPr lang="en-US" sz="850" dirty="0"/>
          </a:p>
        </p:txBody>
      </p:sp>
      <p:sp>
        <p:nvSpPr>
          <p:cNvPr id="21" name="Text 18"/>
          <p:cNvSpPr txBox="1"/>
          <p:nvPr/>
        </p:nvSpPr>
        <p:spPr>
          <a:xfrm>
            <a:off x="4754880" y="3657600"/>
            <a:ext cx="3931920" cy="713232"/>
          </a:xfrm>
          <a:prstGeom prst="rect">
            <a:avLst/>
          </a:prstGeom>
          <a:noFill/>
          <a:ln/>
        </p:spPr>
        <p:txBody>
          <a:bodyPr wrap="square" lIns="0" tIns="0" rIns="0" bIns="0" rtlCol="0" anchor="t"/>
          <a:lstStyle/>
          <a:p>
            <a:pPr indent="0" marL="0">
              <a:buNone/>
            </a:pPr>
            <a:r>
              <a:rPr lang="en-US" sz="800" dirty="0">
                <a:solidFill>
                  <a:srgbClr val="4C5A52"/>
                </a:solidFill>
                <a:latin typeface="Arial" pitchFamily="34" charset="0"/>
                <a:ea typeface="Arial" pitchFamily="34" charset="-122"/>
                <a:cs typeface="Arial" pitchFamily="34" charset="-120"/>
              </a:rPr>
              <a:t>Decided once, when the order is confirmed, from what the pharmacist can see: the shelf behind them, what is in stock, and whether anything needs a medical scheme authorisation. It never changes mid-conversation, so the back always knows which orders are theirs.</a:t>
            </a:r>
            <a:endParaRPr lang="en-US" sz="800" dirty="0"/>
          </a:p>
        </p:txBody>
      </p:sp>
      <p:sp>
        <p:nvSpPr>
          <p:cNvPr id="22" name="Shape 19"/>
          <p:cNvSpPr/>
          <p:nvPr/>
        </p:nvSpPr>
        <p:spPr>
          <a:xfrm>
            <a:off x="457200" y="4462272"/>
            <a:ext cx="8229600" cy="457200"/>
          </a:xfrm>
          <a:prstGeom prst="rect">
            <a:avLst/>
          </a:prstGeom>
          <a:solidFill>
            <a:srgbClr val="FAF3D9"/>
          </a:solidFill>
          <a:ln w="12700">
            <a:solidFill>
              <a:srgbClr val="FAF3D9"/>
            </a:solidFill>
            <a:prstDash val="solid"/>
          </a:ln>
        </p:spPr>
      </p:sp>
      <p:sp>
        <p:nvSpPr>
          <p:cNvPr id="23" name="Text 20"/>
          <p:cNvSpPr txBox="1"/>
          <p:nvPr/>
        </p:nvSpPr>
        <p:spPr>
          <a:xfrm>
            <a:off x="621792" y="4462272"/>
            <a:ext cx="7900416" cy="457200"/>
          </a:xfrm>
          <a:prstGeom prst="rect">
            <a:avLst/>
          </a:prstGeom>
          <a:noFill/>
          <a:ln/>
        </p:spPr>
        <p:txBody>
          <a:bodyPr wrap="square" lIns="0" tIns="0" rIns="0" bIns="0" rtlCol="0" anchor="ctr"/>
          <a:lstStyle/>
          <a:p>
            <a:pPr indent="0" marL="0">
              <a:buNone/>
            </a:pPr>
            <a:r>
              <a:rPr lang="en-US" sz="1500" b="1" dirty="0">
                <a:solidFill>
                  <a:srgbClr val="1C2420"/>
                </a:solidFill>
                <a:latin typeface="Arial" pitchFamily="34" charset="0"/>
                <a:ea typeface="Arial" pitchFamily="34" charset="-122"/>
                <a:cs typeface="Arial" pitchFamily="34" charset="-120"/>
              </a:rPr>
              <a:t>What is behind me goes now. What is not gets a time.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657600" cy="228600"/>
          </a:xfrm>
          <a:prstGeom prst="rect">
            <a:avLst/>
          </a:prstGeom>
          <a:noFill/>
          <a:ln/>
        </p:spPr>
        <p:txBody>
          <a:bodyPr wrap="square" lIns="0" tIns="0" rIns="0" bIns="0" rtlCol="0" anchor="ctr"/>
          <a:lstStyle/>
          <a:p>
            <a:pPr indent="0" marL="0">
              <a:buNone/>
            </a:pPr>
            <a:r>
              <a:rPr lang="en-US" sz="900" b="1" spc="200" kern="0" dirty="0">
                <a:solidFill>
                  <a:srgbClr val="0A7A44"/>
                </a:solidFill>
                <a:latin typeface="Arial" pitchFamily="34" charset="0"/>
                <a:ea typeface="Arial" pitchFamily="34" charset="-122"/>
                <a:cs typeface="Arial" pitchFamily="34" charset="-120"/>
              </a:rPr>
              <a:t>SECTION 3 · WHERE ARE WE GOING?</a:t>
            </a:r>
            <a:endParaRPr lang="en-US" sz="900" dirty="0"/>
          </a:p>
        </p:txBody>
      </p:sp>
      <p:sp>
        <p:nvSpPr>
          <p:cNvPr id="3" name="Text 1"/>
          <p:cNvSpPr txBox="1"/>
          <p:nvPr/>
        </p:nvSpPr>
        <p:spPr>
          <a:xfrm>
            <a:off x="6400800" y="201168"/>
            <a:ext cx="2286000" cy="228600"/>
          </a:xfrm>
          <a:prstGeom prst="rect">
            <a:avLst/>
          </a:prstGeom>
          <a:noFill/>
          <a:ln/>
        </p:spPr>
        <p:txBody>
          <a:bodyPr wrap="square" lIns="0" tIns="0" rIns="0" bIns="0" rtlCol="0" anchor="ctr"/>
          <a:lstStyle/>
          <a:p>
            <a:pPr algn="r" indent="0" marL="0">
              <a:buNone/>
            </a:pPr>
            <a:r>
              <a:rPr lang="en-US" sz="900" dirty="0">
                <a:solidFill>
                  <a:srgbClr val="7D8A82"/>
                </a:solidFill>
                <a:latin typeface="Arial" pitchFamily="34" charset="0"/>
                <a:ea typeface="Arial" pitchFamily="34" charset="-122"/>
                <a:cs typeface="Arial" pitchFamily="34" charset="-120"/>
              </a:rPr>
              <a:t>Slide 3.2</a:t>
            </a:r>
            <a:endParaRPr lang="en-US" sz="900" dirty="0"/>
          </a:p>
        </p:txBody>
      </p:sp>
      <p:sp>
        <p:nvSpPr>
          <p:cNvPr id="4" name="Text 2"/>
          <p:cNvSpPr txBox="1"/>
          <p:nvPr/>
        </p:nvSpPr>
        <p:spPr>
          <a:xfrm>
            <a:off x="457200" y="438912"/>
            <a:ext cx="8229600" cy="731520"/>
          </a:xfrm>
          <a:prstGeom prst="rect">
            <a:avLst/>
          </a:prstGeom>
          <a:noFill/>
          <a:ln/>
        </p:spPr>
        <p:txBody>
          <a:bodyPr wrap="square" lIns="0" tIns="0" rIns="0" bIns="0" rtlCol="0" anchor="t">
            <a:normAutofit/>
          </a:bodyPr>
          <a:lstStyle/>
          <a:p>
            <a:pPr indent="0" marL="0">
              <a:buNone/>
            </a:pPr>
            <a:r>
              <a:rPr lang="en-US" sz="2100" b="1" dirty="0">
                <a:solidFill>
                  <a:srgbClr val="1C2420"/>
                </a:solidFill>
                <a:latin typeface="Arial" pitchFamily="34" charset="0"/>
                <a:ea typeface="Arial" pitchFamily="34" charset="-122"/>
                <a:cs typeface="Arial" pitchFamily="34" charset="-120"/>
              </a:rPr>
              <a:t>One rule, three kinds of store</a:t>
            </a:r>
            <a:endParaRPr lang="en-US" sz="2100" dirty="0"/>
          </a:p>
        </p:txBody>
      </p:sp>
      <p:sp>
        <p:nvSpPr>
          <p:cNvPr id="5" name="Text 3"/>
          <p:cNvSpPr txBox="1"/>
          <p:nvPr/>
        </p:nvSpPr>
        <p:spPr>
          <a:xfrm>
            <a:off x="457200" y="1152144"/>
            <a:ext cx="8229600" cy="475488"/>
          </a:xfrm>
          <a:prstGeom prst="rect">
            <a:avLst/>
          </a:prstGeom>
          <a:noFill/>
          <a:ln/>
        </p:spPr>
        <p:txBody>
          <a:bodyPr wrap="square" lIns="0" tIns="0" rIns="0" bIns="0" rtlCol="0" anchor="t">
            <a:normAutofit/>
          </a:bodyPr>
          <a:lstStyle/>
          <a:p>
            <a:pPr indent="0" marL="0">
              <a:buNone/>
            </a:pPr>
            <a:r>
              <a:rPr lang="en-US" sz="1100" dirty="0">
                <a:solidFill>
                  <a:srgbClr val="4C5A52"/>
                </a:solidFill>
                <a:latin typeface="Arial" pitchFamily="34" charset="0"/>
                <a:ea typeface="Arial" pitchFamily="34" charset="-122"/>
                <a:cs typeface="Arial" pitchFamily="34" charset="-120"/>
              </a:rPr>
              <a:t>The rule does not change from store to store. What changes is how much sits within the pharmacist's reach, and that is what the roadmap is really deciding.</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8229600" cy="914400"/>
        </p:xfrm>
        <a:graphic>
          <a:graphicData uri="http://schemas.openxmlformats.org/drawingml/2006/table">
            <a:tbl>
              <a:tblPr/>
              <a:tblGrid>
                <a:gridCol w="1188720"/>
                <a:gridCol w="2103120"/>
                <a:gridCol w="2651760"/>
                <a:gridCol w="2286000"/>
              </a:tblGrid>
              <a:tr h="365760">
                <a:tc>
                  <a:txBody>
                    <a:bodyPr/>
                    <a:lstStyle/>
                    <a:p>
                      <a:pPr indent="0" marL="0">
                        <a:buNone/>
                      </a:pP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c>
                  <a:txBody>
                    <a:bodyPr/>
                    <a:lstStyle/>
                    <a:p>
                      <a:pPr indent="0" marL="0">
                        <a:buNone/>
                      </a:pPr>
                      <a:r>
                        <a:rPr lang="en-US" sz="800" b="1" dirty="0">
                          <a:solidFill>
                            <a:srgbClr val="7D8A82"/>
                          </a:solidFill>
                          <a:latin typeface="Arial" pitchFamily="34" charset="0"/>
                          <a:ea typeface="Arial" pitchFamily="34" charset="-122"/>
                          <a:cs typeface="Arial" pitchFamily="34" charset="-120"/>
                        </a:rPr>
                        <a:t>Small manual store</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c>
                  <a:txBody>
                    <a:bodyPr/>
                    <a:lstStyle/>
                    <a:p>
                      <a:pPr indent="0" marL="0">
                        <a:buNone/>
                      </a:pPr>
                      <a:r>
                        <a:rPr lang="en-US" sz="800" b="1" dirty="0">
                          <a:solidFill>
                            <a:srgbClr val="7D8A82"/>
                          </a:solidFill>
                          <a:latin typeface="Arial" pitchFamily="34" charset="0"/>
                          <a:ea typeface="Arial" pitchFamily="34" charset="-122"/>
                          <a:cs typeface="Arial" pitchFamily="34" charset="-120"/>
                        </a:rPr>
                        <a:t>Medium manual store (Melrose Arch, Irene, the Q4 stores)</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c>
                  <a:txBody>
                    <a:bodyPr/>
                    <a:lstStyle/>
                    <a:p>
                      <a:pPr indent="0" marL="0">
                        <a:buNone/>
                      </a:pPr>
                      <a:r>
                        <a:rPr lang="en-US" sz="800" b="1" dirty="0">
                          <a:solidFill>
                            <a:srgbClr val="7D8A82"/>
                          </a:solidFill>
                          <a:latin typeface="Arial" pitchFamily="34" charset="0"/>
                          <a:ea typeface="Arial" pitchFamily="34" charset="-122"/>
                          <a:cs typeface="Arial" pitchFamily="34" charset="-120"/>
                        </a:rPr>
                        <a:t>Automated picker store (ROWA, from 2027)</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r>
              <a:tr h="365760">
                <a:tc>
                  <a:txBody>
                    <a:bodyPr/>
                    <a:lstStyle/>
                    <a:p>
                      <a:pPr indent="0" marL="0">
                        <a:buNone/>
                      </a:pPr>
                      <a:r>
                        <a:rPr lang="en-US" sz="850" b="1" dirty="0">
                          <a:solidFill>
                            <a:srgbClr val="1C2420"/>
                          </a:solidFill>
                          <a:latin typeface="Arial" pitchFamily="34" charset="0"/>
                          <a:ea typeface="Arial" pitchFamily="34" charset="-122"/>
                          <a:cs typeface="Arial" pitchFamily="34" charset="-120"/>
                        </a:rPr>
                        <a:t>Within reach</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A curated shelf of the top OTC lines behind the pharmacist</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The same shelf, plus in-stock small orders brought forward from the back when the data shows it can be done in under two minutes</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Everything the machine holds. The wall itself is within reach</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365760">
                <a:tc>
                  <a:txBody>
                    <a:bodyPr/>
                    <a:lstStyle/>
                    <a:p>
                      <a:pPr indent="0" marL="0">
                        <a:buNone/>
                      </a:pPr>
                      <a:r>
                        <a:rPr lang="en-US" sz="850" b="1" dirty="0">
                          <a:solidFill>
                            <a:srgbClr val="1C2420"/>
                          </a:solidFill>
                          <a:latin typeface="Arial" pitchFamily="34" charset="0"/>
                          <a:ea typeface="Arial" pitchFamily="34" charset="-122"/>
                          <a:cs typeface="Arial" pitchFamily="34" charset="-120"/>
                        </a:rPr>
                        <a:t>Goes now</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Shelf items only</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Shelf items; then small repeats and OTC as the fast path earns it</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Almost every order, delivered to the counter in seconds</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365760">
                <a:tc>
                  <a:txBody>
                    <a:bodyPr/>
                    <a:lstStyle/>
                    <a:p>
                      <a:pPr indent="0" marL="0">
                        <a:buNone/>
                      </a:pPr>
                      <a:r>
                        <a:rPr lang="en-US" sz="850" b="1" dirty="0">
                          <a:solidFill>
                            <a:srgbClr val="1C2420"/>
                          </a:solidFill>
                          <a:latin typeface="Arial" pitchFamily="34" charset="0"/>
                          <a:ea typeface="Arial" pitchFamily="34" charset="-122"/>
                          <a:cs typeface="Arial" pitchFamily="34" charset="-120"/>
                        </a:rPr>
                        <a:t>Gets a time</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Everything behind the wall</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Everything else</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Only genuine waits: scheme authorisation, compounding, out of stock</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365760">
                <a:tc>
                  <a:txBody>
                    <a:bodyPr/>
                    <a:lstStyle/>
                    <a:p>
                      <a:pPr indent="0" marL="0">
                        <a:buNone/>
                      </a:pPr>
                      <a:r>
                        <a:rPr lang="en-US" sz="850" b="1" dirty="0">
                          <a:solidFill>
                            <a:srgbClr val="1C2420"/>
                          </a:solidFill>
                          <a:latin typeface="Arial" pitchFamily="34" charset="0"/>
                          <a:ea typeface="Arial" pitchFamily="34" charset="-122"/>
                          <a:cs typeface="Arial" pitchFamily="34" charset="-120"/>
                        </a:rPr>
                        <a:t>Collections</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One collections counter</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One collections counter</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One collections counter. A known order built at the kiosk can also be released directly by the machine</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365760">
                <a:tc>
                  <a:txBody>
                    <a:bodyPr/>
                    <a:lstStyle/>
                    <a:p>
                      <a:pPr indent="0" marL="0">
                        <a:buNone/>
                      </a:pPr>
                      <a:r>
                        <a:rPr lang="en-US" sz="850" b="1" dirty="0">
                          <a:solidFill>
                            <a:srgbClr val="1C2420"/>
                          </a:solidFill>
                          <a:latin typeface="Arial" pitchFamily="34" charset="0"/>
                          <a:ea typeface="Arial" pitchFamily="34" charset="-122"/>
                          <a:cs typeface="Arial" pitchFamily="34" charset="-120"/>
                        </a:rPr>
                        <a:t>Staff it needs</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No spare hands. The pharmacist is the picker</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Roughly one picker per dispenser to run the fast path</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50" dirty="0">
                          <a:solidFill>
                            <a:srgbClr val="1C2420"/>
                          </a:solidFill>
                          <a:latin typeface="Arial" pitchFamily="34" charset="0"/>
                          <a:ea typeface="Arial" pitchFamily="34" charset="-122"/>
                          <a:cs typeface="Arial" pitchFamily="34" charset="-120"/>
                        </a:rPr>
                        <a:t>Fewer pickers. The machine picks</a:t>
                      </a:r>
                      <a:endParaRPr lang="en-US" sz="8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457200" y="4069080"/>
            <a:ext cx="4937760" cy="868680"/>
          </a:xfrm>
          <a:prstGeom prst="rect">
            <a:avLst/>
          </a:prstGeom>
          <a:noFill/>
          <a:ln/>
        </p:spPr>
        <p:txBody>
          <a:bodyPr wrap="square" lIns="0" tIns="0" rIns="0" bIns="0" rtlCol="0" anchor="t"/>
          <a:lstStyle/>
          <a:p>
            <a:pPr indent="0" marL="0">
              <a:buNone/>
            </a:pPr>
            <a:r>
              <a:rPr lang="en-US" sz="900" dirty="0">
                <a:solidFill>
                  <a:srgbClr val="1C2420"/>
                </a:solidFill>
                <a:latin typeface="Arial" pitchFamily="34" charset="0"/>
                <a:ea typeface="Arial" pitchFamily="34" charset="-122"/>
                <a:cs typeface="Arial" pitchFamily="34" charset="-120"/>
              </a:rPr>
              <a:t>Two thirds of the estate will pick by hand for the foreseeable future, so the medium manual store is the one to get right. The Q4 openings are fifteen chances to do that. The automated store does not need a different process. It needs the same rule with a much wider shelf.</a:t>
            </a:r>
            <a:endParaRPr lang="en-US" sz="900" dirty="0"/>
          </a:p>
        </p:txBody>
      </p:sp>
      <p:sp>
        <p:nvSpPr>
          <p:cNvPr id="9" name="Shape 5"/>
          <p:cNvSpPr/>
          <p:nvPr/>
        </p:nvSpPr>
        <p:spPr>
          <a:xfrm>
            <a:off x="5577840" y="4023360"/>
            <a:ext cx="3108960" cy="914400"/>
          </a:xfrm>
          <a:prstGeom prst="rect">
            <a:avLst/>
          </a:prstGeom>
          <a:solidFill>
            <a:srgbClr val="FAF3D9"/>
          </a:solidFill>
          <a:ln w="12700">
            <a:solidFill>
              <a:srgbClr val="FAF3D9"/>
            </a:solidFill>
            <a:prstDash val="solid"/>
          </a:ln>
        </p:spPr>
      </p:sp>
      <p:sp>
        <p:nvSpPr>
          <p:cNvPr id="10" name="Text 6"/>
          <p:cNvSpPr txBox="1"/>
          <p:nvPr/>
        </p:nvSpPr>
        <p:spPr>
          <a:xfrm>
            <a:off x="5742432" y="4114800"/>
            <a:ext cx="2779776" cy="384048"/>
          </a:xfrm>
          <a:prstGeom prst="rect">
            <a:avLst/>
          </a:prstGeom>
          <a:noFill/>
          <a:ln/>
        </p:spPr>
        <p:txBody>
          <a:bodyPr wrap="square" lIns="0" tIns="0" rIns="0" bIns="0" rtlCol="0" anchor="ctr">
            <a:normAutofit/>
          </a:bodyPr>
          <a:lstStyle/>
          <a:p>
            <a:pPr indent="0" marL="0">
              <a:buNone/>
            </a:pPr>
            <a:r>
              <a:rPr lang="en-US" sz="1800" b="1" dirty="0">
                <a:solidFill>
                  <a:srgbClr val="1C2420"/>
                </a:solidFill>
                <a:latin typeface="Arial" pitchFamily="34" charset="0"/>
                <a:ea typeface="Arial" pitchFamily="34" charset="-122"/>
                <a:cs typeface="Arial" pitchFamily="34" charset="-120"/>
              </a:rPr>
              <a:t>The shelf is the dial</a:t>
            </a:r>
            <a:endParaRPr lang="en-US" sz="1800" dirty="0"/>
          </a:p>
        </p:txBody>
      </p:sp>
      <p:sp>
        <p:nvSpPr>
          <p:cNvPr id="11" name="Text 7"/>
          <p:cNvSpPr txBox="1"/>
          <p:nvPr/>
        </p:nvSpPr>
        <p:spPr>
          <a:xfrm>
            <a:off x="5742432" y="4498848"/>
            <a:ext cx="2779776" cy="365760"/>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The planogram decides what "now" covers. Data decides when to widen it.</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657600" cy="228600"/>
          </a:xfrm>
          <a:prstGeom prst="rect">
            <a:avLst/>
          </a:prstGeom>
          <a:noFill/>
          <a:ln/>
        </p:spPr>
        <p:txBody>
          <a:bodyPr wrap="square" lIns="0" tIns="0" rIns="0" bIns="0" rtlCol="0" anchor="ctr"/>
          <a:lstStyle/>
          <a:p>
            <a:pPr indent="0" marL="0">
              <a:buNone/>
            </a:pPr>
            <a:r>
              <a:rPr lang="en-US" sz="900" b="1" spc="200" kern="0" dirty="0">
                <a:solidFill>
                  <a:srgbClr val="0A7A44"/>
                </a:solidFill>
                <a:latin typeface="Arial" pitchFamily="34" charset="0"/>
                <a:ea typeface="Arial" pitchFamily="34" charset="-122"/>
                <a:cs typeface="Arial" pitchFamily="34" charset="-120"/>
              </a:rPr>
              <a:t>SECTION 3 · WHERE ARE WE GOING?</a:t>
            </a:r>
            <a:endParaRPr lang="en-US" sz="900" dirty="0"/>
          </a:p>
        </p:txBody>
      </p:sp>
      <p:sp>
        <p:nvSpPr>
          <p:cNvPr id="3" name="Text 1"/>
          <p:cNvSpPr txBox="1"/>
          <p:nvPr/>
        </p:nvSpPr>
        <p:spPr>
          <a:xfrm>
            <a:off x="6400800" y="201168"/>
            <a:ext cx="2286000" cy="228600"/>
          </a:xfrm>
          <a:prstGeom prst="rect">
            <a:avLst/>
          </a:prstGeom>
          <a:noFill/>
          <a:ln/>
        </p:spPr>
        <p:txBody>
          <a:bodyPr wrap="square" lIns="0" tIns="0" rIns="0" bIns="0" rtlCol="0" anchor="ctr"/>
          <a:lstStyle/>
          <a:p>
            <a:pPr algn="r" indent="0" marL="0">
              <a:buNone/>
            </a:pPr>
            <a:r>
              <a:rPr lang="en-US" sz="900" dirty="0">
                <a:solidFill>
                  <a:srgbClr val="7D8A82"/>
                </a:solidFill>
                <a:latin typeface="Arial" pitchFamily="34" charset="0"/>
                <a:ea typeface="Arial" pitchFamily="34" charset="-122"/>
                <a:cs typeface="Arial" pitchFamily="34" charset="-120"/>
              </a:rPr>
              <a:t>Slide 3.3</a:t>
            </a:r>
            <a:endParaRPr lang="en-US" sz="900" dirty="0"/>
          </a:p>
        </p:txBody>
      </p:sp>
      <p:sp>
        <p:nvSpPr>
          <p:cNvPr id="4" name="Text 2"/>
          <p:cNvSpPr txBox="1"/>
          <p:nvPr/>
        </p:nvSpPr>
        <p:spPr>
          <a:xfrm>
            <a:off x="457200" y="438912"/>
            <a:ext cx="8229600" cy="731520"/>
          </a:xfrm>
          <a:prstGeom prst="rect">
            <a:avLst/>
          </a:prstGeom>
          <a:noFill/>
          <a:ln/>
        </p:spPr>
        <p:txBody>
          <a:bodyPr wrap="square" lIns="0" tIns="0" rIns="0" bIns="0" rtlCol="0" anchor="t">
            <a:normAutofit/>
          </a:bodyPr>
          <a:lstStyle/>
          <a:p>
            <a:pPr indent="0" marL="0">
              <a:buNone/>
            </a:pPr>
            <a:r>
              <a:rPr lang="en-US" sz="2100" b="1" dirty="0">
                <a:solidFill>
                  <a:srgbClr val="1C2420"/>
                </a:solidFill>
                <a:latin typeface="Arial" pitchFamily="34" charset="0"/>
                <a:ea typeface="Arial" pitchFamily="34" charset="-122"/>
                <a:cs typeface="Arial" pitchFamily="34" charset="-120"/>
              </a:rPr>
              <a:t>What has to be true for the rule to work</a:t>
            </a:r>
            <a:endParaRPr lang="en-US" sz="2100" dirty="0"/>
          </a:p>
        </p:txBody>
      </p:sp>
      <p:sp>
        <p:nvSpPr>
          <p:cNvPr id="5" name="Text 3"/>
          <p:cNvSpPr txBox="1"/>
          <p:nvPr/>
        </p:nvSpPr>
        <p:spPr>
          <a:xfrm>
            <a:off x="457200" y="1152144"/>
            <a:ext cx="8229600" cy="475488"/>
          </a:xfrm>
          <a:prstGeom prst="rect">
            <a:avLst/>
          </a:prstGeom>
          <a:noFill/>
          <a:ln/>
        </p:spPr>
        <p:txBody>
          <a:bodyPr wrap="square" lIns="0" tIns="0" rIns="0" bIns="0" rtlCol="0" anchor="t">
            <a:normAutofit/>
          </a:bodyPr>
          <a:lstStyle/>
          <a:p>
            <a:pPr indent="0" marL="0">
              <a:buNone/>
            </a:pPr>
            <a:r>
              <a:rPr lang="en-US" sz="1100" dirty="0">
                <a:solidFill>
                  <a:srgbClr val="4C5A52"/>
                </a:solidFill>
                <a:latin typeface="Arial" pitchFamily="34" charset="0"/>
                <a:ea typeface="Arial" pitchFamily="34" charset="-122"/>
                <a:cs typeface="Arial" pitchFamily="34" charset="-120"/>
              </a:rPr>
              <a:t>Six things make the rule real. Three we can do in the Q4 stores. Three depend on systems already on the roadmap, and the rule tells us why they matter.</a:t>
            </a:r>
            <a:endParaRPr lang="en-US" sz="1100" dirty="0"/>
          </a:p>
        </p:txBody>
      </p:sp>
      <p:sp>
        <p:nvSpPr>
          <p:cNvPr id="7" name="Text 4"/>
          <p:cNvSpPr txBox="1"/>
          <p:nvPr/>
        </p:nvSpPr>
        <p:spPr>
          <a:xfrm>
            <a:off x="457200" y="1691640"/>
            <a:ext cx="402336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IN THE Q4 STORES</a:t>
            </a:r>
            <a:endParaRPr lang="en-US" sz="800" dirty="0"/>
          </a:p>
        </p:txBody>
      </p:sp>
      <p:sp>
        <p:nvSpPr>
          <p:cNvPr id="8" name="Shape 5"/>
          <p:cNvSpPr/>
          <p:nvPr/>
        </p:nvSpPr>
        <p:spPr>
          <a:xfrm>
            <a:off x="457200" y="1938528"/>
            <a:ext cx="237744" cy="237744"/>
          </a:xfrm>
          <a:prstGeom prst="ellipse">
            <a:avLst/>
          </a:prstGeom>
          <a:solidFill>
            <a:srgbClr val="0A7A44"/>
          </a:solidFill>
          <a:ln w="12700">
            <a:solidFill>
              <a:srgbClr val="0A7A44"/>
            </a:solidFill>
            <a:prstDash val="solid"/>
          </a:ln>
        </p:spPr>
      </p:sp>
      <p:sp>
        <p:nvSpPr>
          <p:cNvPr id="9" name="Text 6"/>
          <p:cNvSpPr txBox="1"/>
          <p:nvPr/>
        </p:nvSpPr>
        <p:spPr>
          <a:xfrm>
            <a:off x="457200" y="193852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0" name="Text 7"/>
          <p:cNvSpPr txBox="1"/>
          <p:nvPr/>
        </p:nvSpPr>
        <p:spPr>
          <a:xfrm>
            <a:off x="786384" y="1920240"/>
            <a:ext cx="3694176" cy="755904"/>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A shelf behind the pharmacist, planogrammed from the volume data, screened from the queue. It is the threshold, the display that prompts the second sale, and the visible cue of a pharmacy.</a:t>
            </a:r>
            <a:endParaRPr lang="en-US" sz="900" dirty="0"/>
          </a:p>
        </p:txBody>
      </p:sp>
      <p:sp>
        <p:nvSpPr>
          <p:cNvPr id="11" name="Shape 8"/>
          <p:cNvSpPr/>
          <p:nvPr/>
        </p:nvSpPr>
        <p:spPr>
          <a:xfrm>
            <a:off x="457200" y="2731008"/>
            <a:ext cx="237744" cy="237744"/>
          </a:xfrm>
          <a:prstGeom prst="ellipse">
            <a:avLst/>
          </a:prstGeom>
          <a:solidFill>
            <a:srgbClr val="0A7A44"/>
          </a:solidFill>
          <a:ln w="12700">
            <a:solidFill>
              <a:srgbClr val="0A7A44"/>
            </a:solidFill>
            <a:prstDash val="solid"/>
          </a:ln>
        </p:spPr>
      </p:sp>
      <p:sp>
        <p:nvSpPr>
          <p:cNvPr id="12" name="Text 9"/>
          <p:cNvSpPr txBox="1"/>
          <p:nvPr/>
        </p:nvSpPr>
        <p:spPr>
          <a:xfrm>
            <a:off x="457200" y="273100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3" name="Text 10"/>
          <p:cNvSpPr txBox="1"/>
          <p:nvPr/>
        </p:nvSpPr>
        <p:spPr>
          <a:xfrm>
            <a:off x="786384" y="2712720"/>
            <a:ext cx="3694176" cy="755904"/>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Route set at confirmation. The order carries "now" or "collect" from the moment it is confirmed, on the label and on the dashboard, so the back never receives an order the counter is also handling.</a:t>
            </a:r>
            <a:endParaRPr lang="en-US" sz="900" dirty="0"/>
          </a:p>
        </p:txBody>
      </p:sp>
      <p:sp>
        <p:nvSpPr>
          <p:cNvPr id="14" name="Shape 11"/>
          <p:cNvSpPr/>
          <p:nvPr/>
        </p:nvSpPr>
        <p:spPr>
          <a:xfrm>
            <a:off x="457200" y="3523488"/>
            <a:ext cx="237744" cy="237744"/>
          </a:xfrm>
          <a:prstGeom prst="ellipse">
            <a:avLst/>
          </a:prstGeom>
          <a:solidFill>
            <a:srgbClr val="0A7A44"/>
          </a:solidFill>
          <a:ln w="12700">
            <a:solidFill>
              <a:srgbClr val="0A7A44"/>
            </a:solidFill>
            <a:prstDash val="solid"/>
          </a:ln>
        </p:spPr>
      </p:sp>
      <p:sp>
        <p:nvSpPr>
          <p:cNvPr id="15" name="Text 12"/>
          <p:cNvSpPr txBox="1"/>
          <p:nvPr/>
        </p:nvSpPr>
        <p:spPr>
          <a:xfrm>
            <a:off x="457200" y="352348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16" name="Text 13"/>
          <p:cNvSpPr txBox="1"/>
          <p:nvPr/>
        </p:nvSpPr>
        <p:spPr>
          <a:xfrm>
            <a:off x="786384" y="3505200"/>
            <a:ext cx="3694176" cy="755904"/>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One collections counter, called from any free counter when the store is busy, as Irene already does.</a:t>
            </a:r>
            <a:endParaRPr lang="en-US" sz="900" dirty="0"/>
          </a:p>
        </p:txBody>
      </p:sp>
      <p:sp>
        <p:nvSpPr>
          <p:cNvPr id="17" name="Text 14"/>
          <p:cNvSpPr txBox="1"/>
          <p:nvPr/>
        </p:nvSpPr>
        <p:spPr>
          <a:xfrm>
            <a:off x="4754880" y="1691640"/>
            <a:ext cx="393192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ON THE SYSTEMS ROADMAP</a:t>
            </a:r>
            <a:endParaRPr lang="en-US" sz="800" dirty="0"/>
          </a:p>
        </p:txBody>
      </p:sp>
      <p:sp>
        <p:nvSpPr>
          <p:cNvPr id="18" name="Shape 15"/>
          <p:cNvSpPr/>
          <p:nvPr/>
        </p:nvSpPr>
        <p:spPr>
          <a:xfrm>
            <a:off x="4754880" y="1938528"/>
            <a:ext cx="237744" cy="237744"/>
          </a:xfrm>
          <a:prstGeom prst="ellipse">
            <a:avLst/>
          </a:prstGeom>
          <a:solidFill>
            <a:srgbClr val="E3B71E"/>
          </a:solidFill>
          <a:ln w="12700">
            <a:solidFill>
              <a:srgbClr val="E3B71E"/>
            </a:solidFill>
            <a:prstDash val="solid"/>
          </a:ln>
        </p:spPr>
      </p:sp>
      <p:sp>
        <p:nvSpPr>
          <p:cNvPr id="19" name="Text 16"/>
          <p:cNvSpPr txBox="1"/>
          <p:nvPr/>
        </p:nvSpPr>
        <p:spPr>
          <a:xfrm>
            <a:off x="4754880" y="1938528"/>
            <a:ext cx="237744" cy="237744"/>
          </a:xfrm>
          <a:prstGeom prst="rect">
            <a:avLst/>
          </a:prstGeom>
          <a:noFill/>
          <a:ln/>
        </p:spPr>
        <p:txBody>
          <a:bodyPr wrap="square" lIns="0" tIns="0" rIns="0" bIns="0" rtlCol="0" anchor="ctr"/>
          <a:lstStyle/>
          <a:p>
            <a:pPr algn="ctr" indent="0" marL="0">
              <a:buNone/>
            </a:pPr>
            <a:r>
              <a:rPr lang="en-US" sz="900" b="1" dirty="0">
                <a:solidFill>
                  <a:srgbClr val="1C2420"/>
                </a:solidFill>
                <a:latin typeface="Arial" pitchFamily="34" charset="0"/>
                <a:ea typeface="Arial" pitchFamily="34" charset="-122"/>
                <a:cs typeface="Arial" pitchFamily="34" charset="-120"/>
              </a:rPr>
              <a:t>4</a:t>
            </a:r>
            <a:endParaRPr lang="en-US" sz="900" dirty="0"/>
          </a:p>
        </p:txBody>
      </p:sp>
      <p:sp>
        <p:nvSpPr>
          <p:cNvPr id="20" name="Text 17"/>
          <p:cNvSpPr txBox="1"/>
          <p:nvPr/>
        </p:nvSpPr>
        <p:spPr>
          <a:xfrm>
            <a:off x="5084064" y="1920240"/>
            <a:ext cx="3602736" cy="755904"/>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Orders captured at the kiosk. A known-item order built before the customer is called is preparation moved earlier, so more orders are ready sooner. Needs the kiosk basket to land in the dispensing system.</a:t>
            </a:r>
            <a:endParaRPr lang="en-US" sz="900" dirty="0"/>
          </a:p>
        </p:txBody>
      </p:sp>
      <p:sp>
        <p:nvSpPr>
          <p:cNvPr id="21" name="Shape 18"/>
          <p:cNvSpPr/>
          <p:nvPr/>
        </p:nvSpPr>
        <p:spPr>
          <a:xfrm>
            <a:off x="4754880" y="2731008"/>
            <a:ext cx="237744" cy="237744"/>
          </a:xfrm>
          <a:prstGeom prst="ellipse">
            <a:avLst/>
          </a:prstGeom>
          <a:solidFill>
            <a:srgbClr val="E3B71E"/>
          </a:solidFill>
          <a:ln w="12700">
            <a:solidFill>
              <a:srgbClr val="E3B71E"/>
            </a:solidFill>
            <a:prstDash val="solid"/>
          </a:ln>
        </p:spPr>
      </p:sp>
      <p:sp>
        <p:nvSpPr>
          <p:cNvPr id="22" name="Text 19"/>
          <p:cNvSpPr txBox="1"/>
          <p:nvPr/>
        </p:nvSpPr>
        <p:spPr>
          <a:xfrm>
            <a:off x="4754880" y="2731008"/>
            <a:ext cx="237744" cy="237744"/>
          </a:xfrm>
          <a:prstGeom prst="rect">
            <a:avLst/>
          </a:prstGeom>
          <a:noFill/>
          <a:ln/>
        </p:spPr>
        <p:txBody>
          <a:bodyPr wrap="square" lIns="0" tIns="0" rIns="0" bIns="0" rtlCol="0" anchor="ctr"/>
          <a:lstStyle/>
          <a:p>
            <a:pPr algn="ctr" indent="0" marL="0">
              <a:buNone/>
            </a:pPr>
            <a:r>
              <a:rPr lang="en-US" sz="900" b="1" dirty="0">
                <a:solidFill>
                  <a:srgbClr val="1C2420"/>
                </a:solidFill>
                <a:latin typeface="Arial" pitchFamily="34" charset="0"/>
                <a:ea typeface="Arial" pitchFamily="34" charset="-122"/>
                <a:cs typeface="Arial" pitchFamily="34" charset="-120"/>
              </a:rPr>
              <a:t>5</a:t>
            </a:r>
            <a:endParaRPr lang="en-US" sz="900" dirty="0"/>
          </a:p>
        </p:txBody>
      </p:sp>
      <p:sp>
        <p:nvSpPr>
          <p:cNvPr id="23" name="Text 20"/>
          <p:cNvSpPr txBox="1"/>
          <p:nvPr/>
        </p:nvSpPr>
        <p:spPr>
          <a:xfrm>
            <a:off x="5084064" y="2712720"/>
            <a:ext cx="3602736" cy="755904"/>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Payment at the pharmacy counter. Until then, "one stop" is still two stops. Currently planned for 2028; the rule makes the case to bring it forward.</a:t>
            </a:r>
            <a:endParaRPr lang="en-US" sz="900" dirty="0"/>
          </a:p>
        </p:txBody>
      </p:sp>
      <p:sp>
        <p:nvSpPr>
          <p:cNvPr id="24" name="Shape 21"/>
          <p:cNvSpPr/>
          <p:nvPr/>
        </p:nvSpPr>
        <p:spPr>
          <a:xfrm>
            <a:off x="4754880" y="3523488"/>
            <a:ext cx="237744" cy="237744"/>
          </a:xfrm>
          <a:prstGeom prst="ellipse">
            <a:avLst/>
          </a:prstGeom>
          <a:solidFill>
            <a:srgbClr val="E3B71E"/>
          </a:solidFill>
          <a:ln w="12700">
            <a:solidFill>
              <a:srgbClr val="E3B71E"/>
            </a:solidFill>
            <a:prstDash val="solid"/>
          </a:ln>
        </p:spPr>
      </p:sp>
      <p:sp>
        <p:nvSpPr>
          <p:cNvPr id="25" name="Text 22"/>
          <p:cNvSpPr txBox="1"/>
          <p:nvPr/>
        </p:nvSpPr>
        <p:spPr>
          <a:xfrm>
            <a:off x="4754880" y="3523488"/>
            <a:ext cx="237744" cy="237744"/>
          </a:xfrm>
          <a:prstGeom prst="rect">
            <a:avLst/>
          </a:prstGeom>
          <a:noFill/>
          <a:ln/>
        </p:spPr>
        <p:txBody>
          <a:bodyPr wrap="square" lIns="0" tIns="0" rIns="0" bIns="0" rtlCol="0" anchor="ctr"/>
          <a:lstStyle/>
          <a:p>
            <a:pPr algn="ctr" indent="0" marL="0">
              <a:buNone/>
            </a:pPr>
            <a:r>
              <a:rPr lang="en-US" sz="900" b="1" dirty="0">
                <a:solidFill>
                  <a:srgbClr val="1C2420"/>
                </a:solidFill>
                <a:latin typeface="Arial" pitchFamily="34" charset="0"/>
                <a:ea typeface="Arial" pitchFamily="34" charset="-122"/>
                <a:cs typeface="Arial" pitchFamily="34" charset="-120"/>
              </a:rPr>
              <a:t>6</a:t>
            </a:r>
            <a:endParaRPr lang="en-US" sz="900" dirty="0"/>
          </a:p>
        </p:txBody>
      </p:sp>
      <p:sp>
        <p:nvSpPr>
          <p:cNvPr id="26" name="Text 23"/>
          <p:cNvSpPr txBox="1"/>
          <p:nvPr/>
        </p:nvSpPr>
        <p:spPr>
          <a:xfrm>
            <a:off x="5084064" y="3505200"/>
            <a:ext cx="3602736" cy="755904"/>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Line-by-line release in Bricks. Today the whole script is dispensed as one order, so picking starts only after the conversation ends. Releasing each line as the pharmacist confirms it is what lets "now" grow beyond the shelf.</a:t>
            </a:r>
            <a:endParaRPr lang="en-US" sz="900" dirty="0"/>
          </a:p>
        </p:txBody>
      </p:sp>
      <p:sp>
        <p:nvSpPr>
          <p:cNvPr id="27" name="Shape 24"/>
          <p:cNvSpPr/>
          <p:nvPr/>
        </p:nvSpPr>
        <p:spPr>
          <a:xfrm>
            <a:off x="457200" y="4389120"/>
            <a:ext cx="8229600" cy="548640"/>
          </a:xfrm>
          <a:prstGeom prst="rect">
            <a:avLst/>
          </a:prstGeom>
          <a:solidFill>
            <a:srgbClr val="FAF3D9"/>
          </a:solidFill>
          <a:ln w="12700">
            <a:solidFill>
              <a:srgbClr val="FAF3D9"/>
            </a:solidFill>
            <a:prstDash val="solid"/>
          </a:ln>
        </p:spPr>
      </p:sp>
      <p:sp>
        <p:nvSpPr>
          <p:cNvPr id="28" name="Text 25"/>
          <p:cNvSpPr txBox="1"/>
          <p:nvPr/>
        </p:nvSpPr>
        <p:spPr>
          <a:xfrm>
            <a:off x="621792" y="4462272"/>
            <a:ext cx="7900416" cy="402336"/>
          </a:xfrm>
          <a:prstGeom prst="rect">
            <a:avLst/>
          </a:prstGeom>
          <a:noFill/>
          <a:ln/>
        </p:spPr>
        <p:txBody>
          <a:bodyPr wrap="square" lIns="0" tIns="0" rIns="0" bIns="0" rtlCol="0" anchor="ctr">
            <a:normAutofit/>
          </a:bodyPr>
          <a:lstStyle/>
          <a:p>
            <a:pPr indent="0" marL="0">
              <a:buNone/>
            </a:pPr>
            <a:r>
              <a:rPr lang="en-US" sz="950" dirty="0">
                <a:solidFill>
                  <a:srgbClr val="1C2420"/>
                </a:solidFill>
                <a:latin typeface="Arial" pitchFamily="34" charset="0"/>
                <a:ea typeface="Arial" pitchFamily="34" charset="-122"/>
                <a:cs typeface="Arial" pitchFamily="34" charset="-120"/>
              </a:rPr>
              <a:t>The guardrail this pack asks the Steer Group to adopt: decoupling at the counter is data-driven. The default is the shelf. Anything wider has to be earned by measured pick times, store by store.</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657600" cy="228600"/>
          </a:xfrm>
          <a:prstGeom prst="rect">
            <a:avLst/>
          </a:prstGeom>
          <a:noFill/>
          <a:ln/>
        </p:spPr>
        <p:txBody>
          <a:bodyPr wrap="square" lIns="0" tIns="0" rIns="0" bIns="0" rtlCol="0" anchor="ctr"/>
          <a:lstStyle/>
          <a:p>
            <a:pPr indent="0" marL="0">
              <a:buNone/>
            </a:pPr>
            <a:r>
              <a:rPr lang="en-US" sz="900" b="1" spc="200" kern="0" dirty="0">
                <a:solidFill>
                  <a:srgbClr val="0A7A44"/>
                </a:solidFill>
                <a:latin typeface="Arial" pitchFamily="34" charset="0"/>
                <a:ea typeface="Arial" pitchFamily="34" charset="-122"/>
                <a:cs typeface="Arial" pitchFamily="34" charset="-120"/>
              </a:rPr>
              <a:t>SECTION 4 · HOW DO WE GET THERE?</a:t>
            </a:r>
            <a:endParaRPr lang="en-US" sz="900" dirty="0"/>
          </a:p>
        </p:txBody>
      </p:sp>
      <p:sp>
        <p:nvSpPr>
          <p:cNvPr id="3" name="Text 1"/>
          <p:cNvSpPr txBox="1"/>
          <p:nvPr/>
        </p:nvSpPr>
        <p:spPr>
          <a:xfrm>
            <a:off x="6400800" y="201168"/>
            <a:ext cx="2286000" cy="228600"/>
          </a:xfrm>
          <a:prstGeom prst="rect">
            <a:avLst/>
          </a:prstGeom>
          <a:noFill/>
          <a:ln/>
        </p:spPr>
        <p:txBody>
          <a:bodyPr wrap="square" lIns="0" tIns="0" rIns="0" bIns="0" rtlCol="0" anchor="ctr"/>
          <a:lstStyle/>
          <a:p>
            <a:pPr algn="r" indent="0" marL="0">
              <a:buNone/>
            </a:pPr>
            <a:r>
              <a:rPr lang="en-US" sz="900" dirty="0">
                <a:solidFill>
                  <a:srgbClr val="7D8A82"/>
                </a:solidFill>
                <a:latin typeface="Arial" pitchFamily="34" charset="0"/>
                <a:ea typeface="Arial" pitchFamily="34" charset="-122"/>
                <a:cs typeface="Arial" pitchFamily="34" charset="-120"/>
              </a:rPr>
              <a:t>Slide 4.1</a:t>
            </a:r>
            <a:endParaRPr lang="en-US" sz="900" dirty="0"/>
          </a:p>
        </p:txBody>
      </p:sp>
      <p:sp>
        <p:nvSpPr>
          <p:cNvPr id="4" name="Text 2"/>
          <p:cNvSpPr txBox="1"/>
          <p:nvPr/>
        </p:nvSpPr>
        <p:spPr>
          <a:xfrm>
            <a:off x="457200" y="438912"/>
            <a:ext cx="8229600" cy="731520"/>
          </a:xfrm>
          <a:prstGeom prst="rect">
            <a:avLst/>
          </a:prstGeom>
          <a:noFill/>
          <a:ln/>
        </p:spPr>
        <p:txBody>
          <a:bodyPr wrap="square" lIns="0" tIns="0" rIns="0" bIns="0" rtlCol="0" anchor="t">
            <a:normAutofit/>
          </a:bodyPr>
          <a:lstStyle/>
          <a:p>
            <a:pPr indent="0" marL="0">
              <a:buNone/>
            </a:pPr>
            <a:r>
              <a:rPr lang="en-US" sz="2100" b="1" dirty="0">
                <a:solidFill>
                  <a:srgbClr val="1C2420"/>
                </a:solidFill>
                <a:latin typeface="Arial" pitchFamily="34" charset="0"/>
                <a:ea typeface="Arial" pitchFamily="34" charset="-122"/>
                <a:cs typeface="Arial" pitchFamily="34" charset="-120"/>
              </a:rPr>
              <a:t>Three routes from here</a:t>
            </a:r>
            <a:endParaRPr lang="en-US" sz="2100" dirty="0"/>
          </a:p>
        </p:txBody>
      </p:sp>
      <p:sp>
        <p:nvSpPr>
          <p:cNvPr id="5" name="Text 3"/>
          <p:cNvSpPr txBox="1"/>
          <p:nvPr/>
        </p:nvSpPr>
        <p:spPr>
          <a:xfrm>
            <a:off x="457200" y="1152144"/>
            <a:ext cx="8229600" cy="475488"/>
          </a:xfrm>
          <a:prstGeom prst="rect">
            <a:avLst/>
          </a:prstGeom>
          <a:noFill/>
          <a:ln/>
        </p:spPr>
        <p:txBody>
          <a:bodyPr wrap="square" lIns="0" tIns="0" rIns="0" bIns="0" rtlCol="0" anchor="t">
            <a:normAutofit/>
          </a:bodyPr>
          <a:lstStyle/>
          <a:p>
            <a:pPr indent="0" marL="0">
              <a:buNone/>
            </a:pPr>
            <a:r>
              <a:rPr lang="en-US" sz="1100" dirty="0">
                <a:solidFill>
                  <a:srgbClr val="4C5A52"/>
                </a:solidFill>
                <a:latin typeface="Arial" pitchFamily="34" charset="0"/>
                <a:ea typeface="Arial" pitchFamily="34" charset="-122"/>
                <a:cs typeface="Arial" pitchFamily="34" charset="-120"/>
              </a:rPr>
              <a:t>Fifteen stores open before Christmas. Each one is trained on a pharmacy process in the weeks before. There are three things we can do about that, and we recommend the second.</a:t>
            </a:r>
            <a:endParaRPr lang="en-US" sz="1100" dirty="0"/>
          </a:p>
        </p:txBody>
      </p:sp>
      <p:sp>
        <p:nvSpPr>
          <p:cNvPr id="6" name="Shape 4"/>
          <p:cNvSpPr/>
          <p:nvPr/>
        </p:nvSpPr>
        <p:spPr>
          <a:xfrm>
            <a:off x="457200" y="1691640"/>
            <a:ext cx="2651760" cy="2606040"/>
          </a:xfrm>
          <a:prstGeom prst="rect">
            <a:avLst/>
          </a:prstGeom>
          <a:solidFill>
            <a:srgbClr val="F7F6F2"/>
          </a:solidFill>
          <a:ln w="9525">
            <a:solidFill>
              <a:srgbClr val="DCDFD8"/>
            </a:solidFill>
            <a:prstDash val="solid"/>
          </a:ln>
        </p:spPr>
      </p:sp>
      <p:sp>
        <p:nvSpPr>
          <p:cNvPr id="7" name="Text 5"/>
          <p:cNvSpPr txBox="1"/>
          <p:nvPr/>
        </p:nvSpPr>
        <p:spPr>
          <a:xfrm>
            <a:off x="594360" y="1801368"/>
            <a:ext cx="237744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ROUTE 1</a:t>
            </a:r>
            <a:endParaRPr lang="en-US" sz="800" dirty="0"/>
          </a:p>
        </p:txBody>
      </p:sp>
      <p:sp>
        <p:nvSpPr>
          <p:cNvPr id="8" name="Text 6"/>
          <p:cNvSpPr txBox="1"/>
          <p:nvPr/>
        </p:nvSpPr>
        <p:spPr>
          <a:xfrm>
            <a:off x="594360" y="2020824"/>
            <a:ext cx="2377440" cy="310896"/>
          </a:xfrm>
          <a:prstGeom prst="rect">
            <a:avLst/>
          </a:prstGeom>
          <a:noFill/>
          <a:ln/>
        </p:spPr>
        <p:txBody>
          <a:bodyPr wrap="square" lIns="0" tIns="0" rIns="0" bIns="0" rtlCol="0" anchor="t">
            <a:normAutofit/>
          </a:bodyPr>
          <a:lstStyle/>
          <a:p>
            <a:pPr indent="0" marL="0">
              <a:buNone/>
            </a:pPr>
            <a:r>
              <a:rPr lang="en-US" sz="1050" b="1" dirty="0">
                <a:solidFill>
                  <a:srgbClr val="1C2420"/>
                </a:solidFill>
                <a:latin typeface="Arial" pitchFamily="34" charset="0"/>
                <a:ea typeface="Arial" pitchFamily="34" charset="-122"/>
                <a:cs typeface="Arial" pitchFamily="34" charset="-120"/>
              </a:rPr>
              <a:t>Measure first</a:t>
            </a:r>
            <a:endParaRPr lang="en-US" sz="1050" dirty="0"/>
          </a:p>
        </p:txBody>
      </p:sp>
      <p:sp>
        <p:nvSpPr>
          <p:cNvPr id="9" name="Text 7"/>
          <p:cNvSpPr txBox="1"/>
          <p:nvPr/>
        </p:nvSpPr>
        <p:spPr>
          <a:xfrm>
            <a:off x="594360" y="2350008"/>
            <a:ext cx="2377440" cy="1837944"/>
          </a:xfrm>
          <a:prstGeom prst="rect">
            <a:avLst/>
          </a:prstGeom>
          <a:noFill/>
          <a:ln/>
        </p:spPr>
        <p:txBody>
          <a:bodyPr wrap="square" lIns="0" tIns="0" rIns="0" bIns="0" rtlCol="0" anchor="t">
            <a:normAutofit/>
          </a:bodyPr>
          <a:lstStyle/>
          <a:p>
            <a:pPr indent="0" marL="0">
              <a:spcAft>
                <a:spcPts val="400"/>
              </a:spcAft>
              <a:buNone/>
            </a:pPr>
            <a:r>
              <a:rPr lang="en-US" sz="850" dirty="0">
                <a:solidFill>
                  <a:srgbClr val="4C5A52"/>
                </a:solidFill>
                <a:latin typeface="Arial" pitchFamily="34" charset="0"/>
                <a:ea typeface="Arial" pitchFamily="34" charset="-122"/>
                <a:cs typeface="Arial" pitchFamily="34" charset="-120"/>
              </a:rPr>
              <a:t>Leave both stores as they are, pull the data, decide in the new year.</a:t>
            </a:r>
            <a:endParaRPr lang="en-US" sz="850" dirty="0"/>
          </a:p>
          <a:p>
            <a:pPr indent="0" marL="0">
              <a:spcAft>
                <a:spcPts val="400"/>
              </a:spcAft>
              <a:buNone/>
            </a:pPr>
            <a:endParaRPr lang="en-US" sz="850" dirty="0"/>
          </a:p>
          <a:p>
            <a:pPr indent="0" marL="0">
              <a:spcAft>
                <a:spcPts val="400"/>
              </a:spcAft>
              <a:buNone/>
            </a:pPr>
            <a:r>
              <a:rPr lang="en-US" sz="850" dirty="0">
                <a:solidFill>
                  <a:srgbClr val="4C5A52"/>
                </a:solidFill>
                <a:latin typeface="Arial" pitchFamily="34" charset="0"/>
                <a:ea typeface="Arial" pitchFamily="34" charset="-122"/>
                <a:cs typeface="Arial" pitchFamily="34" charset="-120"/>
              </a:rPr>
              <a:t>Cost: fifteen stores open on the current process and are retrained later, and the OTC sales gap runs for another quarter. Value: the cleanest data on the unchanged process.</a:t>
            </a:r>
            <a:endParaRPr lang="en-US" sz="850" dirty="0"/>
          </a:p>
        </p:txBody>
      </p:sp>
      <p:sp>
        <p:nvSpPr>
          <p:cNvPr id="10" name="Shape 8"/>
          <p:cNvSpPr/>
          <p:nvPr/>
        </p:nvSpPr>
        <p:spPr>
          <a:xfrm>
            <a:off x="3246120" y="1691640"/>
            <a:ext cx="2651760" cy="2606040"/>
          </a:xfrm>
          <a:prstGeom prst="rect">
            <a:avLst/>
          </a:prstGeom>
          <a:solidFill>
            <a:srgbClr val="E7F2EA"/>
          </a:solidFill>
          <a:ln w="25400">
            <a:solidFill>
              <a:srgbClr val="0A7A44"/>
            </a:solidFill>
            <a:prstDash val="solid"/>
          </a:ln>
        </p:spPr>
      </p:sp>
      <p:sp>
        <p:nvSpPr>
          <p:cNvPr id="11" name="Text 9"/>
          <p:cNvSpPr txBox="1"/>
          <p:nvPr/>
        </p:nvSpPr>
        <p:spPr>
          <a:xfrm>
            <a:off x="3383280" y="1801368"/>
            <a:ext cx="237744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ROUTE 2 · RECOMMENDED</a:t>
            </a:r>
            <a:endParaRPr lang="en-US" sz="800" dirty="0"/>
          </a:p>
        </p:txBody>
      </p:sp>
      <p:sp>
        <p:nvSpPr>
          <p:cNvPr id="12" name="Text 10"/>
          <p:cNvSpPr txBox="1"/>
          <p:nvPr/>
        </p:nvSpPr>
        <p:spPr>
          <a:xfrm>
            <a:off x="3383280" y="2020824"/>
            <a:ext cx="2377440" cy="310896"/>
          </a:xfrm>
          <a:prstGeom prst="rect">
            <a:avLst/>
          </a:prstGeom>
          <a:noFill/>
          <a:ln/>
        </p:spPr>
        <p:txBody>
          <a:bodyPr wrap="square" lIns="0" tIns="0" rIns="0" bIns="0" rtlCol="0" anchor="t">
            <a:normAutofit/>
          </a:bodyPr>
          <a:lstStyle/>
          <a:p>
            <a:pPr indent="0" marL="0">
              <a:buNone/>
            </a:pPr>
            <a:r>
              <a:rPr lang="en-US" sz="1050" b="1" dirty="0">
                <a:solidFill>
                  <a:srgbClr val="1C2420"/>
                </a:solidFill>
                <a:latin typeface="Arial" pitchFamily="34" charset="0"/>
                <a:ea typeface="Arial" pitchFamily="34" charset="-122"/>
                <a:cs typeface="Arial" pitchFamily="34" charset="-120"/>
              </a:rPr>
              <a:t>Put the rule into the Q4 stores, and measure</a:t>
            </a:r>
            <a:endParaRPr lang="en-US" sz="1050" dirty="0"/>
          </a:p>
        </p:txBody>
      </p:sp>
      <p:sp>
        <p:nvSpPr>
          <p:cNvPr id="13" name="Text 11"/>
          <p:cNvSpPr txBox="1"/>
          <p:nvPr/>
        </p:nvSpPr>
        <p:spPr>
          <a:xfrm>
            <a:off x="3383280" y="2350008"/>
            <a:ext cx="2377440" cy="1837944"/>
          </a:xfrm>
          <a:prstGeom prst="rect">
            <a:avLst/>
          </a:prstGeom>
          <a:noFill/>
          <a:ln/>
        </p:spPr>
        <p:txBody>
          <a:bodyPr wrap="square" lIns="0" tIns="0" rIns="0" bIns="0" rtlCol="0" anchor="t">
            <a:normAutofit/>
          </a:bodyPr>
          <a:lstStyle/>
          <a:p>
            <a:pPr indent="0" marL="0">
              <a:spcAft>
                <a:spcPts val="400"/>
              </a:spcAft>
              <a:buNone/>
            </a:pPr>
            <a:r>
              <a:rPr lang="en-US" sz="850" dirty="0">
                <a:solidFill>
                  <a:srgbClr val="4C5A52"/>
                </a:solidFill>
                <a:latin typeface="Arial" pitchFamily="34" charset="0"/>
                <a:ea typeface="Arial" pitchFamily="34" charset="-122"/>
                <a:cs typeface="Arial" pitchFamily="34" charset="-120"/>
              </a:rPr>
              <a:t>Before Rand View trains, add the shelf, route-at-confirmation and the single collections counter to the pharmacy process. Keep Irene's fast printer running as the phase-two test. Pull the digital planogram forward onto the existing screens as display support. Run the data plan for three months across all stores.</a:t>
            </a:r>
            <a:endParaRPr lang="en-US" sz="850" dirty="0"/>
          </a:p>
          <a:p>
            <a:pPr indent="0" marL="0">
              <a:spcAft>
                <a:spcPts val="400"/>
              </a:spcAft>
              <a:buNone/>
            </a:pPr>
            <a:endParaRPr lang="en-US" sz="850" dirty="0"/>
          </a:p>
          <a:p>
            <a:pPr indent="0" marL="0">
              <a:spcAft>
                <a:spcPts val="400"/>
              </a:spcAft>
              <a:buNone/>
            </a:pPr>
            <a:r>
              <a:rPr lang="en-US" sz="850" dirty="0">
                <a:solidFill>
                  <a:srgbClr val="4C5A52"/>
                </a:solidFill>
                <a:latin typeface="Arial" pitchFamily="34" charset="0"/>
                <a:ea typeface="Arial" pitchFamily="34" charset="-122"/>
                <a:cs typeface="Arial" pitchFamily="34" charset="-120"/>
              </a:rPr>
              <a:t>Cost: a planogram, a training update and a dashboard flag. Value: fifteen stores open on a process that already answers the one-item customer, and the threshold is set from measured data by the review.</a:t>
            </a:r>
            <a:endParaRPr lang="en-US" sz="850" dirty="0"/>
          </a:p>
        </p:txBody>
      </p:sp>
      <p:sp>
        <p:nvSpPr>
          <p:cNvPr id="14" name="Shape 12"/>
          <p:cNvSpPr/>
          <p:nvPr/>
        </p:nvSpPr>
        <p:spPr>
          <a:xfrm>
            <a:off x="6035040" y="1691640"/>
            <a:ext cx="2651760" cy="2606040"/>
          </a:xfrm>
          <a:prstGeom prst="rect">
            <a:avLst/>
          </a:prstGeom>
          <a:solidFill>
            <a:srgbClr val="F7F6F2"/>
          </a:solidFill>
          <a:ln w="9525">
            <a:solidFill>
              <a:srgbClr val="DCDFD8"/>
            </a:solidFill>
            <a:prstDash val="solid"/>
          </a:ln>
        </p:spPr>
      </p:sp>
      <p:sp>
        <p:nvSpPr>
          <p:cNvPr id="15" name="Text 13"/>
          <p:cNvSpPr txBox="1"/>
          <p:nvPr/>
        </p:nvSpPr>
        <p:spPr>
          <a:xfrm>
            <a:off x="6172200" y="1801368"/>
            <a:ext cx="237744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ROUTE 3</a:t>
            </a:r>
            <a:endParaRPr lang="en-US" sz="800" dirty="0"/>
          </a:p>
        </p:txBody>
      </p:sp>
      <p:sp>
        <p:nvSpPr>
          <p:cNvPr id="16" name="Text 14"/>
          <p:cNvSpPr txBox="1"/>
          <p:nvPr/>
        </p:nvSpPr>
        <p:spPr>
          <a:xfrm>
            <a:off x="6172200" y="2020824"/>
            <a:ext cx="2377440" cy="310896"/>
          </a:xfrm>
          <a:prstGeom prst="rect">
            <a:avLst/>
          </a:prstGeom>
          <a:noFill/>
          <a:ln/>
        </p:spPr>
        <p:txBody>
          <a:bodyPr wrap="square" lIns="0" tIns="0" rIns="0" bIns="0" rtlCol="0" anchor="t">
            <a:normAutofit/>
          </a:bodyPr>
          <a:lstStyle/>
          <a:p>
            <a:pPr indent="0" marL="0">
              <a:buNone/>
            </a:pPr>
            <a:r>
              <a:rPr lang="en-US" sz="1050" b="1" dirty="0">
                <a:solidFill>
                  <a:srgbClr val="1C2420"/>
                </a:solidFill>
                <a:latin typeface="Arial" pitchFamily="34" charset="0"/>
                <a:ea typeface="Arial" pitchFamily="34" charset="-122"/>
                <a:cs typeface="Arial" pitchFamily="34" charset="-120"/>
              </a:rPr>
              <a:t>Structural change now</a:t>
            </a:r>
            <a:endParaRPr lang="en-US" sz="1050" dirty="0"/>
          </a:p>
        </p:txBody>
      </p:sp>
      <p:sp>
        <p:nvSpPr>
          <p:cNvPr id="17" name="Text 15"/>
          <p:cNvSpPr txBox="1"/>
          <p:nvPr/>
        </p:nvSpPr>
        <p:spPr>
          <a:xfrm>
            <a:off x="6172200" y="2350008"/>
            <a:ext cx="2377440" cy="1837944"/>
          </a:xfrm>
          <a:prstGeom prst="rect">
            <a:avLst/>
          </a:prstGeom>
          <a:noFill/>
          <a:ln/>
        </p:spPr>
        <p:txBody>
          <a:bodyPr wrap="square" lIns="0" tIns="0" rIns="0" bIns="0" rtlCol="0" anchor="t">
            <a:normAutofit/>
          </a:bodyPr>
          <a:lstStyle/>
          <a:p>
            <a:pPr indent="0" marL="0">
              <a:spcAft>
                <a:spcPts val="400"/>
              </a:spcAft>
              <a:buNone/>
            </a:pPr>
            <a:r>
              <a:rPr lang="en-US" sz="850" dirty="0">
                <a:solidFill>
                  <a:srgbClr val="4C5A52"/>
                </a:solidFill>
                <a:latin typeface="Arial" pitchFamily="34" charset="0"/>
                <a:ea typeface="Arial" pitchFamily="34" charset="-122"/>
                <a:cs typeface="Arial" pitchFamily="34" charset="-120"/>
              </a:rPr>
              <a:t>A separate OTC counter, split flows, the kiosk basket build, an OTC vending unit.</a:t>
            </a:r>
            <a:endParaRPr lang="en-US" sz="850" dirty="0"/>
          </a:p>
          <a:p>
            <a:pPr indent="0" marL="0">
              <a:spcAft>
                <a:spcPts val="400"/>
              </a:spcAft>
              <a:buNone/>
            </a:pPr>
            <a:endParaRPr lang="en-US" sz="850" dirty="0"/>
          </a:p>
          <a:p>
            <a:pPr indent="0" marL="0">
              <a:spcAft>
                <a:spcPts val="400"/>
              </a:spcAft>
              <a:buNone/>
            </a:pPr>
            <a:r>
              <a:rPr lang="en-US" sz="850" dirty="0">
                <a:solidFill>
                  <a:srgbClr val="4C5A52"/>
                </a:solidFill>
                <a:latin typeface="Arial" pitchFamily="34" charset="0"/>
                <a:ea typeface="Arial" pitchFamily="34" charset="-122"/>
                <a:cs typeface="Arial" pitchFamily="34" charset="-120"/>
              </a:rPr>
              <a:t>Held for the future state. Each depends on systems that are not yet there (Bricks, kiosk-to-dispensing integration) or reopens a SteerCo decision without data behind it.</a:t>
            </a:r>
            <a:endParaRPr lang="en-US" sz="850" dirty="0"/>
          </a:p>
        </p:txBody>
      </p:sp>
      <p:sp>
        <p:nvSpPr>
          <p:cNvPr id="18" name="Shape 16"/>
          <p:cNvSpPr/>
          <p:nvPr/>
        </p:nvSpPr>
        <p:spPr>
          <a:xfrm>
            <a:off x="457200" y="4370832"/>
            <a:ext cx="8229600" cy="548640"/>
          </a:xfrm>
          <a:prstGeom prst="rect">
            <a:avLst/>
          </a:prstGeom>
          <a:solidFill>
            <a:srgbClr val="FAF3D9"/>
          </a:solidFill>
          <a:ln w="12700">
            <a:solidFill>
              <a:srgbClr val="FAF3D9"/>
            </a:solidFill>
            <a:prstDash val="solid"/>
          </a:ln>
        </p:spPr>
      </p:sp>
      <p:sp>
        <p:nvSpPr>
          <p:cNvPr id="19" name="Text 17"/>
          <p:cNvSpPr txBox="1"/>
          <p:nvPr/>
        </p:nvSpPr>
        <p:spPr>
          <a:xfrm>
            <a:off x="621792" y="4443984"/>
            <a:ext cx="7900416" cy="402336"/>
          </a:xfrm>
          <a:prstGeom prst="rect">
            <a:avLst/>
          </a:prstGeom>
          <a:noFill/>
          <a:ln/>
        </p:spPr>
        <p:txBody>
          <a:bodyPr wrap="square" lIns="0" tIns="0" rIns="0" bIns="0" rtlCol="0" anchor="ctr">
            <a:normAutofit/>
          </a:bodyPr>
          <a:lstStyle/>
          <a:p>
            <a:pPr indent="0" marL="0">
              <a:buNone/>
            </a:pPr>
            <a:r>
              <a:rPr lang="en-US" sz="950" dirty="0">
                <a:solidFill>
                  <a:srgbClr val="1C2420"/>
                </a:solidFill>
                <a:latin typeface="Arial" pitchFamily="34" charset="0"/>
                <a:ea typeface="Arial" pitchFamily="34" charset="-122"/>
                <a:cs typeface="Arial" pitchFamily="34" charset="-120"/>
              </a:rPr>
              <a:t>Route two changes three things in the stores and nothing in the systems. Everything it needs exists in a Dis-Chem pharmacy today.</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657600" cy="228600"/>
          </a:xfrm>
          <a:prstGeom prst="rect">
            <a:avLst/>
          </a:prstGeom>
          <a:noFill/>
          <a:ln/>
        </p:spPr>
        <p:txBody>
          <a:bodyPr wrap="square" lIns="0" tIns="0" rIns="0" bIns="0" rtlCol="0" anchor="ctr"/>
          <a:lstStyle/>
          <a:p>
            <a:pPr indent="0" marL="0">
              <a:buNone/>
            </a:pPr>
            <a:r>
              <a:rPr lang="en-US" sz="900" b="1" spc="200" kern="0" dirty="0">
                <a:solidFill>
                  <a:srgbClr val="0A7A44"/>
                </a:solidFill>
                <a:latin typeface="Arial" pitchFamily="34" charset="0"/>
                <a:ea typeface="Arial" pitchFamily="34" charset="-122"/>
                <a:cs typeface="Arial" pitchFamily="34" charset="-120"/>
              </a:rPr>
              <a:t>SECTION 4 · HOW DO WE GET THERE?</a:t>
            </a:r>
            <a:endParaRPr lang="en-US" sz="900" dirty="0"/>
          </a:p>
        </p:txBody>
      </p:sp>
      <p:sp>
        <p:nvSpPr>
          <p:cNvPr id="3" name="Text 1"/>
          <p:cNvSpPr txBox="1"/>
          <p:nvPr/>
        </p:nvSpPr>
        <p:spPr>
          <a:xfrm>
            <a:off x="6400800" y="201168"/>
            <a:ext cx="2286000" cy="228600"/>
          </a:xfrm>
          <a:prstGeom prst="rect">
            <a:avLst/>
          </a:prstGeom>
          <a:noFill/>
          <a:ln/>
        </p:spPr>
        <p:txBody>
          <a:bodyPr wrap="square" lIns="0" tIns="0" rIns="0" bIns="0" rtlCol="0" anchor="ctr"/>
          <a:lstStyle/>
          <a:p>
            <a:pPr algn="r" indent="0" marL="0">
              <a:buNone/>
            </a:pPr>
            <a:r>
              <a:rPr lang="en-US" sz="900" dirty="0">
                <a:solidFill>
                  <a:srgbClr val="7D8A82"/>
                </a:solidFill>
                <a:latin typeface="Arial" pitchFamily="34" charset="0"/>
                <a:ea typeface="Arial" pitchFamily="34" charset="-122"/>
                <a:cs typeface="Arial" pitchFamily="34" charset="-120"/>
              </a:rPr>
              <a:t>Slide 4.2</a:t>
            </a:r>
            <a:endParaRPr lang="en-US" sz="900" dirty="0"/>
          </a:p>
        </p:txBody>
      </p:sp>
      <p:sp>
        <p:nvSpPr>
          <p:cNvPr id="4" name="Text 2"/>
          <p:cNvSpPr txBox="1"/>
          <p:nvPr/>
        </p:nvSpPr>
        <p:spPr>
          <a:xfrm>
            <a:off x="457200" y="438912"/>
            <a:ext cx="8229600" cy="731520"/>
          </a:xfrm>
          <a:prstGeom prst="rect">
            <a:avLst/>
          </a:prstGeom>
          <a:noFill/>
          <a:ln/>
        </p:spPr>
        <p:txBody>
          <a:bodyPr wrap="square" lIns="0" tIns="0" rIns="0" bIns="0" rtlCol="0" anchor="t">
            <a:normAutofit/>
          </a:bodyPr>
          <a:lstStyle/>
          <a:p>
            <a:pPr indent="0" marL="0">
              <a:buNone/>
            </a:pPr>
            <a:r>
              <a:rPr lang="en-US" sz="2100" b="1" dirty="0">
                <a:solidFill>
                  <a:srgbClr val="1C2420"/>
                </a:solidFill>
                <a:latin typeface="Arial" pitchFamily="34" charset="0"/>
                <a:ea typeface="Arial" pitchFamily="34" charset="-122"/>
                <a:cs typeface="Arial" pitchFamily="34" charset="-120"/>
              </a:rPr>
              <a:t>Every option we have heard, placed</a:t>
            </a:r>
            <a:endParaRPr lang="en-US" sz="2100" dirty="0"/>
          </a:p>
        </p:txBody>
      </p:sp>
      <p:sp>
        <p:nvSpPr>
          <p:cNvPr id="5" name="Text 3"/>
          <p:cNvSpPr txBox="1"/>
          <p:nvPr/>
        </p:nvSpPr>
        <p:spPr>
          <a:xfrm>
            <a:off x="457200" y="1152144"/>
            <a:ext cx="8229600" cy="475488"/>
          </a:xfrm>
          <a:prstGeom prst="rect">
            <a:avLst/>
          </a:prstGeom>
          <a:noFill/>
          <a:ln/>
        </p:spPr>
        <p:txBody>
          <a:bodyPr wrap="square" lIns="0" tIns="0" rIns="0" bIns="0" rtlCol="0" anchor="t">
            <a:normAutofit/>
          </a:bodyPr>
          <a:lstStyle/>
          <a:p>
            <a:pPr indent="0" marL="0">
              <a:buNone/>
            </a:pPr>
            <a:r>
              <a:rPr lang="en-US" sz="1100" dirty="0">
                <a:solidFill>
                  <a:srgbClr val="4C5A52"/>
                </a:solidFill>
                <a:latin typeface="Arial" pitchFamily="34" charset="0"/>
                <a:ea typeface="Arial" pitchFamily="34" charset="-122"/>
                <a:cs typeface="Arial" pitchFamily="34" charset="-120"/>
              </a:rPr>
              <a:t>Two workshops produced twelve options. Placed against impact and effort, with the staffing each one needs and whether it works in a small store, they sort themselves into four groups.</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8229600" cy="914400"/>
        </p:xfrm>
        <a:graphic>
          <a:graphicData uri="http://schemas.openxmlformats.org/drawingml/2006/table">
            <a:tbl>
              <a:tblPr/>
              <a:tblGrid>
                <a:gridCol w="2103120"/>
                <a:gridCol w="2377440"/>
                <a:gridCol w="640080"/>
                <a:gridCol w="640080"/>
                <a:gridCol w="731520"/>
                <a:gridCol w="731520"/>
                <a:gridCol w="1005840"/>
              </a:tblGrid>
              <a:tr h="224028">
                <a:tc>
                  <a:txBody>
                    <a:bodyPr/>
                    <a:lstStyle/>
                    <a:p>
                      <a:pPr indent="0" marL="0">
                        <a:buNone/>
                      </a:pPr>
                      <a:r>
                        <a:rPr lang="en-US" sz="800" b="1" dirty="0">
                          <a:solidFill>
                            <a:srgbClr val="7D8A82"/>
                          </a:solidFill>
                          <a:latin typeface="Arial" pitchFamily="34" charset="0"/>
                          <a:ea typeface="Arial" pitchFamily="34" charset="-122"/>
                          <a:cs typeface="Arial" pitchFamily="34" charset="-120"/>
                        </a:rPr>
                        <a:t>Option</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c>
                  <a:txBody>
                    <a:bodyPr/>
                    <a:lstStyle/>
                    <a:p>
                      <a:pPr indent="0" marL="0">
                        <a:buNone/>
                      </a:pPr>
                      <a:r>
                        <a:rPr lang="en-US" sz="800" b="1" dirty="0">
                          <a:solidFill>
                            <a:srgbClr val="7D8A82"/>
                          </a:solidFill>
                          <a:latin typeface="Arial" pitchFamily="34" charset="0"/>
                          <a:ea typeface="Arial" pitchFamily="34" charset="-122"/>
                          <a:cs typeface="Arial" pitchFamily="34" charset="-120"/>
                        </a:rPr>
                        <a:t>What it is</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c>
                  <a:txBody>
                    <a:bodyPr/>
                    <a:lstStyle/>
                    <a:p>
                      <a:pPr indent="0" marL="0">
                        <a:buNone/>
                      </a:pPr>
                      <a:r>
                        <a:rPr lang="en-US" sz="800" b="1" dirty="0">
                          <a:solidFill>
                            <a:srgbClr val="7D8A82"/>
                          </a:solidFill>
                          <a:latin typeface="Arial" pitchFamily="34" charset="0"/>
                          <a:ea typeface="Arial" pitchFamily="34" charset="-122"/>
                          <a:cs typeface="Arial" pitchFamily="34" charset="-120"/>
                        </a:rPr>
                        <a:t>Impact</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c>
                  <a:txBody>
                    <a:bodyPr/>
                    <a:lstStyle/>
                    <a:p>
                      <a:pPr indent="0" marL="0">
                        <a:buNone/>
                      </a:pPr>
                      <a:r>
                        <a:rPr lang="en-US" sz="800" b="1" dirty="0">
                          <a:solidFill>
                            <a:srgbClr val="7D8A82"/>
                          </a:solidFill>
                          <a:latin typeface="Arial" pitchFamily="34" charset="0"/>
                          <a:ea typeface="Arial" pitchFamily="34" charset="-122"/>
                          <a:cs typeface="Arial" pitchFamily="34" charset="-120"/>
                        </a:rPr>
                        <a:t>Effort</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c>
                  <a:txBody>
                    <a:bodyPr/>
                    <a:lstStyle/>
                    <a:p>
                      <a:pPr indent="0" marL="0">
                        <a:buNone/>
                      </a:pPr>
                      <a:r>
                        <a:rPr lang="en-US" sz="800" b="1" dirty="0">
                          <a:solidFill>
                            <a:srgbClr val="7D8A82"/>
                          </a:solidFill>
                          <a:latin typeface="Arial" pitchFamily="34" charset="0"/>
                          <a:ea typeface="Arial" pitchFamily="34" charset="-122"/>
                          <a:cs typeface="Arial" pitchFamily="34" charset="-120"/>
                        </a:rPr>
                        <a:t>Spare hands?</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c>
                  <a:txBody>
                    <a:bodyPr/>
                    <a:lstStyle/>
                    <a:p>
                      <a:pPr indent="0" marL="0">
                        <a:buNone/>
                      </a:pPr>
                      <a:r>
                        <a:rPr lang="en-US" sz="800" b="1" dirty="0">
                          <a:solidFill>
                            <a:srgbClr val="7D8A82"/>
                          </a:solidFill>
                          <a:latin typeface="Arial" pitchFamily="34" charset="0"/>
                          <a:ea typeface="Arial" pitchFamily="34" charset="-122"/>
                          <a:cs typeface="Arial" pitchFamily="34" charset="-120"/>
                        </a:rPr>
                        <a:t>Small store?</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c>
                  <a:txBody>
                    <a:bodyPr/>
                    <a:lstStyle/>
                    <a:p>
                      <a:pPr indent="0" marL="0">
                        <a:buNone/>
                      </a:pPr>
                      <a:r>
                        <a:rPr lang="en-US" sz="800" b="1" dirty="0">
                          <a:solidFill>
                            <a:srgbClr val="7D8A82"/>
                          </a:solidFill>
                          <a:latin typeface="Arial" pitchFamily="34" charset="0"/>
                          <a:ea typeface="Arial" pitchFamily="34" charset="-122"/>
                          <a:cs typeface="Arial" pitchFamily="34" charset="-120"/>
                        </a:rPr>
                        <a:t>Group</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r>
              <a:tr h="224028">
                <a:tc>
                  <a:txBody>
                    <a:bodyPr/>
                    <a:lstStyle/>
                    <a:p>
                      <a:pPr indent="0" marL="0">
                        <a:buNone/>
                      </a:pPr>
                      <a:r>
                        <a:rPr lang="en-US" sz="750" b="1" dirty="0">
                          <a:solidFill>
                            <a:srgbClr val="1C2420"/>
                          </a:solidFill>
                          <a:latin typeface="Arial" pitchFamily="34" charset="0"/>
                          <a:ea typeface="Arial" pitchFamily="34" charset="-122"/>
                          <a:cs typeface="Arial" pitchFamily="34" charset="-120"/>
                        </a:rPr>
                        <a:t>Curated shelf behind the pharmacist</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Top OTC lines within reach, planogrammed, screened</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High</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Low</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No</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Yes</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Now · route 2</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24028">
                <a:tc>
                  <a:txBody>
                    <a:bodyPr/>
                    <a:lstStyle/>
                    <a:p>
                      <a:pPr indent="0" marL="0">
                        <a:buNone/>
                      </a:pPr>
                      <a:r>
                        <a:rPr lang="en-US" sz="750" b="1" dirty="0">
                          <a:solidFill>
                            <a:srgbClr val="1C2420"/>
                          </a:solidFill>
                          <a:latin typeface="Arial" pitchFamily="34" charset="0"/>
                          <a:ea typeface="Arial" pitchFamily="34" charset="-122"/>
                          <a:cs typeface="Arial" pitchFamily="34" charset="-120"/>
                        </a:rPr>
                        <a:t>Route set at confirmation</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Order flagged now / collect on the label and dashboard</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High</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Low</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No</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Yes</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Now · route 2</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24028">
                <a:tc>
                  <a:txBody>
                    <a:bodyPr/>
                    <a:lstStyle/>
                    <a:p>
                      <a:pPr indent="0" marL="0">
                        <a:buNone/>
                      </a:pPr>
                      <a:r>
                        <a:rPr lang="en-US" sz="750" b="1" dirty="0">
                          <a:solidFill>
                            <a:srgbClr val="1C2420"/>
                          </a:solidFill>
                          <a:latin typeface="Arial" pitchFamily="34" charset="0"/>
                          <a:ea typeface="Arial" pitchFamily="34" charset="-122"/>
                          <a:cs typeface="Arial" pitchFamily="34" charset="-120"/>
                        </a:rPr>
                        <a:t>One collections counter, any counter calls</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Irene's collections change</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Medium</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Low</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No</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Yes</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Now · route 2</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24028">
                <a:tc>
                  <a:txBody>
                    <a:bodyPr/>
                    <a:lstStyle/>
                    <a:p>
                      <a:pPr indent="0" marL="0">
                        <a:buNone/>
                      </a:pPr>
                      <a:r>
                        <a:rPr lang="en-US" sz="750" b="1" dirty="0">
                          <a:solidFill>
                            <a:srgbClr val="1C2420"/>
                          </a:solidFill>
                          <a:latin typeface="Arial" pitchFamily="34" charset="0"/>
                          <a:ea typeface="Arial" pitchFamily="34" charset="-122"/>
                          <a:cs typeface="Arial" pitchFamily="34" charset="-120"/>
                        </a:rPr>
                        <a:t>Digital OTC planogram on existing screens</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Product display; rotating slots sellable to vendors</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Medium</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Low</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No</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Yes</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Now · route 2</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24028">
                <a:tc>
                  <a:txBody>
                    <a:bodyPr/>
                    <a:lstStyle/>
                    <a:p>
                      <a:pPr indent="0" marL="0">
                        <a:buNone/>
                      </a:pPr>
                      <a:r>
                        <a:rPr lang="en-US" sz="750" b="1" dirty="0">
                          <a:solidFill>
                            <a:srgbClr val="1C2420"/>
                          </a:solidFill>
                          <a:latin typeface="Arial" pitchFamily="34" charset="0"/>
                          <a:ea typeface="Arial" pitchFamily="34" charset="-122"/>
                          <a:cs typeface="Arial" pitchFamily="34" charset="-120"/>
                        </a:rPr>
                        <a:t>Fast printer and bring-forward (Irene)</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In-stock small orders brought to the counter</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High</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Low</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Yes</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No</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Test · phase 2</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24028">
                <a:tc>
                  <a:txBody>
                    <a:bodyPr/>
                    <a:lstStyle/>
                    <a:p>
                      <a:pPr indent="0" marL="0">
                        <a:buNone/>
                      </a:pPr>
                      <a:r>
                        <a:rPr lang="en-US" sz="750" b="1" dirty="0">
                          <a:solidFill>
                            <a:srgbClr val="1C2420"/>
                          </a:solidFill>
                          <a:latin typeface="Arial" pitchFamily="34" charset="0"/>
                          <a:ea typeface="Arial" pitchFamily="34" charset="-122"/>
                          <a:cs typeface="Arial" pitchFamily="34" charset="-120"/>
                        </a:rPr>
                        <a:t>Interactive categorised browse screen</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Pain and fever, sinus, etc. at Hub or counter</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Medium</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Medium</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No</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Yes</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Test</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24028">
                <a:tc>
                  <a:txBody>
                    <a:bodyPr/>
                    <a:lstStyle/>
                    <a:p>
                      <a:pPr indent="0" marL="0">
                        <a:buNone/>
                      </a:pPr>
                      <a:r>
                        <a:rPr lang="en-US" sz="750" b="1" dirty="0">
                          <a:solidFill>
                            <a:srgbClr val="1C2420"/>
                          </a:solidFill>
                          <a:latin typeface="Arial" pitchFamily="34" charset="0"/>
                          <a:ea typeface="Arial" pitchFamily="34" charset="-122"/>
                          <a:cs typeface="Arial" pitchFamily="34" charset="-120"/>
                        </a:rPr>
                        <a:t>Better Rewards purchase-history lookup</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"I can't remember which one" answered from the profile</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Low</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Low</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No</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Yes</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Test</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24028">
                <a:tc>
                  <a:txBody>
                    <a:bodyPr/>
                    <a:lstStyle/>
                    <a:p>
                      <a:pPr indent="0" marL="0">
                        <a:buNone/>
                      </a:pPr>
                      <a:r>
                        <a:rPr lang="en-US" sz="750" b="1" dirty="0">
                          <a:solidFill>
                            <a:srgbClr val="1C2420"/>
                          </a:solidFill>
                          <a:latin typeface="Arial" pitchFamily="34" charset="0"/>
                          <a:ea typeface="Arial" pitchFamily="34" charset="-122"/>
                          <a:cs typeface="Arial" pitchFamily="34" charset="-120"/>
                        </a:rPr>
                        <a:t>Invisible back-of-house OTC priority lane</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Separate queue in the back, same front</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Medium</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Medium</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Yes</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No</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Later · needs Bricks routing</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24028">
                <a:tc>
                  <a:txBody>
                    <a:bodyPr/>
                    <a:lstStyle/>
                    <a:p>
                      <a:pPr indent="0" marL="0">
                        <a:buNone/>
                      </a:pPr>
                      <a:r>
                        <a:rPr lang="en-US" sz="750" b="1" dirty="0">
                          <a:solidFill>
                            <a:srgbClr val="1C2420"/>
                          </a:solidFill>
                          <a:latin typeface="Arial" pitchFamily="34" charset="0"/>
                          <a:ea typeface="Arial" pitchFamily="34" charset="-122"/>
                          <a:cs typeface="Arial" pitchFamily="34" charset="-120"/>
                        </a:rPr>
                        <a:t>Kiosk or phone basket before ticketing</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Order built while waiting; pick starts early</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High</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High</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No</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Yes</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Later · integration</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24028">
                <a:tc>
                  <a:txBody>
                    <a:bodyPr/>
                    <a:lstStyle/>
                    <a:p>
                      <a:pPr indent="0" marL="0">
                        <a:buNone/>
                      </a:pPr>
                      <a:r>
                        <a:rPr lang="en-US" sz="750" b="1" dirty="0">
                          <a:solidFill>
                            <a:srgbClr val="1C2420"/>
                          </a:solidFill>
                          <a:latin typeface="Arial" pitchFamily="34" charset="0"/>
                          <a:ea typeface="Arial" pitchFamily="34" charset="-122"/>
                          <a:cs typeface="Arial" pitchFamily="34" charset="-120"/>
                        </a:rPr>
                        <a:t>Pass-through hatch or pneumatic tube</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Item delivered to the counter mechanically</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Medium</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High</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Partly</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No</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Later · fit-out</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24028">
                <a:tc>
                  <a:txBody>
                    <a:bodyPr/>
                    <a:lstStyle/>
                    <a:p>
                      <a:pPr indent="0" marL="0">
                        <a:buNone/>
                      </a:pPr>
                      <a:r>
                        <a:rPr lang="en-US" sz="750" b="1" dirty="0">
                          <a:solidFill>
                            <a:srgbClr val="1C2420"/>
                          </a:solidFill>
                          <a:latin typeface="Arial" pitchFamily="34" charset="0"/>
                          <a:ea typeface="Arial" pitchFamily="34" charset="-122"/>
                          <a:cs typeface="Arial" pitchFamily="34" charset="-120"/>
                        </a:rPr>
                        <a:t>Separate OTC counter / split flows</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A distinct OTC service point</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Medium</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High</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Yes</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No</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Not now · reopens SteerCo</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24028">
                <a:tc>
                  <a:txBody>
                    <a:bodyPr/>
                    <a:lstStyle/>
                    <a:p>
                      <a:pPr indent="0" marL="0">
                        <a:buNone/>
                      </a:pPr>
                      <a:r>
                        <a:rPr lang="en-US" sz="750" b="1" dirty="0">
                          <a:solidFill>
                            <a:srgbClr val="1C2420"/>
                          </a:solidFill>
                          <a:latin typeface="Arial" pitchFamily="34" charset="0"/>
                          <a:ea typeface="Arial" pitchFamily="34" charset="-122"/>
                          <a:cs typeface="Arial" pitchFamily="34" charset="-120"/>
                        </a:rPr>
                        <a:t>OTC vending unit</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Self-dispensing machine</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Unknown</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High</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No</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Unknown</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Not now · unresearched</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24028">
                <a:tc>
                  <a:txBody>
                    <a:bodyPr/>
                    <a:lstStyle/>
                    <a:p>
                      <a:pPr indent="0" marL="0">
                        <a:buNone/>
                      </a:pPr>
                      <a:r>
                        <a:rPr lang="en-US" sz="750" b="1" dirty="0">
                          <a:solidFill>
                            <a:srgbClr val="1C2420"/>
                          </a:solidFill>
                          <a:latin typeface="Arial" pitchFamily="34" charset="0"/>
                          <a:ea typeface="Arial" pitchFamily="34" charset="-122"/>
                          <a:cs typeface="Arial" pitchFamily="34" charset="-120"/>
                        </a:rPr>
                        <a:t>Do nothing and observe</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Deliberate non-intervention</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Low</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None</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No</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Yes</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Superseded by route 1</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657600" cy="228600"/>
          </a:xfrm>
          <a:prstGeom prst="rect">
            <a:avLst/>
          </a:prstGeom>
          <a:noFill/>
          <a:ln/>
        </p:spPr>
        <p:txBody>
          <a:bodyPr wrap="square" lIns="0" tIns="0" rIns="0" bIns="0" rtlCol="0" anchor="ctr"/>
          <a:lstStyle/>
          <a:p>
            <a:pPr indent="0" marL="0">
              <a:buNone/>
            </a:pPr>
            <a:r>
              <a:rPr lang="en-US" sz="900" b="1" spc="200" kern="0" dirty="0">
                <a:solidFill>
                  <a:srgbClr val="0A7A44"/>
                </a:solidFill>
                <a:latin typeface="Arial" pitchFamily="34" charset="0"/>
                <a:ea typeface="Arial" pitchFamily="34" charset="-122"/>
                <a:cs typeface="Arial" pitchFamily="34" charset="-120"/>
              </a:rPr>
              <a:t>SECTION 4 · HOW DO WE GET THERE?</a:t>
            </a:r>
            <a:endParaRPr lang="en-US" sz="900" dirty="0"/>
          </a:p>
        </p:txBody>
      </p:sp>
      <p:sp>
        <p:nvSpPr>
          <p:cNvPr id="3" name="Text 1"/>
          <p:cNvSpPr txBox="1"/>
          <p:nvPr/>
        </p:nvSpPr>
        <p:spPr>
          <a:xfrm>
            <a:off x="6400800" y="201168"/>
            <a:ext cx="2286000" cy="228600"/>
          </a:xfrm>
          <a:prstGeom prst="rect">
            <a:avLst/>
          </a:prstGeom>
          <a:noFill/>
          <a:ln/>
        </p:spPr>
        <p:txBody>
          <a:bodyPr wrap="square" lIns="0" tIns="0" rIns="0" bIns="0" rtlCol="0" anchor="ctr"/>
          <a:lstStyle/>
          <a:p>
            <a:pPr algn="r" indent="0" marL="0">
              <a:buNone/>
            </a:pPr>
            <a:r>
              <a:rPr lang="en-US" sz="900" dirty="0">
                <a:solidFill>
                  <a:srgbClr val="7D8A82"/>
                </a:solidFill>
                <a:latin typeface="Arial" pitchFamily="34" charset="0"/>
                <a:ea typeface="Arial" pitchFamily="34" charset="-122"/>
                <a:cs typeface="Arial" pitchFamily="34" charset="-120"/>
              </a:rPr>
              <a:t>Slide 4.3</a:t>
            </a:r>
            <a:endParaRPr lang="en-US" sz="900" dirty="0"/>
          </a:p>
        </p:txBody>
      </p:sp>
      <p:sp>
        <p:nvSpPr>
          <p:cNvPr id="4" name="Text 2"/>
          <p:cNvSpPr txBox="1"/>
          <p:nvPr/>
        </p:nvSpPr>
        <p:spPr>
          <a:xfrm>
            <a:off x="457200" y="438912"/>
            <a:ext cx="8229600" cy="731520"/>
          </a:xfrm>
          <a:prstGeom prst="rect">
            <a:avLst/>
          </a:prstGeom>
          <a:noFill/>
          <a:ln/>
        </p:spPr>
        <p:txBody>
          <a:bodyPr wrap="square" lIns="0" tIns="0" rIns="0" bIns="0" rtlCol="0" anchor="t">
            <a:normAutofit/>
          </a:bodyPr>
          <a:lstStyle/>
          <a:p>
            <a:pPr indent="0" marL="0">
              <a:buNone/>
            </a:pPr>
            <a:r>
              <a:rPr lang="en-US" sz="2100" b="1" dirty="0">
                <a:solidFill>
                  <a:srgbClr val="1C2420"/>
                </a:solidFill>
                <a:latin typeface="Arial" pitchFamily="34" charset="0"/>
                <a:ea typeface="Arial" pitchFamily="34" charset="-122"/>
                <a:cs typeface="Arial" pitchFamily="34" charset="-120"/>
              </a:rPr>
              <a:t>What we ask the Steer Group to decide</a:t>
            </a:r>
            <a:endParaRPr lang="en-US" sz="2100" dirty="0"/>
          </a:p>
        </p:txBody>
      </p:sp>
      <p:sp>
        <p:nvSpPr>
          <p:cNvPr id="5" name="Text 3"/>
          <p:cNvSpPr txBox="1"/>
          <p:nvPr/>
        </p:nvSpPr>
        <p:spPr>
          <a:xfrm>
            <a:off x="457200" y="1152144"/>
            <a:ext cx="8229600" cy="475488"/>
          </a:xfrm>
          <a:prstGeom prst="rect">
            <a:avLst/>
          </a:prstGeom>
          <a:noFill/>
          <a:ln/>
        </p:spPr>
        <p:txBody>
          <a:bodyPr wrap="square" lIns="0" tIns="0" rIns="0" bIns="0" rtlCol="0" anchor="t">
            <a:normAutofit/>
          </a:bodyPr>
          <a:lstStyle/>
          <a:p>
            <a:pPr indent="0" marL="0">
              <a:buNone/>
            </a:pPr>
            <a:r>
              <a:rPr lang="en-US" sz="1100" dirty="0">
                <a:solidFill>
                  <a:srgbClr val="4C5A52"/>
                </a:solidFill>
                <a:latin typeface="Arial" pitchFamily="34" charset="0"/>
                <a:ea typeface="Arial" pitchFamily="34" charset="-122"/>
                <a:cs typeface="Arial" pitchFamily="34" charset="-120"/>
              </a:rPr>
              <a:t>Four decisions, one date, and a measurement plan with owners.</a:t>
            </a:r>
            <a:endParaRPr lang="en-US" sz="1100" dirty="0"/>
          </a:p>
        </p:txBody>
      </p:sp>
      <p:sp>
        <p:nvSpPr>
          <p:cNvPr id="7" name="Text 4"/>
          <p:cNvSpPr txBox="1"/>
          <p:nvPr/>
        </p:nvSpPr>
        <p:spPr>
          <a:xfrm>
            <a:off x="457200" y="1691640"/>
            <a:ext cx="384048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THE DECISIONS</a:t>
            </a:r>
            <a:endParaRPr lang="en-US" sz="800" dirty="0"/>
          </a:p>
        </p:txBody>
      </p:sp>
      <p:sp>
        <p:nvSpPr>
          <p:cNvPr id="8" name="Shape 5"/>
          <p:cNvSpPr/>
          <p:nvPr/>
        </p:nvSpPr>
        <p:spPr>
          <a:xfrm>
            <a:off x="457200" y="1938528"/>
            <a:ext cx="237744" cy="237744"/>
          </a:xfrm>
          <a:prstGeom prst="ellipse">
            <a:avLst/>
          </a:prstGeom>
          <a:solidFill>
            <a:srgbClr val="0A7A44"/>
          </a:solidFill>
          <a:ln w="12700">
            <a:solidFill>
              <a:srgbClr val="0A7A44"/>
            </a:solidFill>
            <a:prstDash val="solid"/>
          </a:ln>
        </p:spPr>
      </p:sp>
      <p:sp>
        <p:nvSpPr>
          <p:cNvPr id="9" name="Text 6"/>
          <p:cNvSpPr txBox="1"/>
          <p:nvPr/>
        </p:nvSpPr>
        <p:spPr>
          <a:xfrm>
            <a:off x="457200" y="193852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0" name="Text 7"/>
          <p:cNvSpPr txBox="1"/>
          <p:nvPr/>
        </p:nvSpPr>
        <p:spPr>
          <a:xfrm>
            <a:off x="786384" y="1920240"/>
            <a:ext cx="3511296" cy="580644"/>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Adopt the rule and the guardrail. What is within the pharmacist's reach goes now; what is not gets a time. Decoupling at the counter is data-driven, with the shelf as the default.</a:t>
            </a:r>
            <a:endParaRPr lang="en-US" sz="900" dirty="0"/>
          </a:p>
        </p:txBody>
      </p:sp>
      <p:sp>
        <p:nvSpPr>
          <p:cNvPr id="11" name="Shape 8"/>
          <p:cNvSpPr/>
          <p:nvPr/>
        </p:nvSpPr>
        <p:spPr>
          <a:xfrm>
            <a:off x="457200" y="2555748"/>
            <a:ext cx="237744" cy="237744"/>
          </a:xfrm>
          <a:prstGeom prst="ellipse">
            <a:avLst/>
          </a:prstGeom>
          <a:solidFill>
            <a:srgbClr val="0A7A44"/>
          </a:solidFill>
          <a:ln w="12700">
            <a:solidFill>
              <a:srgbClr val="0A7A44"/>
            </a:solidFill>
            <a:prstDash val="solid"/>
          </a:ln>
        </p:spPr>
      </p:sp>
      <p:sp>
        <p:nvSpPr>
          <p:cNvPr id="12" name="Text 9"/>
          <p:cNvSpPr txBox="1"/>
          <p:nvPr/>
        </p:nvSpPr>
        <p:spPr>
          <a:xfrm>
            <a:off x="457200" y="255574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3" name="Text 10"/>
          <p:cNvSpPr txBox="1"/>
          <p:nvPr/>
        </p:nvSpPr>
        <p:spPr>
          <a:xfrm>
            <a:off x="786384" y="2537460"/>
            <a:ext cx="3511296" cy="580644"/>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Approve the three Q4 changes for the pharmacy training: the shelf, route at confirmation, one collections counter. Rand View trains first, so the update is needed before mid-October.</a:t>
            </a:r>
            <a:endParaRPr lang="en-US" sz="900" dirty="0"/>
          </a:p>
        </p:txBody>
      </p:sp>
      <p:sp>
        <p:nvSpPr>
          <p:cNvPr id="14" name="Shape 11"/>
          <p:cNvSpPr/>
          <p:nvPr/>
        </p:nvSpPr>
        <p:spPr>
          <a:xfrm>
            <a:off x="457200" y="3172968"/>
            <a:ext cx="237744" cy="237744"/>
          </a:xfrm>
          <a:prstGeom prst="ellipse">
            <a:avLst/>
          </a:prstGeom>
          <a:solidFill>
            <a:srgbClr val="0A7A44"/>
          </a:solidFill>
          <a:ln w="12700">
            <a:solidFill>
              <a:srgbClr val="0A7A44"/>
            </a:solidFill>
            <a:prstDash val="solid"/>
          </a:ln>
        </p:spPr>
      </p:sp>
      <p:sp>
        <p:nvSpPr>
          <p:cNvPr id="15" name="Text 12"/>
          <p:cNvSpPr txBox="1"/>
          <p:nvPr/>
        </p:nvSpPr>
        <p:spPr>
          <a:xfrm>
            <a:off x="457200" y="317296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16" name="Text 13"/>
          <p:cNvSpPr txBox="1"/>
          <p:nvPr/>
        </p:nvSpPr>
        <p:spPr>
          <a:xfrm>
            <a:off x="786384" y="3154680"/>
            <a:ext cx="3511296" cy="580644"/>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Approve the data plan, with the owners named.</a:t>
            </a:r>
            <a:endParaRPr lang="en-US" sz="900" dirty="0"/>
          </a:p>
        </p:txBody>
      </p:sp>
      <p:sp>
        <p:nvSpPr>
          <p:cNvPr id="17" name="Shape 14"/>
          <p:cNvSpPr/>
          <p:nvPr/>
        </p:nvSpPr>
        <p:spPr>
          <a:xfrm>
            <a:off x="457200" y="3790188"/>
            <a:ext cx="237744" cy="237744"/>
          </a:xfrm>
          <a:prstGeom prst="ellipse">
            <a:avLst/>
          </a:prstGeom>
          <a:solidFill>
            <a:srgbClr val="0A7A44"/>
          </a:solidFill>
          <a:ln w="12700">
            <a:solidFill>
              <a:srgbClr val="0A7A44"/>
            </a:solidFill>
            <a:prstDash val="solid"/>
          </a:ln>
        </p:spPr>
      </p:sp>
      <p:sp>
        <p:nvSpPr>
          <p:cNvPr id="18" name="Text 15"/>
          <p:cNvSpPr txBox="1"/>
          <p:nvPr/>
        </p:nvSpPr>
        <p:spPr>
          <a:xfrm>
            <a:off x="457200" y="379018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19" name="Text 16"/>
          <p:cNvSpPr txBox="1"/>
          <p:nvPr/>
        </p:nvSpPr>
        <p:spPr>
          <a:xfrm>
            <a:off x="786384" y="3771900"/>
            <a:ext cx="3511296" cy="580644"/>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Review in January with three months of data, to set the threshold per store and decide whether the fast path becomes phase two.</a:t>
            </a:r>
            <a:endParaRPr lang="en-US" sz="900" dirty="0"/>
          </a:p>
        </p:txBody>
      </p:sp>
      <p:sp>
        <p:nvSpPr>
          <p:cNvPr id="20" name="Shape 17"/>
          <p:cNvSpPr/>
          <p:nvPr/>
        </p:nvSpPr>
        <p:spPr>
          <a:xfrm>
            <a:off x="457200" y="4434840"/>
            <a:ext cx="3840480" cy="548640"/>
          </a:xfrm>
          <a:prstGeom prst="rect">
            <a:avLst/>
          </a:prstGeom>
          <a:solidFill>
            <a:srgbClr val="FAF3D9"/>
          </a:solidFill>
          <a:ln w="12700">
            <a:solidFill>
              <a:srgbClr val="FAF3D9"/>
            </a:solidFill>
            <a:prstDash val="solid"/>
          </a:ln>
        </p:spPr>
      </p:sp>
      <p:sp>
        <p:nvSpPr>
          <p:cNvPr id="21" name="Text 18"/>
          <p:cNvSpPr txBox="1"/>
          <p:nvPr/>
        </p:nvSpPr>
        <p:spPr>
          <a:xfrm>
            <a:off x="621792" y="4507992"/>
            <a:ext cx="3511296" cy="402336"/>
          </a:xfrm>
          <a:prstGeom prst="rect">
            <a:avLst/>
          </a:prstGeom>
          <a:noFill/>
          <a:ln/>
        </p:spPr>
        <p:txBody>
          <a:bodyPr wrap="square" lIns="0" tIns="0" rIns="0" bIns="0" rtlCol="0" anchor="ctr">
            <a:normAutofit/>
          </a:bodyPr>
          <a:lstStyle/>
          <a:p>
            <a:pPr indent="0" marL="0">
              <a:buNone/>
            </a:pPr>
            <a:r>
              <a:rPr lang="en-US" sz="950" dirty="0">
                <a:solidFill>
                  <a:srgbClr val="1C2420"/>
                </a:solidFill>
                <a:latin typeface="Arial" pitchFamily="34" charset="0"/>
                <a:ea typeface="Arial" pitchFamily="34" charset="-122"/>
                <a:cs typeface="Arial" pitchFamily="34" charset="-120"/>
              </a:rPr>
              <a:t>The first store trains in five weeks. Decisions one and two are the ones with a date on them.</a:t>
            </a:r>
            <a:endParaRPr lang="en-US" sz="950" dirty="0"/>
          </a:p>
        </p:txBody>
      </p:sp>
      <p:sp>
        <p:nvSpPr>
          <p:cNvPr id="22" name="Text 19"/>
          <p:cNvSpPr txBox="1"/>
          <p:nvPr/>
        </p:nvSpPr>
        <p:spPr>
          <a:xfrm>
            <a:off x="4572000" y="1691640"/>
            <a:ext cx="411480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THE MEASUREMENT PLAN</a:t>
            </a:r>
            <a:endParaRPr lang="en-US" sz="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0" y="1920240"/>
          <a:ext cx="4114800" cy="914400"/>
        </p:xfrm>
        <a:graphic>
          <a:graphicData uri="http://schemas.openxmlformats.org/drawingml/2006/table">
            <a:tbl>
              <a:tblPr/>
              <a:tblGrid>
                <a:gridCol w="2011680"/>
                <a:gridCol w="1188720"/>
                <a:gridCol w="914400"/>
              </a:tblGrid>
              <a:tr h="329184">
                <a:tc>
                  <a:txBody>
                    <a:bodyPr/>
                    <a:lstStyle/>
                    <a:p>
                      <a:pPr indent="0" marL="0">
                        <a:buNone/>
                      </a:pPr>
                      <a:r>
                        <a:rPr lang="en-US" sz="800" b="1" dirty="0">
                          <a:solidFill>
                            <a:srgbClr val="7D8A82"/>
                          </a:solidFill>
                          <a:latin typeface="Arial" pitchFamily="34" charset="0"/>
                          <a:ea typeface="Arial" pitchFamily="34" charset="-122"/>
                          <a:cs typeface="Arial" pitchFamily="34" charset="-120"/>
                        </a:rPr>
                        <a:t>What we measure</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c>
                  <a:txBody>
                    <a:bodyPr/>
                    <a:lstStyle/>
                    <a:p>
                      <a:pPr indent="0" marL="0">
                        <a:buNone/>
                      </a:pPr>
                      <a:r>
                        <a:rPr lang="en-US" sz="800" b="1" dirty="0">
                          <a:solidFill>
                            <a:srgbClr val="7D8A82"/>
                          </a:solidFill>
                          <a:latin typeface="Arial" pitchFamily="34" charset="0"/>
                          <a:ea typeface="Arial" pitchFamily="34" charset="-122"/>
                          <a:cs typeface="Arial" pitchFamily="34" charset="-120"/>
                        </a:rPr>
                        <a:t>Source</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c>
                  <a:txBody>
                    <a:bodyPr/>
                    <a:lstStyle/>
                    <a:p>
                      <a:pPr indent="0" marL="0">
                        <a:buNone/>
                      </a:pPr>
                      <a:r>
                        <a:rPr lang="en-US" sz="800" b="1" dirty="0">
                          <a:solidFill>
                            <a:srgbClr val="7D8A82"/>
                          </a:solidFill>
                          <a:latin typeface="Arial" pitchFamily="34" charset="0"/>
                          <a:ea typeface="Arial" pitchFamily="34" charset="-122"/>
                          <a:cs typeface="Arial" pitchFamily="34" charset="-120"/>
                        </a:rPr>
                        <a:t>Owner</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r>
              <a:tr h="329184">
                <a:tc>
                  <a:txBody>
                    <a:bodyPr/>
                    <a:lstStyle/>
                    <a:p>
                      <a:pPr indent="0" marL="0">
                        <a:buNone/>
                      </a:pPr>
                      <a:r>
                        <a:rPr lang="en-US" sz="750" dirty="0">
                          <a:solidFill>
                            <a:srgbClr val="1C2420"/>
                          </a:solidFill>
                          <a:latin typeface="Arial" pitchFamily="34" charset="0"/>
                          <a:ea typeface="Arial" pitchFamily="34" charset="-122"/>
                          <a:cs typeface="Arial" pitchFamily="34" charset="-120"/>
                        </a:rPr>
                        <a:t>Share of OTC-only visits served in one stop</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Ticketing by order type</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Business analyst</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329184">
                <a:tc>
                  <a:txBody>
                    <a:bodyPr/>
                    <a:lstStyle/>
                    <a:p>
                      <a:pPr indent="0" marL="0">
                        <a:buNone/>
                      </a:pPr>
                      <a:r>
                        <a:rPr lang="en-US" sz="750" dirty="0">
                          <a:solidFill>
                            <a:srgbClr val="1C2420"/>
                          </a:solidFill>
                          <a:latin typeface="Arial" pitchFamily="34" charset="0"/>
                          <a:ea typeface="Arial" pitchFamily="34" charset="-122"/>
                          <a:cs typeface="Arial" pitchFamily="34" charset="-120"/>
                        </a:rPr>
                        <a:t>Time to serve by order type, monthly, all stores</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Qmatic and dashboard</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Product manager</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329184">
                <a:tc>
                  <a:txBody>
                    <a:bodyPr/>
                    <a:lstStyle/>
                    <a:p>
                      <a:pPr indent="0" marL="0">
                        <a:buNone/>
                      </a:pPr>
                      <a:r>
                        <a:rPr lang="en-US" sz="750" dirty="0">
                          <a:solidFill>
                            <a:srgbClr val="1C2420"/>
                          </a:solidFill>
                          <a:latin typeface="Arial" pitchFamily="34" charset="0"/>
                          <a:ea typeface="Arial" pitchFamily="34" charset="-122"/>
                          <a:cs typeface="Arial" pitchFamily="34" charset="-120"/>
                        </a:rPr>
                        <a:t>Pick time by line count and item type; Irene fast-path fallback rate</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Dashboard, Irene</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Business analyst</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329184">
                <a:tc>
                  <a:txBody>
                    <a:bodyPr/>
                    <a:lstStyle/>
                    <a:p>
                      <a:pPr indent="0" marL="0">
                        <a:buNone/>
                      </a:pPr>
                      <a:r>
                        <a:rPr lang="en-US" sz="750" dirty="0">
                          <a:solidFill>
                            <a:srgbClr val="1C2420"/>
                          </a:solidFill>
                          <a:latin typeface="Arial" pitchFamily="34" charset="0"/>
                          <a:ea typeface="Arial" pitchFamily="34" charset="-122"/>
                          <a:cs typeface="Arial" pitchFamily="34" charset="-120"/>
                        </a:rPr>
                        <a:t>OTC revenue and transactions vs projections, monthly</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Reporting</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Carol Mazaris</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329184">
                <a:tc>
                  <a:txBody>
                    <a:bodyPr/>
                    <a:lstStyle/>
                    <a:p>
                      <a:pPr indent="0" marL="0">
                        <a:buNone/>
                      </a:pPr>
                      <a:r>
                        <a:rPr lang="en-US" sz="750" dirty="0">
                          <a:solidFill>
                            <a:srgbClr val="1C2420"/>
                          </a:solidFill>
                          <a:latin typeface="Arial" pitchFamily="34" charset="0"/>
                          <a:ea typeface="Arial" pitchFamily="34" charset="-122"/>
                          <a:cs typeface="Arial" pitchFamily="34" charset="-120"/>
                        </a:rPr>
                        <a:t>Complaints coded OTC / queue / wait</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Careline (C4C)</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Tamsin's team</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329184">
                <a:tc>
                  <a:txBody>
                    <a:bodyPr/>
                    <a:lstStyle/>
                    <a:p>
                      <a:pPr indent="0" marL="0">
                        <a:buNone/>
                      </a:pPr>
                      <a:r>
                        <a:rPr lang="en-US" sz="750" dirty="0">
                          <a:solidFill>
                            <a:srgbClr val="1C2420"/>
                          </a:solidFill>
                          <a:latin typeface="Arial" pitchFamily="34" charset="0"/>
                          <a:ea typeface="Arial" pitchFamily="34" charset="-122"/>
                          <a:cs typeface="Arial" pitchFamily="34" charset="-120"/>
                        </a:rPr>
                        <a:t>Hub congestion and walk-outs at peak</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Saturday intercepts, both stores</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Lizette</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329184">
                <a:tc>
                  <a:txBody>
                    <a:bodyPr/>
                    <a:lstStyle/>
                    <a:p>
                      <a:pPr indent="0" marL="0">
                        <a:buNone/>
                      </a:pPr>
                      <a:r>
                        <a:rPr lang="en-US" sz="750" dirty="0">
                          <a:solidFill>
                            <a:srgbClr val="1C2420"/>
                          </a:solidFill>
                          <a:latin typeface="Arial" pitchFamily="34" charset="0"/>
                          <a:ea typeface="Arial" pitchFamily="34" charset="-122"/>
                          <a:cs typeface="Arial" pitchFamily="34" charset="-120"/>
                        </a:rPr>
                        <a:t>Shelf coverage of OTC-only transactions</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Unisolv SKU volume</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750" dirty="0">
                          <a:solidFill>
                            <a:srgbClr val="1C2420"/>
                          </a:solidFill>
                          <a:latin typeface="Arial" pitchFamily="34" charset="0"/>
                          <a:ea typeface="Arial" pitchFamily="34" charset="-122"/>
                          <a:cs typeface="Arial" pitchFamily="34" charset="-120"/>
                        </a:rPr>
                        <a:t>Business analyst</a:t>
                      </a:r>
                      <a:endParaRPr lang="en-US" sz="75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657600" cy="228600"/>
          </a:xfrm>
          <a:prstGeom prst="rect">
            <a:avLst/>
          </a:prstGeom>
          <a:noFill/>
          <a:ln/>
        </p:spPr>
        <p:txBody>
          <a:bodyPr wrap="square" lIns="0" tIns="0" rIns="0" bIns="0" rtlCol="0" anchor="ctr"/>
          <a:lstStyle/>
          <a:p>
            <a:pPr indent="0" marL="0">
              <a:buNone/>
            </a:pPr>
            <a:r>
              <a:rPr lang="en-US" sz="900" b="1" spc="200" kern="0" dirty="0">
                <a:solidFill>
                  <a:srgbClr val="0A7A44"/>
                </a:solidFill>
                <a:latin typeface="Arial" pitchFamily="34" charset="0"/>
                <a:ea typeface="Arial" pitchFamily="34" charset="-122"/>
                <a:cs typeface="Arial" pitchFamily="34" charset="-120"/>
              </a:rPr>
              <a:t>APPENDIX</a:t>
            </a:r>
            <a:endParaRPr lang="en-US" sz="900" dirty="0"/>
          </a:p>
        </p:txBody>
      </p:sp>
      <p:sp>
        <p:nvSpPr>
          <p:cNvPr id="3" name="Text 1"/>
          <p:cNvSpPr txBox="1"/>
          <p:nvPr/>
        </p:nvSpPr>
        <p:spPr>
          <a:xfrm>
            <a:off x="6400800" y="201168"/>
            <a:ext cx="2286000" cy="228600"/>
          </a:xfrm>
          <a:prstGeom prst="rect">
            <a:avLst/>
          </a:prstGeom>
          <a:noFill/>
          <a:ln/>
        </p:spPr>
        <p:txBody>
          <a:bodyPr wrap="square" lIns="0" tIns="0" rIns="0" bIns="0" rtlCol="0" anchor="ctr"/>
          <a:lstStyle/>
          <a:p>
            <a:pPr algn="r" indent="0" marL="0">
              <a:buNone/>
            </a:pPr>
            <a:r>
              <a:rPr lang="en-US" sz="900" dirty="0">
                <a:solidFill>
                  <a:srgbClr val="7D8A82"/>
                </a:solidFill>
                <a:latin typeface="Arial" pitchFamily="34" charset="0"/>
                <a:ea typeface="Arial" pitchFamily="34" charset="-122"/>
                <a:cs typeface="Arial" pitchFamily="34" charset="-120"/>
              </a:rPr>
              <a:t>A.1</a:t>
            </a:r>
            <a:endParaRPr lang="en-US" sz="900" dirty="0"/>
          </a:p>
        </p:txBody>
      </p:sp>
      <p:sp>
        <p:nvSpPr>
          <p:cNvPr id="4" name="Text 2"/>
          <p:cNvSpPr txBox="1"/>
          <p:nvPr/>
        </p:nvSpPr>
        <p:spPr>
          <a:xfrm>
            <a:off x="457200" y="438912"/>
            <a:ext cx="8229600" cy="731520"/>
          </a:xfrm>
          <a:prstGeom prst="rect">
            <a:avLst/>
          </a:prstGeom>
          <a:noFill/>
          <a:ln/>
        </p:spPr>
        <p:txBody>
          <a:bodyPr wrap="square" lIns="0" tIns="0" rIns="0" bIns="0" rtlCol="0" anchor="t">
            <a:normAutofit/>
          </a:bodyPr>
          <a:lstStyle/>
          <a:p>
            <a:pPr indent="0" marL="0">
              <a:buNone/>
            </a:pPr>
            <a:r>
              <a:rPr lang="en-US" sz="2100" b="1" dirty="0">
                <a:solidFill>
                  <a:srgbClr val="1C2420"/>
                </a:solidFill>
                <a:latin typeface="Arial" pitchFamily="34" charset="0"/>
                <a:ea typeface="Arial" pitchFamily="34" charset="-122"/>
                <a:cs typeface="Arial" pitchFamily="34" charset="-120"/>
              </a:rPr>
              <a:t>Sources and evidence tiers</a:t>
            </a:r>
            <a:endParaRPr lang="en-US" sz="2100" dirty="0"/>
          </a:p>
        </p:txBody>
      </p:sp>
      <p:sp>
        <p:nvSpPr>
          <p:cNvPr id="5" name="Text 3"/>
          <p:cNvSpPr txBox="1"/>
          <p:nvPr/>
        </p:nvSpPr>
        <p:spPr>
          <a:xfrm>
            <a:off x="457200" y="1152144"/>
            <a:ext cx="8229600" cy="475488"/>
          </a:xfrm>
          <a:prstGeom prst="rect">
            <a:avLst/>
          </a:prstGeom>
          <a:noFill/>
          <a:ln/>
        </p:spPr>
        <p:txBody>
          <a:bodyPr wrap="square" lIns="0" tIns="0" rIns="0" bIns="0" rtlCol="0" anchor="t">
            <a:normAutofit/>
          </a:bodyPr>
          <a:lstStyle/>
          <a:p>
            <a:pPr indent="0" marL="0">
              <a:buNone/>
            </a:pPr>
            <a:r>
              <a:rPr lang="en-US" sz="1100" dirty="0">
                <a:solidFill>
                  <a:srgbClr val="4C5A52"/>
                </a:solidFill>
                <a:latin typeface="Arial" pitchFamily="34" charset="0"/>
                <a:ea typeface="Arial" pitchFamily="34" charset="-122"/>
                <a:cs typeface="Arial" pitchFamily="34" charset="-120"/>
              </a:rPr>
              <a:t>What the pack rests on, and how far each source can be trusted.</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8229600" cy="914400"/>
        </p:xfrm>
        <a:graphic>
          <a:graphicData uri="http://schemas.openxmlformats.org/drawingml/2006/table">
            <a:tbl>
              <a:tblPr/>
              <a:tblGrid>
                <a:gridCol w="2194560"/>
                <a:gridCol w="914400"/>
                <a:gridCol w="3291840"/>
                <a:gridCol w="1828800"/>
              </a:tblGrid>
              <a:tr h="274320">
                <a:tc>
                  <a:txBody>
                    <a:bodyPr/>
                    <a:lstStyle/>
                    <a:p>
                      <a:pPr indent="0" marL="0">
                        <a:buNone/>
                      </a:pPr>
                      <a:r>
                        <a:rPr lang="en-US" sz="800" b="1" dirty="0">
                          <a:solidFill>
                            <a:srgbClr val="7D8A82"/>
                          </a:solidFill>
                          <a:latin typeface="Arial" pitchFamily="34" charset="0"/>
                          <a:ea typeface="Arial" pitchFamily="34" charset="-122"/>
                          <a:cs typeface="Arial" pitchFamily="34" charset="-120"/>
                        </a:rPr>
                        <a:t>Source</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c>
                  <a:txBody>
                    <a:bodyPr/>
                    <a:lstStyle/>
                    <a:p>
                      <a:pPr indent="0" marL="0">
                        <a:buNone/>
                      </a:pPr>
                      <a:r>
                        <a:rPr lang="en-US" sz="800" b="1" dirty="0">
                          <a:solidFill>
                            <a:srgbClr val="7D8A82"/>
                          </a:solidFill>
                          <a:latin typeface="Arial" pitchFamily="34" charset="0"/>
                          <a:ea typeface="Arial" pitchFamily="34" charset="-122"/>
                          <a:cs typeface="Arial" pitchFamily="34" charset="-120"/>
                        </a:rPr>
                        <a:t>Date</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c>
                  <a:txBody>
                    <a:bodyPr/>
                    <a:lstStyle/>
                    <a:p>
                      <a:pPr indent="0" marL="0">
                        <a:buNone/>
                      </a:pPr>
                      <a:r>
                        <a:rPr lang="en-US" sz="800" b="1" dirty="0">
                          <a:solidFill>
                            <a:srgbClr val="7D8A82"/>
                          </a:solidFill>
                          <a:latin typeface="Arial" pitchFamily="34" charset="0"/>
                          <a:ea typeface="Arial" pitchFamily="34" charset="-122"/>
                          <a:cs typeface="Arial" pitchFamily="34" charset="-120"/>
                        </a:rPr>
                        <a:t>What it gives the pack</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c>
                  <a:txBody>
                    <a:bodyPr/>
                    <a:lstStyle/>
                    <a:p>
                      <a:pPr indent="0" marL="0">
                        <a:buNone/>
                      </a:pPr>
                      <a:r>
                        <a:rPr lang="en-US" sz="800" b="1" dirty="0">
                          <a:solidFill>
                            <a:srgbClr val="7D8A82"/>
                          </a:solidFill>
                          <a:latin typeface="Arial" pitchFamily="34" charset="0"/>
                          <a:ea typeface="Arial" pitchFamily="34" charset="-122"/>
                          <a:cs typeface="Arial" pitchFamily="34" charset="-120"/>
                        </a:rPr>
                        <a:t>Tier</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7F6F2"/>
                    </a:solidFill>
                  </a:tcPr>
                </a:tc>
              </a:tr>
              <a:tr h="274320">
                <a:tc>
                  <a:txBody>
                    <a:bodyPr/>
                    <a:lstStyle/>
                    <a:p>
                      <a:pPr indent="0" marL="0">
                        <a:buNone/>
                      </a:pPr>
                      <a:r>
                        <a:rPr lang="en-US" sz="800" dirty="0">
                          <a:solidFill>
                            <a:srgbClr val="1C2420"/>
                          </a:solidFill>
                          <a:latin typeface="Arial" pitchFamily="34" charset="0"/>
                          <a:ea typeface="Arial" pitchFamily="34" charset="-122"/>
                          <a:cs typeface="Arial" pitchFamily="34" charset="-120"/>
                        </a:rPr>
                        <a:t>SteerCo #1 pack and decision log</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Nov 2025</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The original decisions and their stated rationales</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A · programme record</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74320">
                <a:tc>
                  <a:txBody>
                    <a:bodyPr/>
                    <a:lstStyle/>
                    <a:p>
                      <a:pPr indent="0" marL="0">
                        <a:buNone/>
                      </a:pPr>
                      <a:r>
                        <a:rPr lang="en-US" sz="800" dirty="0">
                          <a:solidFill>
                            <a:srgbClr val="1C2420"/>
                          </a:solidFill>
                          <a:latin typeface="Arial" pitchFamily="34" charset="0"/>
                          <a:ea typeface="Arial" pitchFamily="34" charset="-122"/>
                          <a:cs typeface="Arial" pitchFamily="34" charset="-120"/>
                        </a:rPr>
                        <a:t>Bigly dispenser principles board</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Feb 2026</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Never turn your back; production-line fulfilment; counter for care</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Design intent</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74320">
                <a:tc>
                  <a:txBody>
                    <a:bodyPr/>
                    <a:lstStyle/>
                    <a:p>
                      <a:pPr indent="0" marL="0">
                        <a:buNone/>
                      </a:pPr>
                      <a:r>
                        <a:rPr lang="en-US" sz="800" dirty="0">
                          <a:solidFill>
                            <a:srgbClr val="1C2420"/>
                          </a:solidFill>
                          <a:latin typeface="Arial" pitchFamily="34" charset="0"/>
                          <a:ea typeface="Arial" pitchFamily="34" charset="-122"/>
                          <a:cs typeface="Arial" pitchFamily="34" charset="-120"/>
                        </a:rPr>
                        <a:t>Melrose MVP workshops</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Feb 2026</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What launched vs what was deferred (payment 2028, digital shelves)</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A · programme record</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74320">
                <a:tc>
                  <a:txBody>
                    <a:bodyPr/>
                    <a:lstStyle/>
                    <a:p>
                      <a:pPr indent="0" marL="0">
                        <a:buNone/>
                      </a:pPr>
                      <a:r>
                        <a:rPr lang="en-US" sz="800" dirty="0">
                          <a:solidFill>
                            <a:srgbClr val="1C2420"/>
                          </a:solidFill>
                          <a:latin typeface="Arial" pitchFamily="34" charset="0"/>
                          <a:ea typeface="Arial" pitchFamily="34" charset="-122"/>
                          <a:cs typeface="Arial" pitchFamily="34" charset="-120"/>
                        </a:rPr>
                        <a:t>SOTF customer study, n=12</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Jan 2026</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"Waiting is fine, being unsure isn't"; visible human fallback</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B · small-n qualitative</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74320">
                <a:tc>
                  <a:txBody>
                    <a:bodyPr/>
                    <a:lstStyle/>
                    <a:p>
                      <a:pPr indent="0" marL="0">
                        <a:buNone/>
                      </a:pPr>
                      <a:r>
                        <a:rPr lang="en-US" sz="800" dirty="0">
                          <a:solidFill>
                            <a:srgbClr val="1C2420"/>
                          </a:solidFill>
                          <a:latin typeface="Arial" pitchFamily="34" charset="0"/>
                          <a:ea typeface="Arial" pitchFamily="34" charset="-122"/>
                          <a:cs typeface="Arial" pitchFamily="34" charset="-120"/>
                        </a:rPr>
                        <a:t>Training pack as launched</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May-Jul 2026</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The live process spine, queue rules, workarounds</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A · operating procedure</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74320">
                <a:tc>
                  <a:txBody>
                    <a:bodyPr/>
                    <a:lstStyle/>
                    <a:p>
                      <a:pPr indent="0" marL="0">
                        <a:buNone/>
                      </a:pPr>
                      <a:r>
                        <a:rPr lang="en-US" sz="800" dirty="0">
                          <a:solidFill>
                            <a:srgbClr val="1C2420"/>
                          </a:solidFill>
                          <a:latin typeface="Arial" pitchFamily="34" charset="0"/>
                          <a:ea typeface="Arial" pitchFamily="34" charset="-122"/>
                          <a:cs typeface="Arial" pitchFamily="34" charset="-120"/>
                        </a:rPr>
                        <a:t>Internal OTC brainstorm</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2 Sep 2026</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Irene workaround, Medirite/Clicks precedent, options, guardrails</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A as record; store figures relayed</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74320">
                <a:tc>
                  <a:txBody>
                    <a:bodyPr/>
                    <a:lstStyle/>
                    <a:p>
                      <a:pPr indent="0" marL="0">
                        <a:buNone/>
                      </a:pPr>
                      <a:r>
                        <a:rPr lang="en-US" sz="800" dirty="0">
                          <a:solidFill>
                            <a:srgbClr val="1C2420"/>
                          </a:solidFill>
                          <a:latin typeface="Arial" pitchFamily="34" charset="0"/>
                          <a:ea typeface="Arial" pitchFamily="34" charset="-122"/>
                          <a:cs typeface="Arial" pitchFamily="34" charset="-120"/>
                        </a:rPr>
                        <a:t>Frontline OTC workshop</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10 Sep 2026</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Both stores' managers and hub advisors: friction, mix drift, sales gap, staffing ratio</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A as record; figures are managers' working numbers</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74320">
                <a:tc>
                  <a:txBody>
                    <a:bodyPr/>
                    <a:lstStyle/>
                    <a:p>
                      <a:pPr indent="0" marL="0">
                        <a:buNone/>
                      </a:pPr>
                      <a:r>
                        <a:rPr lang="en-US" sz="800" dirty="0">
                          <a:solidFill>
                            <a:srgbClr val="1C2420"/>
                          </a:solidFill>
                          <a:latin typeface="Arial" pitchFamily="34" charset="0"/>
                          <a:ea typeface="Arial" pitchFamily="34" charset="-122"/>
                          <a:cs typeface="Arial" pitchFamily="34" charset="-120"/>
                        </a:rPr>
                        <a:t>Q4 rollout plan</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Sep 2026</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15 stores, 22 Oct to 3 Dec, 3 on hold</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A · plan, not outcome</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r h="274320">
                <a:tc>
                  <a:txBody>
                    <a:bodyPr/>
                    <a:lstStyle/>
                    <a:p>
                      <a:pPr indent="0" marL="0">
                        <a:buNone/>
                      </a:pPr>
                      <a:r>
                        <a:rPr lang="en-US" sz="800" dirty="0">
                          <a:solidFill>
                            <a:srgbClr val="1C2420"/>
                          </a:solidFill>
                          <a:latin typeface="Arial" pitchFamily="34" charset="0"/>
                          <a:ea typeface="Arial" pitchFamily="34" charset="-122"/>
                          <a:cs typeface="Arial" pitchFamily="34" charset="-120"/>
                        </a:rPr>
                        <a:t>Careline complaints</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ongoing</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The post-operative husband case; OTC and queue complaints</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c>
                  <a:txBody>
                    <a:bodyPr/>
                    <a:lstStyle/>
                    <a:p>
                      <a:pPr indent="0" marL="0">
                        <a:buNone/>
                      </a:pPr>
                      <a:r>
                        <a:rPr lang="en-US" sz="800" dirty="0">
                          <a:solidFill>
                            <a:srgbClr val="1C2420"/>
                          </a:solidFill>
                          <a:latin typeface="Arial" pitchFamily="34" charset="0"/>
                          <a:ea typeface="Arial" pitchFamily="34" charset="-122"/>
                          <a:cs typeface="Arial" pitchFamily="34" charset="-120"/>
                        </a:rPr>
                        <a:t>Signals; coding outstanding</a:t>
                      </a:r>
                      <a:endParaRPr lang="en-US" sz="800" dirty="0">
                        <a:latin typeface="Arial" charset="0"/>
                        <a:ea typeface="Arial" charset="0"/>
                        <a:cs typeface="Arial" charset="0"/>
                      </a:endParaRPr>
                    </a:p>
                  </a:txBody>
                  <a:tcPr marL="63500" marR="63500" marT="38100" marB="38100" anchor="t">
                    <a:lnL w="0" cap="flat" cmpd="sng" algn="ctr">
                      <a:noFill/>
                    </a:lnL>
                    <a:lnR w="0" cap="flat" cmpd="sng" algn="ctr">
                      <a:noFill/>
                    </a:lnR>
                    <a:lnT w="6350" cap="flat" cmpd="sng" algn="ctr">
                      <a:solidFill>
                        <a:srgbClr val="DCDFD8"/>
                      </a:solidFill>
                      <a:prstDash val="solid"/>
                      <a:round/>
                      <a:headEnd type="none" w="med" len="med"/>
                      <a:tailEnd type="none" w="med" len="med"/>
                    </a:lnT>
                    <a:lnB w="6350" cap="flat" cmpd="sng" algn="ctr">
                      <a:solidFill>
                        <a:srgbClr val="DCDFD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657600" cy="228600"/>
          </a:xfrm>
          <a:prstGeom prst="rect">
            <a:avLst/>
          </a:prstGeom>
          <a:noFill/>
          <a:ln/>
        </p:spPr>
        <p:txBody>
          <a:bodyPr wrap="square" lIns="0" tIns="0" rIns="0" bIns="0" rtlCol="0" anchor="ctr"/>
          <a:lstStyle/>
          <a:p>
            <a:pPr indent="0" marL="0">
              <a:buNone/>
            </a:pPr>
            <a:r>
              <a:rPr lang="en-US" sz="900" b="1" spc="200" kern="0" dirty="0">
                <a:solidFill>
                  <a:srgbClr val="0A7A44"/>
                </a:solidFill>
                <a:latin typeface="Arial" pitchFamily="34" charset="0"/>
                <a:ea typeface="Arial" pitchFamily="34" charset="-122"/>
                <a:cs typeface="Arial" pitchFamily="34" charset="-120"/>
              </a:rPr>
              <a:t>APPENDIX</a:t>
            </a:r>
            <a:endParaRPr lang="en-US" sz="900" dirty="0"/>
          </a:p>
        </p:txBody>
      </p:sp>
      <p:sp>
        <p:nvSpPr>
          <p:cNvPr id="3" name="Text 1"/>
          <p:cNvSpPr txBox="1"/>
          <p:nvPr/>
        </p:nvSpPr>
        <p:spPr>
          <a:xfrm>
            <a:off x="6400800" y="201168"/>
            <a:ext cx="2286000" cy="228600"/>
          </a:xfrm>
          <a:prstGeom prst="rect">
            <a:avLst/>
          </a:prstGeom>
          <a:noFill/>
          <a:ln/>
        </p:spPr>
        <p:txBody>
          <a:bodyPr wrap="square" lIns="0" tIns="0" rIns="0" bIns="0" rtlCol="0" anchor="ctr"/>
          <a:lstStyle/>
          <a:p>
            <a:pPr algn="r" indent="0" marL="0">
              <a:buNone/>
            </a:pPr>
            <a:r>
              <a:rPr lang="en-US" sz="900" dirty="0">
                <a:solidFill>
                  <a:srgbClr val="7D8A82"/>
                </a:solidFill>
                <a:latin typeface="Arial" pitchFamily="34" charset="0"/>
                <a:ea typeface="Arial" pitchFamily="34" charset="-122"/>
                <a:cs typeface="Arial" pitchFamily="34" charset="-120"/>
              </a:rPr>
              <a:t>A.2</a:t>
            </a:r>
            <a:endParaRPr lang="en-US" sz="900" dirty="0"/>
          </a:p>
        </p:txBody>
      </p:sp>
      <p:sp>
        <p:nvSpPr>
          <p:cNvPr id="4" name="Text 2"/>
          <p:cNvSpPr txBox="1"/>
          <p:nvPr/>
        </p:nvSpPr>
        <p:spPr>
          <a:xfrm>
            <a:off x="457200" y="438912"/>
            <a:ext cx="8229600" cy="731520"/>
          </a:xfrm>
          <a:prstGeom prst="rect">
            <a:avLst/>
          </a:prstGeom>
          <a:noFill/>
          <a:ln/>
        </p:spPr>
        <p:txBody>
          <a:bodyPr wrap="square" lIns="0" tIns="0" rIns="0" bIns="0" rtlCol="0" anchor="t">
            <a:normAutofit/>
          </a:bodyPr>
          <a:lstStyle/>
          <a:p>
            <a:pPr indent="0" marL="0">
              <a:buNone/>
            </a:pPr>
            <a:r>
              <a:rPr lang="en-US" sz="2100" b="1" dirty="0">
                <a:solidFill>
                  <a:srgbClr val="1C2420"/>
                </a:solidFill>
                <a:latin typeface="Arial" pitchFamily="34" charset="0"/>
                <a:ea typeface="Arial" pitchFamily="34" charset="-122"/>
                <a:cs typeface="Arial" pitchFamily="34" charset="-120"/>
              </a:rPr>
              <a:t>Data still needed, and one regulatory flag</a:t>
            </a:r>
            <a:endParaRPr lang="en-US" sz="2100" dirty="0"/>
          </a:p>
        </p:txBody>
      </p:sp>
      <p:sp>
        <p:nvSpPr>
          <p:cNvPr id="5" name="Text 3"/>
          <p:cNvSpPr txBox="1"/>
          <p:nvPr/>
        </p:nvSpPr>
        <p:spPr>
          <a:xfrm>
            <a:off x="457200" y="1152144"/>
            <a:ext cx="8229600" cy="475488"/>
          </a:xfrm>
          <a:prstGeom prst="rect">
            <a:avLst/>
          </a:prstGeom>
          <a:noFill/>
          <a:ln/>
        </p:spPr>
        <p:txBody>
          <a:bodyPr wrap="square" lIns="0" tIns="0" rIns="0" bIns="0" rtlCol="0" anchor="t">
            <a:normAutofit/>
          </a:bodyPr>
          <a:lstStyle/>
          <a:p>
            <a:pPr indent="0" marL="0">
              <a:buNone/>
            </a:pPr>
            <a:r>
              <a:rPr lang="en-US" sz="1100" dirty="0">
                <a:solidFill>
                  <a:srgbClr val="4C5A52"/>
                </a:solidFill>
                <a:latin typeface="Arial" pitchFamily="34" charset="0"/>
                <a:ea typeface="Arial" pitchFamily="34" charset="-122"/>
                <a:cs typeface="Arial" pitchFamily="34" charset="-120"/>
              </a:rPr>
              <a:t>Every figure quoted from a store manager is a working number until one of these pulls confirms it.</a:t>
            </a:r>
            <a:endParaRPr lang="en-US" sz="1100" dirty="0"/>
          </a:p>
        </p:txBody>
      </p:sp>
      <p:sp>
        <p:nvSpPr>
          <p:cNvPr id="6" name="Text 4"/>
          <p:cNvSpPr txBox="1"/>
          <p:nvPr/>
        </p:nvSpPr>
        <p:spPr>
          <a:xfrm>
            <a:off x="457200" y="1691640"/>
            <a:ext cx="493776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DATA PULLS</a:t>
            </a:r>
            <a:endParaRPr lang="en-US" sz="800" dirty="0"/>
          </a:p>
        </p:txBody>
      </p:sp>
      <p:sp>
        <p:nvSpPr>
          <p:cNvPr id="7" name="Shape 5"/>
          <p:cNvSpPr/>
          <p:nvPr/>
        </p:nvSpPr>
        <p:spPr>
          <a:xfrm>
            <a:off x="457200" y="1938528"/>
            <a:ext cx="237744" cy="237744"/>
          </a:xfrm>
          <a:prstGeom prst="ellipse">
            <a:avLst/>
          </a:prstGeom>
          <a:solidFill>
            <a:srgbClr val="0A7A44"/>
          </a:solidFill>
          <a:ln w="12700">
            <a:solidFill>
              <a:srgbClr val="0A7A44"/>
            </a:solidFill>
            <a:prstDash val="solid"/>
          </a:ln>
        </p:spPr>
      </p:sp>
      <p:sp>
        <p:nvSpPr>
          <p:cNvPr id="8" name="Text 6"/>
          <p:cNvSpPr txBox="1"/>
          <p:nvPr/>
        </p:nvSpPr>
        <p:spPr>
          <a:xfrm>
            <a:off x="457200" y="193852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9" name="Text 7"/>
          <p:cNvSpPr txBox="1"/>
          <p:nvPr/>
        </p:nvSpPr>
        <p:spPr>
          <a:xfrm>
            <a:off x="786384" y="1920240"/>
            <a:ext cx="4608576" cy="381435"/>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Pharmacy revenue and transaction volume for both stores, OTC vs script, month by month, against original projections.</a:t>
            </a:r>
            <a:endParaRPr lang="en-US" sz="900" dirty="0"/>
          </a:p>
        </p:txBody>
      </p:sp>
      <p:sp>
        <p:nvSpPr>
          <p:cNvPr id="10" name="Shape 8"/>
          <p:cNvSpPr/>
          <p:nvPr/>
        </p:nvSpPr>
        <p:spPr>
          <a:xfrm>
            <a:off x="457200" y="2356539"/>
            <a:ext cx="237744" cy="237744"/>
          </a:xfrm>
          <a:prstGeom prst="ellipse">
            <a:avLst/>
          </a:prstGeom>
          <a:solidFill>
            <a:srgbClr val="0A7A44"/>
          </a:solidFill>
          <a:ln w="12700">
            <a:solidFill>
              <a:srgbClr val="0A7A44"/>
            </a:solidFill>
            <a:prstDash val="solid"/>
          </a:ln>
        </p:spPr>
      </p:sp>
      <p:sp>
        <p:nvSpPr>
          <p:cNvPr id="11" name="Text 9"/>
          <p:cNvSpPr txBox="1"/>
          <p:nvPr/>
        </p:nvSpPr>
        <p:spPr>
          <a:xfrm>
            <a:off x="457200" y="2356539"/>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2" name="Text 10"/>
          <p:cNvSpPr txBox="1"/>
          <p:nvPr/>
        </p:nvSpPr>
        <p:spPr>
          <a:xfrm>
            <a:off x="786384" y="2338251"/>
            <a:ext cx="4608576" cy="381435"/>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Ticket volume and time to serve for both stores, OTC vs script, month by month.</a:t>
            </a:r>
            <a:endParaRPr lang="en-US" sz="900" dirty="0"/>
          </a:p>
        </p:txBody>
      </p:sp>
      <p:sp>
        <p:nvSpPr>
          <p:cNvPr id="13" name="Shape 11"/>
          <p:cNvSpPr/>
          <p:nvPr/>
        </p:nvSpPr>
        <p:spPr>
          <a:xfrm>
            <a:off x="457200" y="2774551"/>
            <a:ext cx="237744" cy="237744"/>
          </a:xfrm>
          <a:prstGeom prst="ellipse">
            <a:avLst/>
          </a:prstGeom>
          <a:solidFill>
            <a:srgbClr val="0A7A44"/>
          </a:solidFill>
          <a:ln w="12700">
            <a:solidFill>
              <a:srgbClr val="0A7A44"/>
            </a:solidFill>
            <a:prstDash val="solid"/>
          </a:ln>
        </p:spPr>
      </p:sp>
      <p:sp>
        <p:nvSpPr>
          <p:cNvPr id="14" name="Text 12"/>
          <p:cNvSpPr txBox="1"/>
          <p:nvPr/>
        </p:nvSpPr>
        <p:spPr>
          <a:xfrm>
            <a:off x="457200" y="2774551"/>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15" name="Text 13"/>
          <p:cNvSpPr txBox="1"/>
          <p:nvPr/>
        </p:nvSpPr>
        <p:spPr>
          <a:xfrm>
            <a:off x="786384" y="2756263"/>
            <a:ext cx="4608576" cy="381435"/>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Ticketing data to confirm how the Irene OTC path actually runs (who picks, who hands over) and how often it falls back.</a:t>
            </a:r>
            <a:endParaRPr lang="en-US" sz="900" dirty="0"/>
          </a:p>
        </p:txBody>
      </p:sp>
      <p:sp>
        <p:nvSpPr>
          <p:cNvPr id="16" name="Shape 14"/>
          <p:cNvSpPr/>
          <p:nvPr/>
        </p:nvSpPr>
        <p:spPr>
          <a:xfrm>
            <a:off x="457200" y="3192562"/>
            <a:ext cx="237744" cy="237744"/>
          </a:xfrm>
          <a:prstGeom prst="ellipse">
            <a:avLst/>
          </a:prstGeom>
          <a:solidFill>
            <a:srgbClr val="0A7A44"/>
          </a:solidFill>
          <a:ln w="12700">
            <a:solidFill>
              <a:srgbClr val="0A7A44"/>
            </a:solidFill>
            <a:prstDash val="solid"/>
          </a:ln>
        </p:spPr>
      </p:sp>
      <p:sp>
        <p:nvSpPr>
          <p:cNvPr id="17" name="Text 15"/>
          <p:cNvSpPr txBox="1"/>
          <p:nvPr/>
        </p:nvSpPr>
        <p:spPr>
          <a:xfrm>
            <a:off x="457200" y="319256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18" name="Text 16"/>
          <p:cNvSpPr txBox="1"/>
          <p:nvPr/>
        </p:nvSpPr>
        <p:spPr>
          <a:xfrm>
            <a:off x="786384" y="3174274"/>
            <a:ext cx="4608576" cy="381435"/>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Careline complaints for both stores, coded OTC / queue / wait.</a:t>
            </a:r>
            <a:endParaRPr lang="en-US" sz="900" dirty="0"/>
          </a:p>
        </p:txBody>
      </p:sp>
      <p:sp>
        <p:nvSpPr>
          <p:cNvPr id="19" name="Shape 17"/>
          <p:cNvSpPr/>
          <p:nvPr/>
        </p:nvSpPr>
        <p:spPr>
          <a:xfrm>
            <a:off x="457200" y="3610574"/>
            <a:ext cx="237744" cy="237744"/>
          </a:xfrm>
          <a:prstGeom prst="ellipse">
            <a:avLst/>
          </a:prstGeom>
          <a:solidFill>
            <a:srgbClr val="0A7A44"/>
          </a:solidFill>
          <a:ln w="12700">
            <a:solidFill>
              <a:srgbClr val="0A7A44"/>
            </a:solidFill>
            <a:prstDash val="solid"/>
          </a:ln>
        </p:spPr>
      </p:sp>
      <p:sp>
        <p:nvSpPr>
          <p:cNvPr id="20" name="Text 18"/>
          <p:cNvSpPr txBox="1"/>
          <p:nvPr/>
        </p:nvSpPr>
        <p:spPr>
          <a:xfrm>
            <a:off x="457200" y="361057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21" name="Text 19"/>
          <p:cNvSpPr txBox="1"/>
          <p:nvPr/>
        </p:nvSpPr>
        <p:spPr>
          <a:xfrm>
            <a:off x="786384" y="3592286"/>
            <a:ext cx="4608576" cy="381435"/>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Time-to-serve baseline confirmed with the product manager.</a:t>
            </a:r>
            <a:endParaRPr lang="en-US" sz="900" dirty="0"/>
          </a:p>
        </p:txBody>
      </p:sp>
      <p:sp>
        <p:nvSpPr>
          <p:cNvPr id="22" name="Shape 20"/>
          <p:cNvSpPr/>
          <p:nvPr/>
        </p:nvSpPr>
        <p:spPr>
          <a:xfrm>
            <a:off x="457200" y="4028585"/>
            <a:ext cx="237744" cy="237744"/>
          </a:xfrm>
          <a:prstGeom prst="ellipse">
            <a:avLst/>
          </a:prstGeom>
          <a:solidFill>
            <a:srgbClr val="0A7A44"/>
          </a:solidFill>
          <a:ln w="12700">
            <a:solidFill>
              <a:srgbClr val="0A7A44"/>
            </a:solidFill>
            <a:prstDash val="solid"/>
          </a:ln>
        </p:spPr>
      </p:sp>
      <p:sp>
        <p:nvSpPr>
          <p:cNvPr id="23" name="Text 21"/>
          <p:cNvSpPr txBox="1"/>
          <p:nvPr/>
        </p:nvSpPr>
        <p:spPr>
          <a:xfrm>
            <a:off x="457200" y="4028585"/>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6</a:t>
            </a:r>
            <a:endParaRPr lang="en-US" sz="900" dirty="0"/>
          </a:p>
        </p:txBody>
      </p:sp>
      <p:sp>
        <p:nvSpPr>
          <p:cNvPr id="24" name="Text 22"/>
          <p:cNvSpPr txBox="1"/>
          <p:nvPr/>
        </p:nvSpPr>
        <p:spPr>
          <a:xfrm>
            <a:off x="786384" y="4010297"/>
            <a:ext cx="4608576" cy="381435"/>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SKU-level OTC volume curve from Unisolv, to size the shelf.</a:t>
            </a:r>
            <a:endParaRPr lang="en-US" sz="900" dirty="0"/>
          </a:p>
        </p:txBody>
      </p:sp>
      <p:sp>
        <p:nvSpPr>
          <p:cNvPr id="25" name="Shape 23"/>
          <p:cNvSpPr/>
          <p:nvPr/>
        </p:nvSpPr>
        <p:spPr>
          <a:xfrm>
            <a:off x="457200" y="4446597"/>
            <a:ext cx="237744" cy="237744"/>
          </a:xfrm>
          <a:prstGeom prst="ellipse">
            <a:avLst/>
          </a:prstGeom>
          <a:solidFill>
            <a:srgbClr val="0A7A44"/>
          </a:solidFill>
          <a:ln w="12700">
            <a:solidFill>
              <a:srgbClr val="0A7A44"/>
            </a:solidFill>
            <a:prstDash val="solid"/>
          </a:ln>
        </p:spPr>
      </p:sp>
      <p:sp>
        <p:nvSpPr>
          <p:cNvPr id="26" name="Text 24"/>
          <p:cNvSpPr txBox="1"/>
          <p:nvPr/>
        </p:nvSpPr>
        <p:spPr>
          <a:xfrm>
            <a:off x="457200" y="4446597"/>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7</a:t>
            </a:r>
            <a:endParaRPr lang="en-US" sz="900" dirty="0"/>
          </a:p>
        </p:txBody>
      </p:sp>
      <p:sp>
        <p:nvSpPr>
          <p:cNvPr id="27" name="Text 25"/>
          <p:cNvSpPr txBox="1"/>
          <p:nvPr/>
        </p:nvSpPr>
        <p:spPr>
          <a:xfrm>
            <a:off x="786384" y="4428309"/>
            <a:ext cx="4608576" cy="381435"/>
          </a:xfrm>
          <a:prstGeom prst="rect">
            <a:avLst/>
          </a:prstGeom>
          <a:noFill/>
          <a:ln/>
        </p:spPr>
        <p:txBody>
          <a:bodyPr wrap="square" lIns="0" tIns="0" rIns="0" bIns="0" rtlCol="0" anchor="t">
            <a:normAutofit/>
          </a:bodyPr>
          <a:lstStyle/>
          <a:p>
            <a:pPr indent="0" marL="0">
              <a:buNone/>
            </a:pPr>
            <a:r>
              <a:rPr lang="en-US" sz="900" dirty="0">
                <a:solidFill>
                  <a:srgbClr val="1C2420"/>
                </a:solidFill>
                <a:latin typeface="Arial" pitchFamily="34" charset="0"/>
                <a:ea typeface="Arial" pitchFamily="34" charset="-122"/>
                <a:cs typeface="Arial" pitchFamily="34" charset="-120"/>
              </a:rPr>
              <a:t>Legacy-store time-and-motion observation for OTC.</a:t>
            </a:r>
            <a:endParaRPr lang="en-US" sz="900" dirty="0"/>
          </a:p>
        </p:txBody>
      </p:sp>
      <p:sp>
        <p:nvSpPr>
          <p:cNvPr id="28" name="Shape 26"/>
          <p:cNvSpPr/>
          <p:nvPr/>
        </p:nvSpPr>
        <p:spPr>
          <a:xfrm>
            <a:off x="5669280" y="1691640"/>
            <a:ext cx="3017520" cy="3154680"/>
          </a:xfrm>
          <a:prstGeom prst="rect">
            <a:avLst/>
          </a:prstGeom>
          <a:solidFill>
            <a:srgbClr val="F8ECE4"/>
          </a:solidFill>
          <a:ln w="9525">
            <a:solidFill>
              <a:srgbClr val="B4552A"/>
            </a:solidFill>
            <a:prstDash val="solid"/>
          </a:ln>
        </p:spPr>
      </p:sp>
      <p:sp>
        <p:nvSpPr>
          <p:cNvPr id="29" name="Text 27"/>
          <p:cNvSpPr txBox="1"/>
          <p:nvPr/>
        </p:nvSpPr>
        <p:spPr>
          <a:xfrm>
            <a:off x="5806440" y="1801368"/>
            <a:ext cx="274320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REGULATORY FLAG</a:t>
            </a:r>
            <a:endParaRPr lang="en-US" sz="800" dirty="0"/>
          </a:p>
        </p:txBody>
      </p:sp>
      <p:sp>
        <p:nvSpPr>
          <p:cNvPr id="30" name="Text 28"/>
          <p:cNvSpPr txBox="1"/>
          <p:nvPr/>
        </p:nvSpPr>
        <p:spPr>
          <a:xfrm>
            <a:off x="5806440" y="2020824"/>
            <a:ext cx="2743200" cy="310896"/>
          </a:xfrm>
          <a:prstGeom prst="rect">
            <a:avLst/>
          </a:prstGeom>
          <a:noFill/>
          <a:ln/>
        </p:spPr>
        <p:txBody>
          <a:bodyPr wrap="square" lIns="0" tIns="0" rIns="0" bIns="0" rtlCol="0" anchor="t">
            <a:normAutofit/>
          </a:bodyPr>
          <a:lstStyle/>
          <a:p>
            <a:pPr indent="0" marL="0">
              <a:buNone/>
            </a:pPr>
            <a:r>
              <a:rPr lang="en-US" sz="1050" b="1" dirty="0">
                <a:solidFill>
                  <a:srgbClr val="1C2420"/>
                </a:solidFill>
                <a:latin typeface="Arial" pitchFamily="34" charset="0"/>
                <a:ea typeface="Arial" pitchFamily="34" charset="-122"/>
                <a:cs typeface="Arial" pitchFamily="34" charset="-120"/>
              </a:rPr>
              <a:t>Advertising Schedule 2 medicines</a:t>
            </a:r>
            <a:endParaRPr lang="en-US" sz="1050" dirty="0"/>
          </a:p>
        </p:txBody>
      </p:sp>
      <p:sp>
        <p:nvSpPr>
          <p:cNvPr id="31" name="Text 29"/>
          <p:cNvSpPr txBox="1"/>
          <p:nvPr/>
        </p:nvSpPr>
        <p:spPr>
          <a:xfrm>
            <a:off x="5806440" y="2350008"/>
            <a:ext cx="2743200" cy="2386584"/>
          </a:xfrm>
          <a:prstGeom prst="rect">
            <a:avLst/>
          </a:prstGeom>
          <a:noFill/>
          <a:ln/>
        </p:spPr>
        <p:txBody>
          <a:bodyPr wrap="square" lIns="0" tIns="0" rIns="0" bIns="0" rtlCol="0" anchor="t">
            <a:normAutofit/>
          </a:bodyPr>
          <a:lstStyle/>
          <a:p>
            <a:pPr indent="0" marL="0">
              <a:spcAft>
                <a:spcPts val="400"/>
              </a:spcAft>
              <a:buNone/>
            </a:pPr>
            <a:r>
              <a:rPr lang="en-US" sz="900" dirty="0">
                <a:solidFill>
                  <a:srgbClr val="4C5A52"/>
                </a:solidFill>
                <a:latin typeface="Arial" pitchFamily="34" charset="0"/>
                <a:ea typeface="Arial" pitchFamily="34" charset="-122"/>
                <a:cs typeface="Arial" pitchFamily="34" charset="-120"/>
              </a:rPr>
              <a:t>Schedule 0 and Schedule 1 medicines may be advertised to the public. Schedule 2 may not. A good share of over-the-counter lines are Schedule 2.</a:t>
            </a:r>
            <a:endParaRPr lang="en-US" sz="900" dirty="0"/>
          </a:p>
          <a:p>
            <a:pPr indent="0" marL="0">
              <a:spcAft>
                <a:spcPts val="400"/>
              </a:spcAft>
              <a:buNone/>
            </a:pPr>
            <a:endParaRPr lang="en-US" sz="900" dirty="0"/>
          </a:p>
          <a:p>
            <a:pPr indent="0" marL="0">
              <a:spcAft>
                <a:spcPts val="400"/>
              </a:spcAft>
              <a:buNone/>
            </a:pPr>
            <a:r>
              <a:rPr lang="en-US" sz="900" dirty="0">
                <a:solidFill>
                  <a:srgbClr val="4C5A52"/>
                </a:solidFill>
                <a:latin typeface="Arial" pitchFamily="34" charset="0"/>
                <a:ea typeface="Arial" pitchFamily="34" charset="-122"/>
                <a:cs typeface="Arial" pitchFamily="34" charset="-120"/>
              </a:rPr>
              <a:t>Whether a digital shelf showing stock and prices inside the pharmacy counts as advertising is not settled. Until it is, treat it as a constraint on every screen option (digital planogram, browse screen, kiosk basket display), and check the Medicines Act advertising provisions and the Good Pharmacy Practice rules before any screen goes live.</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3657600" cy="228600"/>
          </a:xfrm>
          <a:prstGeom prst="rect">
            <a:avLst/>
          </a:prstGeom>
          <a:noFill/>
          <a:ln/>
        </p:spPr>
        <p:txBody>
          <a:bodyPr wrap="square" lIns="0" tIns="0" rIns="0" bIns="0" rtlCol="0" anchor="ctr"/>
          <a:lstStyle/>
          <a:p>
            <a:pPr indent="0" marL="0">
              <a:buNone/>
            </a:pPr>
            <a:r>
              <a:rPr lang="en-US" sz="900" b="1" spc="200" kern="0" dirty="0">
                <a:solidFill>
                  <a:srgbClr val="0A7A44"/>
                </a:solidFill>
                <a:latin typeface="Arial" pitchFamily="34" charset="0"/>
                <a:ea typeface="Arial" pitchFamily="34" charset="-122"/>
                <a:cs typeface="Arial" pitchFamily="34" charset="-120"/>
              </a:rPr>
              <a:t>APPENDIX</a:t>
            </a:r>
            <a:endParaRPr lang="en-US" sz="900" dirty="0"/>
          </a:p>
        </p:txBody>
      </p:sp>
      <p:sp>
        <p:nvSpPr>
          <p:cNvPr id="3" name="Text 1"/>
          <p:cNvSpPr txBox="1"/>
          <p:nvPr/>
        </p:nvSpPr>
        <p:spPr>
          <a:xfrm>
            <a:off x="6400800" y="201168"/>
            <a:ext cx="2286000" cy="228600"/>
          </a:xfrm>
          <a:prstGeom prst="rect">
            <a:avLst/>
          </a:prstGeom>
          <a:noFill/>
          <a:ln/>
        </p:spPr>
        <p:txBody>
          <a:bodyPr wrap="square" lIns="0" tIns="0" rIns="0" bIns="0" rtlCol="0" anchor="ctr"/>
          <a:lstStyle/>
          <a:p>
            <a:pPr algn="r" indent="0" marL="0">
              <a:buNone/>
            </a:pPr>
            <a:r>
              <a:rPr lang="en-US" sz="900" dirty="0">
                <a:solidFill>
                  <a:srgbClr val="7D8A82"/>
                </a:solidFill>
                <a:latin typeface="Arial" pitchFamily="34" charset="0"/>
                <a:ea typeface="Arial" pitchFamily="34" charset="-122"/>
                <a:cs typeface="Arial" pitchFamily="34" charset="-120"/>
              </a:rPr>
              <a:t>A.3</a:t>
            </a:r>
            <a:endParaRPr lang="en-US" sz="900" dirty="0"/>
          </a:p>
        </p:txBody>
      </p:sp>
      <p:sp>
        <p:nvSpPr>
          <p:cNvPr id="4" name="Text 2"/>
          <p:cNvSpPr txBox="1"/>
          <p:nvPr/>
        </p:nvSpPr>
        <p:spPr>
          <a:xfrm>
            <a:off x="457200" y="438912"/>
            <a:ext cx="8229600" cy="731520"/>
          </a:xfrm>
          <a:prstGeom prst="rect">
            <a:avLst/>
          </a:prstGeom>
          <a:noFill/>
          <a:ln/>
        </p:spPr>
        <p:txBody>
          <a:bodyPr wrap="square" lIns="0" tIns="0" rIns="0" bIns="0" rtlCol="0" anchor="t">
            <a:normAutofit/>
          </a:bodyPr>
          <a:lstStyle/>
          <a:p>
            <a:pPr indent="0" marL="0">
              <a:buNone/>
            </a:pPr>
            <a:r>
              <a:rPr lang="en-US" sz="2100" b="1" dirty="0">
                <a:solidFill>
                  <a:srgbClr val="1C2420"/>
                </a:solidFill>
                <a:latin typeface="Arial" pitchFamily="34" charset="0"/>
                <a:ea typeface="Arial" pitchFamily="34" charset="-122"/>
                <a:cs typeface="Arial" pitchFamily="34" charset="-120"/>
              </a:rPr>
              <a:t>Every customer need lands in one of the two paths</a:t>
            </a:r>
            <a:endParaRPr lang="en-US" sz="2100" dirty="0"/>
          </a:p>
        </p:txBody>
      </p:sp>
      <p:sp>
        <p:nvSpPr>
          <p:cNvPr id="5" name="Text 3"/>
          <p:cNvSpPr txBox="1"/>
          <p:nvPr/>
        </p:nvSpPr>
        <p:spPr>
          <a:xfrm>
            <a:off x="457200" y="1152144"/>
            <a:ext cx="8229600" cy="475488"/>
          </a:xfrm>
          <a:prstGeom prst="rect">
            <a:avLst/>
          </a:prstGeom>
          <a:noFill/>
          <a:ln/>
        </p:spPr>
        <p:txBody>
          <a:bodyPr wrap="square" lIns="0" tIns="0" rIns="0" bIns="0" rtlCol="0" anchor="t">
            <a:normAutofit/>
          </a:bodyPr>
          <a:lstStyle/>
          <a:p>
            <a:pPr indent="0" marL="0">
              <a:buNone/>
            </a:pPr>
            <a:r>
              <a:rPr lang="en-US" sz="1100" dirty="0">
                <a:solidFill>
                  <a:srgbClr val="4C5A52"/>
                </a:solidFill>
                <a:latin typeface="Arial" pitchFamily="34" charset="0"/>
                <a:ea typeface="Arial" pitchFamily="34" charset="-122"/>
                <a:cs typeface="Arial" pitchFamily="34" charset="-120"/>
              </a:rPr>
              <a:t>The customer-needs grid behind section 3. Product class never appears on the axes: OTC vs script was a proxy for preparation time, and the shelf rule uses preparation time directly.</a:t>
            </a:r>
            <a:endParaRPr lang="en-US" sz="1100" dirty="0"/>
          </a:p>
        </p:txBody>
      </p:sp>
      <p:sp>
        <p:nvSpPr>
          <p:cNvPr id="6" name="Text 4"/>
          <p:cNvSpPr txBox="1"/>
          <p:nvPr/>
        </p:nvSpPr>
        <p:spPr>
          <a:xfrm>
            <a:off x="2011680" y="1645920"/>
            <a:ext cx="3108960" cy="228600"/>
          </a:xfrm>
          <a:prstGeom prst="rect">
            <a:avLst/>
          </a:prstGeom>
          <a:noFill/>
          <a:ln/>
        </p:spPr>
        <p:txBody>
          <a:bodyPr wrap="square" lIns="0" tIns="0" rIns="0" bIns="0" rtlCol="0" anchor="ctr"/>
          <a:lstStyle/>
          <a:p>
            <a:pPr algn="ctr" indent="0" marL="0">
              <a:buNone/>
            </a:pPr>
            <a:r>
              <a:rPr lang="en-US" sz="800" b="1" dirty="0">
                <a:solidFill>
                  <a:srgbClr val="0A7A44"/>
                </a:solidFill>
                <a:latin typeface="Arial" pitchFamily="34" charset="0"/>
                <a:ea typeface="Arial" pitchFamily="34" charset="-122"/>
                <a:cs typeface="Arial" pitchFamily="34" charset="-120"/>
              </a:rPr>
              <a:t>NO TIME  ·  "the pharmacy is my whole visit, get me out"</a:t>
            </a:r>
            <a:endParaRPr lang="en-US" sz="800" dirty="0"/>
          </a:p>
        </p:txBody>
      </p:sp>
      <p:sp>
        <p:nvSpPr>
          <p:cNvPr id="7" name="Text 5"/>
          <p:cNvSpPr txBox="1"/>
          <p:nvPr/>
        </p:nvSpPr>
        <p:spPr>
          <a:xfrm>
            <a:off x="5212080" y="1645920"/>
            <a:ext cx="3108960" cy="228600"/>
          </a:xfrm>
          <a:prstGeom prst="rect">
            <a:avLst/>
          </a:prstGeom>
          <a:noFill/>
          <a:ln/>
        </p:spPr>
        <p:txBody>
          <a:bodyPr wrap="square" lIns="0" tIns="0" rIns="0" bIns="0" rtlCol="0" anchor="ctr"/>
          <a:lstStyle/>
          <a:p>
            <a:pPr algn="ctr" indent="0" marL="0">
              <a:buNone/>
            </a:pPr>
            <a:r>
              <a:rPr lang="en-US" sz="800" b="1" dirty="0">
                <a:solidFill>
                  <a:srgbClr val="0A7A44"/>
                </a:solidFill>
                <a:latin typeface="Arial" pitchFamily="34" charset="0"/>
                <a:ea typeface="Arial" pitchFamily="34" charset="-122"/>
                <a:cs typeface="Arial" pitchFamily="34" charset="-120"/>
              </a:rPr>
              <a:t>TIME TO SPARE  ·  "one stop of many, I'll look around"</a:t>
            </a:r>
            <a:endParaRPr lang="en-US" sz="800" dirty="0"/>
          </a:p>
        </p:txBody>
      </p:sp>
      <p:sp>
        <p:nvSpPr>
          <p:cNvPr id="8" name="Text 6"/>
          <p:cNvSpPr txBox="1"/>
          <p:nvPr/>
        </p:nvSpPr>
        <p:spPr>
          <a:xfrm>
            <a:off x="457200" y="1920240"/>
            <a:ext cx="1463040" cy="1371600"/>
          </a:xfrm>
          <a:prstGeom prst="rect">
            <a:avLst/>
          </a:prstGeom>
          <a:noFill/>
          <a:ln/>
        </p:spPr>
        <p:txBody>
          <a:bodyPr wrap="square" lIns="0" tIns="0" rIns="0" bIns="0" rtlCol="0" anchor="ctr"/>
          <a:lstStyle/>
          <a:p>
            <a:pPr indent="0" marL="0">
              <a:buNone/>
            </a:pPr>
            <a:r>
              <a:rPr lang="en-US" sz="800" b="1" dirty="0">
                <a:solidFill>
                  <a:srgbClr val="0A7A44"/>
                </a:solidFill>
                <a:latin typeface="Arial" pitchFamily="34" charset="0"/>
                <a:ea typeface="Arial" pitchFamily="34" charset="-122"/>
                <a:cs typeface="Arial" pitchFamily="34" charset="-120"/>
              </a:rPr>
              <a:t>I KNOW WHAT I WANT</a:t>
            </a:r>
            <a:endParaRPr lang="en-US" sz="800" dirty="0"/>
          </a:p>
        </p:txBody>
      </p:sp>
      <p:sp>
        <p:nvSpPr>
          <p:cNvPr id="9" name="Text 7"/>
          <p:cNvSpPr txBox="1"/>
          <p:nvPr/>
        </p:nvSpPr>
        <p:spPr>
          <a:xfrm>
            <a:off x="457200" y="3383280"/>
            <a:ext cx="1463040" cy="1371600"/>
          </a:xfrm>
          <a:prstGeom prst="rect">
            <a:avLst/>
          </a:prstGeom>
          <a:noFill/>
          <a:ln/>
        </p:spPr>
        <p:txBody>
          <a:bodyPr wrap="square" lIns="0" tIns="0" rIns="0" bIns="0" rtlCol="0" anchor="ctr"/>
          <a:lstStyle/>
          <a:p>
            <a:pPr indent="0" marL="0">
              <a:buNone/>
            </a:pPr>
            <a:r>
              <a:rPr lang="en-US" sz="800" b="1" dirty="0">
                <a:solidFill>
                  <a:srgbClr val="0A7A44"/>
                </a:solidFill>
                <a:latin typeface="Arial" pitchFamily="34" charset="0"/>
                <a:ea typeface="Arial" pitchFamily="34" charset="-122"/>
                <a:cs typeface="Arial" pitchFamily="34" charset="-120"/>
              </a:rPr>
              <a:t>I WANT ADVICE</a:t>
            </a:r>
            <a:endParaRPr lang="en-US" sz="800" dirty="0"/>
          </a:p>
        </p:txBody>
      </p:sp>
      <p:sp>
        <p:nvSpPr>
          <p:cNvPr id="10" name="Shape 8"/>
          <p:cNvSpPr/>
          <p:nvPr/>
        </p:nvSpPr>
        <p:spPr>
          <a:xfrm>
            <a:off x="2011680" y="1920240"/>
            <a:ext cx="3108960" cy="1371600"/>
          </a:xfrm>
          <a:prstGeom prst="rect">
            <a:avLst/>
          </a:prstGeom>
          <a:solidFill>
            <a:srgbClr val="F7F6F2"/>
          </a:solidFill>
          <a:ln w="9525">
            <a:solidFill>
              <a:srgbClr val="DCDFD8"/>
            </a:solidFill>
            <a:prstDash val="solid"/>
          </a:ln>
        </p:spPr>
      </p:sp>
      <p:sp>
        <p:nvSpPr>
          <p:cNvPr id="11" name="Text 9"/>
          <p:cNvSpPr txBox="1"/>
          <p:nvPr/>
        </p:nvSpPr>
        <p:spPr>
          <a:xfrm>
            <a:off x="2148840" y="2029968"/>
            <a:ext cx="283464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KNOW WHAT I WANT PATH</a:t>
            </a:r>
            <a:endParaRPr lang="en-US" sz="800" dirty="0"/>
          </a:p>
        </p:txBody>
      </p:sp>
      <p:sp>
        <p:nvSpPr>
          <p:cNvPr id="12" name="Text 10"/>
          <p:cNvSpPr txBox="1"/>
          <p:nvPr/>
        </p:nvSpPr>
        <p:spPr>
          <a:xfrm>
            <a:off x="2148840" y="2249424"/>
            <a:ext cx="2834640" cy="310896"/>
          </a:xfrm>
          <a:prstGeom prst="rect">
            <a:avLst/>
          </a:prstGeom>
          <a:noFill/>
          <a:ln/>
        </p:spPr>
        <p:txBody>
          <a:bodyPr wrap="square" lIns="0" tIns="0" rIns="0" bIns="0" rtlCol="0" anchor="t">
            <a:normAutofit/>
          </a:bodyPr>
          <a:lstStyle/>
          <a:p>
            <a:pPr indent="0" marL="0">
              <a:buNone/>
            </a:pPr>
            <a:r>
              <a:rPr lang="en-US" sz="1050" b="1" dirty="0">
                <a:solidFill>
                  <a:srgbClr val="1C2420"/>
                </a:solidFill>
                <a:latin typeface="Arial" pitchFamily="34" charset="0"/>
                <a:ea typeface="Arial" pitchFamily="34" charset="-122"/>
                <a:cs typeface="Arial" pitchFamily="34" charset="-120"/>
              </a:rPr>
              <a:t>One-box OTC, one-item repeat, the pop-in</a:t>
            </a:r>
            <a:endParaRPr lang="en-US" sz="1050" dirty="0"/>
          </a:p>
        </p:txBody>
      </p:sp>
      <p:sp>
        <p:nvSpPr>
          <p:cNvPr id="13" name="Text 11"/>
          <p:cNvSpPr txBox="1"/>
          <p:nvPr/>
        </p:nvSpPr>
        <p:spPr>
          <a:xfrm>
            <a:off x="2148840" y="2578608"/>
            <a:ext cx="2834640" cy="603504"/>
          </a:xfrm>
          <a:prstGeom prst="rect">
            <a:avLst/>
          </a:prstGeom>
          <a:noFill/>
          <a:ln/>
        </p:spPr>
        <p:txBody>
          <a:bodyPr wrap="square" lIns="0" tIns="0" rIns="0" bIns="0" rtlCol="0" anchor="t">
            <a:normAutofit/>
          </a:bodyPr>
          <a:lstStyle/>
          <a:p>
            <a:pPr indent="0" marL="0">
              <a:spcAft>
                <a:spcPts val="400"/>
              </a:spcAft>
              <a:buNone/>
            </a:pPr>
            <a:r>
              <a:rPr lang="en-US" sz="900" dirty="0">
                <a:solidFill>
                  <a:srgbClr val="4C5A52"/>
                </a:solidFill>
                <a:latin typeface="Arial" pitchFamily="34" charset="0"/>
                <a:ea typeface="Arial" pitchFamily="34" charset="-122"/>
                <a:cs typeface="Arial" pitchFamily="34" charset="-120"/>
              </a:rPr>
              <a:t>Kiosk order, collect, gone. Shelf items go now if they see a pharmacist.</a:t>
            </a:r>
            <a:endParaRPr lang="en-US" sz="900" dirty="0"/>
          </a:p>
        </p:txBody>
      </p:sp>
      <p:sp>
        <p:nvSpPr>
          <p:cNvPr id="14" name="Shape 12"/>
          <p:cNvSpPr/>
          <p:nvPr/>
        </p:nvSpPr>
        <p:spPr>
          <a:xfrm>
            <a:off x="5212080" y="1920240"/>
            <a:ext cx="3108960" cy="1371600"/>
          </a:xfrm>
          <a:prstGeom prst="rect">
            <a:avLst/>
          </a:prstGeom>
          <a:solidFill>
            <a:srgbClr val="F7F6F2"/>
          </a:solidFill>
          <a:ln w="9525">
            <a:solidFill>
              <a:srgbClr val="DCDFD8"/>
            </a:solidFill>
            <a:prstDash val="solid"/>
          </a:ln>
        </p:spPr>
      </p:sp>
      <p:sp>
        <p:nvSpPr>
          <p:cNvPr id="15" name="Text 13"/>
          <p:cNvSpPr txBox="1"/>
          <p:nvPr/>
        </p:nvSpPr>
        <p:spPr>
          <a:xfrm>
            <a:off x="5349240" y="2029968"/>
            <a:ext cx="283464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KNOW WHAT I WANT PATH</a:t>
            </a:r>
            <a:endParaRPr lang="en-US" sz="800" dirty="0"/>
          </a:p>
        </p:txBody>
      </p:sp>
      <p:sp>
        <p:nvSpPr>
          <p:cNvPr id="16" name="Text 14"/>
          <p:cNvSpPr txBox="1"/>
          <p:nvPr/>
        </p:nvSpPr>
        <p:spPr>
          <a:xfrm>
            <a:off x="5349240" y="2249424"/>
            <a:ext cx="2834640" cy="310896"/>
          </a:xfrm>
          <a:prstGeom prst="rect">
            <a:avLst/>
          </a:prstGeom>
          <a:noFill/>
          <a:ln/>
        </p:spPr>
        <p:txBody>
          <a:bodyPr wrap="square" lIns="0" tIns="0" rIns="0" bIns="0" rtlCol="0" anchor="t">
            <a:normAutofit/>
          </a:bodyPr>
          <a:lstStyle/>
          <a:p>
            <a:pPr indent="0" marL="0">
              <a:buNone/>
            </a:pPr>
            <a:r>
              <a:rPr lang="en-US" sz="1050" b="1" dirty="0">
                <a:solidFill>
                  <a:srgbClr val="1C2420"/>
                </a:solidFill>
                <a:latin typeface="Arial" pitchFamily="34" charset="0"/>
                <a:ea typeface="Arial" pitchFamily="34" charset="-122"/>
                <a:cs typeface="Arial" pitchFamily="34" charset="-120"/>
              </a:rPr>
              <a:t>The monthly chronic run</a:t>
            </a:r>
            <a:endParaRPr lang="en-US" sz="1050" dirty="0"/>
          </a:p>
        </p:txBody>
      </p:sp>
      <p:sp>
        <p:nvSpPr>
          <p:cNvPr id="17" name="Text 15"/>
          <p:cNvSpPr txBox="1"/>
          <p:nvPr/>
        </p:nvSpPr>
        <p:spPr>
          <a:xfrm>
            <a:off x="5349240" y="2578608"/>
            <a:ext cx="2834640" cy="603504"/>
          </a:xfrm>
          <a:prstGeom prst="rect">
            <a:avLst/>
          </a:prstGeom>
          <a:noFill/>
          <a:ln/>
        </p:spPr>
        <p:txBody>
          <a:bodyPr wrap="square" lIns="0" tIns="0" rIns="0" bIns="0" rtlCol="0" anchor="t">
            <a:normAutofit/>
          </a:bodyPr>
          <a:lstStyle/>
          <a:p>
            <a:pPr indent="0" marL="0">
              <a:spcAft>
                <a:spcPts val="400"/>
              </a:spcAft>
              <a:buNone/>
            </a:pPr>
            <a:r>
              <a:rPr lang="en-US" sz="900" dirty="0">
                <a:solidFill>
                  <a:srgbClr val="4C5A52"/>
                </a:solidFill>
                <a:latin typeface="Arial" pitchFamily="34" charset="0"/>
                <a:ea typeface="Arial" pitchFamily="34" charset="-122"/>
                <a:cs typeface="Arial" pitchFamily="34" charset="-120"/>
              </a:rPr>
              <a:t>Kiosk order, roam or leave, collect later. Decoupling as designed.</a:t>
            </a:r>
            <a:endParaRPr lang="en-US" sz="900" dirty="0"/>
          </a:p>
        </p:txBody>
      </p:sp>
      <p:sp>
        <p:nvSpPr>
          <p:cNvPr id="18" name="Shape 16"/>
          <p:cNvSpPr/>
          <p:nvPr/>
        </p:nvSpPr>
        <p:spPr>
          <a:xfrm>
            <a:off x="2011680" y="3383280"/>
            <a:ext cx="3108960" cy="1371600"/>
          </a:xfrm>
          <a:prstGeom prst="rect">
            <a:avLst/>
          </a:prstGeom>
          <a:solidFill>
            <a:srgbClr val="F7F6F2"/>
          </a:solidFill>
          <a:ln w="9525">
            <a:solidFill>
              <a:srgbClr val="DCDFD8"/>
            </a:solidFill>
            <a:prstDash val="solid"/>
          </a:ln>
        </p:spPr>
      </p:sp>
      <p:sp>
        <p:nvSpPr>
          <p:cNvPr id="19" name="Text 17"/>
          <p:cNvSpPr txBox="1"/>
          <p:nvPr/>
        </p:nvSpPr>
        <p:spPr>
          <a:xfrm>
            <a:off x="2148840" y="3493008"/>
            <a:ext cx="283464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TALK TO A PHARMACIST PATH</a:t>
            </a:r>
            <a:endParaRPr lang="en-US" sz="800" dirty="0"/>
          </a:p>
        </p:txBody>
      </p:sp>
      <p:sp>
        <p:nvSpPr>
          <p:cNvPr id="20" name="Text 18"/>
          <p:cNvSpPr txBox="1"/>
          <p:nvPr/>
        </p:nvSpPr>
        <p:spPr>
          <a:xfrm>
            <a:off x="2148840" y="3712464"/>
            <a:ext cx="2834640" cy="310896"/>
          </a:xfrm>
          <a:prstGeom prst="rect">
            <a:avLst/>
          </a:prstGeom>
          <a:noFill/>
          <a:ln/>
        </p:spPr>
        <p:txBody>
          <a:bodyPr wrap="square" lIns="0" tIns="0" rIns="0" bIns="0" rtlCol="0" anchor="t">
            <a:normAutofit/>
          </a:bodyPr>
          <a:lstStyle/>
          <a:p>
            <a:pPr indent="0" marL="0">
              <a:buNone/>
            </a:pPr>
            <a:r>
              <a:rPr lang="en-US" sz="1050" b="1" dirty="0">
                <a:solidFill>
                  <a:srgbClr val="1C2420"/>
                </a:solidFill>
                <a:latin typeface="Arial" pitchFamily="34" charset="0"/>
                <a:ea typeface="Arial" pitchFamily="34" charset="-122"/>
                <a:cs typeface="Arial" pitchFamily="34" charset="-120"/>
              </a:rPr>
              <a:t>The sick person, the parent with a feverish child</a:t>
            </a:r>
            <a:endParaRPr lang="en-US" sz="1050" dirty="0"/>
          </a:p>
        </p:txBody>
      </p:sp>
      <p:sp>
        <p:nvSpPr>
          <p:cNvPr id="21" name="Text 19"/>
          <p:cNvSpPr txBox="1"/>
          <p:nvPr/>
        </p:nvSpPr>
        <p:spPr>
          <a:xfrm>
            <a:off x="2148840" y="4041648"/>
            <a:ext cx="2834640" cy="603504"/>
          </a:xfrm>
          <a:prstGeom prst="rect">
            <a:avLst/>
          </a:prstGeom>
          <a:noFill/>
          <a:ln/>
        </p:spPr>
        <p:txBody>
          <a:bodyPr wrap="square" lIns="0" tIns="0" rIns="0" bIns="0" rtlCol="0" anchor="t">
            <a:normAutofit/>
          </a:bodyPr>
          <a:lstStyle/>
          <a:p>
            <a:pPr indent="0" marL="0">
              <a:spcAft>
                <a:spcPts val="400"/>
              </a:spcAft>
              <a:buNone/>
            </a:pPr>
            <a:r>
              <a:rPr lang="en-US" sz="900" dirty="0">
                <a:solidFill>
                  <a:srgbClr val="4C5A52"/>
                </a:solidFill>
                <a:latin typeface="Arial" pitchFamily="34" charset="0"/>
                <a:ea typeface="Arial" pitchFamily="34" charset="-122"/>
                <a:cs typeface="Arial" pitchFamily="34" charset="-120"/>
              </a:rPr>
              <a:t>Pharmacist now. Shelf items handed over in the conversation. Never sent to roam.</a:t>
            </a:r>
            <a:endParaRPr lang="en-US" sz="900" dirty="0"/>
          </a:p>
        </p:txBody>
      </p:sp>
      <p:sp>
        <p:nvSpPr>
          <p:cNvPr id="22" name="Shape 20"/>
          <p:cNvSpPr/>
          <p:nvPr/>
        </p:nvSpPr>
        <p:spPr>
          <a:xfrm>
            <a:off x="5212080" y="3383280"/>
            <a:ext cx="3108960" cy="1371600"/>
          </a:xfrm>
          <a:prstGeom prst="rect">
            <a:avLst/>
          </a:prstGeom>
          <a:solidFill>
            <a:srgbClr val="F7F6F2"/>
          </a:solidFill>
          <a:ln w="9525">
            <a:solidFill>
              <a:srgbClr val="DCDFD8"/>
            </a:solidFill>
            <a:prstDash val="solid"/>
          </a:ln>
        </p:spPr>
      </p:sp>
      <p:sp>
        <p:nvSpPr>
          <p:cNvPr id="23" name="Text 21"/>
          <p:cNvSpPr txBox="1"/>
          <p:nvPr/>
        </p:nvSpPr>
        <p:spPr>
          <a:xfrm>
            <a:off x="5349240" y="3493008"/>
            <a:ext cx="2834640" cy="201168"/>
          </a:xfrm>
          <a:prstGeom prst="rect">
            <a:avLst/>
          </a:prstGeom>
          <a:noFill/>
          <a:ln/>
        </p:spPr>
        <p:txBody>
          <a:bodyPr wrap="square" lIns="0" tIns="0" rIns="0" bIns="0" rtlCol="0" anchor="ctr"/>
          <a:lstStyle/>
          <a:p>
            <a:pPr indent="0" marL="0">
              <a:buNone/>
            </a:pPr>
            <a:r>
              <a:rPr lang="en-US" sz="800" b="1" spc="150" kern="0" dirty="0">
                <a:solidFill>
                  <a:srgbClr val="0A7A44"/>
                </a:solidFill>
                <a:latin typeface="Arial" pitchFamily="34" charset="0"/>
                <a:ea typeface="Arial" pitchFamily="34" charset="-122"/>
                <a:cs typeface="Arial" pitchFamily="34" charset="-120"/>
              </a:rPr>
              <a:t>TALK TO A PHARMACIST PATH</a:t>
            </a:r>
            <a:endParaRPr lang="en-US" sz="800" dirty="0"/>
          </a:p>
        </p:txBody>
      </p:sp>
      <p:sp>
        <p:nvSpPr>
          <p:cNvPr id="24" name="Text 22"/>
          <p:cNvSpPr txBox="1"/>
          <p:nvPr/>
        </p:nvSpPr>
        <p:spPr>
          <a:xfrm>
            <a:off x="5349240" y="3712464"/>
            <a:ext cx="2834640" cy="310896"/>
          </a:xfrm>
          <a:prstGeom prst="rect">
            <a:avLst/>
          </a:prstGeom>
          <a:noFill/>
          <a:ln/>
        </p:spPr>
        <p:txBody>
          <a:bodyPr wrap="square" lIns="0" tIns="0" rIns="0" bIns="0" rtlCol="0" anchor="t">
            <a:normAutofit/>
          </a:bodyPr>
          <a:lstStyle/>
          <a:p>
            <a:pPr indent="0" marL="0">
              <a:buNone/>
            </a:pPr>
            <a:r>
              <a:rPr lang="en-US" sz="1050" b="1" dirty="0">
                <a:solidFill>
                  <a:srgbClr val="1C2420"/>
                </a:solidFill>
                <a:latin typeface="Arial" pitchFamily="34" charset="0"/>
                <a:ea typeface="Arial" pitchFamily="34" charset="-122"/>
                <a:cs typeface="Arial" pitchFamily="34" charset="-120"/>
              </a:rPr>
              <a:t>"What should I take for sinus?"</a:t>
            </a:r>
            <a:endParaRPr lang="en-US" sz="1050" dirty="0"/>
          </a:p>
        </p:txBody>
      </p:sp>
      <p:sp>
        <p:nvSpPr>
          <p:cNvPr id="25" name="Text 23"/>
          <p:cNvSpPr txBox="1"/>
          <p:nvPr/>
        </p:nvSpPr>
        <p:spPr>
          <a:xfrm>
            <a:off x="5349240" y="4041648"/>
            <a:ext cx="2834640" cy="603504"/>
          </a:xfrm>
          <a:prstGeom prst="rect">
            <a:avLst/>
          </a:prstGeom>
          <a:noFill/>
          <a:ln/>
        </p:spPr>
        <p:txBody>
          <a:bodyPr wrap="square" lIns="0" tIns="0" rIns="0" bIns="0" rtlCol="0" anchor="t">
            <a:normAutofit/>
          </a:bodyPr>
          <a:lstStyle/>
          <a:p>
            <a:pPr indent="0" marL="0">
              <a:spcAft>
                <a:spcPts val="400"/>
              </a:spcAft>
              <a:buNone/>
            </a:pPr>
            <a:r>
              <a:rPr lang="en-US" sz="900" dirty="0">
                <a:solidFill>
                  <a:srgbClr val="4C5A52"/>
                </a:solidFill>
                <a:latin typeface="Arial" pitchFamily="34" charset="0"/>
                <a:ea typeface="Arial" pitchFamily="34" charset="-122"/>
                <a:cs typeface="Arial" pitchFamily="34" charset="-120"/>
              </a:rPr>
              <a:t>Pharmacist. The shelf as display. Second item prompted.</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OTC Solve</dc:title>
  <dc:subject>PptxGenJS Presentation</dc:subject>
  <dc:creator>PptxGenJS</dc:creator>
  <cp:lastModifiedBy>PptxGenJS</cp:lastModifiedBy>
  <cp:revision>1</cp:revision>
  <dcterms:created xsi:type="dcterms:W3CDTF">2026-09-17T12:32:06Z</dcterms:created>
  <dcterms:modified xsi:type="dcterms:W3CDTF">2026-09-17T12:32:06Z</dcterms:modified>
</cp:coreProperties>
</file>