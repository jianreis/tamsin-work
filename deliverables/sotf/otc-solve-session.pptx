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5852160" cy="5852160"/>
          </a:xfrm>
          <a:prstGeom prst="ellipse">
            <a:avLst/>
          </a:prstGeom>
          <a:solidFill>
            <a:srgbClr val="0B5C36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280160"/>
            <a:ext cx="4206240" cy="4206240"/>
          </a:xfrm>
          <a:prstGeom prst="ellipse">
            <a:avLst/>
          </a:prstGeom>
          <a:solidFill>
            <a:srgbClr val="163325"/>
          </a:solidFill>
          <a:ln w="25400">
            <a:solidFill>
              <a:srgbClr val="E3B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B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OF THE FUTURE  ·  INTERNAL WORKING SESSION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OTC Solve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91840"/>
            <a:ext cx="7589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OTC medicine was folded into the script process: submit at one counter, wait, collect at another. Scripts earn that wait. OTC does not. Irene proved it within a week.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shape the options we take back to business.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557784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B5C36"/>
          </a:solidFill>
          <a:ln w="12700">
            <a:solidFill>
              <a:srgbClr val="0A7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577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team only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2032" y="5577840"/>
            <a:ext cx="3634740" cy="384048"/>
          </a:xfrm>
          <a:prstGeom prst="roundRect">
            <a:avLst>
              <a:gd name="adj" fmla="val 50000"/>
            </a:avLst>
          </a:prstGeom>
          <a:solidFill>
            <a:srgbClr val="0B5C36"/>
          </a:solidFill>
          <a:ln w="12700">
            <a:solidFill>
              <a:srgbClr val="0A7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42032" y="5577840"/>
            <a:ext cx="3634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Pre-seeded options, not blank-page ideation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41364" y="5577840"/>
            <a:ext cx="1147572" cy="384048"/>
          </a:xfrm>
          <a:prstGeom prst="roundRect">
            <a:avLst>
              <a:gd name="adj" fmla="val 50000"/>
            </a:avLst>
          </a:prstGeom>
          <a:solidFill>
            <a:srgbClr val="0B5C36"/>
          </a:solidFill>
          <a:ln w="12700">
            <a:solidFill>
              <a:srgbClr val="0A7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41364" y="5577840"/>
            <a:ext cx="11475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 minutes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325880" cy="310896"/>
          </a:xfrm>
          <a:prstGeom prst="rect">
            <a:avLst/>
          </a:prstGeom>
          <a:solidFill>
            <a:srgbClr val="0A7A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OTC Solve  ·  SOTF internal working session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8404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issue, in one paragraph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201400" cy="1417320"/>
          </a:xfrm>
          <a:prstGeom prst="roundRect">
            <a:avLst>
              <a:gd name="adj" fmla="val 3871"/>
            </a:avLst>
          </a:prstGeom>
          <a:solidFill>
            <a:srgbClr val="E7F2EA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71600"/>
            <a:ext cx="10652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SOTF stores, all medicine sits behind the wall. OTC follows the same decoupled process as scripts: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at the drop-off counter → pick and pack → collect at the collections counter, in the same queue as scripts.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every other Dis-Chem, OTC is advise, reach, hand over: stock sits within the pharmacist's reach and the customer walks away in under a minute.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feels 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291840"/>
            <a:ext cx="3602736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86200"/>
            <a:ext cx="31455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get OTC immediately; must join a second queue, behind scripts, for medicine they used to be handed on the spot. The shared queue also creates the perception that a small item will take as long as a full script.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5112" y="3291840"/>
            <a:ext cx="3602736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53712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3886200"/>
            <a:ext cx="31455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reachable or visible stock. When a customer can't remember which product they bought, or the pharmacist wants to show two options side by side, there is nothing to point at or hand over.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47304" y="3291840"/>
            <a:ext cx="3602736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75904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3886200"/>
            <a:ext cx="31455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Fears falling OTC sales: if the customer never sees the product, nothing triggers or reminds the purchase. OTC is high-frequency, high-margin volume.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325880" cy="310896"/>
          </a:xfrm>
          <a:prstGeom prst="rect">
            <a:avLst/>
          </a:prstGeom>
          <a:solidFill>
            <a:srgbClr val="0A7A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OTC Solve  ·  SOTF internal working session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8404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original decisions were actually solving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intents are real problems from our own principles work. Every option must be scored against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602736" cy="4023360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5740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BEHIND THE WALL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060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“Never turn your back on the customer”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11880"/>
            <a:ext cx="3145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the legacy pattern where a pharmacist abandons the customer at the counter for up to 5 minutes to hunt stock. Paired with “proximity without exposure”: the work happens, but out of sight.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5112" y="1783080"/>
            <a:ext cx="3602736" cy="4023360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3712" y="205740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6060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“Fulfillment like a production line”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3611880"/>
            <a:ext cx="3145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dead queue time into roaming time, consolidates pick and pack, and keeps the counter for care, not fetching. For scripts, this demonstrably works.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47304" y="1783080"/>
            <a:ext cx="3602736" cy="4023360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75904" y="205740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FLOW FOR OTC + SCRIPTS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6060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and resourcing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611880"/>
            <a:ext cx="3145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SteerCo rationale: one counter, one process, less operational complexity, less floor given to the pharmacy.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5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OTC Solve  ·  SOTF internal working session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B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ASSUMPTION THAT FAILED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Decoupling creates value only when there is preparation worth waiting for.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66160"/>
            <a:ext cx="9875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CAD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script takes minutes to dispense, so the wait converts into roaming.
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CAD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OTC takes seconds, so the process adds a queue and a walk where the customer's benchmark, set in every other Dis-Chem, is 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E3B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325880" cy="310896"/>
          </a:xfrm>
          <a:prstGeom prst="rect">
            <a:avLst/>
          </a:prstGeom>
          <a:solidFill>
            <a:srgbClr val="0A7A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OTC Solve  ·  SOTF internal working session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8404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two-store natural experiment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MELROSE ARCH — holds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202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unified decoupled flow without strain. Traffic is script-led and scheme-heavy: the mission the process was designed around. Prep time is real, roaming is welcome, the second counter earns its keep.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8ECE4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45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IRENE — broke it in a week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920240"/>
            <a:ext cx="4937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is more OTC-led, advice-led, cash-paying. Staff built two workarounds:
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Pharmacist walks to the back and fetches — reinstating exactly the turn-your-back behaviour the design bans.
</a:t>
            </a:r>
            <a:pPr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 picker prioritises the OTC line and runs it to the pharmacist's counter for handover.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FAF3D9"/>
          </a:solidFill>
          <a:ln w="12700">
            <a:solidFill>
              <a:srgbClr val="E3B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645152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business should care beyond one store: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Dis-Chem estate looks far more like Irene than like Melrose Arch. Irene is not the exception; it is the preview of the network. This needs solving before concept-to-scale.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623560"/>
            <a:ext cx="11201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Reframe, said out loud: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picker-runs-it-forward workaround is not vandalism, it is a prototype. Staff kept the pharmacist facing the customer, kept stock behind the wall, and collapsed the second queue. Frontline workarounds are unpriced user research.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325880" cy="310896"/>
          </a:xfrm>
          <a:prstGeom prst="rect">
            <a:avLst/>
          </a:prstGeom>
          <a:solidFill>
            <a:srgbClr val="0A7A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OTC Solve  ·  SOTF internal working session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38404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evidence do we actually have?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602736" cy="4892040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(WEAK)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2024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Anecdotal staff reports of customer frustration — second-hand, not primary source.</a:t>
            </a:r>
            <a:endParaRPr lang="en-US" sz="1150" dirty="0"/>
          </a:p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Irene workaround itself: observed behaviour, one week in, converging on one pattern. Treat it as evidence, not noise.</a:t>
            </a:r>
            <a:endParaRPr lang="en-US" sz="1150" dirty="0"/>
          </a:p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meaningful process data from Irene — the process being measured is no longer the process being run.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325880"/>
            <a:ext cx="3602736" cy="4892040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55448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3B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(INDIRECT)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192024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 SOTF study (n=12): “waiting is fine, being unsure isn't”; predictability beats speed.</a:t>
            </a:r>
            <a:endParaRPr lang="en-US" sz="1150" dirty="0"/>
          </a:p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limit: for OTC the anchor is instant, so even a predictable wait is a downgrade.</a:t>
            </a:r>
            <a:endParaRPr lang="en-US" sz="1150" dirty="0"/>
          </a:p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OTC time-and-motion exists anywhere in our research base — SOTF or legacy.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1325880"/>
            <a:ext cx="3602736" cy="4892040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75904" y="155448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5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GET, CHEAPLY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192024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Unisolv mission mix per store: OTC-only vs script vs script+OTC. Proves the store-archetype argument.</a:t>
            </a:r>
            <a:endParaRPr lang="en-US" sz="1150" dirty="0"/>
          </a:p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Qmatic timestamps at Melrose by order type: what the clean process costs an OTC customer.</a:t>
            </a:r>
            <a:endParaRPr lang="en-US" sz="1150" dirty="0"/>
          </a:p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C4C complaints for both stores since opening.</a:t>
            </a:r>
            <a:endParaRPr lang="en-US" sz="1150" dirty="0"/>
          </a:p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observer morning in a legacy store: our time-and-motion baseline. 40 observations beats zero.</a:t>
            </a:r>
            <a:endParaRPr lang="en-US" sz="1150" dirty="0"/>
          </a:p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chats with Irene staff: what exactly they do, when, and why.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325880" cy="310896"/>
          </a:xfrm>
          <a:prstGeom prst="rect">
            <a:avLst/>
          </a:prstGeom>
          <a:solidFill>
            <a:srgbClr val="0A7A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OTC Solve  ·  SOTF internal working session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38404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for every option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201400" cy="841248"/>
          </a:xfrm>
          <a:prstGeom prst="roundRect">
            <a:avLst>
              <a:gd name="adj" fmla="val 6522"/>
            </a:avLst>
          </a:prstGeom>
          <a:solidFill>
            <a:srgbClr val="E7F2EA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91056"/>
            <a:ext cx="402336" cy="402336"/>
          </a:xfrm>
          <a:prstGeom prst="ellipse">
            <a:avLst/>
          </a:prstGeom>
          <a:solidFill>
            <a:srgbClr val="0A7A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4630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turn your back on the customer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5-minute abandonment must not come back.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359152"/>
            <a:ext cx="11201400" cy="841248"/>
          </a:xfrm>
          <a:prstGeom prst="roundRect">
            <a:avLst>
              <a:gd name="adj" fmla="val 6522"/>
            </a:avLst>
          </a:prstGeom>
          <a:solidFill>
            <a:srgbClr val="E7F2EA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78608"/>
            <a:ext cx="402336" cy="402336"/>
          </a:xfrm>
          <a:prstGeom prst="ellipse">
            <a:avLst/>
          </a:prstGeom>
          <a:solidFill>
            <a:srgbClr val="0A7A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4505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counter is for care, not admin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fetching.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346704"/>
            <a:ext cx="11201400" cy="841248"/>
          </a:xfrm>
          <a:prstGeom prst="roundRect">
            <a:avLst>
              <a:gd name="adj" fmla="val 6522"/>
            </a:avLst>
          </a:prstGeom>
          <a:solidFill>
            <a:srgbClr val="E7F2EA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66160"/>
            <a:ext cx="402336" cy="402336"/>
          </a:xfrm>
          <a:prstGeom prst="ellipse">
            <a:avLst/>
          </a:prstGeom>
          <a:solidFill>
            <a:srgbClr val="0A7A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3814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script flow stays untouched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Decoupling works for scripts; we are fixing OTC only.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334256"/>
            <a:ext cx="11201400" cy="841248"/>
          </a:xfrm>
          <a:prstGeom prst="roundRect">
            <a:avLst>
              <a:gd name="adj" fmla="val 6522"/>
            </a:avLst>
          </a:prstGeom>
          <a:solidFill>
            <a:srgbClr val="E7F2EA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553712"/>
            <a:ext cx="402336" cy="402336"/>
          </a:xfrm>
          <a:prstGeom prst="ellipse">
            <a:avLst/>
          </a:prstGeom>
          <a:solidFill>
            <a:srgbClr val="0A7A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42569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return of the cage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Magna-bag world stays.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5321808"/>
            <a:ext cx="11201400" cy="841248"/>
          </a:xfrm>
          <a:prstGeom prst="roundRect">
            <a:avLst>
              <a:gd name="adj" fmla="val 6522"/>
            </a:avLst>
          </a:prstGeom>
          <a:solidFill>
            <a:srgbClr val="FAF3D9"/>
          </a:solidFill>
          <a:ln w="12700">
            <a:solidFill>
              <a:srgbClr val="E3B7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541264"/>
            <a:ext cx="402336" cy="402336"/>
          </a:xfrm>
          <a:prstGeom prst="ellipse">
            <a:avLst/>
          </a:prstGeom>
          <a:solidFill>
            <a:srgbClr val="0A7A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5541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413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and reversible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pickers (ROWA-class) dissolve this problem by shooting any item to the front in seconds. This is a bridge for manual-picker stores — no heavy capex the automated store makes redundant.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325880" cy="310896"/>
          </a:xfrm>
          <a:prstGeom prst="rect">
            <a:avLst/>
          </a:prstGeom>
          <a:solidFill>
            <a:srgbClr val="0A7A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OTC Solve  ·  SOTF internal working session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8404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options: a ladder of walk-backs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rung walks back one more of the original decisions. Gold dots = how much of the original design it unwinds.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201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90195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A7A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8013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OTC express lane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1671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queue, keep everything else. Separate Qmatic ticket class + 2-3 min SLA.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195560" y="1947672"/>
            <a:ext cx="146304" cy="146304"/>
          </a:xfrm>
          <a:prstGeom prst="ellipse">
            <a:avLst/>
          </a:prstGeom>
          <a:solidFill>
            <a:srgbClr val="E3B71E"/>
          </a:solidFill>
          <a:ln w="15875">
            <a:solidFill>
              <a:srgbClr val="E3B7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15016" y="194767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D8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34472" y="194767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D8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53928" y="194767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D8A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149840" y="2167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walk-back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807208"/>
            <a:ext cx="11201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017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A7A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2916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delivery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28269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Irene prototype, formalised. Runner brings OTC to the pharmacist mid-conversation. One stop.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195560" y="3063240"/>
            <a:ext cx="146304" cy="146304"/>
          </a:xfrm>
          <a:prstGeom prst="ellipse">
            <a:avLst/>
          </a:prstGeom>
          <a:solidFill>
            <a:srgbClr val="E3B71E"/>
          </a:solidFill>
          <a:ln w="15875">
            <a:solidFill>
              <a:srgbClr val="E3B7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15016" y="3063240"/>
            <a:ext cx="146304" cy="146304"/>
          </a:xfrm>
          <a:prstGeom prst="ellipse">
            <a:avLst/>
          </a:prstGeom>
          <a:solidFill>
            <a:srgbClr val="E3B71E"/>
          </a:solidFill>
          <a:ln w="15875">
            <a:solidFill>
              <a:srgbClr val="E3B7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34472" y="3063240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D8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53928" y="3063240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D8A8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49840" y="32826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walk-back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3922776"/>
            <a:ext cx="11201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13308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A7A4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4133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1554480" y="40325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Pareto shelf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43982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~50-100 fast-mover SKUs back within the pharmacist's reach; the rest stays behind the wall.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195560" y="4178808"/>
            <a:ext cx="146304" cy="146304"/>
          </a:xfrm>
          <a:prstGeom prst="ellipse">
            <a:avLst/>
          </a:prstGeom>
          <a:solidFill>
            <a:srgbClr val="E3B71E"/>
          </a:solidFill>
          <a:ln w="15875">
            <a:solidFill>
              <a:srgbClr val="E3B71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15016" y="4178808"/>
            <a:ext cx="146304" cy="146304"/>
          </a:xfrm>
          <a:prstGeom prst="ellipse">
            <a:avLst/>
          </a:prstGeom>
          <a:solidFill>
            <a:srgbClr val="E3B71E"/>
          </a:solidFill>
          <a:ln w="15875">
            <a:solidFill>
              <a:srgbClr val="E3B71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34472" y="4178808"/>
            <a:ext cx="146304" cy="146304"/>
          </a:xfrm>
          <a:prstGeom prst="ellipse">
            <a:avLst/>
          </a:prstGeom>
          <a:solidFill>
            <a:srgbClr val="E3B71E"/>
          </a:solidFill>
          <a:ln w="15875">
            <a:solidFill>
              <a:srgbClr val="E3B71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53928" y="4178808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D8A8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149840" y="43982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walk-back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" y="5038344"/>
            <a:ext cx="11201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" y="524865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B4552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77240" y="5248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1554480" y="5148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the flows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1554480" y="55138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distinct OTC / advice service point, separate from script submission.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195560" y="5294376"/>
            <a:ext cx="146304" cy="146304"/>
          </a:xfrm>
          <a:prstGeom prst="ellipse">
            <a:avLst/>
          </a:prstGeom>
          <a:solidFill>
            <a:srgbClr val="E3B71E"/>
          </a:solidFill>
          <a:ln w="15875">
            <a:solidFill>
              <a:srgbClr val="E3B71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15016" y="5294376"/>
            <a:ext cx="146304" cy="146304"/>
          </a:xfrm>
          <a:prstGeom prst="ellipse">
            <a:avLst/>
          </a:prstGeom>
          <a:solidFill>
            <a:srgbClr val="E3B71E"/>
          </a:solidFill>
          <a:ln w="15875">
            <a:solidFill>
              <a:srgbClr val="E3B71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34472" y="5294376"/>
            <a:ext cx="146304" cy="146304"/>
          </a:xfrm>
          <a:prstGeom prst="ellipse">
            <a:avLst/>
          </a:prstGeom>
          <a:solidFill>
            <a:srgbClr val="E3B71E"/>
          </a:solidFill>
          <a:ln w="15875">
            <a:solidFill>
              <a:srgbClr val="E3B71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853928" y="5294376"/>
            <a:ext cx="146304" cy="146304"/>
          </a:xfrm>
          <a:prstGeom prst="ellipse">
            <a:avLst/>
          </a:prstGeom>
          <a:solidFill>
            <a:srgbClr val="E3B71E"/>
          </a:solidFill>
          <a:ln w="15875">
            <a:solidFill>
              <a:srgbClr val="E3B71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149840" y="5513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walk-back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50292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pressure-test each against the Part 1 intents, then agree what evidence would confirm or kill it.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325880" cy="310896"/>
          </a:xfrm>
          <a:prstGeom prst="rect">
            <a:avLst/>
          </a:prstGeom>
          <a:solidFill>
            <a:srgbClr val="0A7A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OTC Solve  ·  SOTF internal working session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8404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A + B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A7A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463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OTC express lane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queue, keep everything else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1488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350008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Qmatic ticket class for OTC with its own SLA (2-3 min) and picker prioritisation. OTC never queues behind scripts; the collections screen shows the faster lane, killing the “stuck behind twenty scripts” perception.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3192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WALKS BACK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“same queue and SLA as scripts”. Nothing physical changes.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886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087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original intent, fully.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4531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54296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two stops and a wait where legacy had none. Consumes picker capacity at peak. Does nothing for show-and-explain. Business will like this most; customers will like it least.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6235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VALIDATE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824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Qmatic timing at Melrose: can a 2-3 min SLA be met at peak with current picker headcount?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234440"/>
            <a:ext cx="548640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14630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A7A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46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1463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delivery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Irene prototype, formalised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21488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2350008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OTC is picked on priority and delivered to the pharmacist's counter while the pharmacist stays with the customer: advise → runner delivers → hand over → done. One stop, no second queue, no turned back, stock stays behind the wall.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3192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WALKS BACK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Decoupling, for OTC only: collection collapses into submission.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3886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087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Never-turn-your-back, proximity-without-exposure, production-line fulfilment, script flow.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44531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4654296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dwell rises, so the submission queue slows: trades throughput for interaction quality. Needs a runner role, a dashboard priority lane, and a hard rule keeping scripts out of the fast path.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56235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VALIDATE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5824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Irene staff interviews; measure counter dwell and queue length with vs without; runner capacity model.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325880" cy="310896"/>
          </a:xfrm>
          <a:prstGeom prst="rect">
            <a:avLst/>
          </a:prstGeom>
          <a:solidFill>
            <a:srgbClr val="0A7A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OTC Solve  ·  SOTF internal working session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8404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C + 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A7A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463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Pareto shelf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curated fast-mover range within reach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1488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350008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~50-100 fast-mover OTC SKUs (likely most of OTC volume; Unisolv can confirm) return to arm's reach: under-counter drawers or a visible-but-not-grabbable display. Everything else stays behind the wall. Reaching is not fetching: the 5-minute abandonment rule does not apply to an arm's length.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3192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WALKS BACK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“All stock behind the wall”, partially.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886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087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cage, no fetching walk, script flow untouched. Restores show-and-hand for the SKUs that matter.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4531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54296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Planogram and space in a fixed fit-out; inventory split across two locations; the shrinkage argument returns; visibly softens a flagship design statement. Expect this to be the contentious one.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6235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VALIDATE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824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Unisolv SKU-level OTC volume curve: what % of OTC transactions do the top 100 SKUs cover?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234440"/>
            <a:ext cx="548640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14630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B4552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46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1463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the flows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distinct OTC / advice service point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21488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2350008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“pharmacy express” counter (it could live at the digital-wall end of the counter run) serving OTC and advice as its own flow: re-admitting that OTC and scripts are different products deserving different processes.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3192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WALKS BACK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unified OTC + script decision itself.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3886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087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Decoupling for scripts, where it demonstrably works.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44531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4654296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the space-and-resourcing cost the unification decision was taken to avoid, plus wayfinding burden. The most direct challenge to a SteerCo decision: must be argued with volume data, not preference. Also the most honest fit for Irene-type stores.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56235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VALIDATE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5824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mix per store; peak-hour OTC arrival rates; staffing model for a second service point.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325880" cy="310896"/>
          </a:xfrm>
          <a:prstGeom prst="rect">
            <a:avLst/>
          </a:prstGeom>
          <a:solidFill>
            <a:srgbClr val="0A7A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OTC Solve  ·  SOTF internal working session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840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overlay: show and explain, without stock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Attaches to Option A or B (and weakens the case for C). Solves the employee and business frictions digitally.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AF3D9"/>
          </a:solidFill>
          <a:ln w="12700">
            <a:solidFill>
              <a:srgbClr val="E3B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922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forward the digital OTC shelves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03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 deferred SOTF work parcel on the dispensary digital wall (planned H2 2026). We are not proposing something new; we are pointing something already planned at this problem.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AF3D9"/>
          </a:solidFill>
          <a:ln w="12700">
            <a:solidFill>
              <a:srgbClr val="E3B7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7922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tablet or product cards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103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“show me the options” moments: pack shots, sizes, prices, side by side.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AF3D9"/>
          </a:solidFill>
          <a:ln w="12700">
            <a:solidFill>
              <a:srgbClr val="E3B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3924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Rewards purchase-history lookup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033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“I can't remember which one I bought”: the pharmacist looks it up. Arguably better than squinting at a shelf, and an ecosystem selling point.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24612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AF3D9"/>
          </a:solidFill>
          <a:ln w="12700">
            <a:solidFill>
              <a:srgbClr val="E3B7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33924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Display-only dummy packs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7033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boxes: the visual purchase trigger business wants, at zero shrinkage risk.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5029200"/>
            <a:ext cx="11201400" cy="1234440"/>
          </a:xfrm>
          <a:prstGeom prst="roundRect">
            <a:avLst>
              <a:gd name="adj" fmla="val 4444"/>
            </a:avLst>
          </a:prstGeom>
          <a:solidFill>
            <a:srgbClr val="E7F2EA"/>
          </a:solidFill>
          <a:ln w="12700">
            <a:solidFill>
              <a:srgbClr val="0A7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193792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 question for the room (not a fifth option):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answer vary by store archetype? Melrose Arch keeps the unified decoupled flow; Irene-type stores get B or D. Concept-to-scale already plans by store format, so a per-archetype answer is legitimate, not a fudge.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325880" cy="310896"/>
          </a:xfrm>
          <a:prstGeom prst="rect">
            <a:avLst/>
          </a:prstGeom>
          <a:solidFill>
            <a:srgbClr val="0A7A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OTC Solve  ·  SOTF internal working session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8404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at a glance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103120"/>
                <a:gridCol w="2103120"/>
                <a:gridCol w="2103120"/>
                <a:gridCol w="2103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 / cost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· Express lane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· Counter delivery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· Pareto shelf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· Split flows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C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turn your back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holds (reach ≠ fetch)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 stays behind wall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D8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choice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unified flow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D8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OTC in one stop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&amp; explain solved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D8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via overlay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D8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via overlay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/ effort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(queue config)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(role + SOP)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D8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(fit-out)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(space + staff)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Reversible before automation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D8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Political difficulty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D8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325880" cy="310896"/>
          </a:xfrm>
          <a:prstGeom prst="rect">
            <a:avLst/>
          </a:prstGeom>
          <a:solidFill>
            <a:srgbClr val="0A7A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OTC Solve  ·  SOTF internal working session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84048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plan &amp; how we decide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present options back to business with trade-offs, not a single answer. Each option leaves this room with a named owner for the evidence that would confirm or kill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5486400" cy="1344168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110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PULL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19110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____________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85416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Unisolv mission mix per store (OTC-only / script / script+OTC) + the SKU-level OTC volume curve for the Pareto question.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5486400" cy="1344168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9110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PULL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0" y="19110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____________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185416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Qmatic timing at Melrose Arch by order type: ticket → called → ready → collected. What the clean process costs an OTC customer today.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64408"/>
            <a:ext cx="5486400" cy="1344168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3924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33924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____________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666744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observer morning in a legacy store: OTC service times, counter-abandonment counts, fetch durations. Our time-and-motion baseline.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264408"/>
            <a:ext cx="5486400" cy="1344168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3924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3924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____________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666744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Irene staff interviews: walk the workaround step by step — when it triggers, who runs, what breaks.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745736"/>
            <a:ext cx="5486400" cy="1344168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8737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PULL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48737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____________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14807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C4C complaints for both stores since opening, coded for OTC / queue mentions.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745736"/>
            <a:ext cx="5486400" cy="1344168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DF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48737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A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OUTPUT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48737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D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____________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514807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C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pack for business: playback, four options, trade-off table, per-option evidence status, recommended pilot (likely Irene, where the behaviour is already live).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2026-09-02T08:16:17Z</dcterms:created>
  <dcterms:modified xsi:type="dcterms:W3CDTF">2026-09-02T08:16:17Z</dcterms:modified>
</cp:coreProperties>
</file>